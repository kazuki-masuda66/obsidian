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2" r:id="rId1"/>
  </p:sldMasterIdLst>
  <p:notesMasterIdLst>
    <p:notesMasterId r:id="rId5"/>
  </p:notesMasterIdLst>
  <p:sldIdLst>
    <p:sldId id="672" r:id="rId2"/>
    <p:sldId id="671" r:id="rId3"/>
    <p:sldId id="665" r:id="rId4"/>
  </p:sldIdLst>
  <p:sldSz cx="9906000" cy="6858000" type="A4"/>
  <p:notesSz cx="9926638" cy="6797675"/>
  <p:embeddedFontLst>
    <p:embeddedFont>
      <p:font typeface="Calibri" panose="020F0502020204030204" pitchFamily="34" charset="0"/>
      <p:regular r:id="rId6"/>
      <p:bold r:id="rId7"/>
      <p:italic r:id="rId8"/>
      <p:boldItalic r:id="rId9"/>
    </p:embeddedFont>
    <p:embeddedFont>
      <p:font typeface="Century Gothic" panose="020B0502020202020204" pitchFamily="34" charset="0"/>
      <p:regular r:id="rId10"/>
      <p:bold r:id="rId11"/>
      <p:italic r:id="rId12"/>
      <p:boldItalic r:id="rId13"/>
    </p:embeddedFont>
    <p:embeddedFont>
      <p:font typeface="Meiryo" panose="020B0604030504040204" pitchFamily="34" charset="-128"/>
      <p:regular r:id="rId14"/>
      <p:bold r:id="rId15"/>
      <p:italic r:id="rId16"/>
      <p:boldItalic r:id="rId17"/>
    </p:embeddedFont>
    <p:embeddedFont>
      <p:font typeface="Merriweather Sans" pitchFamily="2" charset="0"/>
      <p:regular r:id="rId18"/>
      <p:bold r:id="rId19"/>
      <p:italic r:id="rId20"/>
      <p:boldItalic r:id="rId21"/>
    </p:embeddedFont>
    <p:embeddedFont>
      <p:font typeface="Proxima Nova" panose="020B060402020202020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237">
          <p15:clr>
            <a:srgbClr val="A4A3A4"/>
          </p15:clr>
        </p15:guide>
        <p15:guide id="2" orient="horz" pos="890" userDrawn="1">
          <p15:clr>
            <a:srgbClr val="A4A3A4"/>
          </p15:clr>
        </p15:guide>
        <p15:guide id="3" pos="5675">
          <p15:clr>
            <a:srgbClr val="A4A3A4"/>
          </p15:clr>
        </p15:guide>
        <p15:guide id="4" pos="4702">
          <p15:clr>
            <a:srgbClr val="A4A3A4"/>
          </p15:clr>
        </p15:guide>
        <p15:guide id="5" pos="40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0535"/>
    <a:srgbClr val="0050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87" autoAdjust="0"/>
    <p:restoredTop sz="94249" autoAdjust="0"/>
  </p:normalViewPr>
  <p:slideViewPr>
    <p:cSldViewPr snapToGrid="0">
      <p:cViewPr varScale="1">
        <p:scale>
          <a:sx n="87" d="100"/>
          <a:sy n="87" d="100"/>
        </p:scale>
        <p:origin x="1267" y="77"/>
      </p:cViewPr>
      <p:guideLst>
        <p:guide orient="horz" pos="4237"/>
        <p:guide orient="horz" pos="890"/>
        <p:guide pos="5675"/>
        <p:guide pos="4702"/>
        <p:guide pos="40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font" Target="fonts/font13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6.fntdata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font" Target="fonts/font12.fntdata"/><Relationship Id="rId25" Type="http://schemas.openxmlformats.org/officeDocument/2006/relationships/font" Target="fonts/font20.fntdata"/><Relationship Id="rId2" Type="http://schemas.openxmlformats.org/officeDocument/2006/relationships/slide" Target="slides/slide1.xml"/><Relationship Id="rId16" Type="http://schemas.openxmlformats.org/officeDocument/2006/relationships/font" Target="fonts/font11.fntdata"/><Relationship Id="rId20" Type="http://schemas.openxmlformats.org/officeDocument/2006/relationships/font" Target="fonts/font15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24" Type="http://schemas.openxmlformats.org/officeDocument/2006/relationships/font" Target="fonts/font19.fntdata"/><Relationship Id="rId5" Type="http://schemas.openxmlformats.org/officeDocument/2006/relationships/notesMaster" Target="notesMasters/notesMaster1.xml"/><Relationship Id="rId15" Type="http://schemas.openxmlformats.org/officeDocument/2006/relationships/font" Target="fonts/font10.fntdata"/><Relationship Id="rId23" Type="http://schemas.openxmlformats.org/officeDocument/2006/relationships/font" Target="fonts/font18.fntdata"/><Relationship Id="rId28" Type="http://schemas.openxmlformats.org/officeDocument/2006/relationships/theme" Target="theme/theme1.xml"/><Relationship Id="rId10" Type="http://schemas.openxmlformats.org/officeDocument/2006/relationships/font" Target="fonts/font5.fntdata"/><Relationship Id="rId19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font" Target="fonts/font9.fntdata"/><Relationship Id="rId22" Type="http://schemas.openxmlformats.org/officeDocument/2006/relationships/font" Target="fonts/font17.fntdata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4302625" cy="340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621696" y="0"/>
            <a:ext cx="4302625" cy="340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122613" y="509588"/>
            <a:ext cx="3681412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92201" y="3228705"/>
            <a:ext cx="7942238" cy="3059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48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48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48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48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7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7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7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7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456324"/>
            <a:ext cx="4302625" cy="340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621696" y="6456324"/>
            <a:ext cx="4302625" cy="340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81495a7b70_0_449:notes"/>
          <p:cNvSpPr txBox="1">
            <a:spLocks noGrp="1"/>
          </p:cNvSpPr>
          <p:nvPr>
            <p:ph type="body" idx="1"/>
          </p:nvPr>
        </p:nvSpPr>
        <p:spPr>
          <a:xfrm>
            <a:off x="992200" y="3228705"/>
            <a:ext cx="7942128" cy="305916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" name="Google Shape;86;g81495a7b70_0_4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22613" y="509588"/>
            <a:ext cx="3681412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794048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81495a7b70_0_449:notes"/>
          <p:cNvSpPr txBox="1">
            <a:spLocks noGrp="1"/>
          </p:cNvSpPr>
          <p:nvPr>
            <p:ph type="body" idx="1"/>
          </p:nvPr>
        </p:nvSpPr>
        <p:spPr>
          <a:xfrm>
            <a:off x="992200" y="3228705"/>
            <a:ext cx="7942128" cy="305916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" name="Google Shape;86;g81495a7b70_0_4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22613" y="509588"/>
            <a:ext cx="3681412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116627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81495a7b70_0_449:notes"/>
          <p:cNvSpPr txBox="1">
            <a:spLocks noGrp="1"/>
          </p:cNvSpPr>
          <p:nvPr>
            <p:ph type="body" idx="1"/>
          </p:nvPr>
        </p:nvSpPr>
        <p:spPr>
          <a:xfrm>
            <a:off x="992200" y="3228705"/>
            <a:ext cx="7942128" cy="305916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" name="Google Shape;86;g81495a7b70_0_4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22613" y="509588"/>
            <a:ext cx="3681412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11777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タイトルとコンテンツ">
  <p:cSld name="1_タイトルとコンテンツ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Google Shape;18;p2"/>
          <p:cNvCxnSpPr/>
          <p:nvPr/>
        </p:nvCxnSpPr>
        <p:spPr>
          <a:xfrm>
            <a:off x="346075" y="6640513"/>
            <a:ext cx="9559925" cy="0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" name="Google Shape;19;p2"/>
          <p:cNvCxnSpPr/>
          <p:nvPr/>
        </p:nvCxnSpPr>
        <p:spPr>
          <a:xfrm>
            <a:off x="0" y="935038"/>
            <a:ext cx="9559925" cy="0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" name="Google Shape;20;p2"/>
          <p:cNvSpPr/>
          <p:nvPr/>
        </p:nvSpPr>
        <p:spPr>
          <a:xfrm>
            <a:off x="346075" y="6657975"/>
            <a:ext cx="442912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0" rIns="0" bIns="0" anchor="ctr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Copyright © 2018 Ocean Network Express Pte. Ltd. All Rights Reserved</a:t>
            </a:r>
            <a:endParaRPr dirty="0"/>
          </a:p>
        </p:txBody>
      </p:sp>
      <p:pic>
        <p:nvPicPr>
          <p:cNvPr id="21" name="Google Shape;21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75613" y="139700"/>
            <a:ext cx="1479550" cy="73977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2"/>
          <p:cNvSpPr txBox="1">
            <a:spLocks noGrp="1"/>
          </p:cNvSpPr>
          <p:nvPr>
            <p:ph type="title"/>
          </p:nvPr>
        </p:nvSpPr>
        <p:spPr>
          <a:xfrm>
            <a:off x="346824" y="67555"/>
            <a:ext cx="9208339" cy="846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body" idx="1"/>
          </p:nvPr>
        </p:nvSpPr>
        <p:spPr>
          <a:xfrm>
            <a:off x="346075" y="958411"/>
            <a:ext cx="921385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-"/>
              <a:defRPr/>
            </a:lvl5pPr>
            <a:lvl6pPr marL="2743200" lvl="5" indent="-3429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body" idx="2"/>
          </p:nvPr>
        </p:nvSpPr>
        <p:spPr>
          <a:xfrm>
            <a:off x="346075" y="1521642"/>
            <a:ext cx="9213850" cy="504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400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lvl="3" indent="-2921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000"/>
              <a:buChar char="•"/>
              <a:defRPr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lvl="4" indent="-2921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000"/>
              <a:buChar char="-"/>
              <a:defRPr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34290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2"/>
          <p:cNvSpPr txBox="1">
            <a:spLocks noGrp="1"/>
          </p:cNvSpPr>
          <p:nvPr>
            <p:ph type="sldNum" idx="12"/>
          </p:nvPr>
        </p:nvSpPr>
        <p:spPr>
          <a:xfrm>
            <a:off x="7573963" y="6646863"/>
            <a:ext cx="2311400" cy="196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600" b="0" i="0" u="none" strike="noStrike" cap="none">
                <a:solidFill>
                  <a:srgbClr val="463D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600" b="0" i="0" u="none" strike="noStrike" cap="none">
                <a:solidFill>
                  <a:srgbClr val="463D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600" b="0" i="0" u="none" strike="noStrike" cap="none">
                <a:solidFill>
                  <a:srgbClr val="463D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600" b="0" i="0" u="none" strike="noStrike" cap="none">
                <a:solidFill>
                  <a:srgbClr val="463D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600" b="0" i="0" u="none" strike="noStrike" cap="none">
                <a:solidFill>
                  <a:srgbClr val="463D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600" b="0" i="0" u="none" strike="noStrike" cap="none">
                <a:solidFill>
                  <a:srgbClr val="463D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600" b="0" i="0" u="none" strike="noStrike" cap="none">
                <a:solidFill>
                  <a:srgbClr val="463D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600" b="0" i="0" u="none" strike="noStrike" cap="none">
                <a:solidFill>
                  <a:srgbClr val="463D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600" b="0" i="0" u="none" strike="noStrike" cap="none">
                <a:solidFill>
                  <a:srgbClr val="463D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346075" y="68263"/>
            <a:ext cx="9209088" cy="844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BF0B6C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BF0B6C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BF0B6C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BF0B6C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BF0B6C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BF0B6C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BF0B6C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BF0B6C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BF0B6C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346075" y="1304925"/>
            <a:ext cx="9209088" cy="522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BF0B6C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228600" algn="l" rtl="0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BF0B6C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228600" algn="l" rtl="0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292100" algn="l" rtl="0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292100" algn="l" rtl="0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Merriweather Sans"/>
              <a:buChar char="-"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23850" algn="l" rtl="0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7573963" y="6646863"/>
            <a:ext cx="2311400" cy="196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600" b="0" i="0" u="none" strike="noStrike" cap="none">
                <a:solidFill>
                  <a:srgbClr val="463D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600" b="0" i="0" u="none" strike="noStrike" cap="none">
                <a:solidFill>
                  <a:srgbClr val="463D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600" b="0" i="0" u="none" strike="noStrike" cap="none">
                <a:solidFill>
                  <a:srgbClr val="463D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600" b="0" i="0" u="none" strike="noStrike" cap="none">
                <a:solidFill>
                  <a:srgbClr val="463D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600" b="0" i="0" u="none" strike="noStrike" cap="none">
                <a:solidFill>
                  <a:srgbClr val="463D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600" b="0" i="0" u="none" strike="noStrike" cap="none">
                <a:solidFill>
                  <a:srgbClr val="463D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600" b="0" i="0" u="none" strike="noStrike" cap="none">
                <a:solidFill>
                  <a:srgbClr val="463D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600" b="0" i="0" u="none" strike="noStrike" cap="none">
                <a:solidFill>
                  <a:srgbClr val="463D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600" b="0" i="0" u="none" strike="noStrike" cap="none">
                <a:solidFill>
                  <a:srgbClr val="463D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  <p:cxnSp>
        <p:nvCxnSpPr>
          <p:cNvPr id="13" name="Google Shape;13;p1"/>
          <p:cNvCxnSpPr/>
          <p:nvPr/>
        </p:nvCxnSpPr>
        <p:spPr>
          <a:xfrm>
            <a:off x="346075" y="6640513"/>
            <a:ext cx="9559925" cy="0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" name="Google Shape;14;p1"/>
          <p:cNvCxnSpPr/>
          <p:nvPr/>
        </p:nvCxnSpPr>
        <p:spPr>
          <a:xfrm>
            <a:off x="0" y="935038"/>
            <a:ext cx="9559925" cy="0"/>
          </a:xfrm>
          <a:prstGeom prst="straightConnector1">
            <a:avLst/>
          </a:prstGeom>
          <a:noFill/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" name="Google Shape;15;p1"/>
          <p:cNvSpPr/>
          <p:nvPr/>
        </p:nvSpPr>
        <p:spPr>
          <a:xfrm>
            <a:off x="346075" y="6657975"/>
            <a:ext cx="442912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0" rIns="0" bIns="0" anchor="ctr" anchorCtr="0">
            <a:no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Copyright © 2018 Ocean Network Express Pte. Ltd. All Rights Reserved</a:t>
            </a:r>
            <a:endParaRPr dirty="0"/>
          </a:p>
        </p:txBody>
      </p:sp>
      <p:pic>
        <p:nvPicPr>
          <p:cNvPr id="16" name="Google Shape;1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5613" y="139700"/>
            <a:ext cx="1479550" cy="73977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.jpg"/><Relationship Id="rId12" Type="http://schemas.openxmlformats.org/officeDocument/2006/relationships/image" Target="../media/image8.jpeg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emf"/><Relationship Id="rId11" Type="http://schemas.openxmlformats.org/officeDocument/2006/relationships/image" Target="../media/image7.jpeg"/><Relationship Id="rId5" Type="http://schemas.openxmlformats.org/officeDocument/2006/relationships/oleObject" Target="../embeddings/oleObject1.bin"/><Relationship Id="rId10" Type="http://schemas.openxmlformats.org/officeDocument/2006/relationships/image" Target="../media/image6.jpeg"/><Relationship Id="rId4" Type="http://schemas.openxmlformats.org/officeDocument/2006/relationships/notesSlide" Target="../notesSlides/notesSlide1.xml"/><Relationship Id="rId9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13" Type="http://schemas.openxmlformats.org/officeDocument/2006/relationships/image" Target="../media/image14.jpeg"/><Relationship Id="rId18" Type="http://schemas.openxmlformats.org/officeDocument/2006/relationships/image" Target="../media/image19.jpg"/><Relationship Id="rId3" Type="http://schemas.openxmlformats.org/officeDocument/2006/relationships/slideLayout" Target="../slideLayouts/slideLayout1.xml"/><Relationship Id="rId21" Type="http://schemas.openxmlformats.org/officeDocument/2006/relationships/image" Target="../media/image22.jpg"/><Relationship Id="rId7" Type="http://schemas.openxmlformats.org/officeDocument/2006/relationships/image" Target="../media/image3.jpg"/><Relationship Id="rId12" Type="http://schemas.openxmlformats.org/officeDocument/2006/relationships/image" Target="../media/image13.jpeg"/><Relationship Id="rId17" Type="http://schemas.openxmlformats.org/officeDocument/2006/relationships/image" Target="../media/image18.JPG"/><Relationship Id="rId2" Type="http://schemas.openxmlformats.org/officeDocument/2006/relationships/tags" Target="../tags/tag2.xml"/><Relationship Id="rId16" Type="http://schemas.openxmlformats.org/officeDocument/2006/relationships/image" Target="../media/image17.JPG"/><Relationship Id="rId20" Type="http://schemas.openxmlformats.org/officeDocument/2006/relationships/image" Target="../media/image21.png"/><Relationship Id="rId1" Type="http://schemas.openxmlformats.org/officeDocument/2006/relationships/vmlDrawing" Target="../drawings/vmlDrawing2.vml"/><Relationship Id="rId6" Type="http://schemas.openxmlformats.org/officeDocument/2006/relationships/image" Target="../media/image2.emf"/><Relationship Id="rId11" Type="http://schemas.openxmlformats.org/officeDocument/2006/relationships/image" Target="../media/image12.jpeg"/><Relationship Id="rId5" Type="http://schemas.openxmlformats.org/officeDocument/2006/relationships/oleObject" Target="../embeddings/oleObject2.bin"/><Relationship Id="rId15" Type="http://schemas.openxmlformats.org/officeDocument/2006/relationships/image" Target="../media/image16.jpeg"/><Relationship Id="rId10" Type="http://schemas.openxmlformats.org/officeDocument/2006/relationships/image" Target="../media/image11.JPG"/><Relationship Id="rId19" Type="http://schemas.openxmlformats.org/officeDocument/2006/relationships/image" Target="../media/image20.jpg"/><Relationship Id="rId4" Type="http://schemas.openxmlformats.org/officeDocument/2006/relationships/notesSlide" Target="../notesSlides/notesSlide2.xml"/><Relationship Id="rId9" Type="http://schemas.openxmlformats.org/officeDocument/2006/relationships/image" Target="../media/image10.jpeg"/><Relationship Id="rId1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3.bin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B200B0FF-CA9E-4020-901A-B9AB7D951891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7" name="think-cell Slide" r:id="rId5" imgW="523" imgH="499" progId="TCLayout.ActiveDocument.1">
                  <p:embed/>
                </p:oleObj>
              </mc:Choice>
              <mc:Fallback>
                <p:oleObj name="think-cell Slide" r:id="rId5" imgW="523" imgH="499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B200B0FF-CA9E-4020-901A-B9AB7D9518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" name="Google Shape;90;p7">
            <a:extLst>
              <a:ext uri="{FF2B5EF4-FFF2-40B4-BE49-F238E27FC236}">
                <a16:creationId xmlns:a16="http://schemas.microsoft.com/office/drawing/2014/main" id="{3DA0191A-BC88-4BFB-B632-3604DA974D57}"/>
              </a:ext>
            </a:extLst>
          </p:cNvPr>
          <p:cNvSpPr txBox="1"/>
          <p:nvPr/>
        </p:nvSpPr>
        <p:spPr>
          <a:xfrm>
            <a:off x="6765310" y="2242091"/>
            <a:ext cx="1440000" cy="514850"/>
          </a:xfrm>
          <a:prstGeom prst="rect">
            <a:avLst/>
          </a:prstGeom>
          <a:solidFill>
            <a:srgbClr val="00506D"/>
          </a:solidFill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r>
              <a:rPr lang="en-SG" sz="1000" b="1" dirty="0">
                <a:solidFill>
                  <a:schemeClr val="bg1"/>
                </a:solidFill>
              </a:rPr>
              <a:t>                 </a:t>
            </a:r>
            <a:r>
              <a:rPr lang="en-SG" sz="900" b="1" dirty="0">
                <a:solidFill>
                  <a:schemeClr val="bg1"/>
                </a:solidFill>
              </a:rPr>
              <a:t>Shogo Otsuka</a:t>
            </a:r>
          </a:p>
          <a:p>
            <a:r>
              <a:rPr lang="en-SG" sz="800" dirty="0">
                <a:solidFill>
                  <a:schemeClr val="bg1"/>
                </a:solidFill>
              </a:rPr>
              <a:t>                          Manager</a:t>
            </a:r>
            <a:endParaRPr sz="800" dirty="0">
              <a:solidFill>
                <a:schemeClr val="bg1"/>
              </a:solidFill>
              <a:latin typeface="+mn-lt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7"/>
          <p:cNvSpPr txBox="1">
            <a:spLocks noGrp="1"/>
          </p:cNvSpPr>
          <p:nvPr>
            <p:ph type="title"/>
          </p:nvPr>
        </p:nvSpPr>
        <p:spPr>
          <a:xfrm>
            <a:off x="346075" y="68263"/>
            <a:ext cx="92091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/>
          <a:p>
            <a:pPr lvl="0"/>
            <a:r>
              <a:rPr lang="en-US" b="1" dirty="0">
                <a:latin typeface="Meiryo" panose="020B0604030504040204" pitchFamily="34" charset="-128"/>
                <a:ea typeface="Meiryo" panose="020B0604030504040204" pitchFamily="34" charset="-128"/>
              </a:rPr>
              <a:t>3-7. Digital</a:t>
            </a:r>
            <a:r>
              <a:rPr lang="en-SG" b="1" dirty="0">
                <a:latin typeface="Meiryo" panose="020B0604030504040204" pitchFamily="34" charset="-128"/>
                <a:ea typeface="Meiryo" panose="020B0604030504040204" pitchFamily="34" charset="-128"/>
              </a:rPr>
              <a:t> Yield Management</a:t>
            </a:r>
            <a:br>
              <a:rPr lang="en-SG" b="1" dirty="0"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en-SG" b="1" dirty="0">
                <a:latin typeface="Meiryo" panose="020B0604030504040204" pitchFamily="34" charset="-128"/>
                <a:ea typeface="Meiryo" panose="020B0604030504040204" pitchFamily="34" charset="-128"/>
              </a:rPr>
              <a:t> Strategy, Tiger and Titan Project Team</a:t>
            </a:r>
            <a:endParaRPr b="1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91" name="Google Shape;91;p7"/>
          <p:cNvSpPr txBox="1"/>
          <p:nvPr/>
        </p:nvSpPr>
        <p:spPr>
          <a:xfrm>
            <a:off x="3371149" y="1052017"/>
            <a:ext cx="3149778" cy="633384"/>
          </a:xfrm>
          <a:prstGeom prst="rect">
            <a:avLst/>
          </a:prstGeom>
          <a:solidFill>
            <a:schemeClr val="tx2"/>
          </a:solidFill>
          <a:ln w="2857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75" tIns="45700" rIns="1827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</a:pPr>
            <a:r>
              <a:rPr lang="en-SG" sz="1050" b="1" i="0" u="none" strike="noStrike" cap="none" dirty="0">
                <a:solidFill>
                  <a:schemeClr val="bg1"/>
                </a:solidFill>
                <a:latin typeface="+mn-lt"/>
                <a:ea typeface="Times New Roman"/>
                <a:cs typeface="Times New Roman"/>
                <a:sym typeface="Times New Roman"/>
              </a:rPr>
              <a:t>Digital Yield Management</a:t>
            </a:r>
            <a:endParaRPr sz="1050" dirty="0">
              <a:solidFill>
                <a:schemeClr val="bg1"/>
              </a:solidFill>
              <a:latin typeface="+mn-lt"/>
            </a:endParaRPr>
          </a:p>
          <a:p>
            <a:pPr lvl="0" algn="ctr">
              <a:buSzPts val="1000"/>
            </a:pPr>
            <a:r>
              <a:rPr lang="en-SG" sz="1050" b="1" dirty="0">
                <a:solidFill>
                  <a:schemeClr val="bg1"/>
                </a:solidFill>
                <a:latin typeface="+mn-lt"/>
                <a:cs typeface="Times New Roman"/>
              </a:rPr>
              <a:t>Kenichi Michida</a:t>
            </a:r>
          </a:p>
          <a:p>
            <a:pPr lvl="0" algn="ctr">
              <a:buSzPts val="1000"/>
            </a:pPr>
            <a:r>
              <a:rPr lang="en-US" sz="1000" b="1" i="0" u="none" strike="noStrike" cap="none" dirty="0">
                <a:solidFill>
                  <a:schemeClr val="bg1"/>
                </a:solidFill>
                <a:latin typeface="+mn-lt"/>
                <a:ea typeface="Times New Roman"/>
                <a:cs typeface="Times New Roman"/>
                <a:sym typeface="Times New Roman"/>
              </a:rPr>
              <a:t>Senior Vice President</a:t>
            </a:r>
            <a:endParaRPr sz="1000" dirty="0">
              <a:solidFill>
                <a:schemeClr val="bg1"/>
              </a:solidFill>
              <a:latin typeface="+mn-lt"/>
            </a:endParaRPr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867BA7B3-62BF-4577-9B95-47FD15B68C99}"/>
              </a:ext>
            </a:extLst>
          </p:cNvPr>
          <p:cNvGrpSpPr/>
          <p:nvPr/>
        </p:nvGrpSpPr>
        <p:grpSpPr>
          <a:xfrm>
            <a:off x="8556011" y="989305"/>
            <a:ext cx="1156412" cy="1203389"/>
            <a:chOff x="8563277" y="989911"/>
            <a:chExt cx="1156412" cy="1203389"/>
          </a:xfrm>
        </p:grpSpPr>
        <p:sp>
          <p:nvSpPr>
            <p:cNvPr id="96" name="Google Shape;102;p7">
              <a:extLst>
                <a:ext uri="{FF2B5EF4-FFF2-40B4-BE49-F238E27FC236}">
                  <a16:creationId xmlns:a16="http://schemas.microsoft.com/office/drawing/2014/main" id="{B5906C07-6B14-4EE3-AB1C-FF9A4DE66166}"/>
                </a:ext>
              </a:extLst>
            </p:cNvPr>
            <p:cNvSpPr txBox="1"/>
            <p:nvPr/>
          </p:nvSpPr>
          <p:spPr>
            <a:xfrm>
              <a:off x="8686214" y="1418473"/>
              <a:ext cx="886287" cy="344830"/>
            </a:xfrm>
            <a:prstGeom prst="rect">
              <a:avLst/>
            </a:prstGeom>
            <a:solidFill>
              <a:srgbClr val="00506D"/>
            </a:solidFill>
            <a:ln w="190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275" tIns="45700" rIns="1827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Times New Roman"/>
                <a:buNone/>
              </a:pPr>
              <a:r>
                <a:rPr lang="en-US" sz="1100" b="1" i="0" u="none" strike="noStrike" cap="none" dirty="0">
                  <a:solidFill>
                    <a:schemeClr val="bg1"/>
                  </a:solidFill>
                  <a:latin typeface="+mn-lt"/>
                  <a:ea typeface="Times New Roman"/>
                  <a:cs typeface="Times New Roman"/>
                  <a:sym typeface="Times New Roman"/>
                </a:rPr>
                <a:t>Team Lead</a:t>
              </a:r>
              <a:endParaRPr sz="1100" b="1" dirty="0">
                <a:solidFill>
                  <a:schemeClr val="bg1"/>
                </a:solidFill>
                <a:latin typeface="+mn-lt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8" name="Google Shape;108;p7">
              <a:extLst>
                <a:ext uri="{FF2B5EF4-FFF2-40B4-BE49-F238E27FC236}">
                  <a16:creationId xmlns:a16="http://schemas.microsoft.com/office/drawing/2014/main" id="{95B38368-7E63-425B-84B6-6A658F6B4A51}"/>
                </a:ext>
              </a:extLst>
            </p:cNvPr>
            <p:cNvSpPr/>
            <p:nvPr/>
          </p:nvSpPr>
          <p:spPr>
            <a:xfrm>
              <a:off x="8686215" y="1067060"/>
              <a:ext cx="886288" cy="332275"/>
            </a:xfrm>
            <a:prstGeom prst="roundRect">
              <a:avLst>
                <a:gd name="adj" fmla="val 16667"/>
              </a:avLst>
            </a:prstGeom>
            <a:solidFill>
              <a:srgbClr val="340535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rgbClr val="FFFFFF"/>
                  </a:solidFill>
                  <a:latin typeface="+mn-lt"/>
                  <a:ea typeface="Arial Black"/>
                  <a:cs typeface="Arial Black"/>
                  <a:sym typeface="Arial Black"/>
                </a:rPr>
                <a:t>Team</a:t>
              </a:r>
              <a:endParaRPr sz="1200" dirty="0">
                <a:solidFill>
                  <a:srgbClr val="FFFFFF"/>
                </a:solidFill>
                <a:latin typeface="+mn-lt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09425EA0-BEB7-4F0C-AD67-4F19C289ED6D}"/>
                </a:ext>
              </a:extLst>
            </p:cNvPr>
            <p:cNvSpPr/>
            <p:nvPr/>
          </p:nvSpPr>
          <p:spPr>
            <a:xfrm>
              <a:off x="8563277" y="989911"/>
              <a:ext cx="1156412" cy="1203389"/>
            </a:xfrm>
            <a:prstGeom prst="rect">
              <a:avLst/>
            </a:prstGeom>
            <a:noFill/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1" name="Google Shape;108;p7">
              <a:extLst>
                <a:ext uri="{FF2B5EF4-FFF2-40B4-BE49-F238E27FC236}">
                  <a16:creationId xmlns:a16="http://schemas.microsoft.com/office/drawing/2014/main" id="{503ECF5B-80D5-4D24-998E-E294FAC53890}"/>
                </a:ext>
              </a:extLst>
            </p:cNvPr>
            <p:cNvSpPr/>
            <p:nvPr/>
          </p:nvSpPr>
          <p:spPr>
            <a:xfrm>
              <a:off x="8682208" y="1782441"/>
              <a:ext cx="886288" cy="332275"/>
            </a:xfrm>
            <a:prstGeom prst="roundRect">
              <a:avLst>
                <a:gd name="adj" fmla="val 16667"/>
              </a:avLst>
            </a:prstGeom>
            <a:solidFill>
              <a:srgbClr val="92D050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rgbClr val="FFFFFF"/>
                  </a:solidFill>
                  <a:latin typeface="+mn-lt"/>
                  <a:ea typeface="Arial Black"/>
                  <a:cs typeface="Arial Black"/>
                  <a:sym typeface="Arial Black"/>
                </a:rPr>
                <a:t>Unit</a:t>
              </a:r>
              <a:endParaRPr sz="1200" dirty="0">
                <a:solidFill>
                  <a:srgbClr val="FFFFFF"/>
                </a:solidFill>
                <a:latin typeface="+mn-lt"/>
                <a:ea typeface="Arial Black"/>
                <a:cs typeface="Arial Black"/>
                <a:sym typeface="Arial Black"/>
              </a:endParaRPr>
            </a:p>
          </p:txBody>
        </p:sp>
      </p:grpSp>
      <p:sp>
        <p:nvSpPr>
          <p:cNvPr id="74" name="Rectangle 73">
            <a:extLst>
              <a:ext uri="{FF2B5EF4-FFF2-40B4-BE49-F238E27FC236}">
                <a16:creationId xmlns:a16="http://schemas.microsoft.com/office/drawing/2014/main" id="{0575E4D5-D5D8-414D-9C1A-D16A0D0F7285}"/>
              </a:ext>
            </a:extLst>
          </p:cNvPr>
          <p:cNvSpPr/>
          <p:nvPr/>
        </p:nvSpPr>
        <p:spPr>
          <a:xfrm>
            <a:off x="3412893" y="1092211"/>
            <a:ext cx="473307" cy="553420"/>
          </a:xfrm>
          <a:prstGeom prst="rect">
            <a:avLst/>
          </a:prstGeom>
          <a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7000" r="-7000"/>
            </a:stretch>
          </a:blip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3">
              <a:tint val="50000"/>
              <a:hueOff val="-670705"/>
              <a:satOff val="831"/>
              <a:lumOff val="2156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SG"/>
          </a:p>
        </p:txBody>
      </p:sp>
      <p:sp>
        <p:nvSpPr>
          <p:cNvPr id="45" name="Google Shape;94;p7">
            <a:extLst>
              <a:ext uri="{FF2B5EF4-FFF2-40B4-BE49-F238E27FC236}">
                <a16:creationId xmlns:a16="http://schemas.microsoft.com/office/drawing/2014/main" id="{6F945FD9-9D49-40BC-A5EA-F4D7A1737EAB}"/>
              </a:ext>
            </a:extLst>
          </p:cNvPr>
          <p:cNvSpPr txBox="1"/>
          <p:nvPr/>
        </p:nvSpPr>
        <p:spPr>
          <a:xfrm>
            <a:off x="4222232" y="2242091"/>
            <a:ext cx="1440000" cy="525328"/>
          </a:xfrm>
          <a:prstGeom prst="rect">
            <a:avLst/>
          </a:prstGeom>
          <a:solidFill>
            <a:srgbClr val="00506D"/>
          </a:solidFill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000" b="1">
                <a:solidFill>
                  <a:schemeClr val="bg1"/>
                </a:solidFill>
              </a:defRPr>
            </a:lvl1pPr>
          </a:lstStyle>
          <a:p>
            <a:r>
              <a:rPr lang="en-SG" b="0" dirty="0"/>
              <a:t>                 </a:t>
            </a:r>
            <a:r>
              <a:rPr lang="en-SG" sz="900" dirty="0"/>
              <a:t>Genji Ryo</a:t>
            </a:r>
          </a:p>
          <a:p>
            <a:r>
              <a:rPr lang="en-SG" sz="800" b="0" dirty="0"/>
              <a:t>                 Deputy General </a:t>
            </a:r>
          </a:p>
          <a:p>
            <a:r>
              <a:rPr lang="en-SG" sz="800" b="0" dirty="0"/>
              <a:t>                      Manager</a:t>
            </a:r>
            <a:endParaRPr sz="800" b="0" dirty="0"/>
          </a:p>
        </p:txBody>
      </p:sp>
      <p:sp>
        <p:nvSpPr>
          <p:cNvPr id="52" name="Google Shape;94;p7">
            <a:extLst>
              <a:ext uri="{FF2B5EF4-FFF2-40B4-BE49-F238E27FC236}">
                <a16:creationId xmlns:a16="http://schemas.microsoft.com/office/drawing/2014/main" id="{69F4E488-DE68-472F-BBFB-99F9D4D8DEB6}"/>
              </a:ext>
            </a:extLst>
          </p:cNvPr>
          <p:cNvSpPr txBox="1"/>
          <p:nvPr/>
        </p:nvSpPr>
        <p:spPr>
          <a:xfrm>
            <a:off x="4218036" y="5155898"/>
            <a:ext cx="1440000" cy="5253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algn="ctr"/>
            <a:r>
              <a:rPr lang="en-SG" sz="900" b="1" dirty="0"/>
              <a:t>                 Chia</a:t>
            </a:r>
          </a:p>
          <a:p>
            <a:pPr algn="ctr"/>
            <a:r>
              <a:rPr lang="en-SG" sz="900" b="1" dirty="0"/>
              <a:t>                </a:t>
            </a:r>
            <a:r>
              <a:rPr lang="en-SG" sz="900" b="1" dirty="0" err="1"/>
              <a:t>Gek</a:t>
            </a:r>
            <a:r>
              <a:rPr lang="en-SG" sz="900" b="1" dirty="0"/>
              <a:t> Hui</a:t>
            </a:r>
            <a:endParaRPr lang="en-SG" sz="900" dirty="0"/>
          </a:p>
          <a:p>
            <a:pPr algn="ctr"/>
            <a:r>
              <a:rPr lang="en-SG" sz="800" dirty="0"/>
              <a:t>                Senior </a:t>
            </a:r>
          </a:p>
          <a:p>
            <a:pPr algn="ctr"/>
            <a:r>
              <a:rPr lang="en-SG" sz="800" dirty="0"/>
              <a:t>                 Executive</a:t>
            </a:r>
            <a:endParaRPr sz="300" dirty="0">
              <a:latin typeface="+mn-lt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5B5D005-72B2-4175-9615-7B1F6E63672E}"/>
              </a:ext>
            </a:extLst>
          </p:cNvPr>
          <p:cNvSpPr/>
          <p:nvPr/>
        </p:nvSpPr>
        <p:spPr>
          <a:xfrm>
            <a:off x="4255130" y="2280457"/>
            <a:ext cx="348072" cy="464096"/>
          </a:xfrm>
          <a:prstGeom prst="rect">
            <a:avLst/>
          </a:prstGeom>
          <a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000" r="-3000"/>
            </a:stretch>
          </a:blip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3">
              <a:tint val="50000"/>
              <a:hueOff val="-766520"/>
              <a:satOff val="950"/>
              <a:lumOff val="2464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SG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0C82F89-7E70-43BA-801C-6ED28FE1FBC6}"/>
              </a:ext>
            </a:extLst>
          </p:cNvPr>
          <p:cNvCxnSpPr>
            <a:cxnSpLocks/>
            <a:stCxn id="45" idx="2"/>
            <a:endCxn id="73" idx="0"/>
          </p:cNvCxnSpPr>
          <p:nvPr/>
        </p:nvCxnSpPr>
        <p:spPr>
          <a:xfrm flipH="1">
            <a:off x="4940878" y="2767419"/>
            <a:ext cx="1354" cy="1461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Google Shape;107;p7">
            <a:extLst>
              <a:ext uri="{FF2B5EF4-FFF2-40B4-BE49-F238E27FC236}">
                <a16:creationId xmlns:a16="http://schemas.microsoft.com/office/drawing/2014/main" id="{C1A070B9-8496-47B9-873A-33878C482AA0}"/>
              </a:ext>
            </a:extLst>
          </p:cNvPr>
          <p:cNvSpPr/>
          <p:nvPr/>
        </p:nvSpPr>
        <p:spPr>
          <a:xfrm>
            <a:off x="4219102" y="3363414"/>
            <a:ext cx="1435778" cy="360000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SG" sz="1050" dirty="0">
                <a:solidFill>
                  <a:schemeClr val="bg1"/>
                </a:solidFill>
              </a:rPr>
              <a:t>Tiger Project</a:t>
            </a:r>
            <a:endParaRPr sz="1050" dirty="0">
              <a:solidFill>
                <a:schemeClr val="bg1"/>
              </a:solidFill>
              <a:latin typeface="+mn-lt"/>
              <a:ea typeface="Arial Black"/>
              <a:cs typeface="Arial Black"/>
              <a:sym typeface="Arial Black"/>
            </a:endParaRPr>
          </a:p>
        </p:txBody>
      </p:sp>
      <p:sp>
        <p:nvSpPr>
          <p:cNvPr id="46" name="Google Shape;94;p7">
            <a:extLst>
              <a:ext uri="{FF2B5EF4-FFF2-40B4-BE49-F238E27FC236}">
                <a16:creationId xmlns:a16="http://schemas.microsoft.com/office/drawing/2014/main" id="{A97693C5-6F27-47B3-B86B-B029BA39AC57}"/>
              </a:ext>
            </a:extLst>
          </p:cNvPr>
          <p:cNvSpPr txBox="1"/>
          <p:nvPr/>
        </p:nvSpPr>
        <p:spPr>
          <a:xfrm>
            <a:off x="4213122" y="3834842"/>
            <a:ext cx="1440000" cy="5253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algn="ctr"/>
            <a:r>
              <a:rPr lang="en-SG" sz="800" b="1" dirty="0"/>
              <a:t>              </a:t>
            </a:r>
            <a:r>
              <a:rPr lang="en-SG" sz="900" b="1" dirty="0"/>
              <a:t>Vincent Yip</a:t>
            </a:r>
          </a:p>
          <a:p>
            <a:pPr algn="ctr"/>
            <a:r>
              <a:rPr lang="en-SG" sz="800" dirty="0"/>
              <a:t>           </a:t>
            </a:r>
            <a:r>
              <a:rPr lang="en-SG" sz="800" dirty="0">
                <a:solidFill>
                  <a:schemeClr val="tx1"/>
                </a:solidFill>
              </a:rPr>
              <a:t>Manager</a:t>
            </a:r>
            <a:endParaRPr sz="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9" name="Google Shape;94;p7">
            <a:extLst>
              <a:ext uri="{FF2B5EF4-FFF2-40B4-BE49-F238E27FC236}">
                <a16:creationId xmlns:a16="http://schemas.microsoft.com/office/drawing/2014/main" id="{2F26D2CF-0901-4483-AC3D-8946BEDF2EAF}"/>
              </a:ext>
            </a:extLst>
          </p:cNvPr>
          <p:cNvSpPr txBox="1"/>
          <p:nvPr/>
        </p:nvSpPr>
        <p:spPr>
          <a:xfrm>
            <a:off x="4215383" y="4498859"/>
            <a:ext cx="1440000" cy="5253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algn="ctr"/>
            <a:r>
              <a:rPr lang="en-SG" sz="900" dirty="0"/>
              <a:t>              TBD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B00F794-6453-4A7E-9350-FBE6C65D0618}"/>
              </a:ext>
            </a:extLst>
          </p:cNvPr>
          <p:cNvSpPr/>
          <p:nvPr/>
        </p:nvSpPr>
        <p:spPr>
          <a:xfrm>
            <a:off x="4282082" y="3875753"/>
            <a:ext cx="348072" cy="464096"/>
          </a:xfrm>
          <a:prstGeom prst="rect">
            <a:avLst/>
          </a:prstGeom>
          <a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7000" r="-7000"/>
            </a:stretch>
          </a:blip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3">
              <a:tint val="50000"/>
              <a:hueOff val="-1022027"/>
              <a:satOff val="1267"/>
              <a:lumOff val="3286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SG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B5799A1-F36C-4B62-8E54-50D521F59E81}"/>
              </a:ext>
            </a:extLst>
          </p:cNvPr>
          <p:cNvSpPr/>
          <p:nvPr/>
        </p:nvSpPr>
        <p:spPr>
          <a:xfrm>
            <a:off x="4277355" y="5196003"/>
            <a:ext cx="348072" cy="464096"/>
          </a:xfrm>
          <a:prstGeom prst="rect">
            <a:avLst/>
          </a:prstGeom>
          <a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000" r="-3000"/>
            </a:stretch>
          </a:blip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3">
              <a:tint val="50000"/>
              <a:hueOff val="-1533041"/>
              <a:satOff val="1900"/>
              <a:lumOff val="4929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SG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D4C2059-CE02-487A-A521-A2880E264B49}"/>
              </a:ext>
            </a:extLst>
          </p:cNvPr>
          <p:cNvSpPr/>
          <p:nvPr/>
        </p:nvSpPr>
        <p:spPr>
          <a:xfrm>
            <a:off x="6801079" y="2280457"/>
            <a:ext cx="348072" cy="444716"/>
          </a:xfrm>
          <a:prstGeom prst="rect">
            <a:avLst/>
          </a:prstGeom>
          <a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4000" r="-4000"/>
            </a:stretch>
          </a:blip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3">
              <a:tint val="50000"/>
              <a:hueOff val="-511014"/>
              <a:satOff val="633"/>
              <a:lumOff val="1643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SG"/>
          </a:p>
        </p:txBody>
      </p:sp>
      <p:sp>
        <p:nvSpPr>
          <p:cNvPr id="62" name="Google Shape;107;p7">
            <a:extLst>
              <a:ext uri="{FF2B5EF4-FFF2-40B4-BE49-F238E27FC236}">
                <a16:creationId xmlns:a16="http://schemas.microsoft.com/office/drawing/2014/main" id="{F21F88BE-49D3-43D4-8243-D61E41E7CAE1}"/>
              </a:ext>
            </a:extLst>
          </p:cNvPr>
          <p:cNvSpPr/>
          <p:nvPr/>
        </p:nvSpPr>
        <p:spPr>
          <a:xfrm>
            <a:off x="6767361" y="3363414"/>
            <a:ext cx="1435778" cy="360000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SG" sz="1050" dirty="0">
                <a:solidFill>
                  <a:schemeClr val="bg1"/>
                </a:solidFill>
                <a:latin typeface="+mn-lt"/>
                <a:ea typeface="Arial Black"/>
                <a:cs typeface="Arial Black"/>
                <a:sym typeface="Arial Black"/>
              </a:rPr>
              <a:t>Plan &amp; Coordination</a:t>
            </a:r>
            <a:endParaRPr sz="1050" dirty="0">
              <a:solidFill>
                <a:schemeClr val="bg1"/>
              </a:solidFill>
              <a:latin typeface="+mn-lt"/>
              <a:ea typeface="Arial Black"/>
              <a:cs typeface="Arial Black"/>
              <a:sym typeface="Arial Black"/>
            </a:endParaRPr>
          </a:p>
        </p:txBody>
      </p:sp>
      <p:sp>
        <p:nvSpPr>
          <p:cNvPr id="57" name="Google Shape;108;p7">
            <a:extLst>
              <a:ext uri="{FF2B5EF4-FFF2-40B4-BE49-F238E27FC236}">
                <a16:creationId xmlns:a16="http://schemas.microsoft.com/office/drawing/2014/main" id="{8AB1C06E-3C15-4ACA-96DD-E83AFF3C041A}"/>
              </a:ext>
            </a:extLst>
          </p:cNvPr>
          <p:cNvSpPr/>
          <p:nvPr/>
        </p:nvSpPr>
        <p:spPr>
          <a:xfrm>
            <a:off x="6731782" y="2913552"/>
            <a:ext cx="1512000" cy="332275"/>
          </a:xfrm>
          <a:prstGeom prst="roundRect">
            <a:avLst>
              <a:gd name="adj" fmla="val 16667"/>
            </a:avLst>
          </a:prstGeom>
          <a:solidFill>
            <a:srgbClr val="340535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200" dirty="0">
                <a:solidFill>
                  <a:srgbClr val="FFFFFF"/>
                </a:solidFill>
                <a:latin typeface="+mn-lt"/>
                <a:ea typeface="Arial Black"/>
                <a:cs typeface="Arial Black"/>
                <a:sym typeface="Arial Black"/>
              </a:rPr>
              <a:t>Strategy</a:t>
            </a:r>
            <a:endParaRPr sz="1200" dirty="0">
              <a:solidFill>
                <a:srgbClr val="FFFFFF"/>
              </a:solidFill>
              <a:latin typeface="+mn-lt"/>
              <a:ea typeface="Arial Black"/>
              <a:cs typeface="Arial Black"/>
              <a:sym typeface="Arial Black"/>
            </a:endParaRPr>
          </a:p>
        </p:txBody>
      </p:sp>
      <p:sp>
        <p:nvSpPr>
          <p:cNvPr id="61" name="Google Shape;94;p7">
            <a:extLst>
              <a:ext uri="{FF2B5EF4-FFF2-40B4-BE49-F238E27FC236}">
                <a16:creationId xmlns:a16="http://schemas.microsoft.com/office/drawing/2014/main" id="{7081C15B-6B10-4249-B82F-3DF582B88C54}"/>
              </a:ext>
            </a:extLst>
          </p:cNvPr>
          <p:cNvSpPr txBox="1"/>
          <p:nvPr/>
        </p:nvSpPr>
        <p:spPr>
          <a:xfrm>
            <a:off x="6764711" y="3841001"/>
            <a:ext cx="1440000" cy="5253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algn="ctr"/>
            <a:r>
              <a:rPr lang="en-SG" sz="800" b="1" dirty="0"/>
              <a:t>                 </a:t>
            </a:r>
            <a:r>
              <a:rPr lang="en-SG" sz="900" b="1" dirty="0" err="1"/>
              <a:t>Kimmi</a:t>
            </a:r>
            <a:r>
              <a:rPr lang="en-SG" sz="900" b="1" dirty="0"/>
              <a:t> Kang</a:t>
            </a:r>
          </a:p>
          <a:p>
            <a:pPr algn="ctr"/>
            <a:r>
              <a:rPr lang="en-SG" sz="900" dirty="0"/>
              <a:t>                </a:t>
            </a:r>
            <a:r>
              <a:rPr lang="en-SG" sz="800" dirty="0"/>
              <a:t>Manager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83ED663-F00B-4548-9EA4-D971A9C7478E}"/>
              </a:ext>
            </a:extLst>
          </p:cNvPr>
          <p:cNvCxnSpPr>
            <a:cxnSpLocks/>
            <a:stCxn id="62" idx="2"/>
            <a:endCxn id="61" idx="0"/>
          </p:cNvCxnSpPr>
          <p:nvPr/>
        </p:nvCxnSpPr>
        <p:spPr>
          <a:xfrm flipH="1">
            <a:off x="7484711" y="3723414"/>
            <a:ext cx="539" cy="11758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Google Shape;108;p7">
            <a:extLst>
              <a:ext uri="{FF2B5EF4-FFF2-40B4-BE49-F238E27FC236}">
                <a16:creationId xmlns:a16="http://schemas.microsoft.com/office/drawing/2014/main" id="{6D118271-B65A-45F4-A23B-79E02A624ACD}"/>
              </a:ext>
            </a:extLst>
          </p:cNvPr>
          <p:cNvSpPr/>
          <p:nvPr/>
        </p:nvSpPr>
        <p:spPr>
          <a:xfrm>
            <a:off x="4184878" y="2913552"/>
            <a:ext cx="1512000" cy="332275"/>
          </a:xfrm>
          <a:prstGeom prst="roundRect">
            <a:avLst>
              <a:gd name="adj" fmla="val 16667"/>
            </a:avLst>
          </a:prstGeom>
          <a:solidFill>
            <a:srgbClr val="340535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200" dirty="0">
                <a:solidFill>
                  <a:srgbClr val="FFFFFF"/>
                </a:solidFill>
                <a:latin typeface="+mn-lt"/>
                <a:ea typeface="Arial Black"/>
                <a:cs typeface="Arial Black"/>
                <a:sym typeface="Arial Black"/>
              </a:rPr>
              <a:t>Tiger Project</a:t>
            </a:r>
            <a:endParaRPr sz="1200" dirty="0">
              <a:solidFill>
                <a:srgbClr val="FFFFFF"/>
              </a:solidFill>
              <a:latin typeface="+mn-lt"/>
              <a:ea typeface="Arial Black"/>
              <a:cs typeface="Arial Black"/>
              <a:sym typeface="Arial Black"/>
            </a:endParaRP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2DD63B56-EBB1-4694-93EA-9C8D433D315B}"/>
              </a:ext>
            </a:extLst>
          </p:cNvPr>
          <p:cNvCxnSpPr>
            <a:cxnSpLocks/>
            <a:stCxn id="73" idx="2"/>
            <a:endCxn id="41" idx="0"/>
          </p:cNvCxnSpPr>
          <p:nvPr/>
        </p:nvCxnSpPr>
        <p:spPr>
          <a:xfrm flipH="1">
            <a:off x="4936991" y="3245827"/>
            <a:ext cx="3887" cy="11758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DCAA3C3D-84D0-47FE-93C5-EEEE7D1A6557}"/>
              </a:ext>
            </a:extLst>
          </p:cNvPr>
          <p:cNvCxnSpPr>
            <a:cxnSpLocks/>
            <a:stCxn id="41" idx="2"/>
            <a:endCxn id="46" idx="0"/>
          </p:cNvCxnSpPr>
          <p:nvPr/>
        </p:nvCxnSpPr>
        <p:spPr>
          <a:xfrm flipH="1">
            <a:off x="4933122" y="3723414"/>
            <a:ext cx="3869" cy="1114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711238E9-462D-4ACB-9E23-51DB7179B74E}"/>
              </a:ext>
            </a:extLst>
          </p:cNvPr>
          <p:cNvCxnSpPr>
            <a:cxnSpLocks/>
            <a:stCxn id="46" idx="2"/>
            <a:endCxn id="49" idx="0"/>
          </p:cNvCxnSpPr>
          <p:nvPr/>
        </p:nvCxnSpPr>
        <p:spPr>
          <a:xfrm>
            <a:off x="4933122" y="4360170"/>
            <a:ext cx="2261" cy="1386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7A2FB4A4-87F8-4DF9-A486-1AAC041B9B91}"/>
              </a:ext>
            </a:extLst>
          </p:cNvPr>
          <p:cNvCxnSpPr>
            <a:cxnSpLocks/>
            <a:stCxn id="49" idx="2"/>
            <a:endCxn id="52" idx="0"/>
          </p:cNvCxnSpPr>
          <p:nvPr/>
        </p:nvCxnSpPr>
        <p:spPr>
          <a:xfrm>
            <a:off x="4935383" y="5024187"/>
            <a:ext cx="2653" cy="13171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EA381964-796E-4656-B3C0-D069DBE4E92E}"/>
              </a:ext>
            </a:extLst>
          </p:cNvPr>
          <p:cNvCxnSpPr>
            <a:stCxn id="45" idx="0"/>
            <a:endCxn id="91" idx="2"/>
          </p:cNvCxnSpPr>
          <p:nvPr/>
        </p:nvCxnSpPr>
        <p:spPr>
          <a:xfrm rot="5400000" flipH="1" flipV="1">
            <a:off x="4665790" y="1961843"/>
            <a:ext cx="556690" cy="3806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Connector: Elbow 98">
            <a:extLst>
              <a:ext uri="{FF2B5EF4-FFF2-40B4-BE49-F238E27FC236}">
                <a16:creationId xmlns:a16="http://schemas.microsoft.com/office/drawing/2014/main" id="{75282DDD-AD59-4186-BE73-441162FA2054}"/>
              </a:ext>
            </a:extLst>
          </p:cNvPr>
          <p:cNvCxnSpPr>
            <a:cxnSpLocks/>
            <a:stCxn id="59" idx="0"/>
            <a:endCxn id="91" idx="2"/>
          </p:cNvCxnSpPr>
          <p:nvPr/>
        </p:nvCxnSpPr>
        <p:spPr>
          <a:xfrm rot="16200000" flipV="1">
            <a:off x="5937329" y="694110"/>
            <a:ext cx="556690" cy="253927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EE48E369-EDCE-4655-A271-DCA86091D06F}"/>
              </a:ext>
            </a:extLst>
          </p:cNvPr>
          <p:cNvCxnSpPr>
            <a:stCxn id="59" idx="2"/>
            <a:endCxn id="57" idx="0"/>
          </p:cNvCxnSpPr>
          <p:nvPr/>
        </p:nvCxnSpPr>
        <p:spPr>
          <a:xfrm>
            <a:off x="7485310" y="2756941"/>
            <a:ext cx="2472" cy="15661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8F4067E-01C0-417C-ADA2-61531C849B88}"/>
              </a:ext>
            </a:extLst>
          </p:cNvPr>
          <p:cNvCxnSpPr>
            <a:stCxn id="57" idx="2"/>
            <a:endCxn id="62" idx="0"/>
          </p:cNvCxnSpPr>
          <p:nvPr/>
        </p:nvCxnSpPr>
        <p:spPr>
          <a:xfrm flipH="1">
            <a:off x="7485250" y="3245827"/>
            <a:ext cx="2532" cy="11758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3" name="Rectangle 112">
            <a:extLst>
              <a:ext uri="{FF2B5EF4-FFF2-40B4-BE49-F238E27FC236}">
                <a16:creationId xmlns:a16="http://schemas.microsoft.com/office/drawing/2014/main" id="{2CD90D9D-D1C0-4E89-BA18-F23576638D16}"/>
              </a:ext>
            </a:extLst>
          </p:cNvPr>
          <p:cNvSpPr/>
          <p:nvPr/>
        </p:nvSpPr>
        <p:spPr>
          <a:xfrm>
            <a:off x="8014489" y="6229500"/>
            <a:ext cx="1764000" cy="2391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900" dirty="0">
                <a:solidFill>
                  <a:schemeClr val="tx1"/>
                </a:solidFill>
              </a:rPr>
              <a:t>* Titan Team is located in HKG</a:t>
            </a:r>
          </a:p>
        </p:txBody>
      </p:sp>
      <p:pic>
        <p:nvPicPr>
          <p:cNvPr id="4" name="Picture 3" descr="A person smiling for the camera&#10;&#10;Description automatically generated with medium confidence">
            <a:extLst>
              <a:ext uri="{FF2B5EF4-FFF2-40B4-BE49-F238E27FC236}">
                <a16:creationId xmlns:a16="http://schemas.microsoft.com/office/drawing/2014/main" id="{596AD0DD-6D7F-46E5-9110-41B7543817F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01079" y="3868455"/>
            <a:ext cx="385674" cy="470419"/>
          </a:xfrm>
          <a:prstGeom prst="rect">
            <a:avLst/>
          </a:prstGeom>
        </p:spPr>
      </p:pic>
      <p:sp>
        <p:nvSpPr>
          <p:cNvPr id="37" name="Google Shape;94;p7">
            <a:extLst>
              <a:ext uri="{FF2B5EF4-FFF2-40B4-BE49-F238E27FC236}">
                <a16:creationId xmlns:a16="http://schemas.microsoft.com/office/drawing/2014/main" id="{F6045D9F-3037-4F1E-A151-42D993B8B85B}"/>
              </a:ext>
            </a:extLst>
          </p:cNvPr>
          <p:cNvSpPr txBox="1"/>
          <p:nvPr/>
        </p:nvSpPr>
        <p:spPr>
          <a:xfrm>
            <a:off x="1382854" y="2252445"/>
            <a:ext cx="1440000" cy="525328"/>
          </a:xfrm>
          <a:prstGeom prst="rect">
            <a:avLst/>
          </a:prstGeom>
          <a:solidFill>
            <a:srgbClr val="00506D"/>
          </a:solidFill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000" b="1">
                <a:solidFill>
                  <a:schemeClr val="bg1"/>
                </a:solidFill>
              </a:defRPr>
            </a:lvl1pPr>
          </a:lstStyle>
          <a:p>
            <a:r>
              <a:rPr lang="en-SG" sz="900" dirty="0"/>
              <a:t>              Manoj Agarwal</a:t>
            </a:r>
          </a:p>
          <a:p>
            <a:r>
              <a:rPr lang="en-SG" sz="800" b="0" dirty="0"/>
              <a:t>                     Senior </a:t>
            </a:r>
          </a:p>
          <a:p>
            <a:r>
              <a:rPr lang="en-SG" sz="800" b="0" dirty="0"/>
              <a:t>                    Manager</a:t>
            </a:r>
            <a:endParaRPr sz="800" b="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F5568E6-5E12-4983-B108-48496A3FCBB1}"/>
              </a:ext>
            </a:extLst>
          </p:cNvPr>
          <p:cNvCxnSpPr>
            <a:cxnSpLocks/>
            <a:stCxn id="37" idx="2"/>
            <a:endCxn id="47" idx="0"/>
          </p:cNvCxnSpPr>
          <p:nvPr/>
        </p:nvCxnSpPr>
        <p:spPr>
          <a:xfrm flipH="1">
            <a:off x="2101500" y="2777773"/>
            <a:ext cx="1354" cy="1461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Google Shape;107;p7">
            <a:extLst>
              <a:ext uri="{FF2B5EF4-FFF2-40B4-BE49-F238E27FC236}">
                <a16:creationId xmlns:a16="http://schemas.microsoft.com/office/drawing/2014/main" id="{3E792EE8-B81B-4217-8CE3-D963AFD1CA85}"/>
              </a:ext>
            </a:extLst>
          </p:cNvPr>
          <p:cNvSpPr/>
          <p:nvPr/>
        </p:nvSpPr>
        <p:spPr>
          <a:xfrm>
            <a:off x="1379724" y="3373768"/>
            <a:ext cx="1435778" cy="360000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SG" sz="1050" dirty="0">
                <a:solidFill>
                  <a:schemeClr val="bg1"/>
                </a:solidFill>
              </a:rPr>
              <a:t>Titan Project</a:t>
            </a:r>
            <a:endParaRPr sz="1050" dirty="0">
              <a:solidFill>
                <a:schemeClr val="bg1"/>
              </a:solidFill>
              <a:latin typeface="+mn-lt"/>
              <a:ea typeface="Arial Black"/>
              <a:cs typeface="Arial Black"/>
              <a:sym typeface="Arial Black"/>
            </a:endParaRPr>
          </a:p>
        </p:txBody>
      </p:sp>
      <p:sp>
        <p:nvSpPr>
          <p:cNvPr id="42" name="Google Shape;94;p7">
            <a:extLst>
              <a:ext uri="{FF2B5EF4-FFF2-40B4-BE49-F238E27FC236}">
                <a16:creationId xmlns:a16="http://schemas.microsoft.com/office/drawing/2014/main" id="{FEB11F85-6FD4-4E71-9AC8-3F8D2A406459}"/>
              </a:ext>
            </a:extLst>
          </p:cNvPr>
          <p:cNvSpPr txBox="1"/>
          <p:nvPr/>
        </p:nvSpPr>
        <p:spPr>
          <a:xfrm>
            <a:off x="1373744" y="5025927"/>
            <a:ext cx="1440000" cy="5253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algn="ctr"/>
            <a:r>
              <a:rPr lang="en-SG" sz="800" b="1" dirty="0"/>
              <a:t>        </a:t>
            </a:r>
            <a:r>
              <a:rPr lang="en-SG" sz="900" b="1" dirty="0" err="1"/>
              <a:t>Kawah</a:t>
            </a:r>
            <a:r>
              <a:rPr lang="en-SG" sz="900" b="1" dirty="0"/>
              <a:t> Lau</a:t>
            </a:r>
          </a:p>
          <a:p>
            <a:pPr algn="ctr"/>
            <a:r>
              <a:rPr lang="en-SG" sz="800" dirty="0"/>
              <a:t>           </a:t>
            </a:r>
            <a:r>
              <a:rPr lang="en-SG" sz="800" dirty="0">
                <a:solidFill>
                  <a:schemeClr val="tx1"/>
                </a:solidFill>
              </a:rPr>
              <a:t>Senior</a:t>
            </a:r>
          </a:p>
          <a:p>
            <a:pPr algn="ctr"/>
            <a:r>
              <a:rPr lang="en-SG" sz="800" dirty="0">
                <a:solidFill>
                  <a:schemeClr val="tx1"/>
                </a:solidFill>
                <a:latin typeface="+mn-lt"/>
              </a:rPr>
              <a:t>            Executive</a:t>
            </a:r>
            <a:endParaRPr sz="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3" name="Google Shape;94;p7">
            <a:extLst>
              <a:ext uri="{FF2B5EF4-FFF2-40B4-BE49-F238E27FC236}">
                <a16:creationId xmlns:a16="http://schemas.microsoft.com/office/drawing/2014/main" id="{84AAEA43-E2E8-44E2-AB6A-8775D4C30AC7}"/>
              </a:ext>
            </a:extLst>
          </p:cNvPr>
          <p:cNvSpPr txBox="1"/>
          <p:nvPr/>
        </p:nvSpPr>
        <p:spPr>
          <a:xfrm>
            <a:off x="1376005" y="5689944"/>
            <a:ext cx="1440000" cy="5253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algn="ctr"/>
            <a:r>
              <a:rPr lang="en-SG" sz="900" dirty="0"/>
              <a:t>        </a:t>
            </a:r>
            <a:r>
              <a:rPr lang="en-SG" sz="900" b="1" dirty="0"/>
              <a:t>Sharon Tang</a:t>
            </a:r>
          </a:p>
          <a:p>
            <a:pPr algn="ctr"/>
            <a:r>
              <a:rPr lang="en-SG" sz="900" dirty="0"/>
              <a:t>        </a:t>
            </a:r>
            <a:r>
              <a:rPr lang="en-SG" sz="800" dirty="0"/>
              <a:t>Executive</a:t>
            </a:r>
          </a:p>
        </p:txBody>
      </p:sp>
      <p:sp>
        <p:nvSpPr>
          <p:cNvPr id="47" name="Google Shape;108;p7">
            <a:extLst>
              <a:ext uri="{FF2B5EF4-FFF2-40B4-BE49-F238E27FC236}">
                <a16:creationId xmlns:a16="http://schemas.microsoft.com/office/drawing/2014/main" id="{753C3D69-2E12-47AD-AD20-DFB302175438}"/>
              </a:ext>
            </a:extLst>
          </p:cNvPr>
          <p:cNvSpPr/>
          <p:nvPr/>
        </p:nvSpPr>
        <p:spPr>
          <a:xfrm>
            <a:off x="1345500" y="2923906"/>
            <a:ext cx="1512000" cy="332275"/>
          </a:xfrm>
          <a:prstGeom prst="roundRect">
            <a:avLst>
              <a:gd name="adj" fmla="val 16667"/>
            </a:avLst>
          </a:prstGeom>
          <a:solidFill>
            <a:srgbClr val="340535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200" dirty="0">
                <a:solidFill>
                  <a:srgbClr val="FFFFFF"/>
                </a:solidFill>
                <a:latin typeface="+mn-lt"/>
                <a:ea typeface="Arial Black"/>
                <a:cs typeface="Arial Black"/>
                <a:sym typeface="Arial Black"/>
              </a:rPr>
              <a:t>Titan Project</a:t>
            </a:r>
            <a:endParaRPr sz="1200" dirty="0">
              <a:solidFill>
                <a:srgbClr val="FFFFFF"/>
              </a:solidFill>
              <a:latin typeface="+mn-lt"/>
              <a:ea typeface="Arial Black"/>
              <a:cs typeface="Arial Black"/>
              <a:sym typeface="Arial Black"/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B5F5F74-AA7F-462C-B03B-6F3565709C49}"/>
              </a:ext>
            </a:extLst>
          </p:cNvPr>
          <p:cNvCxnSpPr>
            <a:cxnSpLocks/>
            <a:stCxn id="47" idx="2"/>
            <a:endCxn id="40" idx="0"/>
          </p:cNvCxnSpPr>
          <p:nvPr/>
        </p:nvCxnSpPr>
        <p:spPr>
          <a:xfrm flipH="1">
            <a:off x="2097613" y="3256181"/>
            <a:ext cx="3887" cy="11758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42FD2E3-7F2E-41FD-AF4E-3937DE1E6358}"/>
              </a:ext>
            </a:extLst>
          </p:cNvPr>
          <p:cNvCxnSpPr>
            <a:cxnSpLocks/>
            <a:stCxn id="40" idx="2"/>
            <a:endCxn id="42" idx="0"/>
          </p:cNvCxnSpPr>
          <p:nvPr/>
        </p:nvCxnSpPr>
        <p:spPr>
          <a:xfrm flipH="1">
            <a:off x="2093744" y="3733768"/>
            <a:ext cx="3869" cy="12921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FE378A1-8769-499B-BCF6-9043E9957281}"/>
              </a:ext>
            </a:extLst>
          </p:cNvPr>
          <p:cNvCxnSpPr>
            <a:cxnSpLocks/>
            <a:stCxn id="42" idx="2"/>
            <a:endCxn id="43" idx="0"/>
          </p:cNvCxnSpPr>
          <p:nvPr/>
        </p:nvCxnSpPr>
        <p:spPr>
          <a:xfrm>
            <a:off x="2093744" y="5551255"/>
            <a:ext cx="2261" cy="1386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79DDFAD3-A686-4535-BC01-66D2F3CAB4EE}"/>
              </a:ext>
            </a:extLst>
          </p:cNvPr>
          <p:cNvCxnSpPr>
            <a:cxnSpLocks/>
            <a:stCxn id="37" idx="0"/>
            <a:endCxn id="91" idx="2"/>
          </p:cNvCxnSpPr>
          <p:nvPr/>
        </p:nvCxnSpPr>
        <p:spPr>
          <a:xfrm rot="5400000" flipH="1" flipV="1">
            <a:off x="3240924" y="547331"/>
            <a:ext cx="567044" cy="284318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40EE53B7-3011-4B38-8E0B-52603BD62D38}"/>
              </a:ext>
            </a:extLst>
          </p:cNvPr>
          <p:cNvSpPr/>
          <p:nvPr/>
        </p:nvSpPr>
        <p:spPr>
          <a:xfrm>
            <a:off x="1220018" y="2146856"/>
            <a:ext cx="1848492" cy="432183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SG" sz="900" dirty="0">
                <a:solidFill>
                  <a:schemeClr val="tx1"/>
                </a:solidFill>
              </a:rPr>
              <a:t>* In Hong Kong</a:t>
            </a:r>
          </a:p>
        </p:txBody>
      </p:sp>
    </p:spTree>
    <p:extLst>
      <p:ext uri="{BB962C8B-B14F-4D97-AF65-F5344CB8AC3E}">
        <p14:creationId xmlns:p14="http://schemas.microsoft.com/office/powerpoint/2010/main" val="791124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4;p7">
            <a:extLst>
              <a:ext uri="{FF2B5EF4-FFF2-40B4-BE49-F238E27FC236}">
                <a16:creationId xmlns:a16="http://schemas.microsoft.com/office/drawing/2014/main" id="{A858438A-820F-447B-9E12-CEDDB69005E2}"/>
              </a:ext>
            </a:extLst>
          </p:cNvPr>
          <p:cNvSpPr txBox="1"/>
          <p:nvPr/>
        </p:nvSpPr>
        <p:spPr>
          <a:xfrm>
            <a:off x="5114264" y="4572260"/>
            <a:ext cx="1260000" cy="5253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algn="ctr"/>
            <a:r>
              <a:rPr lang="en-SG" sz="900" b="1" dirty="0"/>
              <a:t>              Ng Zhong Da</a:t>
            </a:r>
          </a:p>
          <a:p>
            <a:pPr algn="ctr"/>
            <a:r>
              <a:rPr lang="en-SG" sz="800" dirty="0"/>
              <a:t>                   Assistant                          </a:t>
            </a:r>
          </a:p>
          <a:p>
            <a:pPr algn="ctr"/>
            <a:r>
              <a:rPr lang="en-SG" sz="800" dirty="0"/>
              <a:t>                    Manager</a:t>
            </a:r>
            <a:endParaRPr sz="300" dirty="0">
              <a:latin typeface="+mn-lt"/>
            </a:endParaRPr>
          </a:p>
        </p:txBody>
      </p:sp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B200B0FF-CA9E-4020-901A-B9AB7D951891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1" name="think-cell Slide" r:id="rId5" imgW="523" imgH="499" progId="TCLayout.ActiveDocument.1">
                  <p:embed/>
                </p:oleObj>
              </mc:Choice>
              <mc:Fallback>
                <p:oleObj name="think-cell Slide" r:id="rId5" imgW="523" imgH="499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B200B0FF-CA9E-4020-901A-B9AB7D9518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" name="Google Shape;88;p7"/>
          <p:cNvSpPr txBox="1">
            <a:spLocks noGrp="1"/>
          </p:cNvSpPr>
          <p:nvPr>
            <p:ph type="title"/>
          </p:nvPr>
        </p:nvSpPr>
        <p:spPr>
          <a:xfrm>
            <a:off x="346075" y="68263"/>
            <a:ext cx="92091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/>
          <a:p>
            <a:pPr lvl="0"/>
            <a:r>
              <a:rPr lang="en-US" b="1" dirty="0">
                <a:latin typeface="Meiryo" panose="020B0604030504040204" pitchFamily="34" charset="-128"/>
                <a:ea typeface="Meiryo" panose="020B0604030504040204" pitchFamily="34" charset="-128"/>
              </a:rPr>
              <a:t>3-7. Digital</a:t>
            </a:r>
            <a:r>
              <a:rPr lang="en-SG" b="1" dirty="0">
                <a:latin typeface="Meiryo" panose="020B0604030504040204" pitchFamily="34" charset="-128"/>
                <a:ea typeface="Meiryo" panose="020B0604030504040204" pitchFamily="34" charset="-128"/>
              </a:rPr>
              <a:t> Yield Management</a:t>
            </a:r>
            <a:br>
              <a:rPr lang="en-SG" b="1" dirty="0"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en-SG" b="1" dirty="0">
                <a:latin typeface="Meiryo" panose="020B0604030504040204" pitchFamily="34" charset="-128"/>
                <a:ea typeface="Meiryo" panose="020B0604030504040204" pitchFamily="34" charset="-128"/>
              </a:rPr>
              <a:t> BPM &amp; Innovation Team</a:t>
            </a:r>
            <a:endParaRPr b="1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91" name="Google Shape;91;p7"/>
          <p:cNvSpPr txBox="1"/>
          <p:nvPr/>
        </p:nvSpPr>
        <p:spPr>
          <a:xfrm>
            <a:off x="3371149" y="1052017"/>
            <a:ext cx="3149778" cy="633384"/>
          </a:xfrm>
          <a:prstGeom prst="rect">
            <a:avLst/>
          </a:prstGeom>
          <a:solidFill>
            <a:schemeClr val="tx2"/>
          </a:solidFill>
          <a:ln w="2857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75" tIns="45700" rIns="1827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</a:pPr>
            <a:r>
              <a:rPr lang="en-SG" sz="1050" b="1" i="0" u="none" strike="noStrike" cap="none" dirty="0">
                <a:solidFill>
                  <a:schemeClr val="bg1"/>
                </a:solidFill>
                <a:latin typeface="+mn-lt"/>
                <a:ea typeface="Times New Roman"/>
                <a:cs typeface="Times New Roman"/>
                <a:sym typeface="Times New Roman"/>
              </a:rPr>
              <a:t>Digital Yield Management</a:t>
            </a:r>
            <a:endParaRPr sz="1050" dirty="0">
              <a:solidFill>
                <a:schemeClr val="bg1"/>
              </a:solidFill>
              <a:latin typeface="+mn-lt"/>
            </a:endParaRPr>
          </a:p>
          <a:p>
            <a:pPr lvl="0" algn="ctr">
              <a:buSzPts val="1000"/>
            </a:pPr>
            <a:r>
              <a:rPr lang="en-SG" sz="1050" b="1" dirty="0">
                <a:solidFill>
                  <a:schemeClr val="bg1"/>
                </a:solidFill>
                <a:latin typeface="+mn-lt"/>
                <a:cs typeface="Times New Roman"/>
              </a:rPr>
              <a:t>Kenichi Michida</a:t>
            </a:r>
          </a:p>
          <a:p>
            <a:pPr lvl="0" algn="ctr">
              <a:buSzPts val="1000"/>
            </a:pPr>
            <a:r>
              <a:rPr lang="en-US" sz="1000" b="1" i="0" u="none" strike="noStrike" cap="none" dirty="0">
                <a:solidFill>
                  <a:schemeClr val="bg1"/>
                </a:solidFill>
                <a:latin typeface="+mn-lt"/>
                <a:ea typeface="Times New Roman"/>
                <a:cs typeface="Times New Roman"/>
                <a:sym typeface="Times New Roman"/>
              </a:rPr>
              <a:t>Senior Vice President</a:t>
            </a:r>
            <a:endParaRPr sz="1000" dirty="0">
              <a:solidFill>
                <a:schemeClr val="bg1"/>
              </a:solidFill>
              <a:latin typeface="+mn-lt"/>
            </a:endParaRPr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867BA7B3-62BF-4577-9B95-47FD15B68C99}"/>
              </a:ext>
            </a:extLst>
          </p:cNvPr>
          <p:cNvGrpSpPr/>
          <p:nvPr/>
        </p:nvGrpSpPr>
        <p:grpSpPr>
          <a:xfrm>
            <a:off x="8705478" y="989305"/>
            <a:ext cx="1156412" cy="1203389"/>
            <a:chOff x="8712744" y="989911"/>
            <a:chExt cx="1156412" cy="1203389"/>
          </a:xfrm>
        </p:grpSpPr>
        <p:sp>
          <p:nvSpPr>
            <p:cNvPr id="96" name="Google Shape;102;p7">
              <a:extLst>
                <a:ext uri="{FF2B5EF4-FFF2-40B4-BE49-F238E27FC236}">
                  <a16:creationId xmlns:a16="http://schemas.microsoft.com/office/drawing/2014/main" id="{B5906C07-6B14-4EE3-AB1C-FF9A4DE66166}"/>
                </a:ext>
              </a:extLst>
            </p:cNvPr>
            <p:cNvSpPr txBox="1"/>
            <p:nvPr/>
          </p:nvSpPr>
          <p:spPr>
            <a:xfrm>
              <a:off x="8844473" y="1418473"/>
              <a:ext cx="886287" cy="344830"/>
            </a:xfrm>
            <a:prstGeom prst="rect">
              <a:avLst/>
            </a:prstGeom>
            <a:solidFill>
              <a:srgbClr val="00506D"/>
            </a:solidFill>
            <a:ln w="190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275" tIns="45700" rIns="1827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Times New Roman"/>
                <a:buNone/>
              </a:pPr>
              <a:r>
                <a:rPr lang="en-US" sz="1100" b="1" i="0" u="none" strike="noStrike" cap="none" dirty="0">
                  <a:solidFill>
                    <a:schemeClr val="bg1"/>
                  </a:solidFill>
                  <a:latin typeface="+mn-lt"/>
                  <a:ea typeface="Times New Roman"/>
                  <a:cs typeface="Times New Roman"/>
                  <a:sym typeface="Times New Roman"/>
                </a:rPr>
                <a:t>Team Lead</a:t>
              </a:r>
              <a:endParaRPr sz="1100" b="1" dirty="0">
                <a:solidFill>
                  <a:schemeClr val="bg1"/>
                </a:solidFill>
                <a:latin typeface="+mn-lt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8" name="Google Shape;108;p7">
              <a:extLst>
                <a:ext uri="{FF2B5EF4-FFF2-40B4-BE49-F238E27FC236}">
                  <a16:creationId xmlns:a16="http://schemas.microsoft.com/office/drawing/2014/main" id="{95B38368-7E63-425B-84B6-6A658F6B4A51}"/>
                </a:ext>
              </a:extLst>
            </p:cNvPr>
            <p:cNvSpPr/>
            <p:nvPr/>
          </p:nvSpPr>
          <p:spPr>
            <a:xfrm>
              <a:off x="8844474" y="1067060"/>
              <a:ext cx="886288" cy="332275"/>
            </a:xfrm>
            <a:prstGeom prst="roundRect">
              <a:avLst>
                <a:gd name="adj" fmla="val 16667"/>
              </a:avLst>
            </a:prstGeom>
            <a:solidFill>
              <a:srgbClr val="340535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rgbClr val="FFFFFF"/>
                  </a:solidFill>
                  <a:latin typeface="+mn-lt"/>
                  <a:ea typeface="Arial Black"/>
                  <a:cs typeface="Arial Black"/>
                  <a:sym typeface="Arial Black"/>
                </a:rPr>
                <a:t>Team</a:t>
              </a:r>
              <a:endParaRPr sz="1200" dirty="0">
                <a:solidFill>
                  <a:srgbClr val="FFFFFF"/>
                </a:solidFill>
                <a:latin typeface="+mn-lt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09425EA0-BEB7-4F0C-AD67-4F19C289ED6D}"/>
                </a:ext>
              </a:extLst>
            </p:cNvPr>
            <p:cNvSpPr/>
            <p:nvPr/>
          </p:nvSpPr>
          <p:spPr>
            <a:xfrm>
              <a:off x="8712744" y="989911"/>
              <a:ext cx="1156412" cy="1203389"/>
            </a:xfrm>
            <a:prstGeom prst="rect">
              <a:avLst/>
            </a:prstGeom>
            <a:noFill/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1" name="Google Shape;108;p7">
              <a:extLst>
                <a:ext uri="{FF2B5EF4-FFF2-40B4-BE49-F238E27FC236}">
                  <a16:creationId xmlns:a16="http://schemas.microsoft.com/office/drawing/2014/main" id="{503ECF5B-80D5-4D24-998E-E294FAC53890}"/>
                </a:ext>
              </a:extLst>
            </p:cNvPr>
            <p:cNvSpPr/>
            <p:nvPr/>
          </p:nvSpPr>
          <p:spPr>
            <a:xfrm>
              <a:off x="8840467" y="1782441"/>
              <a:ext cx="886288" cy="332275"/>
            </a:xfrm>
            <a:prstGeom prst="roundRect">
              <a:avLst>
                <a:gd name="adj" fmla="val 16667"/>
              </a:avLst>
            </a:prstGeom>
            <a:solidFill>
              <a:srgbClr val="92D050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rgbClr val="FFFFFF"/>
                  </a:solidFill>
                  <a:latin typeface="+mn-lt"/>
                  <a:ea typeface="Arial Black"/>
                  <a:cs typeface="Arial Black"/>
                  <a:sym typeface="Arial Black"/>
                </a:rPr>
                <a:t>Unit</a:t>
              </a:r>
              <a:endParaRPr sz="1200" dirty="0">
                <a:solidFill>
                  <a:srgbClr val="FFFFFF"/>
                </a:solidFill>
                <a:latin typeface="+mn-lt"/>
                <a:ea typeface="Arial Black"/>
                <a:cs typeface="Arial Black"/>
                <a:sym typeface="Arial Black"/>
              </a:endParaRPr>
            </a:p>
          </p:txBody>
        </p:sp>
      </p:grpSp>
      <p:sp>
        <p:nvSpPr>
          <p:cNvPr id="102" name="Google Shape;107;p7">
            <a:extLst>
              <a:ext uri="{FF2B5EF4-FFF2-40B4-BE49-F238E27FC236}">
                <a16:creationId xmlns:a16="http://schemas.microsoft.com/office/drawing/2014/main" id="{A36B62FD-A943-4F89-B870-069035AF4AAA}"/>
              </a:ext>
            </a:extLst>
          </p:cNvPr>
          <p:cNvSpPr/>
          <p:nvPr/>
        </p:nvSpPr>
        <p:spPr>
          <a:xfrm>
            <a:off x="1861323" y="3338887"/>
            <a:ext cx="1435778" cy="360000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SG" sz="1050" dirty="0">
                <a:solidFill>
                  <a:schemeClr val="bg1"/>
                </a:solidFill>
              </a:rPr>
              <a:t>Data </a:t>
            </a:r>
            <a:r>
              <a:rPr lang="en-SG" sz="1050" dirty="0" err="1">
                <a:solidFill>
                  <a:schemeClr val="bg1"/>
                </a:solidFill>
              </a:rPr>
              <a:t>CoE</a:t>
            </a:r>
            <a:endParaRPr sz="1050" dirty="0">
              <a:solidFill>
                <a:schemeClr val="bg1"/>
              </a:solidFill>
              <a:latin typeface="+mn-lt"/>
              <a:ea typeface="Arial Black"/>
              <a:cs typeface="Arial Black"/>
              <a:sym typeface="Arial Black"/>
            </a:endParaRPr>
          </a:p>
        </p:txBody>
      </p:sp>
      <p:sp>
        <p:nvSpPr>
          <p:cNvPr id="118" name="Google Shape;94;p7">
            <a:extLst>
              <a:ext uri="{FF2B5EF4-FFF2-40B4-BE49-F238E27FC236}">
                <a16:creationId xmlns:a16="http://schemas.microsoft.com/office/drawing/2014/main" id="{2241DD67-661D-439E-BDC5-EF946218F994}"/>
              </a:ext>
            </a:extLst>
          </p:cNvPr>
          <p:cNvSpPr txBox="1"/>
          <p:nvPr/>
        </p:nvSpPr>
        <p:spPr>
          <a:xfrm>
            <a:off x="366601" y="3798552"/>
            <a:ext cx="1260000" cy="5253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algn="ctr"/>
            <a:r>
              <a:rPr lang="en-SG" sz="900" b="1" dirty="0"/>
              <a:t>             </a:t>
            </a:r>
            <a:r>
              <a:rPr lang="en-SG" sz="900" b="1" dirty="0">
                <a:solidFill>
                  <a:schemeClr val="tx1"/>
                </a:solidFill>
              </a:rPr>
              <a:t>Manoj Agarwal</a:t>
            </a:r>
          </a:p>
          <a:p>
            <a:pPr algn="ctr"/>
            <a:r>
              <a:rPr lang="en-SG" sz="800" dirty="0"/>
              <a:t>             Senior</a:t>
            </a:r>
          </a:p>
          <a:p>
            <a:pPr algn="ctr"/>
            <a:r>
              <a:rPr lang="en-SG" sz="800" dirty="0">
                <a:latin typeface="+mn-lt"/>
              </a:rPr>
              <a:t>              Manager</a:t>
            </a:r>
            <a:endParaRPr sz="300" dirty="0">
              <a:latin typeface="+mn-lt"/>
            </a:endParaRPr>
          </a:p>
        </p:txBody>
      </p:sp>
      <p:sp>
        <p:nvSpPr>
          <p:cNvPr id="82" name="Google Shape;107;p7">
            <a:extLst>
              <a:ext uri="{FF2B5EF4-FFF2-40B4-BE49-F238E27FC236}">
                <a16:creationId xmlns:a16="http://schemas.microsoft.com/office/drawing/2014/main" id="{96ED7754-28BE-4875-AF98-3CF5C9CDD834}"/>
              </a:ext>
            </a:extLst>
          </p:cNvPr>
          <p:cNvSpPr/>
          <p:nvPr/>
        </p:nvSpPr>
        <p:spPr>
          <a:xfrm>
            <a:off x="6608901" y="3338887"/>
            <a:ext cx="1435778" cy="360000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SG" sz="1050" dirty="0">
                <a:solidFill>
                  <a:schemeClr val="bg1"/>
                </a:solidFill>
              </a:rPr>
              <a:t>BSA/SPC/Standby</a:t>
            </a:r>
            <a:endParaRPr sz="1050" dirty="0">
              <a:solidFill>
                <a:schemeClr val="bg1"/>
              </a:solidFill>
              <a:latin typeface="+mn-lt"/>
              <a:ea typeface="Arial Black"/>
              <a:cs typeface="Arial Black"/>
              <a:sym typeface="Arial Black"/>
            </a:endParaRPr>
          </a:p>
        </p:txBody>
      </p:sp>
      <p:sp>
        <p:nvSpPr>
          <p:cNvPr id="89" name="Google Shape;94;p7">
            <a:extLst>
              <a:ext uri="{FF2B5EF4-FFF2-40B4-BE49-F238E27FC236}">
                <a16:creationId xmlns:a16="http://schemas.microsoft.com/office/drawing/2014/main" id="{0BE63178-5313-4176-8F72-B0BB1F6306E3}"/>
              </a:ext>
            </a:extLst>
          </p:cNvPr>
          <p:cNvSpPr txBox="1"/>
          <p:nvPr/>
        </p:nvSpPr>
        <p:spPr>
          <a:xfrm>
            <a:off x="1952604" y="5525775"/>
            <a:ext cx="1260000" cy="52805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algn="ctr"/>
            <a:r>
              <a:rPr lang="en-SG" sz="800" b="1" dirty="0"/>
              <a:t>                   </a:t>
            </a:r>
            <a:r>
              <a:rPr lang="en-SG" sz="900" b="1" dirty="0"/>
              <a:t>Yong Jin Yu</a:t>
            </a:r>
          </a:p>
          <a:p>
            <a:pPr algn="ctr"/>
            <a:r>
              <a:rPr lang="en-SG" sz="800" dirty="0"/>
              <a:t>            </a:t>
            </a:r>
            <a:r>
              <a:rPr lang="en-SG" sz="800" dirty="0">
                <a:solidFill>
                  <a:schemeClr val="tx1"/>
                </a:solidFill>
              </a:rPr>
              <a:t>Senior</a:t>
            </a:r>
          </a:p>
          <a:p>
            <a:pPr algn="ctr"/>
            <a:r>
              <a:rPr lang="en-SG" sz="800" dirty="0">
                <a:solidFill>
                  <a:schemeClr val="tx1"/>
                </a:solidFill>
              </a:rPr>
              <a:t>            Executive</a:t>
            </a:r>
          </a:p>
        </p:txBody>
      </p:sp>
      <p:sp>
        <p:nvSpPr>
          <p:cNvPr id="95" name="Google Shape;94;p7">
            <a:extLst>
              <a:ext uri="{FF2B5EF4-FFF2-40B4-BE49-F238E27FC236}">
                <a16:creationId xmlns:a16="http://schemas.microsoft.com/office/drawing/2014/main" id="{DFF4ED76-4D20-4013-AA85-C9FE78ACC3A9}"/>
              </a:ext>
            </a:extLst>
          </p:cNvPr>
          <p:cNvSpPr txBox="1"/>
          <p:nvPr/>
        </p:nvSpPr>
        <p:spPr>
          <a:xfrm>
            <a:off x="1955790" y="4959699"/>
            <a:ext cx="1260000" cy="5253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algn="ctr"/>
            <a:r>
              <a:rPr lang="en-SG" sz="900" b="1" dirty="0"/>
              <a:t>                 Vivian Teh</a:t>
            </a:r>
            <a:endParaRPr lang="en-SG" sz="1000" b="1" dirty="0"/>
          </a:p>
          <a:p>
            <a:pPr algn="ctr"/>
            <a:r>
              <a:rPr lang="en-SG" sz="900" dirty="0"/>
              <a:t>                </a:t>
            </a:r>
            <a:r>
              <a:rPr lang="en-SG" sz="800" dirty="0"/>
              <a:t>Senior                  </a:t>
            </a:r>
          </a:p>
          <a:p>
            <a:pPr algn="ctr"/>
            <a:r>
              <a:rPr lang="en-SG" sz="800" dirty="0"/>
              <a:t>                 Executive                </a:t>
            </a:r>
          </a:p>
        </p:txBody>
      </p:sp>
      <p:sp>
        <p:nvSpPr>
          <p:cNvPr id="42" name="Google Shape;90;p7">
            <a:extLst>
              <a:ext uri="{FF2B5EF4-FFF2-40B4-BE49-F238E27FC236}">
                <a16:creationId xmlns:a16="http://schemas.microsoft.com/office/drawing/2014/main" id="{C63C2774-ADBB-4C6A-96AE-CCDB70761507}"/>
              </a:ext>
            </a:extLst>
          </p:cNvPr>
          <p:cNvSpPr txBox="1"/>
          <p:nvPr/>
        </p:nvSpPr>
        <p:spPr>
          <a:xfrm>
            <a:off x="4178636" y="2028312"/>
            <a:ext cx="1535349" cy="514850"/>
          </a:xfrm>
          <a:prstGeom prst="rect">
            <a:avLst/>
          </a:prstGeom>
          <a:solidFill>
            <a:srgbClr val="00506D"/>
          </a:solidFill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r>
              <a:rPr lang="en-SG" sz="1000" b="1" dirty="0">
                <a:solidFill>
                  <a:schemeClr val="bg1"/>
                </a:solidFill>
              </a:rPr>
              <a:t>                 </a:t>
            </a:r>
            <a:r>
              <a:rPr lang="en-SG" sz="900" b="1" dirty="0">
                <a:solidFill>
                  <a:schemeClr val="bg1"/>
                </a:solidFill>
              </a:rPr>
              <a:t>Lee Kok Choon</a:t>
            </a:r>
          </a:p>
          <a:p>
            <a:r>
              <a:rPr lang="en-SG" sz="800" dirty="0">
                <a:solidFill>
                  <a:srgbClr val="FF0000"/>
                </a:solidFill>
              </a:rPr>
              <a:t>                       </a:t>
            </a:r>
            <a:r>
              <a:rPr lang="en-SG" sz="800" dirty="0">
                <a:solidFill>
                  <a:schemeClr val="bg1"/>
                </a:solidFill>
              </a:rPr>
              <a:t>Deputy General</a:t>
            </a:r>
          </a:p>
          <a:p>
            <a:r>
              <a:rPr lang="en-SG" sz="800" dirty="0">
                <a:solidFill>
                  <a:schemeClr val="bg1"/>
                </a:solidFill>
                <a:latin typeface="+mn-lt"/>
                <a:ea typeface="Times New Roman"/>
                <a:cs typeface="Times New Roman"/>
                <a:sym typeface="Times New Roman"/>
              </a:rPr>
              <a:t>                            Manager</a:t>
            </a:r>
            <a:endParaRPr sz="800" dirty="0">
              <a:solidFill>
                <a:schemeClr val="bg1"/>
              </a:solidFill>
              <a:latin typeface="+mn-lt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" name="Google Shape;107;p7">
            <a:extLst>
              <a:ext uri="{FF2B5EF4-FFF2-40B4-BE49-F238E27FC236}">
                <a16:creationId xmlns:a16="http://schemas.microsoft.com/office/drawing/2014/main" id="{A6CB8AE7-09FF-4B33-A30D-09A55B8CDC64}"/>
              </a:ext>
            </a:extLst>
          </p:cNvPr>
          <p:cNvSpPr/>
          <p:nvPr/>
        </p:nvSpPr>
        <p:spPr>
          <a:xfrm>
            <a:off x="3443849" y="3338887"/>
            <a:ext cx="1435778" cy="360000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SG" sz="1050" dirty="0">
                <a:solidFill>
                  <a:schemeClr val="bg1"/>
                </a:solidFill>
              </a:rPr>
              <a:t>PRI/DMT</a:t>
            </a:r>
            <a:endParaRPr sz="1050" dirty="0">
              <a:solidFill>
                <a:schemeClr val="bg1"/>
              </a:solidFill>
              <a:latin typeface="+mn-lt"/>
              <a:ea typeface="Arial Black"/>
              <a:cs typeface="Arial Black"/>
              <a:sym typeface="Arial Black"/>
            </a:endParaRPr>
          </a:p>
        </p:txBody>
      </p:sp>
      <p:sp>
        <p:nvSpPr>
          <p:cNvPr id="48" name="Google Shape;94;p7">
            <a:extLst>
              <a:ext uri="{FF2B5EF4-FFF2-40B4-BE49-F238E27FC236}">
                <a16:creationId xmlns:a16="http://schemas.microsoft.com/office/drawing/2014/main" id="{AED8BEBD-1635-4105-AF39-D7EF0A59A6DA}"/>
              </a:ext>
            </a:extLst>
          </p:cNvPr>
          <p:cNvSpPr txBox="1"/>
          <p:nvPr/>
        </p:nvSpPr>
        <p:spPr>
          <a:xfrm>
            <a:off x="1957223" y="4364394"/>
            <a:ext cx="1260000" cy="5253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algn="ctr"/>
            <a:r>
              <a:rPr lang="en-SG" sz="700" b="1" dirty="0"/>
              <a:t>                   </a:t>
            </a:r>
            <a:r>
              <a:rPr lang="en-SG" sz="900" b="1" dirty="0"/>
              <a:t>Misato Gozu</a:t>
            </a:r>
            <a:endParaRPr lang="en-SG" sz="800" b="1" dirty="0"/>
          </a:p>
          <a:p>
            <a:pPr algn="ctr"/>
            <a:r>
              <a:rPr lang="en-SG" sz="800" dirty="0"/>
              <a:t>                   Assistant                          </a:t>
            </a:r>
          </a:p>
          <a:p>
            <a:pPr algn="ctr"/>
            <a:r>
              <a:rPr lang="en-SG" sz="800" dirty="0"/>
              <a:t>                    Manager</a:t>
            </a:r>
            <a:endParaRPr sz="300" dirty="0">
              <a:latin typeface="+mn-lt"/>
            </a:endParaRPr>
          </a:p>
        </p:txBody>
      </p:sp>
      <p:sp>
        <p:nvSpPr>
          <p:cNvPr id="50" name="Google Shape;94;p7">
            <a:extLst>
              <a:ext uri="{FF2B5EF4-FFF2-40B4-BE49-F238E27FC236}">
                <a16:creationId xmlns:a16="http://schemas.microsoft.com/office/drawing/2014/main" id="{3B2B0073-D73A-4B75-B924-35391062A610}"/>
              </a:ext>
            </a:extLst>
          </p:cNvPr>
          <p:cNvSpPr txBox="1"/>
          <p:nvPr/>
        </p:nvSpPr>
        <p:spPr>
          <a:xfrm>
            <a:off x="8426517" y="4566273"/>
            <a:ext cx="1418524" cy="5253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algn="ctr"/>
            <a:r>
              <a:rPr lang="en-SG" sz="900" b="1" dirty="0"/>
              <a:t>                 Karen Chuang</a:t>
            </a:r>
          </a:p>
          <a:p>
            <a:pPr algn="ctr"/>
            <a:r>
              <a:rPr lang="en-SG" sz="900" dirty="0">
                <a:solidFill>
                  <a:schemeClr val="tx1"/>
                </a:solidFill>
              </a:rPr>
              <a:t>                </a:t>
            </a:r>
            <a:r>
              <a:rPr lang="en-SG" sz="800" dirty="0">
                <a:solidFill>
                  <a:schemeClr val="tx1"/>
                </a:solidFill>
              </a:rPr>
              <a:t>Assistant </a:t>
            </a:r>
          </a:p>
          <a:p>
            <a:pPr algn="ctr"/>
            <a:r>
              <a:rPr lang="en-SG" sz="800" dirty="0">
                <a:solidFill>
                  <a:schemeClr val="tx1"/>
                </a:solidFill>
              </a:rPr>
              <a:t>                  Manager</a:t>
            </a:r>
          </a:p>
        </p:txBody>
      </p:sp>
      <p:sp>
        <p:nvSpPr>
          <p:cNvPr id="51" name="Google Shape;94;p7">
            <a:extLst>
              <a:ext uri="{FF2B5EF4-FFF2-40B4-BE49-F238E27FC236}">
                <a16:creationId xmlns:a16="http://schemas.microsoft.com/office/drawing/2014/main" id="{E83645C3-68D9-4B32-8B3F-7B8967CFE365}"/>
              </a:ext>
            </a:extLst>
          </p:cNvPr>
          <p:cNvSpPr txBox="1"/>
          <p:nvPr/>
        </p:nvSpPr>
        <p:spPr>
          <a:xfrm>
            <a:off x="7721866" y="5266433"/>
            <a:ext cx="1260000" cy="5253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algn="ctr"/>
            <a:r>
              <a:rPr lang="en-SG" sz="900" b="1" dirty="0"/>
              <a:t>                 Elson Siew</a:t>
            </a:r>
          </a:p>
          <a:p>
            <a:pPr algn="ctr"/>
            <a:r>
              <a:rPr lang="en-SG" sz="800" dirty="0"/>
              <a:t>                Senior                  </a:t>
            </a:r>
          </a:p>
          <a:p>
            <a:pPr algn="ctr"/>
            <a:r>
              <a:rPr lang="en-SG" sz="800" dirty="0"/>
              <a:t>                 Executive   </a:t>
            </a:r>
            <a:r>
              <a:rPr lang="en-SG" sz="900" dirty="0"/>
              <a:t>             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91D7611-D6C4-4CBC-8457-1005F5117646}"/>
              </a:ext>
            </a:extLst>
          </p:cNvPr>
          <p:cNvCxnSpPr>
            <a:cxnSpLocks/>
            <a:stCxn id="91" idx="2"/>
            <a:endCxn id="42" idx="0"/>
          </p:cNvCxnSpPr>
          <p:nvPr/>
        </p:nvCxnSpPr>
        <p:spPr>
          <a:xfrm>
            <a:off x="4946038" y="1685401"/>
            <a:ext cx="273" cy="34291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ADB4E53-6963-4983-9836-3B8CB72EA793}"/>
              </a:ext>
            </a:extLst>
          </p:cNvPr>
          <p:cNvCxnSpPr>
            <a:cxnSpLocks/>
            <a:stCxn id="102" idx="2"/>
            <a:endCxn id="48" idx="0"/>
          </p:cNvCxnSpPr>
          <p:nvPr/>
        </p:nvCxnSpPr>
        <p:spPr>
          <a:xfrm>
            <a:off x="2579212" y="3698887"/>
            <a:ext cx="8011" cy="66550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44416EF-29A2-4BF2-A2B9-B87BDA227D60}"/>
              </a:ext>
            </a:extLst>
          </p:cNvPr>
          <p:cNvCxnSpPr>
            <a:cxnSpLocks/>
            <a:endCxn id="95" idx="1"/>
          </p:cNvCxnSpPr>
          <p:nvPr/>
        </p:nvCxnSpPr>
        <p:spPr>
          <a:xfrm>
            <a:off x="1702288" y="5222363"/>
            <a:ext cx="25350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EDA7E21F-FAFC-4E75-8518-FC39B62701A6}"/>
              </a:ext>
            </a:extLst>
          </p:cNvPr>
          <p:cNvCxnSpPr>
            <a:cxnSpLocks/>
            <a:stCxn id="105" idx="2"/>
            <a:endCxn id="50" idx="0"/>
          </p:cNvCxnSpPr>
          <p:nvPr/>
        </p:nvCxnSpPr>
        <p:spPr>
          <a:xfrm rot="16200000" flipH="1">
            <a:off x="8888045" y="4318538"/>
            <a:ext cx="267971" cy="227498"/>
          </a:xfrm>
          <a:prstGeom prst="bentConnector3">
            <a:avLst>
              <a:gd name="adj1" fmla="val 53314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36A90C23-85A9-414C-9319-190EEFD4B8A8}"/>
              </a:ext>
            </a:extLst>
          </p:cNvPr>
          <p:cNvCxnSpPr>
            <a:cxnSpLocks/>
            <a:stCxn id="105" idx="2"/>
            <a:endCxn id="51" idx="0"/>
          </p:cNvCxnSpPr>
          <p:nvPr/>
        </p:nvCxnSpPr>
        <p:spPr>
          <a:xfrm rot="5400000">
            <a:off x="8146009" y="4504160"/>
            <a:ext cx="968131" cy="556415"/>
          </a:xfrm>
          <a:prstGeom prst="bentConnector3">
            <a:avLst>
              <a:gd name="adj1" fmla="val 15154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0575E4D5-D5D8-414D-9C1A-D16A0D0F7285}"/>
              </a:ext>
            </a:extLst>
          </p:cNvPr>
          <p:cNvSpPr/>
          <p:nvPr/>
        </p:nvSpPr>
        <p:spPr>
          <a:xfrm>
            <a:off x="3406119" y="1083525"/>
            <a:ext cx="513948" cy="577305"/>
          </a:xfrm>
          <a:prstGeom prst="rect">
            <a:avLst/>
          </a:prstGeom>
          <a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7000" r="-7000"/>
            </a:stretch>
          </a:blip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3">
              <a:tint val="50000"/>
              <a:hueOff val="-670705"/>
              <a:satOff val="831"/>
              <a:lumOff val="2156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SG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68B20899-902E-4D5D-BECC-CE96FD4EC72B}"/>
              </a:ext>
            </a:extLst>
          </p:cNvPr>
          <p:cNvSpPr/>
          <p:nvPr/>
        </p:nvSpPr>
        <p:spPr>
          <a:xfrm>
            <a:off x="4246848" y="2060225"/>
            <a:ext cx="405069" cy="444341"/>
          </a:xfrm>
          <a:prstGeom prst="rect">
            <a:avLst/>
          </a:prstGeom>
          <a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4000" r="-4000"/>
            </a:stretch>
          </a:blip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3">
              <a:tint val="50000"/>
              <a:hueOff val="-1341411"/>
              <a:satOff val="1663"/>
              <a:lumOff val="4312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SG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EB805EB2-7EA7-4210-B92D-C95522AE7679}"/>
              </a:ext>
            </a:extLst>
          </p:cNvPr>
          <p:cNvSpPr/>
          <p:nvPr/>
        </p:nvSpPr>
        <p:spPr>
          <a:xfrm>
            <a:off x="2015850" y="4378232"/>
            <a:ext cx="456904" cy="485430"/>
          </a:xfrm>
          <a:prstGeom prst="rect">
            <a:avLst/>
          </a:prstGeom>
          <a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6000" b="-6000"/>
            </a:stretch>
          </a:blip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3">
              <a:tint val="50000"/>
              <a:hueOff val="-2682822"/>
              <a:satOff val="3326"/>
              <a:lumOff val="8625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SG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9EDF9E5-DAF7-499C-85FF-CC475F6DDED5}"/>
              </a:ext>
            </a:extLst>
          </p:cNvPr>
          <p:cNvSpPr/>
          <p:nvPr/>
        </p:nvSpPr>
        <p:spPr>
          <a:xfrm>
            <a:off x="2028562" y="5577606"/>
            <a:ext cx="380909" cy="458655"/>
          </a:xfrm>
          <a:prstGeom prst="rect">
            <a:avLst/>
          </a:prstGeom>
          <a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8000" r="-8000"/>
            </a:stretch>
          </a:blip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3">
              <a:tint val="50000"/>
              <a:hueOff val="-4024232"/>
              <a:satOff val="4988"/>
              <a:lumOff val="12937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SG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87A0662-4588-47D7-9A5C-480AD6FFAF4D}"/>
              </a:ext>
            </a:extLst>
          </p:cNvPr>
          <p:cNvSpPr/>
          <p:nvPr/>
        </p:nvSpPr>
        <p:spPr>
          <a:xfrm>
            <a:off x="8483121" y="4570390"/>
            <a:ext cx="402342" cy="471005"/>
          </a:xfrm>
          <a:prstGeom prst="rect">
            <a:avLst/>
          </a:prstGeom>
          <a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000" b="-1000"/>
            </a:stretch>
          </a:blip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3">
              <a:tint val="50000"/>
              <a:hueOff val="-4694938"/>
              <a:satOff val="5820"/>
              <a:lumOff val="15094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SG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77C184B4-4F35-4E1F-9B9E-5D5F806DF64A}"/>
              </a:ext>
            </a:extLst>
          </p:cNvPr>
          <p:cNvSpPr/>
          <p:nvPr/>
        </p:nvSpPr>
        <p:spPr>
          <a:xfrm>
            <a:off x="7744038" y="5290032"/>
            <a:ext cx="422142" cy="461813"/>
          </a:xfrm>
          <a:prstGeom prst="rect">
            <a:avLst/>
          </a:prstGeom>
          <a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7000" r="-7000"/>
            </a:stretch>
          </a:blip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3">
              <a:tint val="50000"/>
              <a:hueOff val="-5365643"/>
              <a:satOff val="6651"/>
              <a:lumOff val="1725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SG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05D6235C-E9C1-4BC9-9A69-987729CFE5F8}"/>
              </a:ext>
            </a:extLst>
          </p:cNvPr>
          <p:cNvSpPr/>
          <p:nvPr/>
        </p:nvSpPr>
        <p:spPr>
          <a:xfrm>
            <a:off x="5143600" y="4601600"/>
            <a:ext cx="399483" cy="471342"/>
          </a:xfrm>
          <a:prstGeom prst="rect">
            <a:avLst/>
          </a:prstGeom>
          <a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000" r="-1000"/>
            </a:stretch>
          </a:blip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3">
              <a:tint val="50000"/>
              <a:hueOff val="-2012116"/>
              <a:satOff val="2494"/>
              <a:lumOff val="6469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SG"/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0B8B9815-05BE-4E96-B2E3-2AB34440D820}"/>
              </a:ext>
            </a:extLst>
          </p:cNvPr>
          <p:cNvCxnSpPr>
            <a:cxnSpLocks/>
            <a:stCxn id="42" idx="1"/>
            <a:endCxn id="72" idx="0"/>
          </p:cNvCxnSpPr>
          <p:nvPr/>
        </p:nvCxnSpPr>
        <p:spPr>
          <a:xfrm rot="10800000" flipV="1">
            <a:off x="2578264" y="2285737"/>
            <a:ext cx="1600372" cy="405878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25E4C0E9-A7B1-4536-AF5F-4AC23C327325}"/>
              </a:ext>
            </a:extLst>
          </p:cNvPr>
          <p:cNvCxnSpPr>
            <a:cxnSpLocks/>
            <a:stCxn id="42" idx="3"/>
            <a:endCxn id="67" idx="0"/>
          </p:cNvCxnSpPr>
          <p:nvPr/>
        </p:nvCxnSpPr>
        <p:spPr>
          <a:xfrm>
            <a:off x="5713985" y="2285737"/>
            <a:ext cx="795948" cy="405878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C0E63606-BBB0-48DB-AB5E-A32B2DA0512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28562" y="5021388"/>
            <a:ext cx="437078" cy="451027"/>
          </a:xfrm>
          <a:prstGeom prst="rect">
            <a:avLst/>
          </a:prstGeom>
        </p:spPr>
      </p:pic>
      <p:sp>
        <p:nvSpPr>
          <p:cNvPr id="67" name="Google Shape;108;p7">
            <a:extLst>
              <a:ext uri="{FF2B5EF4-FFF2-40B4-BE49-F238E27FC236}">
                <a16:creationId xmlns:a16="http://schemas.microsoft.com/office/drawing/2014/main" id="{0CDA8E5A-B746-408B-BEDE-7C01DACE3564}"/>
              </a:ext>
            </a:extLst>
          </p:cNvPr>
          <p:cNvSpPr/>
          <p:nvPr/>
        </p:nvSpPr>
        <p:spPr>
          <a:xfrm>
            <a:off x="5753933" y="2691615"/>
            <a:ext cx="1512000" cy="332275"/>
          </a:xfrm>
          <a:prstGeom prst="roundRect">
            <a:avLst>
              <a:gd name="adj" fmla="val 16667"/>
            </a:avLst>
          </a:prstGeom>
          <a:solidFill>
            <a:srgbClr val="340535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200" dirty="0">
                <a:solidFill>
                  <a:srgbClr val="FFFFFF"/>
                </a:solidFill>
                <a:latin typeface="+mn-lt"/>
                <a:ea typeface="Arial Black"/>
                <a:cs typeface="Arial Black"/>
                <a:sym typeface="Arial Black"/>
              </a:rPr>
              <a:t>BPM</a:t>
            </a:r>
            <a:endParaRPr sz="1200" dirty="0">
              <a:solidFill>
                <a:srgbClr val="FFFFFF"/>
              </a:solidFill>
              <a:latin typeface="+mn-lt"/>
              <a:ea typeface="Arial Black"/>
              <a:cs typeface="Arial Black"/>
              <a:sym typeface="Arial Black"/>
            </a:endParaRPr>
          </a:p>
        </p:txBody>
      </p:sp>
      <p:sp>
        <p:nvSpPr>
          <p:cNvPr id="72" name="Google Shape;108;p7">
            <a:extLst>
              <a:ext uri="{FF2B5EF4-FFF2-40B4-BE49-F238E27FC236}">
                <a16:creationId xmlns:a16="http://schemas.microsoft.com/office/drawing/2014/main" id="{BDB60FEA-105C-4539-A72C-689512901D24}"/>
              </a:ext>
            </a:extLst>
          </p:cNvPr>
          <p:cNvSpPr/>
          <p:nvPr/>
        </p:nvSpPr>
        <p:spPr>
          <a:xfrm>
            <a:off x="1822264" y="2691615"/>
            <a:ext cx="1512000" cy="332275"/>
          </a:xfrm>
          <a:prstGeom prst="roundRect">
            <a:avLst>
              <a:gd name="adj" fmla="val 16667"/>
            </a:avLst>
          </a:prstGeom>
          <a:solidFill>
            <a:srgbClr val="340535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200" dirty="0">
                <a:solidFill>
                  <a:srgbClr val="FFFFFF"/>
                </a:solidFill>
                <a:latin typeface="+mn-lt"/>
                <a:ea typeface="Arial Black"/>
                <a:cs typeface="Arial Black"/>
                <a:sym typeface="Arial Black"/>
              </a:rPr>
              <a:t>Analysis</a:t>
            </a:r>
            <a:endParaRPr sz="1200" dirty="0">
              <a:solidFill>
                <a:srgbClr val="FFFFFF"/>
              </a:solidFill>
              <a:latin typeface="+mn-lt"/>
              <a:ea typeface="Arial Black"/>
              <a:cs typeface="Arial Black"/>
              <a:sym typeface="Arial Black"/>
            </a:endParaRPr>
          </a:p>
        </p:txBody>
      </p:sp>
      <p:sp>
        <p:nvSpPr>
          <p:cNvPr id="63" name="Google Shape;107;p7">
            <a:extLst>
              <a:ext uri="{FF2B5EF4-FFF2-40B4-BE49-F238E27FC236}">
                <a16:creationId xmlns:a16="http://schemas.microsoft.com/office/drawing/2014/main" id="{F5524A7B-E9BC-4E4A-8DA3-E5DA2302F3DA}"/>
              </a:ext>
            </a:extLst>
          </p:cNvPr>
          <p:cNvSpPr/>
          <p:nvPr/>
        </p:nvSpPr>
        <p:spPr>
          <a:xfrm>
            <a:off x="278797" y="3338887"/>
            <a:ext cx="1435778" cy="360000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SG" sz="1050" dirty="0">
                <a:solidFill>
                  <a:schemeClr val="bg1"/>
                </a:solidFill>
                <a:latin typeface="+mn-lt"/>
                <a:ea typeface="Arial Black"/>
                <a:cs typeface="Arial Black"/>
                <a:sym typeface="Arial Black"/>
              </a:rPr>
              <a:t>Advanced Technology</a:t>
            </a:r>
            <a:endParaRPr sz="1050" dirty="0">
              <a:solidFill>
                <a:schemeClr val="bg1"/>
              </a:solidFill>
              <a:latin typeface="+mn-lt"/>
              <a:ea typeface="Arial Black"/>
              <a:cs typeface="Arial Black"/>
              <a:sym typeface="Arial Black"/>
            </a:endParaRPr>
          </a:p>
        </p:txBody>
      </p:sp>
      <p:sp>
        <p:nvSpPr>
          <p:cNvPr id="66" name="Google Shape;107;p7">
            <a:extLst>
              <a:ext uri="{FF2B5EF4-FFF2-40B4-BE49-F238E27FC236}">
                <a16:creationId xmlns:a16="http://schemas.microsoft.com/office/drawing/2014/main" id="{95A7C430-5A92-42F4-9844-DD0FD5155845}"/>
              </a:ext>
            </a:extLst>
          </p:cNvPr>
          <p:cNvSpPr/>
          <p:nvPr/>
        </p:nvSpPr>
        <p:spPr>
          <a:xfrm>
            <a:off x="5026375" y="3338887"/>
            <a:ext cx="1435778" cy="360000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SG" sz="1050" dirty="0">
                <a:solidFill>
                  <a:schemeClr val="bg1"/>
                </a:solidFill>
                <a:latin typeface="+mn-lt"/>
                <a:ea typeface="Arial Black"/>
                <a:cs typeface="Arial Black"/>
                <a:sym typeface="Arial Black"/>
              </a:rPr>
              <a:t>ACM/COA</a:t>
            </a:r>
            <a:endParaRPr sz="1050" dirty="0">
              <a:solidFill>
                <a:schemeClr val="bg1"/>
              </a:solidFill>
              <a:latin typeface="+mn-lt"/>
              <a:ea typeface="Arial Black"/>
              <a:cs typeface="Arial Black"/>
              <a:sym typeface="Arial Black"/>
            </a:endParaRPr>
          </a:p>
        </p:txBody>
      </p:sp>
      <p:sp>
        <p:nvSpPr>
          <p:cNvPr id="68" name="Google Shape;107;p7">
            <a:extLst>
              <a:ext uri="{FF2B5EF4-FFF2-40B4-BE49-F238E27FC236}">
                <a16:creationId xmlns:a16="http://schemas.microsoft.com/office/drawing/2014/main" id="{DF1F7FE3-5648-4299-8BD1-0B232782BF1C}"/>
              </a:ext>
            </a:extLst>
          </p:cNvPr>
          <p:cNvSpPr/>
          <p:nvPr/>
        </p:nvSpPr>
        <p:spPr>
          <a:xfrm>
            <a:off x="8191425" y="3338887"/>
            <a:ext cx="1435778" cy="360000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SG" sz="1050" dirty="0">
                <a:solidFill>
                  <a:schemeClr val="bg1"/>
                </a:solidFill>
              </a:rPr>
              <a:t>PRD</a:t>
            </a:r>
            <a:endParaRPr sz="1050" dirty="0">
              <a:solidFill>
                <a:schemeClr val="bg1"/>
              </a:solidFill>
              <a:latin typeface="+mn-lt"/>
              <a:ea typeface="Arial Black"/>
              <a:cs typeface="Arial Black"/>
              <a:sym typeface="Arial Black"/>
            </a:endParaRPr>
          </a:p>
        </p:txBody>
      </p: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CBC88112-928D-412D-9392-857AC3954D3A}"/>
              </a:ext>
            </a:extLst>
          </p:cNvPr>
          <p:cNvCxnSpPr>
            <a:cxnSpLocks/>
            <a:stCxn id="72" idx="2"/>
            <a:endCxn id="102" idx="0"/>
          </p:cNvCxnSpPr>
          <p:nvPr/>
        </p:nvCxnSpPr>
        <p:spPr>
          <a:xfrm rot="16200000" flipH="1">
            <a:off x="2421240" y="3180914"/>
            <a:ext cx="314997" cy="94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FC1D326E-C6B9-48B7-921D-324D21FD43F2}"/>
              </a:ext>
            </a:extLst>
          </p:cNvPr>
          <p:cNvCxnSpPr>
            <a:cxnSpLocks/>
            <a:stCxn id="67" idx="2"/>
            <a:endCxn id="47" idx="0"/>
          </p:cNvCxnSpPr>
          <p:nvPr/>
        </p:nvCxnSpPr>
        <p:spPr>
          <a:xfrm rot="5400000">
            <a:off x="5178338" y="2007291"/>
            <a:ext cx="314997" cy="2348195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Connector: Elbow 83">
            <a:extLst>
              <a:ext uri="{FF2B5EF4-FFF2-40B4-BE49-F238E27FC236}">
                <a16:creationId xmlns:a16="http://schemas.microsoft.com/office/drawing/2014/main" id="{BBB05C06-577B-4716-92FE-B2FB6B0347BA}"/>
              </a:ext>
            </a:extLst>
          </p:cNvPr>
          <p:cNvCxnSpPr>
            <a:cxnSpLocks/>
            <a:stCxn id="67" idx="2"/>
            <a:endCxn id="66" idx="0"/>
          </p:cNvCxnSpPr>
          <p:nvPr/>
        </p:nvCxnSpPr>
        <p:spPr>
          <a:xfrm rot="5400000">
            <a:off x="5969601" y="2798554"/>
            <a:ext cx="314997" cy="76566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Connector: Elbow 84">
            <a:extLst>
              <a:ext uri="{FF2B5EF4-FFF2-40B4-BE49-F238E27FC236}">
                <a16:creationId xmlns:a16="http://schemas.microsoft.com/office/drawing/2014/main" id="{BDD10B10-41FC-4AD1-A0A5-F57E08C6B952}"/>
              </a:ext>
            </a:extLst>
          </p:cNvPr>
          <p:cNvCxnSpPr>
            <a:cxnSpLocks/>
            <a:stCxn id="67" idx="2"/>
            <a:endCxn id="68" idx="0"/>
          </p:cNvCxnSpPr>
          <p:nvPr/>
        </p:nvCxnSpPr>
        <p:spPr>
          <a:xfrm rot="16200000" flipH="1">
            <a:off x="7552125" y="1981697"/>
            <a:ext cx="314997" cy="239938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Connector: Elbow 86">
            <a:extLst>
              <a:ext uri="{FF2B5EF4-FFF2-40B4-BE49-F238E27FC236}">
                <a16:creationId xmlns:a16="http://schemas.microsoft.com/office/drawing/2014/main" id="{8272870D-858A-4359-BFC5-343028C7CB2D}"/>
              </a:ext>
            </a:extLst>
          </p:cNvPr>
          <p:cNvCxnSpPr>
            <a:cxnSpLocks/>
            <a:stCxn id="67" idx="2"/>
            <a:endCxn id="82" idx="0"/>
          </p:cNvCxnSpPr>
          <p:nvPr/>
        </p:nvCxnSpPr>
        <p:spPr>
          <a:xfrm rot="16200000" flipH="1">
            <a:off x="6760863" y="2772959"/>
            <a:ext cx="314997" cy="816857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EAFF1717-1B59-465C-97E7-A8D1083D39B6}"/>
              </a:ext>
            </a:extLst>
          </p:cNvPr>
          <p:cNvCxnSpPr>
            <a:cxnSpLocks/>
            <a:stCxn id="66" idx="2"/>
            <a:endCxn id="93" idx="0"/>
          </p:cNvCxnSpPr>
          <p:nvPr/>
        </p:nvCxnSpPr>
        <p:spPr>
          <a:xfrm>
            <a:off x="5744264" y="3698887"/>
            <a:ext cx="0" cy="873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3" name="Google Shape;94;p7">
            <a:extLst>
              <a:ext uri="{FF2B5EF4-FFF2-40B4-BE49-F238E27FC236}">
                <a16:creationId xmlns:a16="http://schemas.microsoft.com/office/drawing/2014/main" id="{67D9FF4A-B37F-466C-9ED3-191C05959620}"/>
              </a:ext>
            </a:extLst>
          </p:cNvPr>
          <p:cNvSpPr txBox="1"/>
          <p:nvPr/>
        </p:nvSpPr>
        <p:spPr>
          <a:xfrm>
            <a:off x="5114264" y="5236646"/>
            <a:ext cx="1260000" cy="5253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algn="ctr"/>
            <a:r>
              <a:rPr lang="en-SG" sz="900" b="1" dirty="0"/>
              <a:t>                Marcus Teo</a:t>
            </a:r>
          </a:p>
          <a:p>
            <a:pPr algn="ctr"/>
            <a:r>
              <a:rPr lang="en-SG" sz="800" dirty="0"/>
              <a:t>                Senior                  </a:t>
            </a:r>
          </a:p>
          <a:p>
            <a:pPr algn="ctr"/>
            <a:r>
              <a:rPr lang="en-SG" sz="800" dirty="0"/>
              <a:t>                 Executive </a:t>
            </a:r>
            <a:endParaRPr sz="800" dirty="0">
              <a:latin typeface="+mn-lt"/>
            </a:endParaRPr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16594ED0-C7AD-47CB-9443-0E8BD726D69B}"/>
              </a:ext>
            </a:extLst>
          </p:cNvPr>
          <p:cNvCxnSpPr>
            <a:cxnSpLocks/>
            <a:stCxn id="93" idx="2"/>
            <a:endCxn id="103" idx="0"/>
          </p:cNvCxnSpPr>
          <p:nvPr/>
        </p:nvCxnSpPr>
        <p:spPr>
          <a:xfrm>
            <a:off x="5744264" y="5097588"/>
            <a:ext cx="0" cy="1390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5" name="Google Shape;94;p7">
            <a:extLst>
              <a:ext uri="{FF2B5EF4-FFF2-40B4-BE49-F238E27FC236}">
                <a16:creationId xmlns:a16="http://schemas.microsoft.com/office/drawing/2014/main" id="{687428F0-8651-4909-B2A8-42F713569F98}"/>
              </a:ext>
            </a:extLst>
          </p:cNvPr>
          <p:cNvSpPr txBox="1"/>
          <p:nvPr/>
        </p:nvSpPr>
        <p:spPr>
          <a:xfrm>
            <a:off x="8207710" y="3758279"/>
            <a:ext cx="1401142" cy="54002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algn="ctr"/>
            <a:r>
              <a:rPr lang="en-SG" sz="900" b="1" dirty="0"/>
              <a:t>                   Tang Yee Lar</a:t>
            </a:r>
          </a:p>
          <a:p>
            <a:pPr algn="ctr"/>
            <a:r>
              <a:rPr lang="en-SG" sz="900" b="1" dirty="0"/>
              <a:t>                      </a:t>
            </a:r>
            <a:r>
              <a:rPr lang="en-SG" sz="800" dirty="0"/>
              <a:t>Manager</a:t>
            </a:r>
            <a:endParaRPr sz="300" dirty="0">
              <a:latin typeface="+mn-lt"/>
            </a:endParaRPr>
          </a:p>
        </p:txBody>
      </p: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2E4B0661-2D5C-4E1A-8911-B815040C90A0}"/>
              </a:ext>
            </a:extLst>
          </p:cNvPr>
          <p:cNvCxnSpPr>
            <a:cxnSpLocks/>
            <a:stCxn id="68" idx="2"/>
            <a:endCxn id="105" idx="0"/>
          </p:cNvCxnSpPr>
          <p:nvPr/>
        </p:nvCxnSpPr>
        <p:spPr>
          <a:xfrm flipH="1">
            <a:off x="8908281" y="3698887"/>
            <a:ext cx="1033" cy="593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3" name="Google Shape;94;p7">
            <a:extLst>
              <a:ext uri="{FF2B5EF4-FFF2-40B4-BE49-F238E27FC236}">
                <a16:creationId xmlns:a16="http://schemas.microsoft.com/office/drawing/2014/main" id="{114747CC-9D4A-446C-B14C-4EBB462818BE}"/>
              </a:ext>
            </a:extLst>
          </p:cNvPr>
          <p:cNvSpPr txBox="1"/>
          <p:nvPr/>
        </p:nvSpPr>
        <p:spPr>
          <a:xfrm>
            <a:off x="6696788" y="4580876"/>
            <a:ext cx="1260000" cy="5253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algn="ctr"/>
            <a:r>
              <a:rPr lang="en-SG" sz="900" b="1" dirty="0"/>
              <a:t>              Wan Yan Sia</a:t>
            </a:r>
          </a:p>
          <a:p>
            <a:pPr algn="ctr"/>
            <a:r>
              <a:rPr lang="en-SG" sz="800" dirty="0"/>
              <a:t>                   Assistant                          </a:t>
            </a:r>
          </a:p>
          <a:p>
            <a:pPr algn="ctr"/>
            <a:r>
              <a:rPr lang="en-SG" sz="800" dirty="0"/>
              <a:t>                    Manager</a:t>
            </a:r>
            <a:endParaRPr sz="300" dirty="0">
              <a:latin typeface="+mn-lt"/>
            </a:endParaRPr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90C5BF4A-30EC-43E2-9A59-CFED2DD55846}"/>
              </a:ext>
            </a:extLst>
          </p:cNvPr>
          <p:cNvCxnSpPr>
            <a:stCxn id="82" idx="2"/>
            <a:endCxn id="113" idx="0"/>
          </p:cNvCxnSpPr>
          <p:nvPr/>
        </p:nvCxnSpPr>
        <p:spPr>
          <a:xfrm flipH="1">
            <a:off x="7326788" y="3698887"/>
            <a:ext cx="2" cy="8819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6" name="Google Shape;94;p7">
            <a:extLst>
              <a:ext uri="{FF2B5EF4-FFF2-40B4-BE49-F238E27FC236}">
                <a16:creationId xmlns:a16="http://schemas.microsoft.com/office/drawing/2014/main" id="{DBC4C4A9-834B-4A1F-842F-AF518F02C8EB}"/>
              </a:ext>
            </a:extLst>
          </p:cNvPr>
          <p:cNvSpPr txBox="1"/>
          <p:nvPr/>
        </p:nvSpPr>
        <p:spPr>
          <a:xfrm>
            <a:off x="3498990" y="5219008"/>
            <a:ext cx="1350034" cy="5253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algn="ctr"/>
            <a:r>
              <a:rPr lang="en-SG" sz="900" b="1" dirty="0"/>
              <a:t>                   Jennifer Ang</a:t>
            </a:r>
          </a:p>
          <a:p>
            <a:pPr algn="ctr"/>
            <a:r>
              <a:rPr lang="en-SG" sz="900" b="1" dirty="0"/>
              <a:t>                </a:t>
            </a:r>
            <a:r>
              <a:rPr lang="en-SG" sz="800" dirty="0"/>
              <a:t>Senior                  </a:t>
            </a:r>
          </a:p>
          <a:p>
            <a:pPr algn="ctr"/>
            <a:r>
              <a:rPr lang="en-SG" sz="800" dirty="0"/>
              <a:t>                 Executive </a:t>
            </a:r>
            <a:endParaRPr sz="200" dirty="0">
              <a:latin typeface="+mn-lt"/>
            </a:endParaRPr>
          </a:p>
        </p:txBody>
      </p: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F6E2A4FA-1385-4A2C-BA1B-7ADD2C9D69FC}"/>
              </a:ext>
            </a:extLst>
          </p:cNvPr>
          <p:cNvCxnSpPr>
            <a:cxnSpLocks/>
            <a:stCxn id="47" idx="2"/>
            <a:endCxn id="116" idx="0"/>
          </p:cNvCxnSpPr>
          <p:nvPr/>
        </p:nvCxnSpPr>
        <p:spPr>
          <a:xfrm>
            <a:off x="4161738" y="3698887"/>
            <a:ext cx="12269" cy="15201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9" name="Google Shape;94;p7">
            <a:extLst>
              <a:ext uri="{FF2B5EF4-FFF2-40B4-BE49-F238E27FC236}">
                <a16:creationId xmlns:a16="http://schemas.microsoft.com/office/drawing/2014/main" id="{0D64B378-E351-4AE4-A908-D8347A78475C}"/>
              </a:ext>
            </a:extLst>
          </p:cNvPr>
          <p:cNvSpPr txBox="1"/>
          <p:nvPr/>
        </p:nvSpPr>
        <p:spPr>
          <a:xfrm>
            <a:off x="140289" y="1108298"/>
            <a:ext cx="1260000" cy="5253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algn="ctr"/>
            <a:r>
              <a:rPr lang="en-SG" sz="900" b="1" dirty="0"/>
              <a:t>                   </a:t>
            </a:r>
            <a:r>
              <a:rPr lang="en-SG" sz="900" b="1" dirty="0" err="1"/>
              <a:t>Yii</a:t>
            </a:r>
            <a:r>
              <a:rPr lang="en-SG" sz="900" b="1" dirty="0"/>
              <a:t> Rui</a:t>
            </a:r>
          </a:p>
          <a:p>
            <a:pPr algn="ctr"/>
            <a:r>
              <a:rPr lang="en-SG" sz="800" b="1" dirty="0">
                <a:latin typeface="+mn-lt"/>
              </a:rPr>
              <a:t>                     Project </a:t>
            </a:r>
          </a:p>
          <a:p>
            <a:pPr algn="ctr"/>
            <a:r>
              <a:rPr lang="en-SG" sz="800" b="1" dirty="0">
                <a:latin typeface="+mn-lt"/>
              </a:rPr>
              <a:t>                      Manager **</a:t>
            </a:r>
            <a:endParaRPr sz="300" dirty="0">
              <a:latin typeface="+mn-lt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8E2C8030-0522-4CC7-B72F-809F77E9BE7D}"/>
              </a:ext>
            </a:extLst>
          </p:cNvPr>
          <p:cNvSpPr/>
          <p:nvPr/>
        </p:nvSpPr>
        <p:spPr>
          <a:xfrm>
            <a:off x="8129899" y="6229500"/>
            <a:ext cx="1582524" cy="2391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900" dirty="0">
                <a:solidFill>
                  <a:schemeClr val="tx1"/>
                </a:solidFill>
              </a:rPr>
              <a:t>** From OTSS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4D15AB-516B-4E34-96D5-4CF24FB71917}"/>
              </a:ext>
            </a:extLst>
          </p:cNvPr>
          <p:cNvSpPr/>
          <p:nvPr/>
        </p:nvSpPr>
        <p:spPr>
          <a:xfrm>
            <a:off x="4235111" y="1844661"/>
            <a:ext cx="1435778" cy="17263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800" dirty="0"/>
              <a:t>BPM Commercial Lead</a:t>
            </a:r>
          </a:p>
        </p:txBody>
      </p:sp>
      <p:pic>
        <p:nvPicPr>
          <p:cNvPr id="6" name="Picture 5" descr="A person wearing glasses&#10;&#10;Description automatically generated with low confidence">
            <a:extLst>
              <a:ext uri="{FF2B5EF4-FFF2-40B4-BE49-F238E27FC236}">
                <a16:creationId xmlns:a16="http://schemas.microsoft.com/office/drawing/2014/main" id="{509467F5-17C8-42B3-AF86-80212A1A88B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12876" y="4600984"/>
            <a:ext cx="447407" cy="471342"/>
          </a:xfrm>
          <a:prstGeom prst="rect">
            <a:avLst/>
          </a:prstGeom>
        </p:spPr>
      </p:pic>
      <p:sp>
        <p:nvSpPr>
          <p:cNvPr id="65" name="Google Shape;94;p7">
            <a:extLst>
              <a:ext uri="{FF2B5EF4-FFF2-40B4-BE49-F238E27FC236}">
                <a16:creationId xmlns:a16="http://schemas.microsoft.com/office/drawing/2014/main" id="{C68AFDBB-805E-4E0B-A664-201399EBC63B}"/>
              </a:ext>
            </a:extLst>
          </p:cNvPr>
          <p:cNvSpPr txBox="1"/>
          <p:nvPr/>
        </p:nvSpPr>
        <p:spPr>
          <a:xfrm>
            <a:off x="1952604" y="6086597"/>
            <a:ext cx="1260000" cy="5253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SG" sz="900" b="1" dirty="0"/>
              <a:t>                 Trisha Ng</a:t>
            </a:r>
            <a:endParaRPr kumimoji="0" lang="en-SG" sz="9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SG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               Senior                 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SG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                Executive </a:t>
            </a:r>
          </a:p>
        </p:txBody>
      </p:sp>
      <p:sp>
        <p:nvSpPr>
          <p:cNvPr id="71" name="Google Shape;94;p7">
            <a:extLst>
              <a:ext uri="{FF2B5EF4-FFF2-40B4-BE49-F238E27FC236}">
                <a16:creationId xmlns:a16="http://schemas.microsoft.com/office/drawing/2014/main" id="{96717DC3-C927-4409-A8BF-80A2AD7DE75A}"/>
              </a:ext>
            </a:extLst>
          </p:cNvPr>
          <p:cNvSpPr txBox="1"/>
          <p:nvPr/>
        </p:nvSpPr>
        <p:spPr>
          <a:xfrm>
            <a:off x="7411424" y="2051092"/>
            <a:ext cx="1260000" cy="5253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algn="ctr"/>
            <a:r>
              <a:rPr lang="en-SG" sz="900" b="1" dirty="0"/>
              <a:t>                   Go Imai</a:t>
            </a:r>
          </a:p>
          <a:p>
            <a:pPr algn="ctr"/>
            <a:r>
              <a:rPr lang="en-SG" sz="800" dirty="0"/>
              <a:t>                      Manager</a:t>
            </a:r>
            <a:endParaRPr sz="300" dirty="0">
              <a:latin typeface="+mn-lt"/>
            </a:endParaRPr>
          </a:p>
        </p:txBody>
      </p:sp>
      <p:pic>
        <p:nvPicPr>
          <p:cNvPr id="73" name="Picture 72" descr="A person in a white shirt&#10;&#10;Description automatically generated with medium confidence">
            <a:extLst>
              <a:ext uri="{FF2B5EF4-FFF2-40B4-BE49-F238E27FC236}">
                <a16:creationId xmlns:a16="http://schemas.microsoft.com/office/drawing/2014/main" id="{0C2F650F-9D9B-45D0-982D-03A3B1D5E9C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58207" y="2082469"/>
            <a:ext cx="415226" cy="465354"/>
          </a:xfrm>
          <a:prstGeom prst="rect">
            <a:avLst/>
          </a:prstGeom>
        </p:spPr>
      </p:pic>
      <p:cxnSp>
        <p:nvCxnSpPr>
          <p:cNvPr id="79" name="Connector: Elbow 78">
            <a:extLst>
              <a:ext uri="{FF2B5EF4-FFF2-40B4-BE49-F238E27FC236}">
                <a16:creationId xmlns:a16="http://schemas.microsoft.com/office/drawing/2014/main" id="{E444D29D-8DB2-4519-86A2-C6911E1B8D68}"/>
              </a:ext>
            </a:extLst>
          </p:cNvPr>
          <p:cNvCxnSpPr>
            <a:cxnSpLocks/>
            <a:stCxn id="91" idx="3"/>
            <a:endCxn id="71" idx="1"/>
          </p:cNvCxnSpPr>
          <p:nvPr/>
        </p:nvCxnSpPr>
        <p:spPr>
          <a:xfrm>
            <a:off x="6520927" y="1368709"/>
            <a:ext cx="890497" cy="945047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9" name="Picture 68" descr="A person smiling for the camera&#10;&#10;Description automatically generated with low confidence">
            <a:extLst>
              <a:ext uri="{FF2B5EF4-FFF2-40B4-BE49-F238E27FC236}">
                <a16:creationId xmlns:a16="http://schemas.microsoft.com/office/drawing/2014/main" id="{582642F9-F6D6-441A-BC86-EA5384D1597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984501" y="6113400"/>
            <a:ext cx="357105" cy="476139"/>
          </a:xfrm>
          <a:prstGeom prst="rect">
            <a:avLst/>
          </a:prstGeom>
        </p:spPr>
      </p:pic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CDEF17AC-3DF0-44C5-A0F9-480F97194982}"/>
              </a:ext>
            </a:extLst>
          </p:cNvPr>
          <p:cNvCxnSpPr>
            <a:cxnSpLocks/>
            <a:stCxn id="48" idx="1"/>
            <a:endCxn id="65" idx="1"/>
          </p:cNvCxnSpPr>
          <p:nvPr/>
        </p:nvCxnSpPr>
        <p:spPr>
          <a:xfrm rot="10800000" flipV="1">
            <a:off x="1952605" y="4627057"/>
            <a:ext cx="4619" cy="1722203"/>
          </a:xfrm>
          <a:prstGeom prst="bentConnector3">
            <a:avLst>
              <a:gd name="adj1" fmla="val 5049123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DE8AD504-AE7B-4757-BFED-5D0B453BE22D}"/>
              </a:ext>
            </a:extLst>
          </p:cNvPr>
          <p:cNvCxnSpPr>
            <a:cxnSpLocks/>
          </p:cNvCxnSpPr>
          <p:nvPr/>
        </p:nvCxnSpPr>
        <p:spPr>
          <a:xfrm>
            <a:off x="1716235" y="5775816"/>
            <a:ext cx="25350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9" name="Picture 98" descr="A person wearing glasses&#10;&#10;Description automatically generated with low confidence">
            <a:extLst>
              <a:ext uri="{FF2B5EF4-FFF2-40B4-BE49-F238E27FC236}">
                <a16:creationId xmlns:a16="http://schemas.microsoft.com/office/drawing/2014/main" id="{FEBEEBB5-89F8-4316-B430-D6E7A56E359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155475" y="5259181"/>
            <a:ext cx="360721" cy="480258"/>
          </a:xfrm>
          <a:prstGeom prst="rect">
            <a:avLst/>
          </a:prstGeom>
        </p:spPr>
      </p:pic>
      <p:sp>
        <p:nvSpPr>
          <p:cNvPr id="106" name="Rectangle 105">
            <a:extLst>
              <a:ext uri="{FF2B5EF4-FFF2-40B4-BE49-F238E27FC236}">
                <a16:creationId xmlns:a16="http://schemas.microsoft.com/office/drawing/2014/main" id="{9940FADA-F259-4B30-8912-A86534B38558}"/>
              </a:ext>
            </a:extLst>
          </p:cNvPr>
          <p:cNvSpPr/>
          <p:nvPr/>
        </p:nvSpPr>
        <p:spPr>
          <a:xfrm>
            <a:off x="8249320" y="3798552"/>
            <a:ext cx="355144" cy="473526"/>
          </a:xfrm>
          <a:prstGeom prst="rect">
            <a:avLst/>
          </a:prstGeom>
          <a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4000" r="-4000"/>
            </a:stretch>
          </a:blip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3">
              <a:tint val="50000"/>
              <a:hueOff val="-1073129"/>
              <a:satOff val="1330"/>
              <a:lumOff val="345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pic>
        <p:nvPicPr>
          <p:cNvPr id="108" name="Picture 107" descr="A person smiling for the camera&#10;&#10;Description automatically generated with medium confidence">
            <a:extLst>
              <a:ext uri="{FF2B5EF4-FFF2-40B4-BE49-F238E27FC236}">
                <a16:creationId xmlns:a16="http://schemas.microsoft.com/office/drawing/2014/main" id="{0D163749-AA51-4811-B0D2-26EA91F1A053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525301" y="5248442"/>
            <a:ext cx="343090" cy="471005"/>
          </a:xfrm>
          <a:prstGeom prst="rect">
            <a:avLst/>
          </a:prstGeom>
        </p:spPr>
      </p:pic>
      <p:pic>
        <p:nvPicPr>
          <p:cNvPr id="109" name="Picture 108" descr="A person in a white shirt&#10;&#10;Description automatically generated with medium confidence">
            <a:extLst>
              <a:ext uri="{FF2B5EF4-FFF2-40B4-BE49-F238E27FC236}">
                <a16:creationId xmlns:a16="http://schemas.microsoft.com/office/drawing/2014/main" id="{4F45A80B-C6B2-4D07-BE61-5D606FBC7C06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73349" y="1135673"/>
            <a:ext cx="366005" cy="470578"/>
          </a:xfrm>
          <a:prstGeom prst="rect">
            <a:avLst/>
          </a:prstGeom>
        </p:spPr>
      </p:pic>
      <p:cxnSp>
        <p:nvCxnSpPr>
          <p:cNvPr id="110" name="Connector: Elbow 109">
            <a:extLst>
              <a:ext uri="{FF2B5EF4-FFF2-40B4-BE49-F238E27FC236}">
                <a16:creationId xmlns:a16="http://schemas.microsoft.com/office/drawing/2014/main" id="{20572AC1-4D52-462F-A2A5-EE74B0B20898}"/>
              </a:ext>
            </a:extLst>
          </p:cNvPr>
          <p:cNvCxnSpPr>
            <a:cxnSpLocks/>
            <a:stCxn id="91" idx="2"/>
            <a:endCxn id="63" idx="0"/>
          </p:cNvCxnSpPr>
          <p:nvPr/>
        </p:nvCxnSpPr>
        <p:spPr>
          <a:xfrm rot="5400000">
            <a:off x="2144619" y="537468"/>
            <a:ext cx="1653486" cy="3949352"/>
          </a:xfrm>
          <a:prstGeom prst="bentConnector3">
            <a:avLst>
              <a:gd name="adj1" fmla="val 7461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F650480-5D7B-446E-B339-836D32C61F9A}"/>
              </a:ext>
            </a:extLst>
          </p:cNvPr>
          <p:cNvCxnSpPr>
            <a:stCxn id="63" idx="2"/>
            <a:endCxn id="118" idx="0"/>
          </p:cNvCxnSpPr>
          <p:nvPr/>
        </p:nvCxnSpPr>
        <p:spPr>
          <a:xfrm flipH="1">
            <a:off x="996601" y="3698887"/>
            <a:ext cx="85" cy="996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2" name="Rectangle 111">
            <a:extLst>
              <a:ext uri="{FF2B5EF4-FFF2-40B4-BE49-F238E27FC236}">
                <a16:creationId xmlns:a16="http://schemas.microsoft.com/office/drawing/2014/main" id="{B539ED91-FCF1-47F9-8E77-A060ABB06704}"/>
              </a:ext>
            </a:extLst>
          </p:cNvPr>
          <p:cNvSpPr/>
          <p:nvPr/>
        </p:nvSpPr>
        <p:spPr>
          <a:xfrm>
            <a:off x="278797" y="3758278"/>
            <a:ext cx="1527445" cy="80799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SG" sz="900" dirty="0">
                <a:solidFill>
                  <a:schemeClr val="tx1"/>
                </a:solidFill>
              </a:rPr>
              <a:t>* In Hong Kong</a:t>
            </a:r>
          </a:p>
        </p:txBody>
      </p:sp>
      <p:sp>
        <p:nvSpPr>
          <p:cNvPr id="111" name="Google Shape;108;p7">
            <a:extLst>
              <a:ext uri="{FF2B5EF4-FFF2-40B4-BE49-F238E27FC236}">
                <a16:creationId xmlns:a16="http://schemas.microsoft.com/office/drawing/2014/main" id="{D281DD9A-9813-48C6-B05C-3727298C2305}"/>
              </a:ext>
            </a:extLst>
          </p:cNvPr>
          <p:cNvSpPr/>
          <p:nvPr/>
        </p:nvSpPr>
        <p:spPr>
          <a:xfrm>
            <a:off x="208246" y="2680395"/>
            <a:ext cx="1512000" cy="332275"/>
          </a:xfrm>
          <a:prstGeom prst="roundRect">
            <a:avLst>
              <a:gd name="adj" fmla="val 16667"/>
            </a:avLst>
          </a:prstGeom>
          <a:solidFill>
            <a:srgbClr val="340535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200" dirty="0">
                <a:solidFill>
                  <a:srgbClr val="FFFFFF"/>
                </a:solidFill>
                <a:latin typeface="+mn-lt"/>
                <a:ea typeface="Arial Black"/>
                <a:cs typeface="Arial Black"/>
                <a:sym typeface="Arial Black"/>
              </a:rPr>
              <a:t>Advance Technology</a:t>
            </a:r>
            <a:endParaRPr sz="1200" dirty="0">
              <a:solidFill>
                <a:srgbClr val="FFFFFF"/>
              </a:solidFill>
              <a:latin typeface="+mn-lt"/>
              <a:ea typeface="Arial Black"/>
              <a:cs typeface="Arial Black"/>
              <a:sym typeface="Arial Black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54F4DA7-7282-4976-8D2D-B292FBBFA056}"/>
              </a:ext>
            </a:extLst>
          </p:cNvPr>
          <p:cNvCxnSpPr>
            <a:stCxn id="119" idx="3"/>
            <a:endCxn id="74" idx="1"/>
          </p:cNvCxnSpPr>
          <p:nvPr/>
        </p:nvCxnSpPr>
        <p:spPr>
          <a:xfrm flipV="1">
            <a:off x="1400289" y="1368709"/>
            <a:ext cx="1970860" cy="22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5" name="Google Shape;107;p7">
            <a:extLst>
              <a:ext uri="{FF2B5EF4-FFF2-40B4-BE49-F238E27FC236}">
                <a16:creationId xmlns:a16="http://schemas.microsoft.com/office/drawing/2014/main" id="{8965DACF-A553-4109-B2AE-CD3ED0C9AD31}"/>
              </a:ext>
            </a:extLst>
          </p:cNvPr>
          <p:cNvSpPr/>
          <p:nvPr/>
        </p:nvSpPr>
        <p:spPr>
          <a:xfrm>
            <a:off x="7098995" y="1670956"/>
            <a:ext cx="1435778" cy="360000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SG" sz="1050" dirty="0">
                <a:solidFill>
                  <a:schemeClr val="bg1"/>
                </a:solidFill>
              </a:rPr>
              <a:t>DX Task Force</a:t>
            </a:r>
            <a:endParaRPr sz="1050" dirty="0">
              <a:solidFill>
                <a:schemeClr val="bg1"/>
              </a:solidFill>
              <a:latin typeface="+mn-lt"/>
              <a:ea typeface="Arial Black"/>
              <a:cs typeface="Arial Black"/>
              <a:sym typeface="Arial Black"/>
            </a:endParaRPr>
          </a:p>
        </p:txBody>
      </p:sp>
      <p:sp>
        <p:nvSpPr>
          <p:cNvPr id="120" name="Google Shape;94;p7">
            <a:extLst>
              <a:ext uri="{FF2B5EF4-FFF2-40B4-BE49-F238E27FC236}">
                <a16:creationId xmlns:a16="http://schemas.microsoft.com/office/drawing/2014/main" id="{3DC10838-1E26-42F4-B2A8-4E0DDB1CBF28}"/>
              </a:ext>
            </a:extLst>
          </p:cNvPr>
          <p:cNvSpPr txBox="1"/>
          <p:nvPr/>
        </p:nvSpPr>
        <p:spPr>
          <a:xfrm>
            <a:off x="7425332" y="2602644"/>
            <a:ext cx="1260000" cy="5253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algn="ctr"/>
            <a:r>
              <a:rPr lang="en-SG" sz="900" b="1" dirty="0"/>
              <a:t>            </a:t>
            </a:r>
            <a:r>
              <a:rPr lang="en-SG" sz="900" b="1" dirty="0" err="1"/>
              <a:t>Kazuki</a:t>
            </a:r>
            <a:r>
              <a:rPr lang="en-SG" sz="900" b="1" dirty="0"/>
              <a:t> Masuda</a:t>
            </a:r>
          </a:p>
          <a:p>
            <a:pPr algn="ctr"/>
            <a:r>
              <a:rPr lang="en-SG" sz="800" dirty="0"/>
              <a:t>                     Manager</a:t>
            </a:r>
            <a:endParaRPr sz="300" dirty="0">
              <a:latin typeface="+mn-lt"/>
            </a:endParaRPr>
          </a:p>
        </p:txBody>
      </p:sp>
      <p:cxnSp>
        <p:nvCxnSpPr>
          <p:cNvPr id="122" name="Connector: Elbow 121">
            <a:extLst>
              <a:ext uri="{FF2B5EF4-FFF2-40B4-BE49-F238E27FC236}">
                <a16:creationId xmlns:a16="http://schemas.microsoft.com/office/drawing/2014/main" id="{3F5FD28D-2CFE-45C8-AA02-1F9028503F28}"/>
              </a:ext>
            </a:extLst>
          </p:cNvPr>
          <p:cNvCxnSpPr>
            <a:cxnSpLocks/>
            <a:endCxn id="120" idx="1"/>
          </p:cNvCxnSpPr>
          <p:nvPr/>
        </p:nvCxnSpPr>
        <p:spPr>
          <a:xfrm rot="16200000" flipH="1">
            <a:off x="7086986" y="2526962"/>
            <a:ext cx="564078" cy="112614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6207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B3E2B94C-88C8-43EB-8C60-05D3D0722807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4" name="think-cell Slide" r:id="rId5" imgW="523" imgH="499" progId="TCLayout.ActiveDocument.1">
                  <p:embed/>
                </p:oleObj>
              </mc:Choice>
              <mc:Fallback>
                <p:oleObj name="think-cell Slide" r:id="rId5" imgW="523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B3E2B94C-88C8-43EB-8C60-05D3D07228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5688270A-9387-4C79-AC32-51BC4DF9C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anchor="ctr"/>
          <a:lstStyle/>
          <a:p>
            <a:r>
              <a:rPr lang="en-US" b="1" dirty="0">
                <a:latin typeface="Meiryo" panose="020B0604030504040204" pitchFamily="34" charset="-128"/>
                <a:ea typeface="Meiryo" panose="020B0604030504040204" pitchFamily="34" charset="-128"/>
              </a:rPr>
              <a:t>3-7. Digital</a:t>
            </a:r>
            <a:r>
              <a:rPr lang="en-SG" b="1" dirty="0">
                <a:latin typeface="Meiryo" panose="020B0604030504040204" pitchFamily="34" charset="-128"/>
                <a:ea typeface="Meiryo" panose="020B0604030504040204" pitchFamily="34" charset="-128"/>
              </a:rPr>
              <a:t> Yield Management</a:t>
            </a:r>
            <a:endParaRPr lang="en-SG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aphicFrame>
        <p:nvGraphicFramePr>
          <p:cNvPr id="8" name="Table 10">
            <a:extLst>
              <a:ext uri="{FF2B5EF4-FFF2-40B4-BE49-F238E27FC236}">
                <a16:creationId xmlns:a16="http://schemas.microsoft.com/office/drawing/2014/main" id="{9C843E23-7AE8-47E4-BE6C-9AADC8096127}"/>
              </a:ext>
            </a:extLst>
          </p:cNvPr>
          <p:cNvGraphicFramePr>
            <a:graphicFrameLocks noGrp="1"/>
          </p:cNvGraphicFramePr>
          <p:nvPr/>
        </p:nvGraphicFramePr>
        <p:xfrm>
          <a:off x="348830" y="1181100"/>
          <a:ext cx="9301198" cy="5237455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403248">
                  <a:extLst>
                    <a:ext uri="{9D8B030D-6E8A-4147-A177-3AD203B41FA5}">
                      <a16:colId xmlns:a16="http://schemas.microsoft.com/office/drawing/2014/main" val="594964654"/>
                    </a:ext>
                  </a:extLst>
                </a:gridCol>
                <a:gridCol w="2228295">
                  <a:extLst>
                    <a:ext uri="{9D8B030D-6E8A-4147-A177-3AD203B41FA5}">
                      <a16:colId xmlns:a16="http://schemas.microsoft.com/office/drawing/2014/main" val="3029378014"/>
                    </a:ext>
                  </a:extLst>
                </a:gridCol>
                <a:gridCol w="2308194">
                  <a:extLst>
                    <a:ext uri="{9D8B030D-6E8A-4147-A177-3AD203B41FA5}">
                      <a16:colId xmlns:a16="http://schemas.microsoft.com/office/drawing/2014/main" val="679753233"/>
                    </a:ext>
                  </a:extLst>
                </a:gridCol>
                <a:gridCol w="2361461">
                  <a:extLst>
                    <a:ext uri="{9D8B030D-6E8A-4147-A177-3AD203B41FA5}">
                      <a16:colId xmlns:a16="http://schemas.microsoft.com/office/drawing/2014/main" val="1008797435"/>
                    </a:ext>
                  </a:extLst>
                </a:gridCol>
              </a:tblGrid>
              <a:tr h="539287"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u="none" strike="noStrike" cap="none" dirty="0">
                          <a:solidFill>
                            <a:srgbClr val="340535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Strategy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u="none" strike="noStrike" cap="none" dirty="0">
                          <a:solidFill>
                            <a:srgbClr val="340535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Tiger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u="none" strike="noStrike" cap="none" dirty="0">
                          <a:solidFill>
                            <a:srgbClr val="340535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Innovation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u="none" strike="noStrike" cap="none" dirty="0">
                          <a:solidFill>
                            <a:srgbClr val="340535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BPM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779416"/>
                  </a:ext>
                </a:extLst>
              </a:tr>
              <a:tr h="4698168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SG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Strategy</a:t>
                      </a:r>
                      <a:endParaRPr lang="en-SG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SG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Trade &amp; Marketing DX (digital transformation) planning and execution control including resources and budget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SG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Project management office for ONE QUOTE and other new projects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SG" sz="1400" b="1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SG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Tiger Project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SG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Pricing Engine (TIGER) project management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SG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Pricing process revision which enable connect to other modules like ONE QUOTE, TITAN and others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SG" sz="1400" b="1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SG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Innovation </a:t>
                      </a:r>
                      <a:endParaRPr lang="en-SG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SG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Providing new solutions to M&amp;C business activities by applying advanced technologies by 3rd party partners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SG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DDE (Data Driven) project management and Light </a:t>
                      </a:r>
                      <a:r>
                        <a:rPr lang="en-SG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PoD</a:t>
                      </a:r>
                      <a:r>
                        <a:rPr lang="en-SG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management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SG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Eagle Plus system enhancement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SG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Report creation and process management related to Trade/Marketing activities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SG" sz="1400" b="1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SG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BPM (Business Process Management)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SG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Data governance for the related modules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SG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PRD, COA, SPC(Stand By) and DMT module process, system development and related project management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SG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Collaboration with OMMC BPM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SG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Ocean route data management and coordination with responsible teams to control Inland Routes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endParaRPr lang="en-US" sz="1100" dirty="0">
                        <a:solidFill>
                          <a:srgbClr val="00506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endParaRPr lang="en-US" sz="1100" dirty="0">
                        <a:solidFill>
                          <a:srgbClr val="00506D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20209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054368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NE Container Theme">
  <a:themeElements>
    <a:clrScheme name="ONE Color Templete">
      <a:dk1>
        <a:srgbClr val="3C3C3C"/>
      </a:dk1>
      <a:lt1>
        <a:srgbClr val="FFFFFF"/>
      </a:lt1>
      <a:dk2>
        <a:srgbClr val="000000"/>
      </a:dk2>
      <a:lt2>
        <a:srgbClr val="BD0F72"/>
      </a:lt2>
      <a:accent1>
        <a:srgbClr val="CCD3D1"/>
      </a:accent1>
      <a:accent2>
        <a:srgbClr val="BD0F72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8456</TotalTime>
  <Words>425</Words>
  <Application>Microsoft Office PowerPoint</Application>
  <PresentationFormat>A4 Paper (210x297 mm)</PresentationFormat>
  <Paragraphs>126</Paragraphs>
  <Slides>3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3" baseType="lpstr">
      <vt:lpstr>Arial</vt:lpstr>
      <vt:lpstr>Times New Roman</vt:lpstr>
      <vt:lpstr>Merriweather Sans</vt:lpstr>
      <vt:lpstr>Meiryo</vt:lpstr>
      <vt:lpstr>Century Gothic</vt:lpstr>
      <vt:lpstr>Proxima Nova</vt:lpstr>
      <vt:lpstr>Calibri</vt:lpstr>
      <vt:lpstr>Wingdings</vt:lpstr>
      <vt:lpstr>ONE Container Theme</vt:lpstr>
      <vt:lpstr>think-cell Slide</vt:lpstr>
      <vt:lpstr>3-7. Digital Yield Management  Strategy, Tiger and Titan Project Team</vt:lpstr>
      <vt:lpstr>3-7. Digital Yield Management  BPM &amp; Innovation Team</vt:lpstr>
      <vt:lpstr>3-7. Digital Yield Management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1-2. Global Human Resources</dc:title>
  <dc:creator>Mitsuhiro Oku</dc:creator>
  <cp:lastModifiedBy>Kenichi Michida</cp:lastModifiedBy>
  <cp:revision>345</cp:revision>
  <dcterms:modified xsi:type="dcterms:W3CDTF">2022-05-03T02:32:44Z</dcterms:modified>
</cp:coreProperties>
</file>