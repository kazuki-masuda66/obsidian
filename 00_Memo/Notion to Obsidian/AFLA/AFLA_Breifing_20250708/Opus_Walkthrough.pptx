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392" r:id="rId3"/>
    <p:sldId id="428" r:id="rId4"/>
    <p:sldId id="429" r:id="rId5"/>
    <p:sldId id="430" r:id="rId6"/>
    <p:sldId id="431" r:id="rId7"/>
    <p:sldId id="432" r:id="rId8"/>
    <p:sldId id="433" r:id="rId9"/>
    <p:sldId id="434" r:id="rId10"/>
    <p:sldId id="435" r:id="rId11"/>
    <p:sldId id="436" r:id="rId12"/>
    <p:sldId id="437" r:id="rId13"/>
    <p:sldId id="438" r:id="rId14"/>
    <p:sldId id="439" r:id="rId15"/>
    <p:sldId id="440" r:id="rId16"/>
    <p:sldId id="447" r:id="rId17"/>
    <p:sldId id="442" r:id="rId18"/>
    <p:sldId id="441" r:id="rId19"/>
    <p:sldId id="443" r:id="rId20"/>
    <p:sldId id="444" r:id="rId21"/>
    <p:sldId id="445" r:id="rId22"/>
    <p:sldId id="446" r:id="rId23"/>
    <p:sldId id="448" r:id="rId24"/>
    <p:sldId id="449" r:id="rId25"/>
    <p:sldId id="450" r:id="rId26"/>
    <p:sldId id="451" r:id="rId27"/>
    <p:sldId id="452" r:id="rId28"/>
    <p:sldId id="453" r:id="rId29"/>
    <p:sldId id="454" r:id="rId30"/>
    <p:sldId id="455" r:id="rId31"/>
    <p:sldId id="456" r:id="rId32"/>
    <p:sldId id="457" r:id="rId33"/>
    <p:sldId id="458" r:id="rId34"/>
    <p:sldId id="459" r:id="rId35"/>
    <p:sldId id="460" r:id="rId36"/>
    <p:sldId id="461" r:id="rId37"/>
    <p:sldId id="462" r:id="rId38"/>
    <p:sldId id="463" r:id="rId39"/>
  </p:sldIdLst>
  <p:sldSz cx="9144000" cy="6858000" type="screen4x3"/>
  <p:notesSz cx="6797675" cy="9926638"/>
  <p:embeddedFontLst>
    <p:embeddedFont>
      <p:font typeface="Arial Black" panose="020B0A04020102020204" pitchFamily="34" charset="0"/>
      <p:regular r:id="rId41"/>
      <p:bold r:id="rId42"/>
    </p:embeddedFont>
    <p:embeddedFont>
      <p:font typeface="Century Gothic" panose="020B0502020202020204" pitchFamily="34" charset="0"/>
      <p:regular r:id="rId43"/>
      <p:bold r:id="rId44"/>
      <p:italic r:id="rId45"/>
      <p:boldItalic r:id="rId46"/>
    </p:embeddedFont>
    <p:embeddedFont>
      <p:font typeface="Merriweather Sans"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9">
          <p15:clr>
            <a:srgbClr val="A4A3A4"/>
          </p15:clr>
        </p15:guide>
        <p15:guide id="2" pos="285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5" roundtripDataSignature="AMtx7mj/WOspJGOlrTKljqX1xhiDsnjOB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C87601-412A-4C98-8EF3-E6A62C96EEA3}">
  <a:tblStyle styleId="{1BC87601-412A-4C98-8EF3-E6A62C96EE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0" autoAdjust="0"/>
    <p:restoredTop sz="94660"/>
  </p:normalViewPr>
  <p:slideViewPr>
    <p:cSldViewPr snapToGrid="0">
      <p:cViewPr varScale="1">
        <p:scale>
          <a:sx n="78" d="100"/>
          <a:sy n="78" d="100"/>
        </p:scale>
        <p:origin x="1531" y="62"/>
      </p:cViewPr>
      <p:guideLst>
        <p:guide orient="horz" pos="799"/>
        <p:guide pos="285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76"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79"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77"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5659" cy="496332"/>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3" y="0"/>
            <a:ext cx="2945659" cy="496332"/>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lvl1pPr marL="457200" marR="0" lvl="0" indent="-335026"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1pPr>
            <a:lvl2pPr marL="914400" marR="0" lvl="1" indent="-335026"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2pPr>
            <a:lvl3pPr marL="1371600" marR="0" lvl="2" indent="-335025"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3pPr>
            <a:lvl4pPr marL="1828800" marR="0" lvl="3" indent="-335025"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4pPr>
            <a:lvl5pPr marL="2286000" marR="0" lvl="4" indent="-335026"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5pPr>
            <a:lvl6pPr marL="2743200" marR="0" lvl="5" indent="-335026"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6pPr>
            <a:lvl7pPr marL="3200400" marR="0" lvl="6" indent="-335026"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7pPr>
            <a:lvl8pPr marL="3657600" marR="0" lvl="7" indent="-335026"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8pPr>
            <a:lvl9pPr marL="4114800" marR="0" lvl="8" indent="-335026" algn="l" rtl="0">
              <a:lnSpc>
                <a:spcPct val="100000"/>
              </a:lnSpc>
              <a:spcBef>
                <a:spcPts val="0"/>
              </a:spcBef>
              <a:spcAft>
                <a:spcPts val="0"/>
              </a:spcAft>
              <a:buClr>
                <a:schemeClr val="dk1"/>
              </a:buClr>
              <a:buSzPts val="1676"/>
              <a:buFont typeface="Calibri"/>
              <a:buChar char="■"/>
              <a:defRPr sz="1676"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3"/>
            <a:ext cx="2945659" cy="496332"/>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2514"/>
              <a:buFont typeface="Calibri"/>
              <a:buNone/>
              <a:defRPr sz="2514"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notes"/>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676"/>
              <a:buFont typeface="Calibri"/>
              <a:buNone/>
            </a:pPr>
            <a:endParaRPr/>
          </a:p>
        </p:txBody>
      </p:sp>
      <p:sp>
        <p:nvSpPr>
          <p:cNvPr id="49" name="Google Shape;49;p1: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08e2b67d5c_3_0:notes"/>
          <p:cNvSpPr>
            <a:spLocks noGrp="1" noRot="1" noChangeAspect="1"/>
          </p:cNvSpPr>
          <p:nvPr>
            <p:ph type="sldImg" idx="2"/>
          </p:nvPr>
        </p:nvSpPr>
        <p:spPr>
          <a:xfrm>
            <a:off x="917575" y="744538"/>
            <a:ext cx="4962525"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g308e2b67d5c_3_0:notes"/>
          <p:cNvSpPr txBox="1">
            <a:spLocks noGrp="1"/>
          </p:cNvSpPr>
          <p:nvPr>
            <p:ph type="body" idx="1"/>
          </p:nvPr>
        </p:nvSpPr>
        <p:spPr>
          <a:xfrm>
            <a:off x="679768" y="4715153"/>
            <a:ext cx="5438100" cy="4467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76"/>
              <a:buNone/>
            </a:pPr>
            <a:endParaRPr/>
          </a:p>
        </p:txBody>
      </p:sp>
      <p:sp>
        <p:nvSpPr>
          <p:cNvPr id="133" name="Google Shape;133;g308e2b67d5c_3_0:notes"/>
          <p:cNvSpPr txBox="1">
            <a:spLocks noGrp="1"/>
          </p:cNvSpPr>
          <p:nvPr>
            <p:ph type="sldNum" idx="12"/>
          </p:nvPr>
        </p:nvSpPr>
        <p:spPr>
          <a:xfrm>
            <a:off x="3850443" y="9428583"/>
            <a:ext cx="2945700" cy="496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300"/>
              <a:buFont typeface="Calibri"/>
              <a:buNone/>
            </a:pPr>
            <a:fld id="{00000000-1234-1234-1234-123412341234}" type="slidenum">
              <a:rPr lang="en-US"/>
              <a:t>2</a:t>
            </a:fld>
            <a:endParaRPr/>
          </a:p>
        </p:txBody>
      </p:sp>
    </p:spTree>
    <p:extLst>
      <p:ext uri="{BB962C8B-B14F-4D97-AF65-F5344CB8AC3E}">
        <p14:creationId xmlns:p14="http://schemas.microsoft.com/office/powerpoint/2010/main" val="2267167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1" type="title">
  <p:cSld name="TITLE">
    <p:bg>
      <p:bgPr>
        <a:solidFill>
          <a:srgbClr val="BD0F72"/>
        </a:solidFill>
        <a:effectLst/>
      </p:bgPr>
    </p:bg>
    <p:spTree>
      <p:nvGrpSpPr>
        <p:cNvPr id="1" name="Shape 18"/>
        <p:cNvGrpSpPr/>
        <p:nvPr/>
      </p:nvGrpSpPr>
      <p:grpSpPr>
        <a:xfrm>
          <a:off x="0" y="0"/>
          <a:ext cx="0" cy="0"/>
          <a:chOff x="0" y="0"/>
          <a:chExt cx="0" cy="0"/>
        </a:xfrm>
      </p:grpSpPr>
      <p:sp>
        <p:nvSpPr>
          <p:cNvPr id="19" name="Google Shape;19;p48"/>
          <p:cNvSpPr/>
          <p:nvPr/>
        </p:nvSpPr>
        <p:spPr>
          <a:xfrm>
            <a:off x="2118" y="2118"/>
            <a:ext cx="2116" cy="2116"/>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8"/>
          <p:cNvSpPr txBox="1">
            <a:spLocks noGrp="1"/>
          </p:cNvSpPr>
          <p:nvPr>
            <p:ph type="ctrTitle"/>
          </p:nvPr>
        </p:nvSpPr>
        <p:spPr>
          <a:xfrm>
            <a:off x="328206" y="4992177"/>
            <a:ext cx="8491948" cy="715512"/>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CCD3D1"/>
              </a:buClr>
              <a:buSzPts val="2800"/>
              <a:buFont typeface="Arial"/>
              <a:buNone/>
              <a:defRPr sz="2800" b="0" i="0" u="none" strike="noStrike" cap="none">
                <a:solidFill>
                  <a:srgbClr val="CCD3D1"/>
                </a:solidFill>
                <a:latin typeface="Arial"/>
                <a:ea typeface="Arial"/>
                <a:cs typeface="Arial"/>
                <a:sym typeface="Arial"/>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a:p>
        </p:txBody>
      </p:sp>
      <p:sp>
        <p:nvSpPr>
          <p:cNvPr id="21" name="Google Shape;21;p48"/>
          <p:cNvSpPr txBox="1">
            <a:spLocks noGrp="1"/>
          </p:cNvSpPr>
          <p:nvPr>
            <p:ph type="subTitle" idx="1"/>
          </p:nvPr>
        </p:nvSpPr>
        <p:spPr>
          <a:xfrm>
            <a:off x="328206" y="5707691"/>
            <a:ext cx="8491948" cy="614068"/>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CCD3D1"/>
              </a:buClr>
              <a:buSzPts val="1051"/>
              <a:buFont typeface="Arial"/>
              <a:buNone/>
              <a:defRPr sz="1051" b="1" i="0" u="none" strike="noStrike" cap="none">
                <a:solidFill>
                  <a:srgbClr val="CCD3D1"/>
                </a:solidFill>
                <a:latin typeface="Arial"/>
                <a:ea typeface="Arial"/>
                <a:cs typeface="Arial"/>
                <a:sym typeface="Arial"/>
              </a:defRPr>
            </a:lvl1pPr>
            <a:lvl2pPr marR="0" lvl="1" algn="ctr">
              <a:lnSpc>
                <a:spcPct val="120000"/>
              </a:lnSpc>
              <a:spcBef>
                <a:spcPts val="900"/>
              </a:spcBef>
              <a:spcAft>
                <a:spcPts val="0"/>
              </a:spcAft>
              <a:buClr>
                <a:srgbClr val="8F8F8F"/>
              </a:buClr>
              <a:buSzPts val="1003"/>
              <a:buFont typeface="Arial"/>
              <a:buNone/>
              <a:defRPr sz="1051" b="0" i="0" u="none" strike="noStrike" cap="none">
                <a:solidFill>
                  <a:srgbClr val="8F8F8F"/>
                </a:solidFill>
                <a:latin typeface="Arial"/>
                <a:ea typeface="Arial"/>
                <a:cs typeface="Arial"/>
                <a:sym typeface="Arial"/>
              </a:defRPr>
            </a:lvl2pPr>
            <a:lvl3pPr marR="0" lvl="2" algn="ctr">
              <a:lnSpc>
                <a:spcPct val="120000"/>
              </a:lnSpc>
              <a:spcBef>
                <a:spcPts val="451"/>
              </a:spcBef>
              <a:spcAft>
                <a:spcPts val="0"/>
              </a:spcAft>
              <a:buClr>
                <a:srgbClr val="8F8F8F"/>
              </a:buClr>
              <a:buSzPts val="1003"/>
              <a:buFont typeface="Arial"/>
              <a:buNone/>
              <a:defRPr sz="1051" b="0" i="0" u="none" strike="noStrike" cap="none">
                <a:solidFill>
                  <a:srgbClr val="8F8F8F"/>
                </a:solidFill>
                <a:latin typeface="Arial"/>
                <a:ea typeface="Arial"/>
                <a:cs typeface="Arial"/>
                <a:sym typeface="Arial"/>
              </a:defRPr>
            </a:lvl3pPr>
            <a:lvl4pPr marR="0" lvl="3" algn="ctr">
              <a:lnSpc>
                <a:spcPct val="120000"/>
              </a:lnSpc>
              <a:spcBef>
                <a:spcPts val="451"/>
              </a:spcBef>
              <a:spcAft>
                <a:spcPts val="0"/>
              </a:spcAft>
              <a:buClr>
                <a:schemeClr val="lt2"/>
              </a:buClr>
              <a:buSzPts val="1003"/>
              <a:buFont typeface="Arial"/>
              <a:buNone/>
              <a:defRPr sz="1051" b="0" i="0" u="none" strike="noStrike" cap="none">
                <a:solidFill>
                  <a:srgbClr val="8F8F8F"/>
                </a:solidFill>
                <a:latin typeface="Arial"/>
                <a:ea typeface="Arial"/>
                <a:cs typeface="Arial"/>
                <a:sym typeface="Arial"/>
              </a:defRPr>
            </a:lvl4pPr>
            <a:lvl5pPr marR="0" lvl="4" algn="ctr">
              <a:lnSpc>
                <a:spcPct val="120000"/>
              </a:lnSpc>
              <a:spcBef>
                <a:spcPts val="451"/>
              </a:spcBef>
              <a:spcAft>
                <a:spcPts val="0"/>
              </a:spcAft>
              <a:buClr>
                <a:schemeClr val="lt2"/>
              </a:buClr>
              <a:buSzPts val="1003"/>
              <a:buFont typeface="Merriweather Sans"/>
              <a:buNone/>
              <a:defRPr sz="1051" b="0" i="0" u="none" strike="noStrike" cap="none">
                <a:solidFill>
                  <a:srgbClr val="8F8F8F"/>
                </a:solidFill>
                <a:latin typeface="Arial"/>
                <a:ea typeface="Arial"/>
                <a:cs typeface="Arial"/>
                <a:sym typeface="Arial"/>
              </a:defRPr>
            </a:lvl5pPr>
            <a:lvl6pPr marR="0" lvl="5" algn="ctr">
              <a:lnSpc>
                <a:spcPct val="100000"/>
              </a:lnSpc>
              <a:spcBef>
                <a:spcPts val="451"/>
              </a:spcBef>
              <a:spcAft>
                <a:spcPts val="0"/>
              </a:spcAft>
              <a:buClr>
                <a:srgbClr val="8F8F8F"/>
              </a:buClr>
              <a:buSzPts val="1500"/>
              <a:buFont typeface="Arial"/>
              <a:buNone/>
              <a:defRPr sz="1500" b="0" i="0" u="none" strike="noStrike" cap="none">
                <a:solidFill>
                  <a:srgbClr val="8F8F8F"/>
                </a:solidFill>
                <a:latin typeface="Century Gothic"/>
                <a:ea typeface="Century Gothic"/>
                <a:cs typeface="Century Gothic"/>
                <a:sym typeface="Century Gothic"/>
              </a:defRPr>
            </a:lvl6pPr>
            <a:lvl7pPr marR="0" lvl="6" algn="ctr">
              <a:lnSpc>
                <a:spcPct val="100000"/>
              </a:lnSpc>
              <a:spcBef>
                <a:spcPts val="300"/>
              </a:spcBef>
              <a:spcAft>
                <a:spcPts val="0"/>
              </a:spcAft>
              <a:buClr>
                <a:srgbClr val="8F8F8F"/>
              </a:buClr>
              <a:buSzPts val="1500"/>
              <a:buFont typeface="Arial"/>
              <a:buNone/>
              <a:defRPr sz="1500" b="0" i="0" u="none" strike="noStrike" cap="none">
                <a:solidFill>
                  <a:srgbClr val="8F8F8F"/>
                </a:solidFill>
                <a:latin typeface="Century Gothic"/>
                <a:ea typeface="Century Gothic"/>
                <a:cs typeface="Century Gothic"/>
                <a:sym typeface="Century Gothic"/>
              </a:defRPr>
            </a:lvl7pPr>
            <a:lvl8pPr marR="0" lvl="7" algn="ctr">
              <a:lnSpc>
                <a:spcPct val="100000"/>
              </a:lnSpc>
              <a:spcBef>
                <a:spcPts val="300"/>
              </a:spcBef>
              <a:spcAft>
                <a:spcPts val="0"/>
              </a:spcAft>
              <a:buClr>
                <a:srgbClr val="8F8F8F"/>
              </a:buClr>
              <a:buSzPts val="1500"/>
              <a:buFont typeface="Arial"/>
              <a:buNone/>
              <a:defRPr sz="1500" b="0" i="0" u="none" strike="noStrike" cap="none">
                <a:solidFill>
                  <a:srgbClr val="8F8F8F"/>
                </a:solidFill>
                <a:latin typeface="Century Gothic"/>
                <a:ea typeface="Century Gothic"/>
                <a:cs typeface="Century Gothic"/>
                <a:sym typeface="Century Gothic"/>
              </a:defRPr>
            </a:lvl8pPr>
            <a:lvl9pPr marR="0" lvl="8" algn="ctr">
              <a:lnSpc>
                <a:spcPct val="100000"/>
              </a:lnSpc>
              <a:spcBef>
                <a:spcPts val="300"/>
              </a:spcBef>
              <a:spcAft>
                <a:spcPts val="0"/>
              </a:spcAft>
              <a:buClr>
                <a:srgbClr val="8F8F8F"/>
              </a:buClr>
              <a:buSzPts val="1500"/>
              <a:buFont typeface="Arial"/>
              <a:buNone/>
              <a:defRPr sz="1500" b="0" i="0" u="none" strike="noStrike" cap="none">
                <a:solidFill>
                  <a:srgbClr val="8F8F8F"/>
                </a:solidFill>
                <a:latin typeface="Century Gothic"/>
                <a:ea typeface="Century Gothic"/>
                <a:cs typeface="Century Gothic"/>
                <a:sym typeface="Century Gothic"/>
              </a:defRPr>
            </a:lvl9pPr>
          </a:lstStyle>
          <a:p>
            <a:endParaRPr/>
          </a:p>
        </p:txBody>
      </p:sp>
      <p:pic>
        <p:nvPicPr>
          <p:cNvPr id="22" name="Google Shape;22;p48"/>
          <p:cNvPicPr preferRelativeResize="0"/>
          <p:nvPr/>
        </p:nvPicPr>
        <p:blipFill rotWithShape="1">
          <a:blip r:embed="rId2">
            <a:alphaModFix/>
          </a:blip>
          <a:srcRect/>
          <a:stretch/>
        </p:blipFill>
        <p:spPr>
          <a:xfrm>
            <a:off x="1638279" y="730800"/>
            <a:ext cx="5926552" cy="325034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age Layout 1">
  <p:cSld name="Page Layout 1">
    <p:spTree>
      <p:nvGrpSpPr>
        <p:cNvPr id="1" name="Shape 23"/>
        <p:cNvGrpSpPr/>
        <p:nvPr/>
      </p:nvGrpSpPr>
      <p:grpSpPr>
        <a:xfrm>
          <a:off x="0" y="0"/>
          <a:ext cx="0" cy="0"/>
          <a:chOff x="0" y="0"/>
          <a:chExt cx="0" cy="0"/>
        </a:xfrm>
      </p:grpSpPr>
      <p:sp>
        <p:nvSpPr>
          <p:cNvPr id="24" name="Google Shape;24;p65"/>
          <p:cNvSpPr txBox="1">
            <a:spLocks noGrp="1"/>
          </p:cNvSpPr>
          <p:nvPr>
            <p:ph type="title"/>
          </p:nvPr>
        </p:nvSpPr>
        <p:spPr>
          <a:xfrm>
            <a:off x="116422" y="199174"/>
            <a:ext cx="7478615" cy="35779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BD0F72"/>
              </a:buClr>
              <a:buSzPts val="2500"/>
              <a:buFont typeface="Arial Black"/>
              <a:buNone/>
              <a:defRPr sz="1875" b="0" i="0" u="none" strike="noStrike" cap="none">
                <a:solidFill>
                  <a:srgbClr val="BD0F72"/>
                </a:solidFill>
                <a:latin typeface="Arial Black"/>
                <a:ea typeface="Arial Black"/>
                <a:cs typeface="Arial Black"/>
                <a:sym typeface="Arial Black"/>
              </a:defRPr>
            </a:lvl1pPr>
            <a:lvl2pPr marR="0" lvl="1" algn="ctr">
              <a:lnSpc>
                <a:spcPct val="100000"/>
              </a:lnSpc>
              <a:spcBef>
                <a:spcPts val="0"/>
              </a:spcBef>
              <a:spcAft>
                <a:spcPts val="0"/>
              </a:spcAft>
              <a:buClr>
                <a:srgbClr val="000000"/>
              </a:buClr>
              <a:buSzPts val="5600"/>
              <a:buFont typeface="Arial"/>
              <a:buNone/>
              <a:defRPr sz="4200" b="0" i="0" u="none" strike="noStrike" cap="none">
                <a:solidFill>
                  <a:srgbClr val="000000"/>
                </a:solidFill>
                <a:latin typeface="Arial"/>
                <a:ea typeface="Arial"/>
                <a:cs typeface="Arial"/>
                <a:sym typeface="Arial"/>
              </a:defRPr>
            </a:lvl2pPr>
            <a:lvl3pPr marR="0" lvl="2" algn="ctr">
              <a:lnSpc>
                <a:spcPct val="100000"/>
              </a:lnSpc>
              <a:spcBef>
                <a:spcPts val="0"/>
              </a:spcBef>
              <a:spcAft>
                <a:spcPts val="0"/>
              </a:spcAft>
              <a:buClr>
                <a:srgbClr val="000000"/>
              </a:buClr>
              <a:buSzPts val="5600"/>
              <a:buFont typeface="Arial"/>
              <a:buNone/>
              <a:defRPr sz="4200" b="0" i="0" u="none" strike="noStrike" cap="none">
                <a:solidFill>
                  <a:srgbClr val="000000"/>
                </a:solidFill>
                <a:latin typeface="Arial"/>
                <a:ea typeface="Arial"/>
                <a:cs typeface="Arial"/>
                <a:sym typeface="Arial"/>
              </a:defRPr>
            </a:lvl3pPr>
            <a:lvl4pPr marR="0" lvl="3" algn="ctr">
              <a:lnSpc>
                <a:spcPct val="100000"/>
              </a:lnSpc>
              <a:spcBef>
                <a:spcPts val="0"/>
              </a:spcBef>
              <a:spcAft>
                <a:spcPts val="0"/>
              </a:spcAft>
              <a:buClr>
                <a:srgbClr val="000000"/>
              </a:buClr>
              <a:buSzPts val="5600"/>
              <a:buFont typeface="Arial"/>
              <a:buNone/>
              <a:defRPr sz="4200" b="0" i="0" u="none" strike="noStrike" cap="none">
                <a:solidFill>
                  <a:srgbClr val="000000"/>
                </a:solidFill>
                <a:latin typeface="Arial"/>
                <a:ea typeface="Arial"/>
                <a:cs typeface="Arial"/>
                <a:sym typeface="Arial"/>
              </a:defRPr>
            </a:lvl4pPr>
            <a:lvl5pPr marR="0" lvl="4" algn="ctr">
              <a:lnSpc>
                <a:spcPct val="100000"/>
              </a:lnSpc>
              <a:spcBef>
                <a:spcPts val="0"/>
              </a:spcBef>
              <a:spcAft>
                <a:spcPts val="0"/>
              </a:spcAft>
              <a:buClr>
                <a:srgbClr val="000000"/>
              </a:buClr>
              <a:buSzPts val="5600"/>
              <a:buFont typeface="Arial"/>
              <a:buNone/>
              <a:defRPr sz="4200" b="0" i="0" u="none" strike="noStrike" cap="none">
                <a:solidFill>
                  <a:srgbClr val="000000"/>
                </a:solidFill>
                <a:latin typeface="Arial"/>
                <a:ea typeface="Arial"/>
                <a:cs typeface="Arial"/>
                <a:sym typeface="Arial"/>
              </a:defRPr>
            </a:lvl5pPr>
            <a:lvl6pPr marR="0" lvl="5" algn="ctr">
              <a:lnSpc>
                <a:spcPct val="100000"/>
              </a:lnSpc>
              <a:spcBef>
                <a:spcPts val="0"/>
              </a:spcBef>
              <a:spcAft>
                <a:spcPts val="0"/>
              </a:spcAft>
              <a:buClr>
                <a:srgbClr val="000000"/>
              </a:buClr>
              <a:buSzPts val="5600"/>
              <a:buFont typeface="Arial"/>
              <a:buNone/>
              <a:defRPr sz="4200" b="0" i="0" u="none" strike="noStrike" cap="none">
                <a:solidFill>
                  <a:srgbClr val="000000"/>
                </a:solidFill>
                <a:latin typeface="Arial"/>
                <a:ea typeface="Arial"/>
                <a:cs typeface="Arial"/>
                <a:sym typeface="Arial"/>
              </a:defRPr>
            </a:lvl6pPr>
            <a:lvl7pPr marR="0" lvl="6" algn="ctr">
              <a:lnSpc>
                <a:spcPct val="100000"/>
              </a:lnSpc>
              <a:spcBef>
                <a:spcPts val="0"/>
              </a:spcBef>
              <a:spcAft>
                <a:spcPts val="0"/>
              </a:spcAft>
              <a:buClr>
                <a:srgbClr val="000000"/>
              </a:buClr>
              <a:buSzPts val="5600"/>
              <a:buFont typeface="Arial"/>
              <a:buNone/>
              <a:defRPr sz="4200" b="0" i="0" u="none" strike="noStrike" cap="none">
                <a:solidFill>
                  <a:srgbClr val="000000"/>
                </a:solidFill>
                <a:latin typeface="Arial"/>
                <a:ea typeface="Arial"/>
                <a:cs typeface="Arial"/>
                <a:sym typeface="Arial"/>
              </a:defRPr>
            </a:lvl7pPr>
            <a:lvl8pPr marR="0" lvl="7" algn="ctr">
              <a:lnSpc>
                <a:spcPct val="100000"/>
              </a:lnSpc>
              <a:spcBef>
                <a:spcPts val="0"/>
              </a:spcBef>
              <a:spcAft>
                <a:spcPts val="0"/>
              </a:spcAft>
              <a:buClr>
                <a:srgbClr val="000000"/>
              </a:buClr>
              <a:buSzPts val="5600"/>
              <a:buFont typeface="Arial"/>
              <a:buNone/>
              <a:defRPr sz="4200" b="0" i="0" u="none" strike="noStrike" cap="none">
                <a:solidFill>
                  <a:srgbClr val="000000"/>
                </a:solidFill>
                <a:latin typeface="Arial"/>
                <a:ea typeface="Arial"/>
                <a:cs typeface="Arial"/>
                <a:sym typeface="Arial"/>
              </a:defRPr>
            </a:lvl8pPr>
            <a:lvl9pPr marR="0" lvl="8" algn="ctr">
              <a:lnSpc>
                <a:spcPct val="100000"/>
              </a:lnSpc>
              <a:spcBef>
                <a:spcPts val="0"/>
              </a:spcBef>
              <a:spcAft>
                <a:spcPts val="0"/>
              </a:spcAft>
              <a:buClr>
                <a:srgbClr val="000000"/>
              </a:buClr>
              <a:buSzPts val="5600"/>
              <a:buFont typeface="Arial"/>
              <a:buNone/>
              <a:defRPr sz="4200" b="0" i="0" u="none" strike="noStrike" cap="none">
                <a:solidFill>
                  <a:srgbClr val="000000"/>
                </a:solidFill>
                <a:latin typeface="Arial"/>
                <a:ea typeface="Arial"/>
                <a:cs typeface="Arial"/>
                <a:sym typeface="Arial"/>
              </a:defRPr>
            </a:lvl9pPr>
          </a:lstStyle>
          <a:p>
            <a:endParaRPr/>
          </a:p>
        </p:txBody>
      </p:sp>
      <p:sp>
        <p:nvSpPr>
          <p:cNvPr id="25" name="Google Shape;25;p65"/>
          <p:cNvSpPr txBox="1">
            <a:spLocks noGrp="1"/>
          </p:cNvSpPr>
          <p:nvPr>
            <p:ph type="body" idx="1"/>
          </p:nvPr>
        </p:nvSpPr>
        <p:spPr>
          <a:xfrm>
            <a:off x="203002" y="967155"/>
            <a:ext cx="8737997" cy="5512778"/>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1pPr>
            <a:lvl2pPr marL="914400" marR="0" lvl="1" indent="-323850" algn="l">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2pPr>
            <a:lvl3pPr marL="1371600" marR="0" lvl="2" indent="-323850" algn="l">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3pPr>
            <a:lvl4pPr marL="1828800" marR="0" lvl="3" indent="-323850" algn="l">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4pPr>
            <a:lvl5pPr marL="2286000" marR="0" lvl="4" indent="-323850" algn="l">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5pPr>
            <a:lvl6pPr marL="2743200" marR="0" lvl="5" indent="-323850" algn="l">
              <a:lnSpc>
                <a:spcPct val="100000"/>
              </a:lnSpc>
              <a:spcBef>
                <a:spcPts val="2213"/>
              </a:spcBef>
              <a:spcAft>
                <a:spcPts val="0"/>
              </a:spcAft>
              <a:buClr>
                <a:srgbClr val="000000"/>
              </a:buClr>
              <a:buSzPts val="1500"/>
              <a:buFont typeface="Arial Black"/>
              <a:buChar char="•"/>
              <a:defRPr sz="1500" b="0" i="0" u="none" strike="noStrike" cap="none">
                <a:solidFill>
                  <a:srgbClr val="000000"/>
                </a:solidFill>
                <a:latin typeface="Arial Black"/>
                <a:ea typeface="Arial Black"/>
                <a:cs typeface="Arial Black"/>
                <a:sym typeface="Arial Black"/>
              </a:defRPr>
            </a:lvl6pPr>
            <a:lvl7pPr marL="3200400" marR="0" lvl="6" indent="-323850" algn="l">
              <a:lnSpc>
                <a:spcPct val="100000"/>
              </a:lnSpc>
              <a:spcBef>
                <a:spcPts val="2213"/>
              </a:spcBef>
              <a:spcAft>
                <a:spcPts val="0"/>
              </a:spcAft>
              <a:buClr>
                <a:srgbClr val="000000"/>
              </a:buClr>
              <a:buSzPts val="1500"/>
              <a:buFont typeface="Arial Black"/>
              <a:buChar char="•"/>
              <a:defRPr sz="1500" b="0" i="0" u="none" strike="noStrike" cap="none">
                <a:solidFill>
                  <a:srgbClr val="000000"/>
                </a:solidFill>
                <a:latin typeface="Arial Black"/>
                <a:ea typeface="Arial Black"/>
                <a:cs typeface="Arial Black"/>
                <a:sym typeface="Arial Black"/>
              </a:defRPr>
            </a:lvl7pPr>
            <a:lvl8pPr marL="3657600" marR="0" lvl="7" indent="-323850" algn="l">
              <a:lnSpc>
                <a:spcPct val="100000"/>
              </a:lnSpc>
              <a:spcBef>
                <a:spcPts val="2213"/>
              </a:spcBef>
              <a:spcAft>
                <a:spcPts val="0"/>
              </a:spcAft>
              <a:buClr>
                <a:srgbClr val="000000"/>
              </a:buClr>
              <a:buSzPts val="1500"/>
              <a:buFont typeface="Arial Black"/>
              <a:buChar char="•"/>
              <a:defRPr sz="1500" b="0" i="0" u="none" strike="noStrike" cap="none">
                <a:solidFill>
                  <a:srgbClr val="000000"/>
                </a:solidFill>
                <a:latin typeface="Arial Black"/>
                <a:ea typeface="Arial Black"/>
                <a:cs typeface="Arial Black"/>
                <a:sym typeface="Arial Black"/>
              </a:defRPr>
            </a:lvl8pPr>
            <a:lvl9pPr marL="4114800" marR="0" lvl="8" indent="-323850" algn="l">
              <a:lnSpc>
                <a:spcPct val="100000"/>
              </a:lnSpc>
              <a:spcBef>
                <a:spcPts val="2213"/>
              </a:spcBef>
              <a:spcAft>
                <a:spcPts val="0"/>
              </a:spcAft>
              <a:buClr>
                <a:srgbClr val="000000"/>
              </a:buClr>
              <a:buSzPts val="1500"/>
              <a:buFont typeface="Arial Black"/>
              <a:buChar char="•"/>
              <a:defRPr sz="1500" b="0" i="0" u="none" strike="noStrike" cap="none">
                <a:solidFill>
                  <a:srgbClr val="000000"/>
                </a:solidFill>
                <a:latin typeface="Arial Black"/>
                <a:ea typeface="Arial Black"/>
                <a:cs typeface="Arial Black"/>
                <a:sym typeface="Arial Black"/>
              </a:defRPr>
            </a:lvl9pPr>
          </a:lstStyle>
          <a:p>
            <a:endParaRPr/>
          </a:p>
        </p:txBody>
      </p:sp>
      <p:sp>
        <p:nvSpPr>
          <p:cNvPr id="26" name="Google Shape;26;p65"/>
          <p:cNvSpPr txBox="1">
            <a:spLocks noGrp="1"/>
          </p:cNvSpPr>
          <p:nvPr>
            <p:ph type="sldNum" idx="12"/>
          </p:nvPr>
        </p:nvSpPr>
        <p:spPr>
          <a:xfrm>
            <a:off x="193433" y="6479931"/>
            <a:ext cx="2057400" cy="241544"/>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600"/>
              <a:buFont typeface="Arial"/>
              <a:buNone/>
              <a:defRPr sz="45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ver Slide">
  <p:cSld name="Cover Slide">
    <p:bg>
      <p:bgPr>
        <a:solidFill>
          <a:srgbClr val="BD0F72"/>
        </a:solidFill>
        <a:effectLst/>
      </p:bgPr>
    </p:bg>
    <p:spTree>
      <p:nvGrpSpPr>
        <p:cNvPr id="1" name="Shape 81"/>
        <p:cNvGrpSpPr/>
        <p:nvPr/>
      </p:nvGrpSpPr>
      <p:grpSpPr>
        <a:xfrm>
          <a:off x="0" y="0"/>
          <a:ext cx="0" cy="0"/>
          <a:chOff x="0" y="0"/>
          <a:chExt cx="0" cy="0"/>
        </a:xfrm>
      </p:grpSpPr>
      <p:sp>
        <p:nvSpPr>
          <p:cNvPr id="82" name="Google Shape;82;g3077d1edd74_3_24"/>
          <p:cNvSpPr/>
          <p:nvPr/>
        </p:nvSpPr>
        <p:spPr>
          <a:xfrm>
            <a:off x="7186888" y="6667615"/>
            <a:ext cx="1736053" cy="107722"/>
          </a:xfrm>
          <a:prstGeom prst="rect">
            <a:avLst/>
          </a:prstGeom>
          <a:no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Clr>
                <a:srgbClr val="000000"/>
              </a:buClr>
              <a:buSzPts val="450"/>
              <a:buFont typeface="Arial"/>
              <a:buNone/>
            </a:pPr>
            <a:r>
              <a:rPr lang="en-US" sz="450" b="0" i="0" u="none" strike="noStrike" cap="none">
                <a:solidFill>
                  <a:schemeClr val="lt1"/>
                </a:solidFill>
                <a:latin typeface="Arial"/>
                <a:ea typeface="Arial"/>
                <a:cs typeface="Arial"/>
                <a:sym typeface="Arial"/>
              </a:rPr>
              <a:t>Copyright © Ocean Network Express Pte. Ltd. All Rights Reserved</a:t>
            </a:r>
            <a:endParaRPr sz="1400" b="0" i="0" u="none" strike="noStrike" cap="none">
              <a:solidFill>
                <a:srgbClr val="000000"/>
              </a:solidFill>
              <a:latin typeface="Arial"/>
              <a:ea typeface="Arial"/>
              <a:cs typeface="Arial"/>
              <a:sym typeface="Arial"/>
            </a:endParaRPr>
          </a:p>
        </p:txBody>
      </p:sp>
      <p:sp>
        <p:nvSpPr>
          <p:cNvPr id="83" name="Google Shape;83;g3077d1edd74_3_24"/>
          <p:cNvSpPr txBox="1">
            <a:spLocks noGrp="1"/>
          </p:cNvSpPr>
          <p:nvPr>
            <p:ph type="title"/>
          </p:nvPr>
        </p:nvSpPr>
        <p:spPr>
          <a:xfrm>
            <a:off x="526791" y="2228583"/>
            <a:ext cx="4623304" cy="786604"/>
          </a:xfrm>
          <a:prstGeom prst="rect">
            <a:avLst/>
          </a:prstGeom>
          <a:noFill/>
          <a:ln>
            <a:noFill/>
          </a:ln>
        </p:spPr>
        <p:txBody>
          <a:bodyPr spcFirstLastPara="1" wrap="square" lIns="0" tIns="45700" rIns="91425" bIns="45700" anchor="b" anchorCtr="0">
            <a:normAutofit/>
          </a:bodyPr>
          <a:lstStyle>
            <a:lvl1pPr lvl="0" algn="l">
              <a:lnSpc>
                <a:spcPct val="100000"/>
              </a:lnSpc>
              <a:spcBef>
                <a:spcPts val="0"/>
              </a:spcBef>
              <a:spcAft>
                <a:spcPts val="0"/>
              </a:spcAft>
              <a:buClr>
                <a:schemeClr val="lt1"/>
              </a:buClr>
              <a:buSzPts val="3000"/>
              <a:buFont typeface="Arial"/>
              <a:buNone/>
              <a:defRPr sz="3000" b="1">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g3077d1edd74_3_24"/>
          <p:cNvSpPr txBox="1">
            <a:spLocks noGrp="1"/>
          </p:cNvSpPr>
          <p:nvPr>
            <p:ph type="body" idx="1"/>
          </p:nvPr>
        </p:nvSpPr>
        <p:spPr>
          <a:xfrm>
            <a:off x="526791" y="5908432"/>
            <a:ext cx="4623304" cy="41030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Clr>
                <a:schemeClr val="lt1"/>
              </a:buClr>
              <a:buSzPts val="1500"/>
              <a:buNone/>
              <a:defRPr sz="1500">
                <a:solidFill>
                  <a:schemeClr val="lt1"/>
                </a:solidFill>
                <a:latin typeface="Arial"/>
                <a:ea typeface="Arial"/>
                <a:cs typeface="Arial"/>
                <a:sym typeface="Arial"/>
              </a:defRPr>
            </a:lvl1pPr>
            <a:lvl2pPr marL="914400" lvl="1" indent="-228600" algn="l">
              <a:lnSpc>
                <a:spcPct val="120000"/>
              </a:lnSpc>
              <a:spcBef>
                <a:spcPts val="831"/>
              </a:spcBef>
              <a:spcAft>
                <a:spcPts val="0"/>
              </a:spcAft>
              <a:buClr>
                <a:srgbClr val="BF0B6C"/>
              </a:buClr>
              <a:buSzPts val="969"/>
              <a:buFont typeface="Arial"/>
              <a:buNone/>
              <a:defRPr>
                <a:latin typeface="Arial"/>
                <a:ea typeface="Arial"/>
                <a:cs typeface="Arial"/>
                <a:sym typeface="Arial"/>
              </a:defRPr>
            </a:lvl2pPr>
            <a:lvl3pPr marL="1371600" lvl="2" indent="-228600" algn="l">
              <a:lnSpc>
                <a:spcPct val="120000"/>
              </a:lnSpc>
              <a:spcBef>
                <a:spcPts val="415"/>
              </a:spcBef>
              <a:spcAft>
                <a:spcPts val="0"/>
              </a:spcAft>
              <a:buClr>
                <a:schemeClr val="dk1"/>
              </a:buClr>
              <a:buSzPts val="1800"/>
              <a:buNone/>
              <a:defRPr/>
            </a:lvl3pPr>
            <a:lvl4pPr marL="1828800" lvl="3" indent="-342900" algn="l">
              <a:lnSpc>
                <a:spcPct val="120000"/>
              </a:lnSpc>
              <a:spcBef>
                <a:spcPts val="415"/>
              </a:spcBef>
              <a:spcAft>
                <a:spcPts val="0"/>
              </a:spcAft>
              <a:buSzPts val="1800"/>
              <a:buChar char="•"/>
              <a:defRPr/>
            </a:lvl4pPr>
            <a:lvl5pPr marL="2286000" lvl="4" indent="-342900" algn="l">
              <a:lnSpc>
                <a:spcPct val="120000"/>
              </a:lnSpc>
              <a:spcBef>
                <a:spcPts val="415"/>
              </a:spcBef>
              <a:spcAft>
                <a:spcPts val="0"/>
              </a:spcAft>
              <a:buSzPts val="1800"/>
              <a:buChar char="-"/>
              <a:defRPr/>
            </a:lvl5pPr>
            <a:lvl6pPr marL="2743200" lvl="5" indent="-342900" algn="l">
              <a:lnSpc>
                <a:spcPct val="100000"/>
              </a:lnSpc>
              <a:spcBef>
                <a:spcPts val="415"/>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85" name="Google Shape;85;g3077d1edd74_3_24"/>
          <p:cNvPicPr preferRelativeResize="0"/>
          <p:nvPr/>
        </p:nvPicPr>
        <p:blipFill rotWithShape="1">
          <a:blip r:embed="rId2">
            <a:alphaModFix/>
          </a:blip>
          <a:srcRect/>
          <a:stretch/>
        </p:blipFill>
        <p:spPr>
          <a:xfrm>
            <a:off x="5713038" y="2228584"/>
            <a:ext cx="2844824" cy="2400835"/>
          </a:xfrm>
          <a:prstGeom prst="rect">
            <a:avLst/>
          </a:prstGeom>
          <a:noFill/>
          <a:ln>
            <a:noFill/>
          </a:ln>
        </p:spPr>
      </p:pic>
    </p:spTree>
    <p:extLst>
      <p:ext uri="{BB962C8B-B14F-4D97-AF65-F5344CB8AC3E}">
        <p14:creationId xmlns:p14="http://schemas.microsoft.com/office/powerpoint/2010/main" val="35771348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7"/>
          <p:cNvSpPr/>
          <p:nvPr/>
        </p:nvSpPr>
        <p:spPr>
          <a:xfrm>
            <a:off x="1590" y="2119"/>
            <a:ext cx="1587" cy="2116"/>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47"/>
          <p:cNvSpPr txBox="1">
            <a:spLocks noGrp="1"/>
          </p:cNvSpPr>
          <p:nvPr>
            <p:ph type="title"/>
          </p:nvPr>
        </p:nvSpPr>
        <p:spPr>
          <a:xfrm>
            <a:off x="320146" y="67556"/>
            <a:ext cx="8500005" cy="84602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BF0B6C"/>
              </a:buClr>
              <a:buSzPts val="2800"/>
              <a:buFont typeface="Arial"/>
              <a:buNone/>
              <a:defRPr sz="2800" b="0" i="0" u="none" strike="noStrike" cap="none">
                <a:solidFill>
                  <a:srgbClr val="BF0B6C"/>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47"/>
          <p:cNvSpPr txBox="1">
            <a:spLocks noGrp="1"/>
          </p:cNvSpPr>
          <p:nvPr>
            <p:ph type="sldNum" idx="12"/>
          </p:nvPr>
        </p:nvSpPr>
        <p:spPr>
          <a:xfrm>
            <a:off x="6992079" y="6647545"/>
            <a:ext cx="2133600" cy="196641"/>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1pPr>
            <a:lvl2pPr marL="0" marR="0" lvl="1"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2pPr>
            <a:lvl3pPr marL="0" marR="0" lvl="2"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3pPr>
            <a:lvl4pPr marL="0" marR="0" lvl="3"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4pPr>
            <a:lvl5pPr marL="0" marR="0" lvl="4"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5pPr>
            <a:lvl6pPr marL="0" marR="0" lvl="5"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6pPr>
            <a:lvl7pPr marL="0" marR="0" lvl="6"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7pPr>
            <a:lvl8pPr marL="0" marR="0" lvl="7"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8pPr>
            <a:lvl9pPr marL="0" marR="0" lvl="8" indent="0" algn="r" rtl="0">
              <a:lnSpc>
                <a:spcPct val="100000"/>
              </a:lnSpc>
              <a:spcBef>
                <a:spcPts val="0"/>
              </a:spcBef>
              <a:spcAft>
                <a:spcPts val="0"/>
              </a:spcAft>
              <a:buClr>
                <a:srgbClr val="463D00"/>
              </a:buClr>
              <a:buSzPts val="277"/>
              <a:buFont typeface="Arial"/>
              <a:buNone/>
              <a:defRPr sz="1108" b="0" i="0" u="none" strike="noStrike" cap="none">
                <a:solidFill>
                  <a:srgbClr val="463D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3" name="Google Shape;13;p47"/>
          <p:cNvCxnSpPr/>
          <p:nvPr/>
        </p:nvCxnSpPr>
        <p:spPr>
          <a:xfrm>
            <a:off x="320145" y="6640616"/>
            <a:ext cx="8823856" cy="0"/>
          </a:xfrm>
          <a:prstGeom prst="straightConnector1">
            <a:avLst/>
          </a:prstGeom>
          <a:noFill/>
          <a:ln w="12700" cap="flat" cmpd="sng">
            <a:solidFill>
              <a:schemeClr val="lt2"/>
            </a:solidFill>
            <a:prstDash val="solid"/>
            <a:round/>
            <a:headEnd type="none" w="sm" len="sm"/>
            <a:tailEnd type="none" w="sm" len="sm"/>
          </a:ln>
        </p:spPr>
      </p:cxnSp>
      <p:cxnSp>
        <p:nvCxnSpPr>
          <p:cNvPr id="14" name="Google Shape;14;p47"/>
          <p:cNvCxnSpPr/>
          <p:nvPr/>
        </p:nvCxnSpPr>
        <p:spPr>
          <a:xfrm>
            <a:off x="0" y="935691"/>
            <a:ext cx="8823856" cy="0"/>
          </a:xfrm>
          <a:prstGeom prst="straightConnector1">
            <a:avLst/>
          </a:prstGeom>
          <a:noFill/>
          <a:ln w="12700" cap="flat" cmpd="sng">
            <a:solidFill>
              <a:schemeClr val="lt2"/>
            </a:solidFill>
            <a:prstDash val="solid"/>
            <a:round/>
            <a:headEnd type="none" w="sm" len="sm"/>
            <a:tailEnd type="none" w="sm" len="sm"/>
          </a:ln>
        </p:spPr>
      </p:cxnSp>
      <p:sp>
        <p:nvSpPr>
          <p:cNvPr id="15" name="Google Shape;15;p47"/>
          <p:cNvSpPr/>
          <p:nvPr/>
        </p:nvSpPr>
        <p:spPr>
          <a:xfrm>
            <a:off x="320144" y="6658750"/>
            <a:ext cx="4087385" cy="180000"/>
          </a:xfrm>
          <a:prstGeom prst="rect">
            <a:avLst/>
          </a:prstGeom>
          <a:noFill/>
          <a:ln>
            <a:noFill/>
          </a:ln>
        </p:spPr>
        <p:txBody>
          <a:bodyPr spcFirstLastPara="1" wrap="square" lIns="33225" tIns="0" rIns="0" bIns="0" anchor="ctr" anchorCtr="0">
            <a:noAutofit/>
          </a:bodyPr>
          <a:lstStyle/>
          <a:p>
            <a:pPr marL="0" marR="0" lvl="0" indent="0" algn="l" rtl="0">
              <a:lnSpc>
                <a:spcPct val="95000"/>
              </a:lnSpc>
              <a:spcBef>
                <a:spcPts val="0"/>
              </a:spcBef>
              <a:spcAft>
                <a:spcPts val="0"/>
              </a:spcAft>
              <a:buClr>
                <a:srgbClr val="000000"/>
              </a:buClr>
              <a:buSzPts val="877"/>
              <a:buFont typeface="Arial"/>
              <a:buNone/>
            </a:pPr>
            <a:r>
              <a:rPr lang="en-US" sz="900" b="0" i="0" u="none" strike="noStrike" cap="none">
                <a:solidFill>
                  <a:srgbClr val="000000"/>
                </a:solidFill>
                <a:latin typeface="Arial"/>
                <a:ea typeface="Arial"/>
                <a:cs typeface="Arial"/>
                <a:sym typeface="Arial"/>
              </a:rPr>
              <a:t>Copyright © 2019 Ocean Network Express Pte. Ltd. All Rights Reserved</a:t>
            </a:r>
            <a:endParaRPr sz="1400" b="0" i="0" u="none" strike="noStrike" cap="none">
              <a:solidFill>
                <a:srgbClr val="000000"/>
              </a:solidFill>
              <a:latin typeface="Arial"/>
              <a:ea typeface="Arial"/>
              <a:cs typeface="Arial"/>
              <a:sym typeface="Arial"/>
            </a:endParaRPr>
          </a:p>
        </p:txBody>
      </p:sp>
      <p:pic>
        <p:nvPicPr>
          <p:cNvPr id="16" name="Google Shape;16;p47"/>
          <p:cNvPicPr preferRelativeResize="0"/>
          <p:nvPr/>
        </p:nvPicPr>
        <p:blipFill rotWithShape="1">
          <a:blip r:embed="rId5">
            <a:alphaModFix/>
          </a:blip>
          <a:srcRect/>
          <a:stretch/>
        </p:blipFill>
        <p:spPr>
          <a:xfrm>
            <a:off x="7454397" y="139165"/>
            <a:ext cx="1365754" cy="739784"/>
          </a:xfrm>
          <a:prstGeom prst="rect">
            <a:avLst/>
          </a:prstGeom>
          <a:noFill/>
          <a:ln>
            <a:noFill/>
          </a:ln>
        </p:spPr>
      </p:pic>
      <p:sp>
        <p:nvSpPr>
          <p:cNvPr id="17" name="Google Shape;17;p47"/>
          <p:cNvSpPr txBox="1">
            <a:spLocks noGrp="1"/>
          </p:cNvSpPr>
          <p:nvPr>
            <p:ph type="body" idx="1"/>
          </p:nvPr>
        </p:nvSpPr>
        <p:spPr>
          <a:xfrm>
            <a:off x="320146" y="992435"/>
            <a:ext cx="8500005" cy="5591439"/>
          </a:xfrm>
          <a:prstGeom prst="rect">
            <a:avLst/>
          </a:prstGeom>
          <a:noFill/>
          <a:ln>
            <a:noFill/>
          </a:ln>
        </p:spPr>
        <p:txBody>
          <a:bodyPr spcFirstLastPara="1" wrap="square" lIns="91425" tIns="91425" rIns="91425" bIns="91425" anchor="t" anchorCtr="0">
            <a:noAutofit/>
          </a:bodyPr>
          <a:lstStyle>
            <a:lvl1pPr marL="457200" marR="0" lvl="0" indent="-330263" algn="l" rtl="0">
              <a:lnSpc>
                <a:spcPct val="100000"/>
              </a:lnSpc>
              <a:spcBef>
                <a:spcPts val="0"/>
              </a:spcBef>
              <a:spcAft>
                <a:spcPts val="0"/>
              </a:spcAft>
              <a:buClr>
                <a:srgbClr val="BF0B6C"/>
              </a:buClr>
              <a:buSzPts val="1601"/>
              <a:buFont typeface="Arial"/>
              <a:buChar char="●"/>
              <a:defRPr sz="1650" b="0" i="0" u="none" strike="noStrike" cap="none">
                <a:solidFill>
                  <a:srgbClr val="BF0B6C"/>
                </a:solidFill>
                <a:latin typeface="Arial"/>
                <a:ea typeface="Arial"/>
                <a:cs typeface="Arial"/>
                <a:sym typeface="Arial"/>
              </a:defRPr>
            </a:lvl1pPr>
            <a:lvl2pPr marL="914400" marR="0" lvl="1" indent="-292227" algn="l" rtl="0">
              <a:lnSpc>
                <a:spcPct val="120000"/>
              </a:lnSpc>
              <a:spcBef>
                <a:spcPts val="900"/>
              </a:spcBef>
              <a:spcAft>
                <a:spcPts val="0"/>
              </a:spcAft>
              <a:buClr>
                <a:srgbClr val="BF0B6C"/>
              </a:buClr>
              <a:buSzPts val="1002"/>
              <a:buFont typeface="Arial"/>
              <a:buChar char="○"/>
              <a:defRPr sz="1050" b="0" i="0" u="none" strike="noStrike" cap="none">
                <a:solidFill>
                  <a:srgbClr val="BF0B6C"/>
                </a:solidFill>
                <a:latin typeface="Arial"/>
                <a:ea typeface="Arial"/>
                <a:cs typeface="Arial"/>
                <a:sym typeface="Arial"/>
              </a:defRPr>
            </a:lvl2pPr>
            <a:lvl3pPr marL="1371600" marR="0" lvl="2" indent="-292227" algn="l" rtl="0">
              <a:lnSpc>
                <a:spcPct val="120000"/>
              </a:lnSpc>
              <a:spcBef>
                <a:spcPts val="450"/>
              </a:spcBef>
              <a:spcAft>
                <a:spcPts val="0"/>
              </a:spcAft>
              <a:buClr>
                <a:schemeClr val="dk1"/>
              </a:buClr>
              <a:buSzPts val="1002"/>
              <a:buFont typeface="Arial"/>
              <a:buChar char="■"/>
              <a:defRPr sz="1050" b="0" i="0" u="none" strike="noStrike" cap="none">
                <a:solidFill>
                  <a:schemeClr val="dk1"/>
                </a:solidFill>
                <a:latin typeface="Arial"/>
                <a:ea typeface="Arial"/>
                <a:cs typeface="Arial"/>
                <a:sym typeface="Arial"/>
              </a:defRPr>
            </a:lvl3pPr>
            <a:lvl4pPr marL="1828800" marR="0" lvl="3" indent="-292227" algn="l" rtl="0">
              <a:lnSpc>
                <a:spcPct val="120000"/>
              </a:lnSpc>
              <a:spcBef>
                <a:spcPts val="450"/>
              </a:spcBef>
              <a:spcAft>
                <a:spcPts val="0"/>
              </a:spcAft>
              <a:buClr>
                <a:schemeClr val="lt2"/>
              </a:buClr>
              <a:buSzPts val="1002"/>
              <a:buFont typeface="Arial"/>
              <a:buChar char="•"/>
              <a:defRPr sz="1050" b="0" i="0" u="none" strike="noStrike" cap="none">
                <a:solidFill>
                  <a:schemeClr val="dk1"/>
                </a:solidFill>
                <a:latin typeface="Arial"/>
                <a:ea typeface="Arial"/>
                <a:cs typeface="Arial"/>
                <a:sym typeface="Arial"/>
              </a:defRPr>
            </a:lvl4pPr>
            <a:lvl5pPr marL="2286000" marR="0" lvl="4" indent="-292226" algn="l" rtl="0">
              <a:lnSpc>
                <a:spcPct val="120000"/>
              </a:lnSpc>
              <a:spcBef>
                <a:spcPts val="450"/>
              </a:spcBef>
              <a:spcAft>
                <a:spcPts val="0"/>
              </a:spcAft>
              <a:buClr>
                <a:schemeClr val="lt2"/>
              </a:buClr>
              <a:buSzPts val="1002"/>
              <a:buFont typeface="Merriweather Sans"/>
              <a:buChar char="-"/>
              <a:defRPr sz="1050" b="0" i="0" u="none" strike="noStrike" cap="none">
                <a:solidFill>
                  <a:schemeClr val="dk1"/>
                </a:solidFill>
                <a:latin typeface="Arial"/>
                <a:ea typeface="Arial"/>
                <a:cs typeface="Arial"/>
                <a:sym typeface="Arial"/>
              </a:defRPr>
            </a:lvl5pPr>
            <a:lvl6pPr marL="2743200" marR="0" lvl="5" indent="-323850" algn="l" rtl="0">
              <a:lnSpc>
                <a:spcPct val="100000"/>
              </a:lnSpc>
              <a:spcBef>
                <a:spcPts val="450"/>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6pPr>
            <a:lvl7pPr marL="3200400" marR="0" lvl="6"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5"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
          <p:cNvSpPr txBox="1"/>
          <p:nvPr/>
        </p:nvSpPr>
        <p:spPr>
          <a:xfrm>
            <a:off x="1477243" y="4905164"/>
            <a:ext cx="5865478" cy="715512"/>
          </a:xfrm>
          <a:prstGeom prst="rect">
            <a:avLst/>
          </a:prstGeom>
          <a:noFill/>
          <a:ln>
            <a:noFill/>
          </a:ln>
        </p:spPr>
        <p:txBody>
          <a:bodyPr spcFirstLastPara="1" wrap="square" lIns="0" tIns="45700" rIns="91425" bIns="45700" anchor="b" anchorCtr="0">
            <a:noAutofit/>
          </a:bodyPr>
          <a:lstStyle/>
          <a:p>
            <a:pPr marL="0" marR="0" lvl="0" indent="0" algn="ctr" rtl="0">
              <a:lnSpc>
                <a:spcPct val="100000"/>
              </a:lnSpc>
              <a:spcBef>
                <a:spcPts val="0"/>
              </a:spcBef>
              <a:spcAft>
                <a:spcPts val="0"/>
              </a:spcAft>
              <a:buClr>
                <a:srgbClr val="CCD3D1"/>
              </a:buClr>
              <a:buSzPts val="2400"/>
              <a:buFont typeface="Arial Black"/>
              <a:buNone/>
            </a:pPr>
            <a:r>
              <a:rPr lang="en-US" sz="2300" b="0" i="0" u="none" strike="noStrike" cap="none" dirty="0">
                <a:solidFill>
                  <a:srgbClr val="CCD3D1"/>
                </a:solidFill>
                <a:latin typeface="Arial Black"/>
                <a:ea typeface="Arial Black"/>
                <a:cs typeface="Arial Black"/>
                <a:sym typeface="Arial Black"/>
              </a:rPr>
              <a:t>Transpacific Trade</a:t>
            </a:r>
            <a:endParaRPr sz="2300" b="0" i="0" u="none" strike="noStrike" cap="none" dirty="0">
              <a:solidFill>
                <a:srgbClr val="CCD3D1"/>
              </a:solidFill>
              <a:latin typeface="Arial Black"/>
              <a:ea typeface="Arial Black"/>
              <a:cs typeface="Arial Black"/>
              <a:sym typeface="Arial Black"/>
            </a:endParaRPr>
          </a:p>
          <a:p>
            <a:pPr marL="0" marR="0" lvl="0" indent="0" algn="ctr" rtl="0">
              <a:lnSpc>
                <a:spcPct val="100000"/>
              </a:lnSpc>
              <a:spcBef>
                <a:spcPts val="0"/>
              </a:spcBef>
              <a:spcAft>
                <a:spcPts val="0"/>
              </a:spcAft>
              <a:buClr>
                <a:srgbClr val="CCD3D1"/>
              </a:buClr>
              <a:buSzPts val="2400"/>
              <a:buFont typeface="Arial Black"/>
              <a:buNone/>
            </a:pPr>
            <a:r>
              <a:rPr lang="en-US" sz="2300" dirty="0">
                <a:solidFill>
                  <a:srgbClr val="CCD3D1"/>
                </a:solidFill>
                <a:latin typeface="Arial Black"/>
                <a:ea typeface="Arial Black"/>
                <a:cs typeface="Arial Black"/>
                <a:sym typeface="Arial Black"/>
              </a:rPr>
              <a:t>Opus</a:t>
            </a:r>
            <a:r>
              <a:rPr lang="en-US" sz="2300" b="0" i="0" u="none" strike="noStrike" cap="none" dirty="0">
                <a:solidFill>
                  <a:srgbClr val="CCD3D1"/>
                </a:solidFill>
                <a:latin typeface="Arial Black"/>
                <a:ea typeface="Arial Black"/>
                <a:cs typeface="Arial Black"/>
                <a:sym typeface="Arial Black"/>
              </a:rPr>
              <a:t> Walkthrough</a:t>
            </a:r>
            <a:endParaRPr sz="1400" b="0" i="0" u="none" strike="noStrike" cap="none" dirty="0">
              <a:solidFill>
                <a:srgbClr val="000000"/>
              </a:solidFill>
              <a:latin typeface="Arial"/>
              <a:ea typeface="Arial"/>
              <a:cs typeface="Arial"/>
              <a:sym typeface="Arial"/>
            </a:endParaRPr>
          </a:p>
        </p:txBody>
      </p:sp>
      <p:sp>
        <p:nvSpPr>
          <p:cNvPr id="52" name="Google Shape;52;p1"/>
          <p:cNvSpPr txBox="1">
            <a:spLocks noGrp="1"/>
          </p:cNvSpPr>
          <p:nvPr>
            <p:ph type="ctrTitle"/>
          </p:nvPr>
        </p:nvSpPr>
        <p:spPr>
          <a:xfrm>
            <a:off x="2879812" y="5695131"/>
            <a:ext cx="3060340" cy="715512"/>
          </a:xfrm>
          <a:prstGeom prst="rect">
            <a:avLst/>
          </a:prstGeom>
          <a:noFill/>
          <a:ln>
            <a:noFill/>
          </a:ln>
        </p:spPr>
        <p:txBody>
          <a:bodyPr spcFirstLastPara="1" wrap="square" lIns="0" tIns="45700" rIns="91425" bIns="45700" anchor="b" anchorCtr="0">
            <a:noAutofit/>
          </a:bodyPr>
          <a:lstStyle/>
          <a:p>
            <a:pPr marL="0" lvl="0" indent="0" algn="ctr" rtl="0">
              <a:lnSpc>
                <a:spcPct val="100000"/>
              </a:lnSpc>
              <a:spcBef>
                <a:spcPts val="0"/>
              </a:spcBef>
              <a:spcAft>
                <a:spcPts val="0"/>
              </a:spcAft>
              <a:buClr>
                <a:srgbClr val="CCD3D1"/>
              </a:buClr>
              <a:buSzPts val="1800"/>
              <a:buFont typeface="Arial Black"/>
              <a:buNone/>
            </a:pPr>
            <a:r>
              <a:rPr lang="en-US" sz="2000" dirty="0"/>
              <a:t>Prepared by. Aira Benitez</a:t>
            </a:r>
            <a:br>
              <a:rPr lang="en-US" sz="2000" dirty="0"/>
            </a:br>
            <a:r>
              <a:rPr lang="en-US" sz="2000" dirty="0"/>
              <a:t>MAY 2025</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08e2b67d5c_3_0"/>
          <p:cNvSpPr txBox="1">
            <a:spLocks noGrp="1"/>
          </p:cNvSpPr>
          <p:nvPr>
            <p:ph type="title"/>
          </p:nvPr>
        </p:nvSpPr>
        <p:spPr>
          <a:xfrm>
            <a:off x="179318" y="1947672"/>
            <a:ext cx="5363965" cy="1481328"/>
          </a:xfrm>
          <a:prstGeom prst="rect">
            <a:avLst/>
          </a:prstGeom>
          <a:noFill/>
          <a:ln>
            <a:noFill/>
          </a:ln>
        </p:spPr>
        <p:txBody>
          <a:bodyPr spcFirstLastPara="1" wrap="square" lIns="0" tIns="45700" rIns="91425" bIns="45700" anchor="b" anchorCtr="0">
            <a:noAutofit/>
          </a:bodyPr>
          <a:lstStyle/>
          <a:p>
            <a:pPr marL="0" lvl="0" indent="0" algn="ctr" rtl="0">
              <a:lnSpc>
                <a:spcPct val="100000"/>
              </a:lnSpc>
              <a:spcBef>
                <a:spcPts val="0"/>
              </a:spcBef>
              <a:spcAft>
                <a:spcPts val="0"/>
              </a:spcAft>
              <a:buSzPts val="3000"/>
              <a:buNone/>
            </a:pPr>
            <a:r>
              <a:rPr lang="en-US" sz="4400" dirty="0">
                <a:solidFill>
                  <a:schemeClr val="bg1"/>
                </a:solidFill>
                <a:latin typeface="Arial Black"/>
                <a:ea typeface="Arial Black"/>
                <a:cs typeface="Arial Black"/>
                <a:sym typeface="Arial Black"/>
              </a:rPr>
              <a:t>Opus Walkthrough</a:t>
            </a:r>
            <a:endParaRPr sz="4400" dirty="0">
              <a:solidFill>
                <a:schemeClr val="bg1"/>
              </a:solidFill>
              <a:latin typeface="Arial Black"/>
              <a:ea typeface="Arial Black"/>
              <a:cs typeface="Arial Black"/>
              <a:sym typeface="Arial Black"/>
            </a:endParaRPr>
          </a:p>
        </p:txBody>
      </p:sp>
      <p:sp>
        <p:nvSpPr>
          <p:cNvPr id="136" name="Google Shape;136;g308e2b67d5c_3_0"/>
          <p:cNvSpPr txBox="1">
            <a:spLocks noGrp="1"/>
          </p:cNvSpPr>
          <p:nvPr>
            <p:ph type="body" idx="1"/>
          </p:nvPr>
        </p:nvSpPr>
        <p:spPr>
          <a:xfrm>
            <a:off x="526791" y="5908432"/>
            <a:ext cx="4623300" cy="410400"/>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0"/>
              </a:spcBef>
              <a:spcAft>
                <a:spcPts val="0"/>
              </a:spcAft>
              <a:buClr>
                <a:schemeClr val="lt1"/>
              </a:buClr>
              <a:buSzPts val="1500"/>
              <a:buNone/>
            </a:pPr>
            <a:endParaRPr/>
          </a:p>
        </p:txBody>
      </p:sp>
    </p:spTree>
    <p:extLst>
      <p:ext uri="{BB962C8B-B14F-4D97-AF65-F5344CB8AC3E}">
        <p14:creationId xmlns:p14="http://schemas.microsoft.com/office/powerpoint/2010/main" val="65743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F3688-F071-D725-DEFD-EDA837885707}"/>
              </a:ext>
            </a:extLst>
          </p:cNvPr>
          <p:cNvSpPr>
            <a:spLocks noGrp="1"/>
          </p:cNvSpPr>
          <p:nvPr>
            <p:ph type="title"/>
          </p:nvPr>
        </p:nvSpPr>
        <p:spPr>
          <a:xfrm>
            <a:off x="93420" y="378067"/>
            <a:ext cx="7478615" cy="357795"/>
          </a:xfrm>
        </p:spPr>
        <p:txBody>
          <a:bodyPr/>
          <a:lstStyle/>
          <a:p>
            <a:r>
              <a:rPr lang="en-US" dirty="0"/>
              <a:t>Opus Walkthrough</a:t>
            </a:r>
          </a:p>
        </p:txBody>
      </p:sp>
      <p:sp>
        <p:nvSpPr>
          <p:cNvPr id="3" name="Text Placeholder 2">
            <a:extLst>
              <a:ext uri="{FF2B5EF4-FFF2-40B4-BE49-F238E27FC236}">
                <a16:creationId xmlns:a16="http://schemas.microsoft.com/office/drawing/2014/main" id="{9CB2FAA4-FAAE-7DC8-F463-36A7106E0E16}"/>
              </a:ext>
            </a:extLst>
          </p:cNvPr>
          <p:cNvSpPr>
            <a:spLocks noGrp="1"/>
          </p:cNvSpPr>
          <p:nvPr>
            <p:ph type="body" idx="1"/>
          </p:nvPr>
        </p:nvSpPr>
        <p:spPr/>
        <p:txBody>
          <a:bodyPr/>
          <a:lstStyle/>
          <a:p>
            <a:pPr marL="133350" indent="0">
              <a:buNone/>
            </a:pPr>
            <a:r>
              <a:rPr lang="en-US" dirty="0"/>
              <a:t>This is to show how OMMC TP </a:t>
            </a:r>
            <a:r>
              <a:rPr lang="en-US" dirty="0" err="1"/>
              <a:t>Pricers</a:t>
            </a:r>
            <a:r>
              <a:rPr lang="en-US" dirty="0"/>
              <a:t> utilize and use the Opus system’s function in handling daily pricing.</a:t>
            </a:r>
          </a:p>
        </p:txBody>
      </p:sp>
      <p:sp>
        <p:nvSpPr>
          <p:cNvPr id="4" name="Slide Number Placeholder 3">
            <a:extLst>
              <a:ext uri="{FF2B5EF4-FFF2-40B4-BE49-F238E27FC236}">
                <a16:creationId xmlns:a16="http://schemas.microsoft.com/office/drawing/2014/main" id="{3C165597-B2F7-FEFF-9FE4-31E2DEEECCC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a:t>
            </a:fld>
            <a:endParaRPr lang="en-US"/>
          </a:p>
        </p:txBody>
      </p:sp>
      <p:pic>
        <p:nvPicPr>
          <p:cNvPr id="6" name="Picture 5">
            <a:extLst>
              <a:ext uri="{FF2B5EF4-FFF2-40B4-BE49-F238E27FC236}">
                <a16:creationId xmlns:a16="http://schemas.microsoft.com/office/drawing/2014/main" id="{953F3091-7665-8AE4-B1BF-F7E53826395B}"/>
              </a:ext>
            </a:extLst>
          </p:cNvPr>
          <p:cNvPicPr>
            <a:picLocks noChangeAspect="1"/>
          </p:cNvPicPr>
          <p:nvPr/>
        </p:nvPicPr>
        <p:blipFill>
          <a:blip r:embed="rId2"/>
          <a:stretch>
            <a:fillRect/>
          </a:stretch>
        </p:blipFill>
        <p:spPr>
          <a:xfrm>
            <a:off x="0" y="1886151"/>
            <a:ext cx="9144000" cy="4352238"/>
          </a:xfrm>
          <a:prstGeom prst="rect">
            <a:avLst/>
          </a:prstGeom>
        </p:spPr>
      </p:pic>
    </p:spTree>
    <p:extLst>
      <p:ext uri="{BB962C8B-B14F-4D97-AF65-F5344CB8AC3E}">
        <p14:creationId xmlns:p14="http://schemas.microsoft.com/office/powerpoint/2010/main" val="3678659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71B15-E87C-4D5D-B9F9-A0FAAD108B24}"/>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678B0241-371E-BFCE-E180-A95CF973C904}"/>
              </a:ext>
            </a:extLst>
          </p:cNvPr>
          <p:cNvSpPr>
            <a:spLocks noGrp="1"/>
          </p:cNvSpPr>
          <p:nvPr>
            <p:ph type="body" idx="1"/>
          </p:nvPr>
        </p:nvSpPr>
        <p:spPr/>
        <p:txBody>
          <a:bodyPr/>
          <a:lstStyle/>
          <a:p>
            <a:pPr marL="133350" indent="0">
              <a:buNone/>
            </a:pPr>
            <a:r>
              <a:rPr lang="en-US" b="1" dirty="0"/>
              <a:t>Path</a:t>
            </a:r>
            <a:r>
              <a:rPr lang="en-US" dirty="0"/>
              <a:t>: Sales Management &gt; Pricing &gt; Service Contract &gt; S/C Inquiry &gt; S/C Proposal &amp; Amendment Inquiry</a:t>
            </a:r>
          </a:p>
        </p:txBody>
      </p:sp>
      <p:sp>
        <p:nvSpPr>
          <p:cNvPr id="4" name="Slide Number Placeholder 3">
            <a:extLst>
              <a:ext uri="{FF2B5EF4-FFF2-40B4-BE49-F238E27FC236}">
                <a16:creationId xmlns:a16="http://schemas.microsoft.com/office/drawing/2014/main" id="{A5937433-3B4D-CA44-96FC-6759396191A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pic>
        <p:nvPicPr>
          <p:cNvPr id="6" name="Picture 5">
            <a:extLst>
              <a:ext uri="{FF2B5EF4-FFF2-40B4-BE49-F238E27FC236}">
                <a16:creationId xmlns:a16="http://schemas.microsoft.com/office/drawing/2014/main" id="{35999ED2-B5C1-F8F7-F86E-216080F1ED71}"/>
              </a:ext>
            </a:extLst>
          </p:cNvPr>
          <p:cNvPicPr>
            <a:picLocks noChangeAspect="1"/>
          </p:cNvPicPr>
          <p:nvPr/>
        </p:nvPicPr>
        <p:blipFill>
          <a:blip r:embed="rId2"/>
          <a:stretch>
            <a:fillRect/>
          </a:stretch>
        </p:blipFill>
        <p:spPr>
          <a:xfrm>
            <a:off x="0" y="1785283"/>
            <a:ext cx="9144000" cy="3876521"/>
          </a:xfrm>
          <a:prstGeom prst="rect">
            <a:avLst/>
          </a:prstGeom>
        </p:spPr>
      </p:pic>
    </p:spTree>
    <p:extLst>
      <p:ext uri="{BB962C8B-B14F-4D97-AF65-F5344CB8AC3E}">
        <p14:creationId xmlns:p14="http://schemas.microsoft.com/office/powerpoint/2010/main" val="3566478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p:txBody>
          <a:bodyPr/>
          <a:lstStyle/>
          <a:p>
            <a:pPr marL="133350" indent="0">
              <a:buNone/>
            </a:pPr>
            <a:r>
              <a:rPr lang="en-US" sz="1200" dirty="0"/>
              <a:t>Search by the 10-digit S/C number / Customer Name / Customer Code / S/C Effective Date</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pic>
        <p:nvPicPr>
          <p:cNvPr id="8" name="Picture 7">
            <a:extLst>
              <a:ext uri="{FF2B5EF4-FFF2-40B4-BE49-F238E27FC236}">
                <a16:creationId xmlns:a16="http://schemas.microsoft.com/office/drawing/2014/main" id="{84A779B5-C6A8-871C-C136-815F4C5EAECF}"/>
              </a:ext>
            </a:extLst>
          </p:cNvPr>
          <p:cNvPicPr>
            <a:picLocks noChangeAspect="1"/>
          </p:cNvPicPr>
          <p:nvPr/>
        </p:nvPicPr>
        <p:blipFill>
          <a:blip r:embed="rId2"/>
          <a:stretch>
            <a:fillRect/>
          </a:stretch>
        </p:blipFill>
        <p:spPr>
          <a:xfrm>
            <a:off x="0" y="1860072"/>
            <a:ext cx="9144000" cy="4209673"/>
          </a:xfrm>
          <a:prstGeom prst="rect">
            <a:avLst/>
          </a:prstGeom>
        </p:spPr>
      </p:pic>
    </p:spTree>
    <p:extLst>
      <p:ext uri="{BB962C8B-B14F-4D97-AF65-F5344CB8AC3E}">
        <p14:creationId xmlns:p14="http://schemas.microsoft.com/office/powerpoint/2010/main" val="2607934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p:txBody>
          <a:bodyPr/>
          <a:lstStyle/>
          <a:p>
            <a:pPr marL="133350" indent="0">
              <a:buNone/>
            </a:pPr>
            <a:r>
              <a:rPr lang="en-US" sz="1200" dirty="0"/>
              <a:t>Boiler Plate:</a:t>
            </a:r>
          </a:p>
          <a:p>
            <a:pPr marL="133350" indent="0">
              <a:buNone/>
            </a:pPr>
            <a:r>
              <a:rPr lang="en-US" sz="1200" dirty="0"/>
              <a:t>This you can determine if the contract is whether a CIF or FOB contract, along with the </a:t>
            </a:r>
            <a:r>
              <a:rPr lang="en-US" sz="1200" dirty="0" err="1"/>
              <a:t>pricer’s</a:t>
            </a:r>
            <a:r>
              <a:rPr lang="en-US" sz="1200" dirty="0"/>
              <a:t> name and the contract effective duration.</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pic>
        <p:nvPicPr>
          <p:cNvPr id="6" name="Picture 5">
            <a:extLst>
              <a:ext uri="{FF2B5EF4-FFF2-40B4-BE49-F238E27FC236}">
                <a16:creationId xmlns:a16="http://schemas.microsoft.com/office/drawing/2014/main" id="{D50D694D-9EBE-CB3F-3405-99B8B34A8211}"/>
              </a:ext>
            </a:extLst>
          </p:cNvPr>
          <p:cNvPicPr>
            <a:picLocks noChangeAspect="1"/>
          </p:cNvPicPr>
          <p:nvPr/>
        </p:nvPicPr>
        <p:blipFill>
          <a:blip r:embed="rId2"/>
          <a:stretch>
            <a:fillRect/>
          </a:stretch>
        </p:blipFill>
        <p:spPr>
          <a:xfrm>
            <a:off x="0" y="1905075"/>
            <a:ext cx="9144000" cy="1484283"/>
          </a:xfrm>
          <a:prstGeom prst="rect">
            <a:avLst/>
          </a:prstGeom>
        </p:spPr>
      </p:pic>
      <p:pic>
        <p:nvPicPr>
          <p:cNvPr id="9" name="Picture 8">
            <a:extLst>
              <a:ext uri="{FF2B5EF4-FFF2-40B4-BE49-F238E27FC236}">
                <a16:creationId xmlns:a16="http://schemas.microsoft.com/office/drawing/2014/main" id="{B5B96962-2483-31BE-7AEB-D3AF07D360A5}"/>
              </a:ext>
            </a:extLst>
          </p:cNvPr>
          <p:cNvPicPr>
            <a:picLocks noChangeAspect="1"/>
          </p:cNvPicPr>
          <p:nvPr/>
        </p:nvPicPr>
        <p:blipFill>
          <a:blip r:embed="rId3"/>
          <a:srcRect b="8421"/>
          <a:stretch/>
        </p:blipFill>
        <p:spPr>
          <a:xfrm>
            <a:off x="1178419" y="3389358"/>
            <a:ext cx="6787159" cy="3104338"/>
          </a:xfrm>
          <a:prstGeom prst="rect">
            <a:avLst/>
          </a:prstGeom>
        </p:spPr>
      </p:pic>
    </p:spTree>
    <p:extLst>
      <p:ext uri="{BB962C8B-B14F-4D97-AF65-F5344CB8AC3E}">
        <p14:creationId xmlns:p14="http://schemas.microsoft.com/office/powerpoint/2010/main" val="544325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2" y="967155"/>
            <a:ext cx="8737997" cy="428212"/>
          </a:xfrm>
        </p:spPr>
        <p:txBody>
          <a:bodyPr/>
          <a:lstStyle/>
          <a:p>
            <a:pPr marL="133350" indent="0">
              <a:buNone/>
            </a:pPr>
            <a:r>
              <a:rPr lang="en-US" sz="1200" dirty="0"/>
              <a:t>Origin &amp; Destination Route: Countries that shows under WPE scope</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7</a:t>
            </a:fld>
            <a:endParaRPr lang="en-US"/>
          </a:p>
        </p:txBody>
      </p:sp>
      <p:pic>
        <p:nvPicPr>
          <p:cNvPr id="7" name="Picture 6">
            <a:extLst>
              <a:ext uri="{FF2B5EF4-FFF2-40B4-BE49-F238E27FC236}">
                <a16:creationId xmlns:a16="http://schemas.microsoft.com/office/drawing/2014/main" id="{B4421122-9C7D-F0E1-3E9E-F1625E52346A}"/>
              </a:ext>
            </a:extLst>
          </p:cNvPr>
          <p:cNvPicPr>
            <a:picLocks noChangeAspect="1"/>
          </p:cNvPicPr>
          <p:nvPr/>
        </p:nvPicPr>
        <p:blipFill>
          <a:blip r:embed="rId2"/>
          <a:stretch>
            <a:fillRect/>
          </a:stretch>
        </p:blipFill>
        <p:spPr>
          <a:xfrm>
            <a:off x="0" y="1369019"/>
            <a:ext cx="4572000" cy="2589142"/>
          </a:xfrm>
          <a:prstGeom prst="rect">
            <a:avLst/>
          </a:prstGeom>
        </p:spPr>
      </p:pic>
      <p:pic>
        <p:nvPicPr>
          <p:cNvPr id="10" name="Picture 9">
            <a:extLst>
              <a:ext uri="{FF2B5EF4-FFF2-40B4-BE49-F238E27FC236}">
                <a16:creationId xmlns:a16="http://schemas.microsoft.com/office/drawing/2014/main" id="{0CFDD86D-D0D5-3EEF-75FD-07F63BACB2AE}"/>
              </a:ext>
            </a:extLst>
          </p:cNvPr>
          <p:cNvPicPr>
            <a:picLocks noChangeAspect="1"/>
          </p:cNvPicPr>
          <p:nvPr/>
        </p:nvPicPr>
        <p:blipFill>
          <a:blip r:embed="rId3"/>
          <a:srcRect b="9887"/>
          <a:stretch/>
        </p:blipFill>
        <p:spPr>
          <a:xfrm>
            <a:off x="4581569" y="1395367"/>
            <a:ext cx="4562431" cy="2564831"/>
          </a:xfrm>
          <a:prstGeom prst="rect">
            <a:avLst/>
          </a:prstGeom>
        </p:spPr>
      </p:pic>
      <p:sp>
        <p:nvSpPr>
          <p:cNvPr id="11" name="Text Placeholder 2">
            <a:extLst>
              <a:ext uri="{FF2B5EF4-FFF2-40B4-BE49-F238E27FC236}">
                <a16:creationId xmlns:a16="http://schemas.microsoft.com/office/drawing/2014/main" id="{24C6DA5D-A0B9-1FA4-2E2D-EF54E506C4DB}"/>
              </a:ext>
            </a:extLst>
          </p:cNvPr>
          <p:cNvSpPr txBox="1">
            <a:spLocks/>
          </p:cNvSpPr>
          <p:nvPr/>
        </p:nvSpPr>
        <p:spPr>
          <a:xfrm>
            <a:off x="193433" y="3965642"/>
            <a:ext cx="8737997" cy="42821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1pPr>
            <a:lvl2pPr marL="914400" marR="0" lvl="1" indent="-323850" algn="l" rtl="0">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2pPr>
            <a:lvl3pPr marL="1371600" marR="0" lvl="2" indent="-323850" algn="l" rtl="0">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3pPr>
            <a:lvl4pPr marL="1828800" marR="0" lvl="3" indent="-323850" algn="l" rtl="0">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4pPr>
            <a:lvl5pPr marL="2286000" marR="0" lvl="4" indent="-323850" algn="l" rtl="0">
              <a:lnSpc>
                <a:spcPct val="100000"/>
              </a:lnSpc>
              <a:spcBef>
                <a:spcPts val="1125"/>
              </a:spcBef>
              <a:spcAft>
                <a:spcPts val="0"/>
              </a:spcAft>
              <a:buClr>
                <a:srgbClr val="000000"/>
              </a:buClr>
              <a:buSzPts val="1500"/>
              <a:buFont typeface="Arial"/>
              <a:buChar char="•"/>
              <a:defRPr sz="1500" b="0" i="0" u="none" strike="noStrike" cap="none">
                <a:solidFill>
                  <a:srgbClr val="000000"/>
                </a:solidFill>
                <a:latin typeface="Arial"/>
                <a:ea typeface="Arial"/>
                <a:cs typeface="Arial"/>
                <a:sym typeface="Arial"/>
              </a:defRPr>
            </a:lvl5pPr>
            <a:lvl6pPr marL="2743200" marR="0" lvl="5" indent="-323850" algn="l" rtl="0">
              <a:lnSpc>
                <a:spcPct val="100000"/>
              </a:lnSpc>
              <a:spcBef>
                <a:spcPts val="2213"/>
              </a:spcBef>
              <a:spcAft>
                <a:spcPts val="0"/>
              </a:spcAft>
              <a:buClr>
                <a:srgbClr val="000000"/>
              </a:buClr>
              <a:buSzPts val="1500"/>
              <a:buFont typeface="Arial Black"/>
              <a:buChar char="•"/>
              <a:defRPr sz="1500" b="0" i="0" u="none" strike="noStrike" cap="none">
                <a:solidFill>
                  <a:srgbClr val="000000"/>
                </a:solidFill>
                <a:latin typeface="Arial Black"/>
                <a:ea typeface="Arial Black"/>
                <a:cs typeface="Arial Black"/>
                <a:sym typeface="Arial Black"/>
              </a:defRPr>
            </a:lvl6pPr>
            <a:lvl7pPr marL="3200400" marR="0" lvl="6" indent="-323850" algn="l" rtl="0">
              <a:lnSpc>
                <a:spcPct val="100000"/>
              </a:lnSpc>
              <a:spcBef>
                <a:spcPts val="2213"/>
              </a:spcBef>
              <a:spcAft>
                <a:spcPts val="0"/>
              </a:spcAft>
              <a:buClr>
                <a:srgbClr val="000000"/>
              </a:buClr>
              <a:buSzPts val="1500"/>
              <a:buFont typeface="Arial Black"/>
              <a:buChar char="•"/>
              <a:defRPr sz="1500" b="0" i="0" u="none" strike="noStrike" cap="none">
                <a:solidFill>
                  <a:srgbClr val="000000"/>
                </a:solidFill>
                <a:latin typeface="Arial Black"/>
                <a:ea typeface="Arial Black"/>
                <a:cs typeface="Arial Black"/>
                <a:sym typeface="Arial Black"/>
              </a:defRPr>
            </a:lvl7pPr>
            <a:lvl8pPr marL="3657600" marR="0" lvl="7" indent="-323850" algn="l" rtl="0">
              <a:lnSpc>
                <a:spcPct val="100000"/>
              </a:lnSpc>
              <a:spcBef>
                <a:spcPts val="2213"/>
              </a:spcBef>
              <a:spcAft>
                <a:spcPts val="0"/>
              </a:spcAft>
              <a:buClr>
                <a:srgbClr val="000000"/>
              </a:buClr>
              <a:buSzPts val="1500"/>
              <a:buFont typeface="Arial Black"/>
              <a:buChar char="•"/>
              <a:defRPr sz="1500" b="0" i="0" u="none" strike="noStrike" cap="none">
                <a:solidFill>
                  <a:srgbClr val="000000"/>
                </a:solidFill>
                <a:latin typeface="Arial Black"/>
                <a:ea typeface="Arial Black"/>
                <a:cs typeface="Arial Black"/>
                <a:sym typeface="Arial Black"/>
              </a:defRPr>
            </a:lvl8pPr>
            <a:lvl9pPr marL="4114800" marR="0" lvl="8" indent="-323850" algn="l" rtl="0">
              <a:lnSpc>
                <a:spcPct val="100000"/>
              </a:lnSpc>
              <a:spcBef>
                <a:spcPts val="2213"/>
              </a:spcBef>
              <a:spcAft>
                <a:spcPts val="0"/>
              </a:spcAft>
              <a:buClr>
                <a:srgbClr val="000000"/>
              </a:buClr>
              <a:buSzPts val="1500"/>
              <a:buFont typeface="Arial Black"/>
              <a:buChar char="•"/>
              <a:defRPr sz="1500" b="0" i="0" u="none" strike="noStrike" cap="none">
                <a:solidFill>
                  <a:srgbClr val="000000"/>
                </a:solidFill>
                <a:latin typeface="Arial Black"/>
                <a:ea typeface="Arial Black"/>
                <a:cs typeface="Arial Black"/>
                <a:sym typeface="Arial Black"/>
              </a:defRPr>
            </a:lvl9pPr>
          </a:lstStyle>
          <a:p>
            <a:pPr marL="133350" indent="0">
              <a:buFont typeface="Arial"/>
              <a:buNone/>
            </a:pPr>
            <a:r>
              <a:rPr lang="en-US" sz="1200" dirty="0"/>
              <a:t>Location Group: Tiger location group code is now being utilized also in the Opus system.</a:t>
            </a:r>
          </a:p>
        </p:txBody>
      </p:sp>
      <p:pic>
        <p:nvPicPr>
          <p:cNvPr id="13" name="Picture 12">
            <a:extLst>
              <a:ext uri="{FF2B5EF4-FFF2-40B4-BE49-F238E27FC236}">
                <a16:creationId xmlns:a16="http://schemas.microsoft.com/office/drawing/2014/main" id="{77134AB0-2972-6913-6CC5-38CEAFC92518}"/>
              </a:ext>
            </a:extLst>
          </p:cNvPr>
          <p:cNvPicPr>
            <a:picLocks noChangeAspect="1"/>
          </p:cNvPicPr>
          <p:nvPr/>
        </p:nvPicPr>
        <p:blipFill>
          <a:blip r:embed="rId4"/>
          <a:stretch>
            <a:fillRect/>
          </a:stretch>
        </p:blipFill>
        <p:spPr>
          <a:xfrm>
            <a:off x="9777" y="3674294"/>
            <a:ext cx="12007437" cy="2191834"/>
          </a:xfrm>
          <a:prstGeom prst="rect">
            <a:avLst/>
          </a:prstGeom>
        </p:spPr>
      </p:pic>
    </p:spTree>
    <p:extLst>
      <p:ext uri="{BB962C8B-B14F-4D97-AF65-F5344CB8AC3E}">
        <p14:creationId xmlns:p14="http://schemas.microsoft.com/office/powerpoint/2010/main" val="2203206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2" y="967155"/>
            <a:ext cx="8737997" cy="428212"/>
          </a:xfrm>
        </p:spPr>
        <p:txBody>
          <a:bodyPr/>
          <a:lstStyle/>
          <a:p>
            <a:pPr marL="133350" indent="0">
              <a:buNone/>
            </a:pPr>
            <a:r>
              <a:rPr lang="en-US" sz="1200" b="1" dirty="0"/>
              <a:t>WPE Location Group:</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8</a:t>
            </a:fld>
            <a:endParaRPr lang="en-US"/>
          </a:p>
        </p:txBody>
      </p:sp>
      <p:pic>
        <p:nvPicPr>
          <p:cNvPr id="5" name="Picture 4">
            <a:extLst>
              <a:ext uri="{FF2B5EF4-FFF2-40B4-BE49-F238E27FC236}">
                <a16:creationId xmlns:a16="http://schemas.microsoft.com/office/drawing/2014/main" id="{7914D5C2-B4B1-3DFE-2764-B722294A5B63}"/>
              </a:ext>
            </a:extLst>
          </p:cNvPr>
          <p:cNvPicPr>
            <a:picLocks noChangeAspect="1"/>
          </p:cNvPicPr>
          <p:nvPr/>
        </p:nvPicPr>
        <p:blipFill>
          <a:blip r:embed="rId2"/>
          <a:stretch>
            <a:fillRect/>
          </a:stretch>
        </p:blipFill>
        <p:spPr>
          <a:xfrm>
            <a:off x="2250833" y="997518"/>
            <a:ext cx="5730240" cy="5489448"/>
          </a:xfrm>
          <a:prstGeom prst="rect">
            <a:avLst/>
          </a:prstGeom>
        </p:spPr>
      </p:pic>
    </p:spTree>
    <p:extLst>
      <p:ext uri="{BB962C8B-B14F-4D97-AF65-F5344CB8AC3E}">
        <p14:creationId xmlns:p14="http://schemas.microsoft.com/office/powerpoint/2010/main" val="1104026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2" y="967155"/>
            <a:ext cx="8737997" cy="428212"/>
          </a:xfrm>
        </p:spPr>
        <p:txBody>
          <a:bodyPr/>
          <a:lstStyle/>
          <a:p>
            <a:pPr marL="133350" indent="0">
              <a:buNone/>
            </a:pPr>
            <a:r>
              <a:rPr lang="en-US" sz="1200" b="1" dirty="0"/>
              <a:t>Origin &amp; Destination Arbitrary Rates</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9</a:t>
            </a:fld>
            <a:endParaRPr lang="en-US"/>
          </a:p>
        </p:txBody>
      </p:sp>
      <p:pic>
        <p:nvPicPr>
          <p:cNvPr id="7" name="Picture 6">
            <a:extLst>
              <a:ext uri="{FF2B5EF4-FFF2-40B4-BE49-F238E27FC236}">
                <a16:creationId xmlns:a16="http://schemas.microsoft.com/office/drawing/2014/main" id="{28D1D4E8-3D17-66E9-BA24-D1C0DD2699CD}"/>
              </a:ext>
            </a:extLst>
          </p:cNvPr>
          <p:cNvPicPr>
            <a:picLocks noChangeAspect="1"/>
          </p:cNvPicPr>
          <p:nvPr/>
        </p:nvPicPr>
        <p:blipFill>
          <a:blip r:embed="rId2"/>
          <a:stretch>
            <a:fillRect/>
          </a:stretch>
        </p:blipFill>
        <p:spPr>
          <a:xfrm>
            <a:off x="0" y="1564030"/>
            <a:ext cx="9144000" cy="1699971"/>
          </a:xfrm>
          <a:prstGeom prst="rect">
            <a:avLst/>
          </a:prstGeom>
        </p:spPr>
      </p:pic>
      <p:pic>
        <p:nvPicPr>
          <p:cNvPr id="9" name="Picture 8">
            <a:extLst>
              <a:ext uri="{FF2B5EF4-FFF2-40B4-BE49-F238E27FC236}">
                <a16:creationId xmlns:a16="http://schemas.microsoft.com/office/drawing/2014/main" id="{5B46BBE7-3F13-E640-D6EA-F160E8D8B4DF}"/>
              </a:ext>
            </a:extLst>
          </p:cNvPr>
          <p:cNvPicPr>
            <a:picLocks noChangeAspect="1"/>
          </p:cNvPicPr>
          <p:nvPr/>
        </p:nvPicPr>
        <p:blipFill>
          <a:blip r:embed="rId3"/>
          <a:stretch>
            <a:fillRect/>
          </a:stretch>
        </p:blipFill>
        <p:spPr>
          <a:xfrm>
            <a:off x="0" y="3429000"/>
            <a:ext cx="9144000" cy="1714500"/>
          </a:xfrm>
          <a:prstGeom prst="rect">
            <a:avLst/>
          </a:prstGeom>
        </p:spPr>
      </p:pic>
      <p:sp>
        <p:nvSpPr>
          <p:cNvPr id="10" name="Rectangle 9">
            <a:extLst>
              <a:ext uri="{FF2B5EF4-FFF2-40B4-BE49-F238E27FC236}">
                <a16:creationId xmlns:a16="http://schemas.microsoft.com/office/drawing/2014/main" id="{2CA9B13E-5FA5-BEFF-7D13-104560FDCC24}"/>
              </a:ext>
            </a:extLst>
          </p:cNvPr>
          <p:cNvSpPr/>
          <p:nvPr/>
        </p:nvSpPr>
        <p:spPr>
          <a:xfrm>
            <a:off x="1353312" y="1564031"/>
            <a:ext cx="512064" cy="241522"/>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Rectangle 10">
            <a:extLst>
              <a:ext uri="{FF2B5EF4-FFF2-40B4-BE49-F238E27FC236}">
                <a16:creationId xmlns:a16="http://schemas.microsoft.com/office/drawing/2014/main" id="{B807F2E7-75AC-01EC-668B-E049FB10D324}"/>
              </a:ext>
            </a:extLst>
          </p:cNvPr>
          <p:cNvSpPr/>
          <p:nvPr/>
        </p:nvSpPr>
        <p:spPr>
          <a:xfrm>
            <a:off x="0" y="1702436"/>
            <a:ext cx="1353312" cy="241522"/>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Rectangle 11">
            <a:extLst>
              <a:ext uri="{FF2B5EF4-FFF2-40B4-BE49-F238E27FC236}">
                <a16:creationId xmlns:a16="http://schemas.microsoft.com/office/drawing/2014/main" id="{3470B802-8039-D1C3-3375-CA4CBC7BC598}"/>
              </a:ext>
            </a:extLst>
          </p:cNvPr>
          <p:cNvSpPr/>
          <p:nvPr/>
        </p:nvSpPr>
        <p:spPr>
          <a:xfrm>
            <a:off x="1353312" y="3402406"/>
            <a:ext cx="512064" cy="241522"/>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3" name="Rectangle 12">
            <a:extLst>
              <a:ext uri="{FF2B5EF4-FFF2-40B4-BE49-F238E27FC236}">
                <a16:creationId xmlns:a16="http://schemas.microsoft.com/office/drawing/2014/main" id="{41E0E1F4-A3EE-ABEF-8E60-6D19A3A3EC42}"/>
              </a:ext>
            </a:extLst>
          </p:cNvPr>
          <p:cNvSpPr/>
          <p:nvPr/>
        </p:nvSpPr>
        <p:spPr>
          <a:xfrm>
            <a:off x="0" y="3569933"/>
            <a:ext cx="1353312" cy="241522"/>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931097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2" y="967154"/>
            <a:ext cx="8737997" cy="1858341"/>
          </a:xfrm>
        </p:spPr>
        <p:txBody>
          <a:bodyPr/>
          <a:lstStyle/>
          <a:p>
            <a:pPr marL="133350" indent="0">
              <a:buNone/>
            </a:pPr>
            <a:r>
              <a:rPr lang="en-US" sz="1200" b="1" dirty="0"/>
              <a:t>Rate tab</a:t>
            </a:r>
          </a:p>
          <a:p>
            <a:pPr marL="133350" indent="0">
              <a:buNone/>
            </a:pPr>
            <a:r>
              <a:rPr lang="en-US" sz="1200" dirty="0"/>
              <a:t>Where all the drafted rates are filed.</a:t>
            </a:r>
          </a:p>
          <a:p>
            <a:pPr marL="133350" indent="0">
              <a:buNone/>
            </a:pPr>
            <a:r>
              <a:rPr lang="en-US" sz="1200" dirty="0"/>
              <a:t>General Rate: This is where the FAK rates are being filed</a:t>
            </a:r>
          </a:p>
          <a:p>
            <a:pPr marL="133350" indent="0">
              <a:buNone/>
            </a:pPr>
            <a:r>
              <a:rPr lang="en-US" sz="1200" dirty="0"/>
              <a:t>Special Rate: This is where the special NAC / LT NAC rates are being filed with Named Accounts</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10</a:t>
            </a:fld>
            <a:endParaRPr lang="en-US"/>
          </a:p>
        </p:txBody>
      </p:sp>
      <p:pic>
        <p:nvPicPr>
          <p:cNvPr id="14" name="Picture 13">
            <a:extLst>
              <a:ext uri="{FF2B5EF4-FFF2-40B4-BE49-F238E27FC236}">
                <a16:creationId xmlns:a16="http://schemas.microsoft.com/office/drawing/2014/main" id="{39BDCED9-E06F-CFA7-2CFC-D0109A855CE1}"/>
              </a:ext>
            </a:extLst>
          </p:cNvPr>
          <p:cNvPicPr>
            <a:picLocks noChangeAspect="1"/>
          </p:cNvPicPr>
          <p:nvPr/>
        </p:nvPicPr>
        <p:blipFill>
          <a:blip r:embed="rId2"/>
          <a:stretch>
            <a:fillRect/>
          </a:stretch>
        </p:blipFill>
        <p:spPr>
          <a:xfrm>
            <a:off x="0" y="2482270"/>
            <a:ext cx="9144000" cy="2826152"/>
          </a:xfrm>
          <a:prstGeom prst="rect">
            <a:avLst/>
          </a:prstGeom>
        </p:spPr>
      </p:pic>
    </p:spTree>
    <p:extLst>
      <p:ext uri="{BB962C8B-B14F-4D97-AF65-F5344CB8AC3E}">
        <p14:creationId xmlns:p14="http://schemas.microsoft.com/office/powerpoint/2010/main" val="232921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2" y="967154"/>
            <a:ext cx="8737997" cy="1858341"/>
          </a:xfrm>
        </p:spPr>
        <p:txBody>
          <a:bodyPr/>
          <a:lstStyle/>
          <a:p>
            <a:pPr marL="133350" indent="0">
              <a:buNone/>
            </a:pPr>
            <a:r>
              <a:rPr lang="en-US" sz="1200" b="1" dirty="0"/>
              <a:t>Rate tab</a:t>
            </a:r>
          </a:p>
          <a:p>
            <a:pPr marL="133350" indent="0">
              <a:buNone/>
            </a:pPr>
            <a:r>
              <a:rPr lang="en-US" sz="1200" dirty="0"/>
              <a:t>Where all the drafted rates are filed.</a:t>
            </a:r>
          </a:p>
          <a:p>
            <a:pPr marL="133350" indent="0">
              <a:buNone/>
            </a:pPr>
            <a:r>
              <a:rPr lang="en-US" sz="1200" dirty="0"/>
              <a:t>General Rate: This is where the FAK rates are being filed</a:t>
            </a:r>
          </a:p>
          <a:p>
            <a:pPr marL="133350" indent="0">
              <a:buNone/>
            </a:pPr>
            <a:r>
              <a:rPr lang="en-US" sz="1200" dirty="0"/>
              <a:t>Special Rate: This is where the special NAC / LT NAC rates are being filed with Named Accounts</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11</a:t>
            </a:fld>
            <a:endParaRPr lang="en-US"/>
          </a:p>
        </p:txBody>
      </p:sp>
      <p:pic>
        <p:nvPicPr>
          <p:cNvPr id="6" name="Picture 5">
            <a:extLst>
              <a:ext uri="{FF2B5EF4-FFF2-40B4-BE49-F238E27FC236}">
                <a16:creationId xmlns:a16="http://schemas.microsoft.com/office/drawing/2014/main" id="{00879C39-8612-9010-AA51-4649FE7F5146}"/>
              </a:ext>
            </a:extLst>
          </p:cNvPr>
          <p:cNvPicPr>
            <a:picLocks noChangeAspect="1"/>
          </p:cNvPicPr>
          <p:nvPr/>
        </p:nvPicPr>
        <p:blipFill>
          <a:blip r:embed="rId2"/>
          <a:stretch>
            <a:fillRect/>
          </a:stretch>
        </p:blipFill>
        <p:spPr>
          <a:xfrm>
            <a:off x="0" y="2435381"/>
            <a:ext cx="9144000" cy="3816038"/>
          </a:xfrm>
          <a:prstGeom prst="rect">
            <a:avLst/>
          </a:prstGeom>
        </p:spPr>
      </p:pic>
    </p:spTree>
    <p:extLst>
      <p:ext uri="{BB962C8B-B14F-4D97-AF65-F5344CB8AC3E}">
        <p14:creationId xmlns:p14="http://schemas.microsoft.com/office/powerpoint/2010/main" val="3231665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2" y="967154"/>
            <a:ext cx="8737997" cy="1858341"/>
          </a:xfrm>
        </p:spPr>
        <p:txBody>
          <a:bodyPr/>
          <a:lstStyle/>
          <a:p>
            <a:pPr marL="133350" indent="0">
              <a:buNone/>
            </a:pPr>
            <a:r>
              <a:rPr lang="en-US" sz="1200" dirty="0"/>
              <a:t>When you click on the spy glass, it will show the rate’s Commodity Note.</a:t>
            </a:r>
          </a:p>
          <a:p>
            <a:pPr marL="133350" indent="0">
              <a:buNone/>
            </a:pPr>
            <a:r>
              <a:rPr lang="en-US" sz="1200" dirty="0"/>
              <a:t>The Commodity Notes function is always being used in filing in order to input the rate’s validity, rate structure, specific service/vessel (if applicable), etc.</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12</a:t>
            </a:fld>
            <a:endParaRPr lang="en-US"/>
          </a:p>
        </p:txBody>
      </p:sp>
      <p:pic>
        <p:nvPicPr>
          <p:cNvPr id="7" name="Picture 6">
            <a:extLst>
              <a:ext uri="{FF2B5EF4-FFF2-40B4-BE49-F238E27FC236}">
                <a16:creationId xmlns:a16="http://schemas.microsoft.com/office/drawing/2014/main" id="{E07D1F1A-5ED0-6B5C-F774-E9C3200F427A}"/>
              </a:ext>
            </a:extLst>
          </p:cNvPr>
          <p:cNvPicPr>
            <a:picLocks noChangeAspect="1"/>
          </p:cNvPicPr>
          <p:nvPr/>
        </p:nvPicPr>
        <p:blipFill>
          <a:blip r:embed="rId2"/>
          <a:stretch>
            <a:fillRect/>
          </a:stretch>
        </p:blipFill>
        <p:spPr>
          <a:xfrm>
            <a:off x="0" y="2462076"/>
            <a:ext cx="9144000" cy="3498658"/>
          </a:xfrm>
          <a:prstGeom prst="rect">
            <a:avLst/>
          </a:prstGeom>
        </p:spPr>
      </p:pic>
    </p:spTree>
    <p:extLst>
      <p:ext uri="{BB962C8B-B14F-4D97-AF65-F5344CB8AC3E}">
        <p14:creationId xmlns:p14="http://schemas.microsoft.com/office/powerpoint/2010/main" val="707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3" y="967154"/>
            <a:ext cx="2915101" cy="4756990"/>
          </a:xfrm>
        </p:spPr>
        <p:txBody>
          <a:bodyPr/>
          <a:lstStyle/>
          <a:p>
            <a:pPr marL="133350" indent="0">
              <a:buNone/>
            </a:pPr>
            <a:r>
              <a:rPr lang="en-US" sz="1100" dirty="0"/>
              <a:t>When you click the spy glass under the Conversion column, it will show the APP date and charges (if any).</a:t>
            </a:r>
          </a:p>
          <a:p>
            <a:pPr marL="133350" indent="0">
              <a:buNone/>
            </a:pPr>
            <a:r>
              <a:rPr lang="en-US" sz="1100" dirty="0"/>
              <a:t>APP Date – is the actual effective date of the rates. This is the date wherein the customer’s </a:t>
            </a:r>
            <a:r>
              <a:rPr lang="en-US" sz="1100" dirty="0" err="1"/>
              <a:t>esign</a:t>
            </a:r>
            <a:r>
              <a:rPr lang="en-US" sz="1100" dirty="0"/>
              <a:t> was sent to NA CAP and the same time the contract got Filed.</a:t>
            </a:r>
          </a:p>
          <a:p>
            <a:pPr marL="133350" indent="0">
              <a:buNone/>
            </a:pPr>
            <a:r>
              <a:rPr lang="en-US" sz="1100" dirty="0"/>
              <a:t>Sample Scenario: There are cases that the rate validity still shows eff 1 May 2025, but if the customer’s sign page was sent late and the contract got filed on 2 May 2025, the APP date will show as 2 May 2025.</a:t>
            </a:r>
          </a:p>
          <a:p>
            <a:pPr marL="133350" indent="0">
              <a:buNone/>
            </a:pPr>
            <a:r>
              <a:rPr lang="en-US" sz="1100" dirty="0"/>
              <a:t>Due to this sample scenario, affected bookings that may gate-in on 1 May 2025, will be NROF due to late filing.</a:t>
            </a:r>
          </a:p>
          <a:p>
            <a:pPr marL="133350" indent="0">
              <a:buNone/>
            </a:pPr>
            <a:r>
              <a:rPr lang="en-US" sz="1100" dirty="0"/>
              <a:t>That is why OMMC often received requests for delayed (backdate) filing, VID refund, and manual rating in order to rate the NROF booking.</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13</a:t>
            </a:fld>
            <a:endParaRPr lang="en-US"/>
          </a:p>
        </p:txBody>
      </p:sp>
      <p:pic>
        <p:nvPicPr>
          <p:cNvPr id="11" name="Picture 10">
            <a:extLst>
              <a:ext uri="{FF2B5EF4-FFF2-40B4-BE49-F238E27FC236}">
                <a16:creationId xmlns:a16="http://schemas.microsoft.com/office/drawing/2014/main" id="{86F9B375-FBEB-A9BC-010E-5277D46CEC5E}"/>
              </a:ext>
            </a:extLst>
          </p:cNvPr>
          <p:cNvPicPr>
            <a:picLocks noChangeAspect="1"/>
          </p:cNvPicPr>
          <p:nvPr/>
        </p:nvPicPr>
        <p:blipFill>
          <a:blip r:embed="rId2"/>
          <a:stretch>
            <a:fillRect/>
          </a:stretch>
        </p:blipFill>
        <p:spPr>
          <a:xfrm>
            <a:off x="3374971" y="3579884"/>
            <a:ext cx="5566026" cy="1782776"/>
          </a:xfrm>
          <a:prstGeom prst="rect">
            <a:avLst/>
          </a:prstGeom>
        </p:spPr>
      </p:pic>
      <p:pic>
        <p:nvPicPr>
          <p:cNvPr id="6" name="Picture 5">
            <a:extLst>
              <a:ext uri="{FF2B5EF4-FFF2-40B4-BE49-F238E27FC236}">
                <a16:creationId xmlns:a16="http://schemas.microsoft.com/office/drawing/2014/main" id="{74B3B629-192E-DC3A-CC6F-D448B56533A8}"/>
              </a:ext>
            </a:extLst>
          </p:cNvPr>
          <p:cNvPicPr>
            <a:picLocks noChangeAspect="1"/>
          </p:cNvPicPr>
          <p:nvPr/>
        </p:nvPicPr>
        <p:blipFill>
          <a:blip r:embed="rId3"/>
          <a:stretch>
            <a:fillRect/>
          </a:stretch>
        </p:blipFill>
        <p:spPr>
          <a:xfrm>
            <a:off x="3347631" y="1186464"/>
            <a:ext cx="5566026" cy="2242536"/>
          </a:xfrm>
          <a:prstGeom prst="rect">
            <a:avLst/>
          </a:prstGeom>
        </p:spPr>
      </p:pic>
    </p:spTree>
    <p:extLst>
      <p:ext uri="{BB962C8B-B14F-4D97-AF65-F5344CB8AC3E}">
        <p14:creationId xmlns:p14="http://schemas.microsoft.com/office/powerpoint/2010/main" val="1030529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3" y="967154"/>
            <a:ext cx="8620957" cy="4756990"/>
          </a:xfrm>
        </p:spPr>
        <p:txBody>
          <a:bodyPr/>
          <a:lstStyle/>
          <a:p>
            <a:pPr marL="133350" indent="0">
              <a:buNone/>
            </a:pPr>
            <a:r>
              <a:rPr lang="en-US" sz="1100" b="1" dirty="0"/>
              <a:t>Special Note</a:t>
            </a:r>
          </a:p>
          <a:p>
            <a:r>
              <a:rPr lang="en-US" sz="1100" b="1" dirty="0"/>
              <a:t>Inclusive Surcharges Notes</a:t>
            </a:r>
          </a:p>
          <a:p>
            <a:pPr lvl="1">
              <a:buFont typeface="Wingdings" panose="05000000000000000000" pitchFamily="2" charset="2"/>
              <a:buChar char="Ø"/>
            </a:pPr>
            <a:r>
              <a:rPr lang="en-US" sz="1100" dirty="0"/>
              <a:t>This is where the special rate structures are being filed in the contract.</a:t>
            </a:r>
          </a:p>
          <a:p>
            <a:pPr marL="590550" lvl="1" indent="0">
              <a:buNone/>
            </a:pPr>
            <a:endParaRPr lang="en-US" sz="1100" dirty="0"/>
          </a:p>
          <a:p>
            <a:pPr marL="590550" lvl="1" indent="0">
              <a:buNone/>
            </a:pPr>
            <a:endParaRPr lang="en-US" sz="1100" dirty="0"/>
          </a:p>
          <a:p>
            <a:pPr marL="590550" lvl="1" indent="0">
              <a:buNone/>
            </a:pPr>
            <a:endParaRPr lang="en-US" sz="1100" dirty="0"/>
          </a:p>
          <a:p>
            <a:pPr marL="590550" lvl="1" indent="0">
              <a:buNone/>
            </a:pPr>
            <a:endParaRPr lang="en-US" sz="1100" dirty="0"/>
          </a:p>
          <a:p>
            <a:pPr marL="590550" lvl="1" indent="0">
              <a:buNone/>
            </a:pPr>
            <a:endParaRPr lang="en-US" sz="1100" dirty="0"/>
          </a:p>
          <a:p>
            <a:pPr marL="590550" lvl="1" indent="0">
              <a:buNone/>
            </a:pPr>
            <a:endParaRPr lang="en-US" sz="1100" dirty="0"/>
          </a:p>
          <a:p>
            <a:r>
              <a:rPr lang="en-US" sz="1100" b="1" dirty="0"/>
              <a:t>Fixed Surcharges</a:t>
            </a:r>
          </a:p>
          <a:p>
            <a:pPr lvl="1">
              <a:buFont typeface="Wingdings" panose="05000000000000000000" pitchFamily="2" charset="2"/>
              <a:buChar char="Ø"/>
            </a:pPr>
            <a:r>
              <a:rPr lang="en-US" sz="1100" dirty="0"/>
              <a:t>This is where the fixed surcharges are being filed in the contract (e.g., the PSS currently fixed at $0)</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14</a:t>
            </a:fld>
            <a:endParaRPr lang="en-US"/>
          </a:p>
        </p:txBody>
      </p:sp>
      <p:pic>
        <p:nvPicPr>
          <p:cNvPr id="9" name="Picture 8">
            <a:extLst>
              <a:ext uri="{FF2B5EF4-FFF2-40B4-BE49-F238E27FC236}">
                <a16:creationId xmlns:a16="http://schemas.microsoft.com/office/drawing/2014/main" id="{AC6F1DE2-6AD3-56F0-22AD-434BF9C19207}"/>
              </a:ext>
            </a:extLst>
          </p:cNvPr>
          <p:cNvPicPr>
            <a:picLocks noChangeAspect="1"/>
          </p:cNvPicPr>
          <p:nvPr/>
        </p:nvPicPr>
        <p:blipFill>
          <a:blip r:embed="rId2"/>
          <a:stretch>
            <a:fillRect/>
          </a:stretch>
        </p:blipFill>
        <p:spPr>
          <a:xfrm>
            <a:off x="-58519" y="1946358"/>
            <a:ext cx="9144000" cy="1758276"/>
          </a:xfrm>
          <a:prstGeom prst="rect">
            <a:avLst/>
          </a:prstGeom>
        </p:spPr>
      </p:pic>
      <p:pic>
        <p:nvPicPr>
          <p:cNvPr id="12" name="Picture 11">
            <a:extLst>
              <a:ext uri="{FF2B5EF4-FFF2-40B4-BE49-F238E27FC236}">
                <a16:creationId xmlns:a16="http://schemas.microsoft.com/office/drawing/2014/main" id="{B84792D9-B419-9495-F959-BDAFC41209D6}"/>
              </a:ext>
            </a:extLst>
          </p:cNvPr>
          <p:cNvPicPr>
            <a:picLocks noChangeAspect="1"/>
          </p:cNvPicPr>
          <p:nvPr/>
        </p:nvPicPr>
        <p:blipFill>
          <a:blip r:embed="rId3"/>
          <a:stretch>
            <a:fillRect/>
          </a:stretch>
        </p:blipFill>
        <p:spPr>
          <a:xfrm>
            <a:off x="0" y="4387866"/>
            <a:ext cx="9144000" cy="2270960"/>
          </a:xfrm>
          <a:prstGeom prst="rect">
            <a:avLst/>
          </a:prstGeom>
        </p:spPr>
      </p:pic>
    </p:spTree>
    <p:extLst>
      <p:ext uri="{BB962C8B-B14F-4D97-AF65-F5344CB8AC3E}">
        <p14:creationId xmlns:p14="http://schemas.microsoft.com/office/powerpoint/2010/main" val="3752180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3" y="967153"/>
            <a:ext cx="8620957" cy="5512777"/>
          </a:xfrm>
        </p:spPr>
        <p:txBody>
          <a:bodyPr/>
          <a:lstStyle/>
          <a:p>
            <a:pPr marL="133350" indent="0">
              <a:buNone/>
            </a:pPr>
            <a:r>
              <a:rPr lang="en-US" sz="1100" b="1" dirty="0"/>
              <a:t>Special Note</a:t>
            </a:r>
          </a:p>
          <a:p>
            <a:r>
              <a:rPr lang="en-US" sz="1100" b="1" dirty="0"/>
              <a:t>Others &gt; Hazardous Cargo </a:t>
            </a:r>
            <a:r>
              <a:rPr lang="en-US" sz="1100" b="1" dirty="0" err="1"/>
              <a:t>Claue</a:t>
            </a:r>
            <a:endParaRPr lang="en-US" sz="1100" b="1" dirty="0"/>
          </a:p>
          <a:p>
            <a:pPr lvl="1">
              <a:buFont typeface="Wingdings" panose="05000000000000000000" pitchFamily="2" charset="2"/>
              <a:buChar char="Ø"/>
            </a:pPr>
            <a:r>
              <a:rPr lang="en-US" sz="1100" dirty="0"/>
              <a:t>This is where the HAZ clause is being filed in the contract.</a:t>
            </a:r>
          </a:p>
          <a:p>
            <a:pPr marL="590550" lvl="1" indent="0">
              <a:buNone/>
            </a:pPr>
            <a:endParaRPr lang="en-US" sz="1100" dirty="0"/>
          </a:p>
          <a:p>
            <a:pPr marL="590550" lvl="1" indent="0">
              <a:buNone/>
            </a:pPr>
            <a:endParaRPr lang="en-US" sz="1100" dirty="0"/>
          </a:p>
          <a:p>
            <a:pPr marL="590550" lvl="1" indent="0">
              <a:buNone/>
            </a:pPr>
            <a:endParaRPr lang="en-US" sz="1100" dirty="0"/>
          </a:p>
          <a:p>
            <a:pPr marL="590550" lvl="1" indent="0">
              <a:buNone/>
            </a:pPr>
            <a:endParaRPr lang="en-US" sz="1100" dirty="0"/>
          </a:p>
          <a:p>
            <a:pPr marL="590550" lvl="1" indent="0">
              <a:buNone/>
            </a:pPr>
            <a:endParaRPr lang="en-US" sz="1100" dirty="0"/>
          </a:p>
          <a:p>
            <a:pPr marL="590550" lvl="1" indent="0">
              <a:buNone/>
            </a:pPr>
            <a:endParaRPr lang="en-US" sz="1100" dirty="0"/>
          </a:p>
          <a:p>
            <a:r>
              <a:rPr lang="en-US" sz="1100" b="1" dirty="0"/>
              <a:t>DEM/DET</a:t>
            </a:r>
          </a:p>
          <a:p>
            <a:pPr lvl="1">
              <a:buFont typeface="Wingdings" panose="05000000000000000000" pitchFamily="2" charset="2"/>
              <a:buChar char="Ø"/>
            </a:pPr>
            <a:r>
              <a:rPr lang="en-US" sz="1100" dirty="0"/>
              <a:t>This is where the special free time condition is being filed in the contract. This is to minimize the use of ADHOC DAR applications. So long that the account was given approval for the special free time condition.</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15</a:t>
            </a:fld>
            <a:endParaRPr lang="en-US"/>
          </a:p>
        </p:txBody>
      </p:sp>
      <p:pic>
        <p:nvPicPr>
          <p:cNvPr id="6" name="Picture 5">
            <a:extLst>
              <a:ext uri="{FF2B5EF4-FFF2-40B4-BE49-F238E27FC236}">
                <a16:creationId xmlns:a16="http://schemas.microsoft.com/office/drawing/2014/main" id="{5282F2AF-DFB6-0C6C-9774-57C567E1857C}"/>
              </a:ext>
            </a:extLst>
          </p:cNvPr>
          <p:cNvPicPr>
            <a:picLocks noChangeAspect="1"/>
          </p:cNvPicPr>
          <p:nvPr/>
        </p:nvPicPr>
        <p:blipFill>
          <a:blip r:embed="rId2"/>
          <a:stretch>
            <a:fillRect/>
          </a:stretch>
        </p:blipFill>
        <p:spPr>
          <a:xfrm>
            <a:off x="1312164" y="2017250"/>
            <a:ext cx="6519672" cy="1842139"/>
          </a:xfrm>
          <a:prstGeom prst="rect">
            <a:avLst/>
          </a:prstGeom>
        </p:spPr>
      </p:pic>
      <p:pic>
        <p:nvPicPr>
          <p:cNvPr id="8" name="Picture 7">
            <a:extLst>
              <a:ext uri="{FF2B5EF4-FFF2-40B4-BE49-F238E27FC236}">
                <a16:creationId xmlns:a16="http://schemas.microsoft.com/office/drawing/2014/main" id="{295C1DFB-DC60-DFB4-9BE7-DCDEC3FCAB8F}"/>
              </a:ext>
            </a:extLst>
          </p:cNvPr>
          <p:cNvPicPr>
            <a:picLocks noChangeAspect="1"/>
          </p:cNvPicPr>
          <p:nvPr/>
        </p:nvPicPr>
        <p:blipFill>
          <a:blip r:embed="rId3"/>
          <a:stretch>
            <a:fillRect/>
          </a:stretch>
        </p:blipFill>
        <p:spPr>
          <a:xfrm>
            <a:off x="1430563" y="4626387"/>
            <a:ext cx="6282873" cy="1841663"/>
          </a:xfrm>
          <a:prstGeom prst="rect">
            <a:avLst/>
          </a:prstGeom>
        </p:spPr>
      </p:pic>
    </p:spTree>
    <p:extLst>
      <p:ext uri="{BB962C8B-B14F-4D97-AF65-F5344CB8AC3E}">
        <p14:creationId xmlns:p14="http://schemas.microsoft.com/office/powerpoint/2010/main" val="2806301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AFC-2AB1-D898-8EF9-2567A08D87C0}"/>
              </a:ext>
            </a:extLst>
          </p:cNvPr>
          <p:cNvSpPr>
            <a:spLocks noGrp="1"/>
          </p:cNvSpPr>
          <p:nvPr>
            <p:ph type="title"/>
          </p:nvPr>
        </p:nvSpPr>
        <p:spPr/>
        <p:txBody>
          <a:bodyPr/>
          <a:lstStyle/>
          <a:p>
            <a:r>
              <a:rPr lang="en-US" dirty="0"/>
              <a:t>S/C Proposal &amp; Amendment Inquiry</a:t>
            </a:r>
          </a:p>
        </p:txBody>
      </p:sp>
      <p:sp>
        <p:nvSpPr>
          <p:cNvPr id="3" name="Text Placeholder 2">
            <a:extLst>
              <a:ext uri="{FF2B5EF4-FFF2-40B4-BE49-F238E27FC236}">
                <a16:creationId xmlns:a16="http://schemas.microsoft.com/office/drawing/2014/main" id="{E416F6DB-05B8-7C83-04D0-79D6AD9B6B53}"/>
              </a:ext>
            </a:extLst>
          </p:cNvPr>
          <p:cNvSpPr>
            <a:spLocks noGrp="1"/>
          </p:cNvSpPr>
          <p:nvPr>
            <p:ph type="body" idx="1"/>
          </p:nvPr>
        </p:nvSpPr>
        <p:spPr>
          <a:xfrm>
            <a:off x="203003" y="967153"/>
            <a:ext cx="8620957" cy="5512777"/>
          </a:xfrm>
        </p:spPr>
        <p:txBody>
          <a:bodyPr/>
          <a:lstStyle/>
          <a:p>
            <a:pPr marL="133350" indent="0">
              <a:buNone/>
            </a:pPr>
            <a:r>
              <a:rPr lang="en-US" sz="1100" b="1" dirty="0"/>
              <a:t>AMD History</a:t>
            </a:r>
          </a:p>
          <a:p>
            <a:pPr marL="133350" indent="0">
              <a:buNone/>
            </a:pPr>
            <a:r>
              <a:rPr lang="en-US" sz="1100" dirty="0"/>
              <a:t>If you click on the AMD History, it will redirect you to a new window showing the AMD history of the contract.</a:t>
            </a:r>
          </a:p>
          <a:p>
            <a:pPr marL="133350" indent="0">
              <a:buNone/>
            </a:pPr>
            <a:endParaRPr lang="en-US" sz="1100" dirty="0"/>
          </a:p>
          <a:p>
            <a:pPr marL="133350" indent="0">
              <a:buNone/>
            </a:pPr>
            <a:endParaRPr lang="en-US" sz="1100" dirty="0"/>
          </a:p>
          <a:p>
            <a:pPr marL="133350" indent="0">
              <a:buNone/>
            </a:pPr>
            <a:endParaRPr lang="en-US" sz="1100" dirty="0"/>
          </a:p>
          <a:p>
            <a:pPr marL="133350" indent="0">
              <a:buNone/>
            </a:pPr>
            <a:endParaRPr lang="en-US" sz="1100" dirty="0"/>
          </a:p>
          <a:p>
            <a:pPr marL="133350" indent="0">
              <a:buNone/>
            </a:pPr>
            <a:r>
              <a:rPr lang="en-US" sz="1100" dirty="0"/>
              <a:t>This tool is being used to know the filing AMD Date shown under the “Filed Date” column, this is the date when the AMD was filed for signature.</a:t>
            </a:r>
          </a:p>
        </p:txBody>
      </p:sp>
      <p:sp>
        <p:nvSpPr>
          <p:cNvPr id="4" name="Slide Number Placeholder 3">
            <a:extLst>
              <a:ext uri="{FF2B5EF4-FFF2-40B4-BE49-F238E27FC236}">
                <a16:creationId xmlns:a16="http://schemas.microsoft.com/office/drawing/2014/main" id="{47DBF892-5465-70BE-F10C-52DEF812FF4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16</a:t>
            </a:fld>
            <a:endParaRPr lang="en-US"/>
          </a:p>
        </p:txBody>
      </p:sp>
      <p:pic>
        <p:nvPicPr>
          <p:cNvPr id="7" name="Picture 6">
            <a:extLst>
              <a:ext uri="{FF2B5EF4-FFF2-40B4-BE49-F238E27FC236}">
                <a16:creationId xmlns:a16="http://schemas.microsoft.com/office/drawing/2014/main" id="{9D594A2D-E8F3-26D5-0FB5-E025C5AD1F5D}"/>
              </a:ext>
            </a:extLst>
          </p:cNvPr>
          <p:cNvPicPr>
            <a:picLocks noChangeAspect="1"/>
          </p:cNvPicPr>
          <p:nvPr/>
        </p:nvPicPr>
        <p:blipFill>
          <a:blip r:embed="rId2"/>
          <a:stretch>
            <a:fillRect/>
          </a:stretch>
        </p:blipFill>
        <p:spPr>
          <a:xfrm>
            <a:off x="1125417" y="1722411"/>
            <a:ext cx="6893166" cy="1167655"/>
          </a:xfrm>
          <a:prstGeom prst="rect">
            <a:avLst/>
          </a:prstGeom>
        </p:spPr>
      </p:pic>
      <p:pic>
        <p:nvPicPr>
          <p:cNvPr id="12" name="Picture 11">
            <a:extLst>
              <a:ext uri="{FF2B5EF4-FFF2-40B4-BE49-F238E27FC236}">
                <a16:creationId xmlns:a16="http://schemas.microsoft.com/office/drawing/2014/main" id="{1D6E7D83-F98F-9747-606A-5FB59443035E}"/>
              </a:ext>
            </a:extLst>
          </p:cNvPr>
          <p:cNvPicPr>
            <a:picLocks noChangeAspect="1"/>
          </p:cNvPicPr>
          <p:nvPr/>
        </p:nvPicPr>
        <p:blipFill>
          <a:blip r:embed="rId3"/>
          <a:stretch>
            <a:fillRect/>
          </a:stretch>
        </p:blipFill>
        <p:spPr>
          <a:xfrm>
            <a:off x="1125417" y="3482113"/>
            <a:ext cx="6893166" cy="2997818"/>
          </a:xfrm>
          <a:prstGeom prst="rect">
            <a:avLst/>
          </a:prstGeom>
        </p:spPr>
      </p:pic>
    </p:spTree>
    <p:extLst>
      <p:ext uri="{BB962C8B-B14F-4D97-AF65-F5344CB8AC3E}">
        <p14:creationId xmlns:p14="http://schemas.microsoft.com/office/powerpoint/2010/main" val="1241230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71B15-E87C-4D5D-B9F9-A0FAAD108B24}"/>
              </a:ext>
            </a:extLst>
          </p:cNvPr>
          <p:cNvSpPr>
            <a:spLocks noGrp="1"/>
          </p:cNvSpPr>
          <p:nvPr>
            <p:ph type="title"/>
          </p:nvPr>
        </p:nvSpPr>
        <p:spPr/>
        <p:txBody>
          <a:bodyPr/>
          <a:lstStyle/>
          <a:p>
            <a:r>
              <a:rPr lang="en-US" dirty="0"/>
              <a:t>Booking Inquiry</a:t>
            </a:r>
          </a:p>
        </p:txBody>
      </p:sp>
      <p:sp>
        <p:nvSpPr>
          <p:cNvPr id="3" name="Text Placeholder 2">
            <a:extLst>
              <a:ext uri="{FF2B5EF4-FFF2-40B4-BE49-F238E27FC236}">
                <a16:creationId xmlns:a16="http://schemas.microsoft.com/office/drawing/2014/main" id="{678B0241-371E-BFCE-E180-A95CF973C904}"/>
              </a:ext>
            </a:extLst>
          </p:cNvPr>
          <p:cNvSpPr>
            <a:spLocks noGrp="1"/>
          </p:cNvSpPr>
          <p:nvPr>
            <p:ph type="body" idx="1"/>
          </p:nvPr>
        </p:nvSpPr>
        <p:spPr/>
        <p:txBody>
          <a:bodyPr/>
          <a:lstStyle/>
          <a:p>
            <a:pPr marL="133350" indent="0">
              <a:buNone/>
            </a:pPr>
            <a:r>
              <a:rPr lang="en-US" b="1" dirty="0"/>
              <a:t>Path</a:t>
            </a:r>
            <a:r>
              <a:rPr lang="en-US" dirty="0"/>
              <a:t>: Service Management &gt; Booking/Documentation &gt; Booking &gt; Booking &gt; Booking Inquiry</a:t>
            </a:r>
          </a:p>
          <a:p>
            <a:pPr marL="133350" indent="0">
              <a:buNone/>
            </a:pPr>
            <a:endParaRPr lang="en-US" dirty="0"/>
          </a:p>
          <a:p>
            <a:pPr marL="133350" indent="0">
              <a:buNone/>
            </a:pPr>
            <a:r>
              <a:rPr lang="en-US" dirty="0"/>
              <a:t>Sample Booking Number: MUMF42148800</a:t>
            </a:r>
          </a:p>
        </p:txBody>
      </p:sp>
      <p:sp>
        <p:nvSpPr>
          <p:cNvPr id="4" name="Slide Number Placeholder 3">
            <a:extLst>
              <a:ext uri="{FF2B5EF4-FFF2-40B4-BE49-F238E27FC236}">
                <a16:creationId xmlns:a16="http://schemas.microsoft.com/office/drawing/2014/main" id="{A5937433-3B4D-CA44-96FC-6759396191A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17</a:t>
            </a:fld>
            <a:endParaRPr lang="en-US"/>
          </a:p>
        </p:txBody>
      </p:sp>
      <p:pic>
        <p:nvPicPr>
          <p:cNvPr id="7" name="Picture 6">
            <a:extLst>
              <a:ext uri="{FF2B5EF4-FFF2-40B4-BE49-F238E27FC236}">
                <a16:creationId xmlns:a16="http://schemas.microsoft.com/office/drawing/2014/main" id="{4139C3FE-A77B-3441-5596-77D68665AE58}"/>
              </a:ext>
            </a:extLst>
          </p:cNvPr>
          <p:cNvPicPr>
            <a:picLocks noChangeAspect="1"/>
          </p:cNvPicPr>
          <p:nvPr/>
        </p:nvPicPr>
        <p:blipFill>
          <a:blip r:embed="rId2"/>
          <a:stretch>
            <a:fillRect/>
          </a:stretch>
        </p:blipFill>
        <p:spPr>
          <a:xfrm>
            <a:off x="0" y="2260536"/>
            <a:ext cx="9144000" cy="3162838"/>
          </a:xfrm>
          <a:prstGeom prst="rect">
            <a:avLst/>
          </a:prstGeom>
        </p:spPr>
      </p:pic>
    </p:spTree>
    <p:extLst>
      <p:ext uri="{BB962C8B-B14F-4D97-AF65-F5344CB8AC3E}">
        <p14:creationId xmlns:p14="http://schemas.microsoft.com/office/powerpoint/2010/main" val="1405902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4344-D128-B876-554D-41CDFBE819E3}"/>
              </a:ext>
            </a:extLst>
          </p:cNvPr>
          <p:cNvSpPr>
            <a:spLocks noGrp="1"/>
          </p:cNvSpPr>
          <p:nvPr>
            <p:ph type="title"/>
          </p:nvPr>
        </p:nvSpPr>
        <p:spPr/>
        <p:txBody>
          <a:bodyPr/>
          <a:lstStyle/>
          <a:p>
            <a:r>
              <a:rPr lang="en-US" dirty="0"/>
              <a:t>Booking Inquiry</a:t>
            </a:r>
          </a:p>
        </p:txBody>
      </p:sp>
      <p:sp>
        <p:nvSpPr>
          <p:cNvPr id="3" name="Text Placeholder 2">
            <a:extLst>
              <a:ext uri="{FF2B5EF4-FFF2-40B4-BE49-F238E27FC236}">
                <a16:creationId xmlns:a16="http://schemas.microsoft.com/office/drawing/2014/main" id="{5B9E353D-B096-93B3-D6E4-61B0E9C27BB0}"/>
              </a:ext>
            </a:extLst>
          </p:cNvPr>
          <p:cNvSpPr>
            <a:spLocks noGrp="1"/>
          </p:cNvSpPr>
          <p:nvPr>
            <p:ph type="body" idx="1"/>
          </p:nvPr>
        </p:nvSpPr>
        <p:spPr/>
        <p:txBody>
          <a:bodyPr/>
          <a:lstStyle/>
          <a:p>
            <a:pPr marL="133350" indent="0">
              <a:buNone/>
            </a:pPr>
            <a:r>
              <a:rPr lang="en-US" b="1" dirty="0"/>
              <a:t>BKG Creation</a:t>
            </a:r>
          </a:p>
        </p:txBody>
      </p:sp>
      <p:sp>
        <p:nvSpPr>
          <p:cNvPr id="4" name="Slide Number Placeholder 3">
            <a:extLst>
              <a:ext uri="{FF2B5EF4-FFF2-40B4-BE49-F238E27FC236}">
                <a16:creationId xmlns:a16="http://schemas.microsoft.com/office/drawing/2014/main" id="{54105618-4B28-0EA7-0BC0-08620FA37D2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18</a:t>
            </a:fld>
            <a:endParaRPr lang="en-US"/>
          </a:p>
        </p:txBody>
      </p:sp>
      <p:pic>
        <p:nvPicPr>
          <p:cNvPr id="6" name="Picture 5">
            <a:extLst>
              <a:ext uri="{FF2B5EF4-FFF2-40B4-BE49-F238E27FC236}">
                <a16:creationId xmlns:a16="http://schemas.microsoft.com/office/drawing/2014/main" id="{D1FB3D11-2839-B51D-274A-5C959782C383}"/>
              </a:ext>
            </a:extLst>
          </p:cNvPr>
          <p:cNvPicPr>
            <a:picLocks noChangeAspect="1"/>
          </p:cNvPicPr>
          <p:nvPr/>
        </p:nvPicPr>
        <p:blipFill>
          <a:blip r:embed="rId2"/>
          <a:stretch>
            <a:fillRect/>
          </a:stretch>
        </p:blipFill>
        <p:spPr>
          <a:xfrm>
            <a:off x="0" y="2097989"/>
            <a:ext cx="9144000" cy="3162838"/>
          </a:xfrm>
          <a:prstGeom prst="rect">
            <a:avLst/>
          </a:prstGeom>
        </p:spPr>
      </p:pic>
    </p:spTree>
    <p:extLst>
      <p:ext uri="{BB962C8B-B14F-4D97-AF65-F5344CB8AC3E}">
        <p14:creationId xmlns:p14="http://schemas.microsoft.com/office/powerpoint/2010/main" val="567576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4344-D128-B876-554D-41CDFBE819E3}"/>
              </a:ext>
            </a:extLst>
          </p:cNvPr>
          <p:cNvSpPr>
            <a:spLocks noGrp="1"/>
          </p:cNvSpPr>
          <p:nvPr>
            <p:ph type="title"/>
          </p:nvPr>
        </p:nvSpPr>
        <p:spPr/>
        <p:txBody>
          <a:bodyPr/>
          <a:lstStyle/>
          <a:p>
            <a:r>
              <a:rPr lang="en-US" dirty="0"/>
              <a:t>Booking Inquiry</a:t>
            </a:r>
          </a:p>
        </p:txBody>
      </p:sp>
      <p:sp>
        <p:nvSpPr>
          <p:cNvPr id="3" name="Text Placeholder 2">
            <a:extLst>
              <a:ext uri="{FF2B5EF4-FFF2-40B4-BE49-F238E27FC236}">
                <a16:creationId xmlns:a16="http://schemas.microsoft.com/office/drawing/2014/main" id="{5B9E353D-B096-93B3-D6E4-61B0E9C27BB0}"/>
              </a:ext>
            </a:extLst>
          </p:cNvPr>
          <p:cNvSpPr>
            <a:spLocks noGrp="1"/>
          </p:cNvSpPr>
          <p:nvPr>
            <p:ph type="body" idx="1"/>
          </p:nvPr>
        </p:nvSpPr>
        <p:spPr/>
        <p:txBody>
          <a:bodyPr/>
          <a:lstStyle/>
          <a:p>
            <a:pPr marL="133350" indent="0">
              <a:buNone/>
            </a:pPr>
            <a:r>
              <a:rPr lang="en-US" b="1" dirty="0"/>
              <a:t>Route Detail</a:t>
            </a:r>
          </a:p>
          <a:p>
            <a:pPr marL="133350" indent="0">
              <a:buNone/>
            </a:pPr>
            <a:r>
              <a:rPr lang="en-US" dirty="0"/>
              <a:t>Route information can be viewed in this tab.</a:t>
            </a:r>
          </a:p>
          <a:p>
            <a:pPr marL="133350" indent="0">
              <a:buNone/>
            </a:pPr>
            <a:r>
              <a:rPr lang="en-US" dirty="0"/>
              <a:t>This will also be useful in getting the VVD details in reviewing vessel delays.</a:t>
            </a:r>
          </a:p>
        </p:txBody>
      </p:sp>
      <p:sp>
        <p:nvSpPr>
          <p:cNvPr id="4" name="Slide Number Placeholder 3">
            <a:extLst>
              <a:ext uri="{FF2B5EF4-FFF2-40B4-BE49-F238E27FC236}">
                <a16:creationId xmlns:a16="http://schemas.microsoft.com/office/drawing/2014/main" id="{54105618-4B28-0EA7-0BC0-08620FA37D2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19</a:t>
            </a:fld>
            <a:endParaRPr lang="en-US"/>
          </a:p>
        </p:txBody>
      </p:sp>
      <p:pic>
        <p:nvPicPr>
          <p:cNvPr id="11" name="Picture 10">
            <a:extLst>
              <a:ext uri="{FF2B5EF4-FFF2-40B4-BE49-F238E27FC236}">
                <a16:creationId xmlns:a16="http://schemas.microsoft.com/office/drawing/2014/main" id="{8914052E-D21A-69EE-3B3E-5777C53FFA79}"/>
              </a:ext>
            </a:extLst>
          </p:cNvPr>
          <p:cNvPicPr>
            <a:picLocks noChangeAspect="1"/>
          </p:cNvPicPr>
          <p:nvPr/>
        </p:nvPicPr>
        <p:blipFill>
          <a:blip r:embed="rId2"/>
          <a:stretch>
            <a:fillRect/>
          </a:stretch>
        </p:blipFill>
        <p:spPr>
          <a:xfrm>
            <a:off x="1069848" y="2217505"/>
            <a:ext cx="7004304" cy="2350634"/>
          </a:xfrm>
          <a:prstGeom prst="rect">
            <a:avLst/>
          </a:prstGeom>
        </p:spPr>
      </p:pic>
      <p:pic>
        <p:nvPicPr>
          <p:cNvPr id="13" name="Picture 12">
            <a:extLst>
              <a:ext uri="{FF2B5EF4-FFF2-40B4-BE49-F238E27FC236}">
                <a16:creationId xmlns:a16="http://schemas.microsoft.com/office/drawing/2014/main" id="{8A0D4141-F47A-3608-85BD-7302A8610929}"/>
              </a:ext>
            </a:extLst>
          </p:cNvPr>
          <p:cNvPicPr>
            <a:picLocks noChangeAspect="1"/>
          </p:cNvPicPr>
          <p:nvPr/>
        </p:nvPicPr>
        <p:blipFill>
          <a:blip r:embed="rId3"/>
          <a:stretch>
            <a:fillRect/>
          </a:stretch>
        </p:blipFill>
        <p:spPr>
          <a:xfrm>
            <a:off x="1069848" y="4568139"/>
            <a:ext cx="7004304" cy="2032564"/>
          </a:xfrm>
          <a:prstGeom prst="rect">
            <a:avLst/>
          </a:prstGeom>
        </p:spPr>
      </p:pic>
    </p:spTree>
    <p:extLst>
      <p:ext uri="{BB962C8B-B14F-4D97-AF65-F5344CB8AC3E}">
        <p14:creationId xmlns:p14="http://schemas.microsoft.com/office/powerpoint/2010/main" val="3441651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4344-D128-B876-554D-41CDFBE819E3}"/>
              </a:ext>
            </a:extLst>
          </p:cNvPr>
          <p:cNvSpPr>
            <a:spLocks noGrp="1"/>
          </p:cNvSpPr>
          <p:nvPr>
            <p:ph type="title"/>
          </p:nvPr>
        </p:nvSpPr>
        <p:spPr/>
        <p:txBody>
          <a:bodyPr/>
          <a:lstStyle/>
          <a:p>
            <a:r>
              <a:rPr lang="en-US" dirty="0"/>
              <a:t>Booking Inquiry</a:t>
            </a:r>
          </a:p>
        </p:txBody>
      </p:sp>
      <p:sp>
        <p:nvSpPr>
          <p:cNvPr id="3" name="Text Placeholder 2">
            <a:extLst>
              <a:ext uri="{FF2B5EF4-FFF2-40B4-BE49-F238E27FC236}">
                <a16:creationId xmlns:a16="http://schemas.microsoft.com/office/drawing/2014/main" id="{5B9E353D-B096-93B3-D6E4-61B0E9C27BB0}"/>
              </a:ext>
            </a:extLst>
          </p:cNvPr>
          <p:cNvSpPr>
            <a:spLocks noGrp="1"/>
          </p:cNvSpPr>
          <p:nvPr>
            <p:ph type="body" idx="1"/>
          </p:nvPr>
        </p:nvSpPr>
        <p:spPr/>
        <p:txBody>
          <a:bodyPr/>
          <a:lstStyle/>
          <a:p>
            <a:pPr marL="133350" indent="0">
              <a:buNone/>
            </a:pPr>
            <a:r>
              <a:rPr lang="en-US" b="1" dirty="0"/>
              <a:t>CNTR</a:t>
            </a:r>
          </a:p>
          <a:p>
            <a:pPr marL="133350" indent="0">
              <a:buNone/>
            </a:pPr>
            <a:r>
              <a:rPr lang="en-US" dirty="0"/>
              <a:t>Knowing the CRD (Cargo Receiving Date) is essential, especially when reviewing NROF cases.</a:t>
            </a:r>
          </a:p>
          <a:p>
            <a:pPr marL="133350" indent="0">
              <a:buNone/>
            </a:pPr>
            <a:endParaRPr lang="en-US" dirty="0"/>
          </a:p>
          <a:p>
            <a:pPr marL="133350" indent="0">
              <a:buNone/>
            </a:pPr>
            <a:endParaRPr lang="en-US" dirty="0"/>
          </a:p>
          <a:p>
            <a:pPr marL="133350" indent="0">
              <a:buNone/>
            </a:pPr>
            <a:endParaRPr lang="en-US" dirty="0"/>
          </a:p>
          <a:p>
            <a:pPr marL="133350" indent="0">
              <a:buNone/>
            </a:pPr>
            <a:endParaRPr lang="en-US" dirty="0"/>
          </a:p>
          <a:p>
            <a:pPr marL="133350" indent="0">
              <a:buNone/>
            </a:pPr>
            <a:endParaRPr lang="en-US" dirty="0"/>
          </a:p>
          <a:p>
            <a:pPr marL="133350" indent="0">
              <a:buNone/>
            </a:pPr>
            <a:r>
              <a:rPr lang="en-US" dirty="0"/>
              <a:t>Can also get the container number, weight, measure and VGM (Verified Gross Mass) of the cargo.</a:t>
            </a:r>
          </a:p>
        </p:txBody>
      </p:sp>
      <p:sp>
        <p:nvSpPr>
          <p:cNvPr id="4" name="Slide Number Placeholder 3">
            <a:extLst>
              <a:ext uri="{FF2B5EF4-FFF2-40B4-BE49-F238E27FC236}">
                <a16:creationId xmlns:a16="http://schemas.microsoft.com/office/drawing/2014/main" id="{54105618-4B28-0EA7-0BC0-08620FA37D2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20</a:t>
            </a:fld>
            <a:endParaRPr lang="en-US"/>
          </a:p>
        </p:txBody>
      </p:sp>
      <p:pic>
        <p:nvPicPr>
          <p:cNvPr id="6" name="Picture 5">
            <a:extLst>
              <a:ext uri="{FF2B5EF4-FFF2-40B4-BE49-F238E27FC236}">
                <a16:creationId xmlns:a16="http://schemas.microsoft.com/office/drawing/2014/main" id="{801254CB-2B94-A1E0-ACEA-8AC844E3BC42}"/>
              </a:ext>
            </a:extLst>
          </p:cNvPr>
          <p:cNvPicPr>
            <a:picLocks noChangeAspect="1"/>
          </p:cNvPicPr>
          <p:nvPr/>
        </p:nvPicPr>
        <p:blipFill>
          <a:blip r:embed="rId2"/>
          <a:stretch>
            <a:fillRect/>
          </a:stretch>
        </p:blipFill>
        <p:spPr>
          <a:xfrm>
            <a:off x="0" y="1840956"/>
            <a:ext cx="9144000" cy="1882588"/>
          </a:xfrm>
          <a:prstGeom prst="rect">
            <a:avLst/>
          </a:prstGeom>
        </p:spPr>
      </p:pic>
      <p:pic>
        <p:nvPicPr>
          <p:cNvPr id="8" name="Picture 7">
            <a:extLst>
              <a:ext uri="{FF2B5EF4-FFF2-40B4-BE49-F238E27FC236}">
                <a16:creationId xmlns:a16="http://schemas.microsoft.com/office/drawing/2014/main" id="{50483CDC-01C3-5D06-2CE5-68D75A45B8E7}"/>
              </a:ext>
            </a:extLst>
          </p:cNvPr>
          <p:cNvPicPr>
            <a:picLocks noChangeAspect="1"/>
          </p:cNvPicPr>
          <p:nvPr/>
        </p:nvPicPr>
        <p:blipFill>
          <a:blip r:embed="rId3"/>
          <a:stretch>
            <a:fillRect/>
          </a:stretch>
        </p:blipFill>
        <p:spPr>
          <a:xfrm>
            <a:off x="0" y="4160443"/>
            <a:ext cx="9144000" cy="1882588"/>
          </a:xfrm>
          <a:prstGeom prst="rect">
            <a:avLst/>
          </a:prstGeom>
        </p:spPr>
      </p:pic>
    </p:spTree>
    <p:extLst>
      <p:ext uri="{BB962C8B-B14F-4D97-AF65-F5344CB8AC3E}">
        <p14:creationId xmlns:p14="http://schemas.microsoft.com/office/powerpoint/2010/main" val="1488782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4344-D128-B876-554D-41CDFBE819E3}"/>
              </a:ext>
            </a:extLst>
          </p:cNvPr>
          <p:cNvSpPr>
            <a:spLocks noGrp="1"/>
          </p:cNvSpPr>
          <p:nvPr>
            <p:ph type="title"/>
          </p:nvPr>
        </p:nvSpPr>
        <p:spPr/>
        <p:txBody>
          <a:bodyPr/>
          <a:lstStyle/>
          <a:p>
            <a:r>
              <a:rPr lang="en-US" dirty="0"/>
              <a:t>Booking Inquiry</a:t>
            </a:r>
          </a:p>
        </p:txBody>
      </p:sp>
      <p:sp>
        <p:nvSpPr>
          <p:cNvPr id="3" name="Text Placeholder 2">
            <a:extLst>
              <a:ext uri="{FF2B5EF4-FFF2-40B4-BE49-F238E27FC236}">
                <a16:creationId xmlns:a16="http://schemas.microsoft.com/office/drawing/2014/main" id="{5B9E353D-B096-93B3-D6E4-61B0E9C27BB0}"/>
              </a:ext>
            </a:extLst>
          </p:cNvPr>
          <p:cNvSpPr>
            <a:spLocks noGrp="1"/>
          </p:cNvSpPr>
          <p:nvPr>
            <p:ph type="body" idx="1"/>
          </p:nvPr>
        </p:nvSpPr>
        <p:spPr>
          <a:xfrm>
            <a:off x="203002" y="1012723"/>
            <a:ext cx="8737997" cy="5467210"/>
          </a:xfrm>
        </p:spPr>
        <p:txBody>
          <a:bodyPr/>
          <a:lstStyle/>
          <a:p>
            <a:pPr marL="133350" indent="0">
              <a:buNone/>
            </a:pPr>
            <a:r>
              <a:rPr lang="en-US" b="1" dirty="0"/>
              <a:t>Charge</a:t>
            </a:r>
          </a:p>
          <a:p>
            <a:pPr marL="133350" indent="0">
              <a:buNone/>
            </a:pPr>
            <a:r>
              <a:rPr lang="en-US" dirty="0"/>
              <a:t>Charge tab shows the linked rates and charges in the booking.</a:t>
            </a:r>
          </a:p>
          <a:p>
            <a:pPr marL="133350" indent="0">
              <a:buNone/>
            </a:pPr>
            <a:r>
              <a:rPr lang="en-US" dirty="0"/>
              <a:t>Application Date : is the applied date of the rate</a:t>
            </a:r>
          </a:p>
          <a:p>
            <a:pPr marL="133350" indent="0">
              <a:buNone/>
            </a:pPr>
            <a:r>
              <a:rPr lang="en-US" dirty="0"/>
              <a:t>IN : I – Include / N – Not Include</a:t>
            </a:r>
          </a:p>
          <a:p>
            <a:pPr marL="133350" indent="0">
              <a:buNone/>
            </a:pPr>
            <a:r>
              <a:rPr lang="en-US" dirty="0"/>
              <a:t>Term : P – Prepaid / C – Collect</a:t>
            </a:r>
          </a:p>
          <a:p>
            <a:pPr marL="133350" indent="0">
              <a:buNone/>
            </a:pPr>
            <a:r>
              <a:rPr lang="en-US" dirty="0"/>
              <a:t>M : M – Manual / A – Automatic</a:t>
            </a:r>
          </a:p>
          <a:p>
            <a:pPr marL="133350" indent="0">
              <a:buNone/>
            </a:pPr>
            <a:endParaRPr lang="en-US" dirty="0"/>
          </a:p>
        </p:txBody>
      </p:sp>
      <p:sp>
        <p:nvSpPr>
          <p:cNvPr id="4" name="Slide Number Placeholder 3">
            <a:extLst>
              <a:ext uri="{FF2B5EF4-FFF2-40B4-BE49-F238E27FC236}">
                <a16:creationId xmlns:a16="http://schemas.microsoft.com/office/drawing/2014/main" id="{54105618-4B28-0EA7-0BC0-08620FA37D2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21</a:t>
            </a:fld>
            <a:endParaRPr lang="en-US"/>
          </a:p>
        </p:txBody>
      </p:sp>
      <p:pic>
        <p:nvPicPr>
          <p:cNvPr id="10" name="Picture 9">
            <a:extLst>
              <a:ext uri="{FF2B5EF4-FFF2-40B4-BE49-F238E27FC236}">
                <a16:creationId xmlns:a16="http://schemas.microsoft.com/office/drawing/2014/main" id="{393808BF-5A47-2201-0289-ED0BE5838363}"/>
              </a:ext>
            </a:extLst>
          </p:cNvPr>
          <p:cNvPicPr>
            <a:picLocks noChangeAspect="1"/>
          </p:cNvPicPr>
          <p:nvPr/>
        </p:nvPicPr>
        <p:blipFill>
          <a:blip r:embed="rId2"/>
          <a:stretch>
            <a:fillRect/>
          </a:stretch>
        </p:blipFill>
        <p:spPr>
          <a:xfrm>
            <a:off x="456946" y="3323303"/>
            <a:ext cx="8230108" cy="3277400"/>
          </a:xfrm>
          <a:prstGeom prst="rect">
            <a:avLst/>
          </a:prstGeom>
        </p:spPr>
      </p:pic>
    </p:spTree>
    <p:extLst>
      <p:ext uri="{BB962C8B-B14F-4D97-AF65-F5344CB8AC3E}">
        <p14:creationId xmlns:p14="http://schemas.microsoft.com/office/powerpoint/2010/main" val="2989842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4344-D128-B876-554D-41CDFBE819E3}"/>
              </a:ext>
            </a:extLst>
          </p:cNvPr>
          <p:cNvSpPr>
            <a:spLocks noGrp="1"/>
          </p:cNvSpPr>
          <p:nvPr>
            <p:ph type="title"/>
          </p:nvPr>
        </p:nvSpPr>
        <p:spPr/>
        <p:txBody>
          <a:bodyPr/>
          <a:lstStyle/>
          <a:p>
            <a:r>
              <a:rPr lang="en-US" dirty="0"/>
              <a:t>Booking Inquiry</a:t>
            </a:r>
          </a:p>
        </p:txBody>
      </p:sp>
      <p:sp>
        <p:nvSpPr>
          <p:cNvPr id="3" name="Text Placeholder 2">
            <a:extLst>
              <a:ext uri="{FF2B5EF4-FFF2-40B4-BE49-F238E27FC236}">
                <a16:creationId xmlns:a16="http://schemas.microsoft.com/office/drawing/2014/main" id="{5B9E353D-B096-93B3-D6E4-61B0E9C27BB0}"/>
              </a:ext>
            </a:extLst>
          </p:cNvPr>
          <p:cNvSpPr>
            <a:spLocks noGrp="1"/>
          </p:cNvSpPr>
          <p:nvPr>
            <p:ph type="body" idx="1"/>
          </p:nvPr>
        </p:nvSpPr>
        <p:spPr/>
        <p:txBody>
          <a:bodyPr/>
          <a:lstStyle/>
          <a:p>
            <a:pPr marL="133350" indent="0">
              <a:buNone/>
            </a:pPr>
            <a:r>
              <a:rPr lang="en-US" b="1" dirty="0"/>
              <a:t>Charge</a:t>
            </a:r>
          </a:p>
          <a:p>
            <a:pPr marL="133350" indent="0">
              <a:buNone/>
            </a:pPr>
            <a:r>
              <a:rPr lang="en-US" dirty="0"/>
              <a:t>If you click on the S/C No.’s spyglass it will redirect you to S/C Proposal and Amendment Inquiry.</a:t>
            </a:r>
          </a:p>
          <a:p>
            <a:pPr marL="133350" indent="0">
              <a:buNone/>
            </a:pPr>
            <a:r>
              <a:rPr lang="en-US" dirty="0"/>
              <a:t>This is to check what rates are linked in the booking, and if the correct rates are linked accordingly.</a:t>
            </a:r>
          </a:p>
        </p:txBody>
      </p:sp>
      <p:sp>
        <p:nvSpPr>
          <p:cNvPr id="4" name="Slide Number Placeholder 3">
            <a:extLst>
              <a:ext uri="{FF2B5EF4-FFF2-40B4-BE49-F238E27FC236}">
                <a16:creationId xmlns:a16="http://schemas.microsoft.com/office/drawing/2014/main" id="{54105618-4B28-0EA7-0BC0-08620FA37D2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22</a:t>
            </a:fld>
            <a:endParaRPr lang="en-US"/>
          </a:p>
        </p:txBody>
      </p:sp>
      <p:pic>
        <p:nvPicPr>
          <p:cNvPr id="10" name="Picture 9">
            <a:extLst>
              <a:ext uri="{FF2B5EF4-FFF2-40B4-BE49-F238E27FC236}">
                <a16:creationId xmlns:a16="http://schemas.microsoft.com/office/drawing/2014/main" id="{CDABA128-B578-F9F2-001B-2680C572B0AC}"/>
              </a:ext>
            </a:extLst>
          </p:cNvPr>
          <p:cNvPicPr>
            <a:picLocks noChangeAspect="1"/>
          </p:cNvPicPr>
          <p:nvPr/>
        </p:nvPicPr>
        <p:blipFill>
          <a:blip r:embed="rId2"/>
          <a:srcRect b="53788"/>
          <a:stretch/>
        </p:blipFill>
        <p:spPr>
          <a:xfrm>
            <a:off x="1090312" y="2173130"/>
            <a:ext cx="6963375" cy="1268675"/>
          </a:xfrm>
          <a:prstGeom prst="rect">
            <a:avLst/>
          </a:prstGeom>
        </p:spPr>
      </p:pic>
      <p:pic>
        <p:nvPicPr>
          <p:cNvPr id="12" name="Picture 11">
            <a:extLst>
              <a:ext uri="{FF2B5EF4-FFF2-40B4-BE49-F238E27FC236}">
                <a16:creationId xmlns:a16="http://schemas.microsoft.com/office/drawing/2014/main" id="{A5B2A932-3E5E-4C3F-29EB-24A0D226AAE7}"/>
              </a:ext>
            </a:extLst>
          </p:cNvPr>
          <p:cNvPicPr>
            <a:picLocks noChangeAspect="1"/>
          </p:cNvPicPr>
          <p:nvPr/>
        </p:nvPicPr>
        <p:blipFill>
          <a:blip r:embed="rId3"/>
          <a:stretch>
            <a:fillRect/>
          </a:stretch>
        </p:blipFill>
        <p:spPr>
          <a:xfrm>
            <a:off x="1090312" y="3557147"/>
            <a:ext cx="6963375" cy="3048986"/>
          </a:xfrm>
          <a:prstGeom prst="rect">
            <a:avLst/>
          </a:prstGeom>
        </p:spPr>
      </p:pic>
    </p:spTree>
    <p:extLst>
      <p:ext uri="{BB962C8B-B14F-4D97-AF65-F5344CB8AC3E}">
        <p14:creationId xmlns:p14="http://schemas.microsoft.com/office/powerpoint/2010/main" val="2220507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3C238-360D-9FC3-704F-45912DDA2B18}"/>
              </a:ext>
            </a:extLst>
          </p:cNvPr>
          <p:cNvSpPr>
            <a:spLocks noGrp="1"/>
          </p:cNvSpPr>
          <p:nvPr>
            <p:ph type="title"/>
          </p:nvPr>
        </p:nvSpPr>
        <p:spPr/>
        <p:txBody>
          <a:bodyPr/>
          <a:lstStyle/>
          <a:p>
            <a:r>
              <a:rPr lang="en-US" dirty="0"/>
              <a:t>DEM/DET Adjustment Request - After Booking Approval</a:t>
            </a:r>
          </a:p>
        </p:txBody>
      </p:sp>
      <p:sp>
        <p:nvSpPr>
          <p:cNvPr id="3" name="Text Placeholder 2">
            <a:extLst>
              <a:ext uri="{FF2B5EF4-FFF2-40B4-BE49-F238E27FC236}">
                <a16:creationId xmlns:a16="http://schemas.microsoft.com/office/drawing/2014/main" id="{EBCD9CFE-7FCB-482C-1952-C645200EA03C}"/>
              </a:ext>
            </a:extLst>
          </p:cNvPr>
          <p:cNvSpPr>
            <a:spLocks noGrp="1"/>
          </p:cNvSpPr>
          <p:nvPr>
            <p:ph type="body" idx="1"/>
          </p:nvPr>
        </p:nvSpPr>
        <p:spPr/>
        <p:txBody>
          <a:bodyPr/>
          <a:lstStyle/>
          <a:p>
            <a:pPr marL="133350" indent="0">
              <a:buNone/>
            </a:pPr>
            <a:r>
              <a:rPr lang="en-US" b="1" dirty="0"/>
              <a:t>Path</a:t>
            </a:r>
            <a:r>
              <a:rPr lang="en-US" dirty="0"/>
              <a:t>: Service Management &gt; Demurrage/Detention &gt; F/T Adjustment &gt; DAR - After Booking &gt; DAR - After Booking Approval</a:t>
            </a:r>
          </a:p>
        </p:txBody>
      </p:sp>
      <p:sp>
        <p:nvSpPr>
          <p:cNvPr id="4" name="Slide Number Placeholder 3">
            <a:extLst>
              <a:ext uri="{FF2B5EF4-FFF2-40B4-BE49-F238E27FC236}">
                <a16:creationId xmlns:a16="http://schemas.microsoft.com/office/drawing/2014/main" id="{DDCE8136-EF1B-8B75-FBB5-7F4A85E13FF5}"/>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23</a:t>
            </a:fld>
            <a:endParaRPr lang="en-US"/>
          </a:p>
        </p:txBody>
      </p:sp>
      <p:pic>
        <p:nvPicPr>
          <p:cNvPr id="6" name="Picture 5">
            <a:extLst>
              <a:ext uri="{FF2B5EF4-FFF2-40B4-BE49-F238E27FC236}">
                <a16:creationId xmlns:a16="http://schemas.microsoft.com/office/drawing/2014/main" id="{F0130A6A-397F-2F1A-9015-A9C0C39C2F10}"/>
              </a:ext>
            </a:extLst>
          </p:cNvPr>
          <p:cNvPicPr>
            <a:picLocks noChangeAspect="1"/>
          </p:cNvPicPr>
          <p:nvPr/>
        </p:nvPicPr>
        <p:blipFill>
          <a:blip r:embed="rId2"/>
          <a:stretch>
            <a:fillRect/>
          </a:stretch>
        </p:blipFill>
        <p:spPr>
          <a:xfrm>
            <a:off x="0" y="1807078"/>
            <a:ext cx="9144000" cy="3356779"/>
          </a:xfrm>
          <a:prstGeom prst="rect">
            <a:avLst/>
          </a:prstGeom>
        </p:spPr>
      </p:pic>
    </p:spTree>
    <p:extLst>
      <p:ext uri="{BB962C8B-B14F-4D97-AF65-F5344CB8AC3E}">
        <p14:creationId xmlns:p14="http://schemas.microsoft.com/office/powerpoint/2010/main" val="793360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3C238-360D-9FC3-704F-45912DDA2B18}"/>
              </a:ext>
            </a:extLst>
          </p:cNvPr>
          <p:cNvSpPr>
            <a:spLocks noGrp="1"/>
          </p:cNvSpPr>
          <p:nvPr>
            <p:ph type="title"/>
          </p:nvPr>
        </p:nvSpPr>
        <p:spPr/>
        <p:txBody>
          <a:bodyPr/>
          <a:lstStyle/>
          <a:p>
            <a:r>
              <a:rPr lang="en-US" dirty="0"/>
              <a:t>DEM/DET Adjustment Request - After Booking Approval</a:t>
            </a:r>
          </a:p>
        </p:txBody>
      </p:sp>
      <p:sp>
        <p:nvSpPr>
          <p:cNvPr id="3" name="Text Placeholder 2">
            <a:extLst>
              <a:ext uri="{FF2B5EF4-FFF2-40B4-BE49-F238E27FC236}">
                <a16:creationId xmlns:a16="http://schemas.microsoft.com/office/drawing/2014/main" id="{EBCD9CFE-7FCB-482C-1952-C645200EA03C}"/>
              </a:ext>
            </a:extLst>
          </p:cNvPr>
          <p:cNvSpPr>
            <a:spLocks noGrp="1"/>
          </p:cNvSpPr>
          <p:nvPr>
            <p:ph type="body" idx="1"/>
          </p:nvPr>
        </p:nvSpPr>
        <p:spPr/>
        <p:txBody>
          <a:bodyPr/>
          <a:lstStyle/>
          <a:p>
            <a:pPr marL="133350" indent="0">
              <a:buNone/>
            </a:pPr>
            <a:r>
              <a:rPr lang="en-US" sz="1200" dirty="0"/>
              <a:t>APVL Office – should indicate the correct APVL Office (for OMMC it is SINHQ)</a:t>
            </a:r>
          </a:p>
          <a:p>
            <a:pPr marL="133350" indent="0">
              <a:buNone/>
            </a:pPr>
            <a:r>
              <a:rPr lang="en-US" sz="1200" dirty="0"/>
              <a:t>DAR No. – DAR number to be provided by sales, since sales is the one who prepared the DAR request.</a:t>
            </a:r>
          </a:p>
          <a:p>
            <a:pPr marL="133350" indent="0">
              <a:buNone/>
            </a:pPr>
            <a:r>
              <a:rPr lang="en-US" sz="1200" dirty="0"/>
              <a:t>S/C No. – is the 10-digit service contract number of the account.</a:t>
            </a:r>
          </a:p>
          <a:p>
            <a:pPr marL="133350" indent="0">
              <a:buNone/>
            </a:pPr>
            <a:r>
              <a:rPr lang="en-US" sz="1200" dirty="0"/>
              <a:t>BKG No. – is the booking linked.</a:t>
            </a:r>
          </a:p>
          <a:p>
            <a:pPr marL="133350" indent="0">
              <a:buNone/>
            </a:pPr>
            <a:r>
              <a:rPr lang="en-US" sz="1200" dirty="0"/>
              <a:t>Free Time – for additional free time requests, should be inputted under “Add” column and indicate the number of days.</a:t>
            </a:r>
          </a:p>
          <a:p>
            <a:pPr marL="133350" indent="0">
              <a:buNone/>
            </a:pPr>
            <a:r>
              <a:rPr lang="en-US" sz="1200" dirty="0"/>
              <a:t>F/T – column is the number of tariff days</a:t>
            </a:r>
          </a:p>
          <a:p>
            <a:pPr marL="133350" indent="0">
              <a:buNone/>
            </a:pPr>
            <a:r>
              <a:rPr lang="en-US" sz="1200" dirty="0"/>
              <a:t>Comment box – is the section you will indicate your remarks.</a:t>
            </a:r>
          </a:p>
        </p:txBody>
      </p:sp>
      <p:sp>
        <p:nvSpPr>
          <p:cNvPr id="4" name="Slide Number Placeholder 3">
            <a:extLst>
              <a:ext uri="{FF2B5EF4-FFF2-40B4-BE49-F238E27FC236}">
                <a16:creationId xmlns:a16="http://schemas.microsoft.com/office/drawing/2014/main" id="{DDCE8136-EF1B-8B75-FBB5-7F4A85E13FF5}"/>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24</a:t>
            </a:fld>
            <a:endParaRPr lang="en-US"/>
          </a:p>
        </p:txBody>
      </p:sp>
      <p:pic>
        <p:nvPicPr>
          <p:cNvPr id="7" name="Picture 6">
            <a:extLst>
              <a:ext uri="{FF2B5EF4-FFF2-40B4-BE49-F238E27FC236}">
                <a16:creationId xmlns:a16="http://schemas.microsoft.com/office/drawing/2014/main" id="{1260EEAE-D366-2DAF-238F-417AD02B4D0B}"/>
              </a:ext>
            </a:extLst>
          </p:cNvPr>
          <p:cNvPicPr>
            <a:picLocks noChangeAspect="1"/>
          </p:cNvPicPr>
          <p:nvPr/>
        </p:nvPicPr>
        <p:blipFill>
          <a:blip r:embed="rId2"/>
          <a:stretch>
            <a:fillRect/>
          </a:stretch>
        </p:blipFill>
        <p:spPr>
          <a:xfrm>
            <a:off x="363212" y="3429000"/>
            <a:ext cx="8417575" cy="3050931"/>
          </a:xfrm>
          <a:prstGeom prst="rect">
            <a:avLst/>
          </a:prstGeom>
        </p:spPr>
      </p:pic>
    </p:spTree>
    <p:extLst>
      <p:ext uri="{BB962C8B-B14F-4D97-AF65-F5344CB8AC3E}">
        <p14:creationId xmlns:p14="http://schemas.microsoft.com/office/powerpoint/2010/main" val="1680442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3C238-360D-9FC3-704F-45912DDA2B18}"/>
              </a:ext>
            </a:extLst>
          </p:cNvPr>
          <p:cNvSpPr>
            <a:spLocks noGrp="1"/>
          </p:cNvSpPr>
          <p:nvPr>
            <p:ph type="title"/>
          </p:nvPr>
        </p:nvSpPr>
        <p:spPr/>
        <p:txBody>
          <a:bodyPr/>
          <a:lstStyle/>
          <a:p>
            <a:r>
              <a:rPr lang="en-US" dirty="0"/>
              <a:t>DEM/DET Adjustment Request - After Booking Approval</a:t>
            </a:r>
          </a:p>
        </p:txBody>
      </p:sp>
      <p:sp>
        <p:nvSpPr>
          <p:cNvPr id="3" name="Text Placeholder 2">
            <a:extLst>
              <a:ext uri="{FF2B5EF4-FFF2-40B4-BE49-F238E27FC236}">
                <a16:creationId xmlns:a16="http://schemas.microsoft.com/office/drawing/2014/main" id="{EBCD9CFE-7FCB-482C-1952-C645200EA03C}"/>
              </a:ext>
            </a:extLst>
          </p:cNvPr>
          <p:cNvSpPr>
            <a:spLocks noGrp="1"/>
          </p:cNvSpPr>
          <p:nvPr>
            <p:ph type="body" idx="1"/>
          </p:nvPr>
        </p:nvSpPr>
        <p:spPr/>
        <p:txBody>
          <a:bodyPr/>
          <a:lstStyle/>
          <a:p>
            <a:pPr marL="361950" indent="-228600">
              <a:buAutoNum type="arabicParenR"/>
            </a:pPr>
            <a:r>
              <a:rPr lang="en-US" sz="1200" dirty="0"/>
              <a:t>Input the DAR number and click “Retrieve”.</a:t>
            </a:r>
          </a:p>
          <a:p>
            <a:pPr marL="361950" indent="-228600">
              <a:buAutoNum type="arabicParenR"/>
            </a:pPr>
            <a:endParaRPr lang="en-US" sz="1200" dirty="0"/>
          </a:p>
          <a:p>
            <a:pPr marL="361950" indent="-228600">
              <a:buAutoNum type="arabicParenR"/>
            </a:pPr>
            <a:endParaRPr lang="en-US" sz="1200" dirty="0"/>
          </a:p>
          <a:p>
            <a:pPr marL="361950" indent="-228600">
              <a:buAutoNum type="arabicParenR"/>
            </a:pPr>
            <a:r>
              <a:rPr lang="en-US" sz="1200" dirty="0"/>
              <a:t>Check the selected reason for request, it should be accurate with the request.</a:t>
            </a:r>
          </a:p>
          <a:p>
            <a:pPr marL="361950" indent="-228600">
              <a:buAutoNum type="arabicParenR"/>
            </a:pPr>
            <a:endParaRPr lang="en-US" sz="1200" dirty="0"/>
          </a:p>
          <a:p>
            <a:pPr marL="361950" indent="-228600">
              <a:buAutoNum type="arabicParenR"/>
            </a:pPr>
            <a:endParaRPr lang="en-US" sz="1200" dirty="0"/>
          </a:p>
          <a:p>
            <a:pPr marL="361950" indent="-228600">
              <a:buAutoNum type="arabicParenR"/>
            </a:pPr>
            <a:r>
              <a:rPr lang="en-US" sz="1200" dirty="0"/>
              <a:t>Click the “Comment” box and input remarks.</a:t>
            </a:r>
          </a:p>
          <a:p>
            <a:pPr marL="361950" indent="-228600">
              <a:buAutoNum type="arabicParenR"/>
            </a:pPr>
            <a:endParaRPr lang="en-US" sz="1200" dirty="0"/>
          </a:p>
          <a:p>
            <a:pPr marL="361950" indent="-228600">
              <a:buAutoNum type="arabicParenR"/>
            </a:pPr>
            <a:endParaRPr lang="en-US" sz="1200" dirty="0"/>
          </a:p>
          <a:p>
            <a:pPr marL="361950" indent="-228600">
              <a:buAutoNum type="arabicParenR"/>
            </a:pPr>
            <a:endParaRPr lang="en-US" sz="1200" dirty="0"/>
          </a:p>
          <a:p>
            <a:pPr marL="361950" indent="-228600">
              <a:buAutoNum type="arabicParenR"/>
            </a:pPr>
            <a:r>
              <a:rPr lang="en-US" sz="1200" dirty="0"/>
              <a:t>Check all details if all are correct, if ok, proceed to Approve the request.</a:t>
            </a:r>
          </a:p>
        </p:txBody>
      </p:sp>
      <p:sp>
        <p:nvSpPr>
          <p:cNvPr id="4" name="Slide Number Placeholder 3">
            <a:extLst>
              <a:ext uri="{FF2B5EF4-FFF2-40B4-BE49-F238E27FC236}">
                <a16:creationId xmlns:a16="http://schemas.microsoft.com/office/drawing/2014/main" id="{DDCE8136-EF1B-8B75-FBB5-7F4A85E13FF5}"/>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25</a:t>
            </a:fld>
            <a:endParaRPr lang="en-US"/>
          </a:p>
        </p:txBody>
      </p:sp>
      <p:pic>
        <p:nvPicPr>
          <p:cNvPr id="6" name="Picture 5">
            <a:extLst>
              <a:ext uri="{FF2B5EF4-FFF2-40B4-BE49-F238E27FC236}">
                <a16:creationId xmlns:a16="http://schemas.microsoft.com/office/drawing/2014/main" id="{4EC66173-074A-DAB8-5D3D-4C6D70C6D920}"/>
              </a:ext>
            </a:extLst>
          </p:cNvPr>
          <p:cNvPicPr>
            <a:picLocks noChangeAspect="1"/>
          </p:cNvPicPr>
          <p:nvPr/>
        </p:nvPicPr>
        <p:blipFill>
          <a:blip r:embed="rId2"/>
          <a:stretch>
            <a:fillRect/>
          </a:stretch>
        </p:blipFill>
        <p:spPr>
          <a:xfrm>
            <a:off x="1103671" y="1425186"/>
            <a:ext cx="6936657" cy="576544"/>
          </a:xfrm>
          <a:prstGeom prst="rect">
            <a:avLst/>
          </a:prstGeom>
        </p:spPr>
      </p:pic>
      <p:pic>
        <p:nvPicPr>
          <p:cNvPr id="9" name="Picture 8">
            <a:extLst>
              <a:ext uri="{FF2B5EF4-FFF2-40B4-BE49-F238E27FC236}">
                <a16:creationId xmlns:a16="http://schemas.microsoft.com/office/drawing/2014/main" id="{5E5843E8-5E36-EC5C-604F-22F256A565B3}"/>
              </a:ext>
            </a:extLst>
          </p:cNvPr>
          <p:cNvPicPr>
            <a:picLocks noChangeAspect="1"/>
          </p:cNvPicPr>
          <p:nvPr/>
        </p:nvPicPr>
        <p:blipFill>
          <a:blip r:embed="rId3"/>
          <a:stretch>
            <a:fillRect/>
          </a:stretch>
        </p:blipFill>
        <p:spPr>
          <a:xfrm>
            <a:off x="1103671" y="3472214"/>
            <a:ext cx="4054191" cy="674294"/>
          </a:xfrm>
          <a:prstGeom prst="rect">
            <a:avLst/>
          </a:prstGeom>
        </p:spPr>
      </p:pic>
      <p:pic>
        <p:nvPicPr>
          <p:cNvPr id="11" name="Picture 10">
            <a:extLst>
              <a:ext uri="{FF2B5EF4-FFF2-40B4-BE49-F238E27FC236}">
                <a16:creationId xmlns:a16="http://schemas.microsoft.com/office/drawing/2014/main" id="{721A5FC7-929A-DF03-68A0-8D6A6945AD47}"/>
              </a:ext>
            </a:extLst>
          </p:cNvPr>
          <p:cNvPicPr>
            <a:picLocks noChangeAspect="1"/>
          </p:cNvPicPr>
          <p:nvPr/>
        </p:nvPicPr>
        <p:blipFill>
          <a:blip r:embed="rId4"/>
          <a:stretch>
            <a:fillRect/>
          </a:stretch>
        </p:blipFill>
        <p:spPr>
          <a:xfrm>
            <a:off x="1103670" y="2398507"/>
            <a:ext cx="4054191" cy="533446"/>
          </a:xfrm>
          <a:prstGeom prst="rect">
            <a:avLst/>
          </a:prstGeom>
        </p:spPr>
      </p:pic>
      <p:pic>
        <p:nvPicPr>
          <p:cNvPr id="13" name="Picture 12">
            <a:extLst>
              <a:ext uri="{FF2B5EF4-FFF2-40B4-BE49-F238E27FC236}">
                <a16:creationId xmlns:a16="http://schemas.microsoft.com/office/drawing/2014/main" id="{EBBE8EA5-9B03-AC9F-6399-938AD41E857A}"/>
              </a:ext>
            </a:extLst>
          </p:cNvPr>
          <p:cNvPicPr>
            <a:picLocks noChangeAspect="1"/>
          </p:cNvPicPr>
          <p:nvPr/>
        </p:nvPicPr>
        <p:blipFill>
          <a:blip r:embed="rId5"/>
          <a:stretch>
            <a:fillRect/>
          </a:stretch>
        </p:blipFill>
        <p:spPr>
          <a:xfrm>
            <a:off x="5663379" y="4182414"/>
            <a:ext cx="3156155" cy="2225203"/>
          </a:xfrm>
          <a:prstGeom prst="rect">
            <a:avLst/>
          </a:prstGeom>
        </p:spPr>
      </p:pic>
    </p:spTree>
    <p:extLst>
      <p:ext uri="{BB962C8B-B14F-4D97-AF65-F5344CB8AC3E}">
        <p14:creationId xmlns:p14="http://schemas.microsoft.com/office/powerpoint/2010/main" val="1407507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Product Catalog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Service Management &gt; Product Catalog &gt; Product Catalog Generation &gt; Product Catalog Inquiry</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26</a:t>
            </a:fld>
            <a:endParaRPr lang="en-US"/>
          </a:p>
        </p:txBody>
      </p:sp>
      <p:pic>
        <p:nvPicPr>
          <p:cNvPr id="6" name="Picture 5">
            <a:extLst>
              <a:ext uri="{FF2B5EF4-FFF2-40B4-BE49-F238E27FC236}">
                <a16:creationId xmlns:a16="http://schemas.microsoft.com/office/drawing/2014/main" id="{A6612985-793C-A5C6-3DD6-10339CA74E89}"/>
              </a:ext>
            </a:extLst>
          </p:cNvPr>
          <p:cNvPicPr>
            <a:picLocks noChangeAspect="1"/>
          </p:cNvPicPr>
          <p:nvPr/>
        </p:nvPicPr>
        <p:blipFill>
          <a:blip r:embed="rId2"/>
          <a:stretch>
            <a:fillRect/>
          </a:stretch>
        </p:blipFill>
        <p:spPr>
          <a:xfrm>
            <a:off x="0" y="2089699"/>
            <a:ext cx="9144000" cy="3980046"/>
          </a:xfrm>
          <a:prstGeom prst="rect">
            <a:avLst/>
          </a:prstGeom>
        </p:spPr>
      </p:pic>
    </p:spTree>
    <p:extLst>
      <p:ext uri="{BB962C8B-B14F-4D97-AF65-F5344CB8AC3E}">
        <p14:creationId xmlns:p14="http://schemas.microsoft.com/office/powerpoint/2010/main" val="2247744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Product Catalog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dirty="0"/>
              <a:t>Input the 5-letter location code for the POR / POL / POD / DEL</a:t>
            </a:r>
          </a:p>
          <a:p>
            <a:pPr marL="133350" indent="0">
              <a:buNone/>
            </a:pPr>
            <a:r>
              <a:rPr lang="en-US" dirty="0"/>
              <a:t>Select the correct the Cargo Nature</a:t>
            </a:r>
          </a:p>
          <a:p>
            <a:pPr marL="133350" indent="0">
              <a:buNone/>
            </a:pPr>
            <a:r>
              <a:rPr lang="en-US" dirty="0"/>
              <a:t>Select the Ocean Route Priority (P1/P2: There are routes that are available in the ONE website, the prioritized routes to be taken) You may select Ocean Route Priority: All so that you can view all the routes available.</a:t>
            </a:r>
          </a:p>
          <a:p>
            <a:pPr marL="133350" indent="0">
              <a:buNone/>
            </a:pPr>
            <a:r>
              <a:rPr lang="en-US" dirty="0"/>
              <a:t>R &amp; D Term : C – CY / D – Door</a:t>
            </a:r>
          </a:p>
          <a:p>
            <a:pPr marL="133350" indent="0">
              <a:buNone/>
            </a:pPr>
            <a:r>
              <a:rPr lang="en-US" dirty="0"/>
              <a:t>TP/SZ : D2/D4/D5/D7 for Dry or R2/R5 for Reefer</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27</a:t>
            </a:fld>
            <a:endParaRPr lang="en-US"/>
          </a:p>
        </p:txBody>
      </p:sp>
      <p:pic>
        <p:nvPicPr>
          <p:cNvPr id="7" name="Picture 6">
            <a:extLst>
              <a:ext uri="{FF2B5EF4-FFF2-40B4-BE49-F238E27FC236}">
                <a16:creationId xmlns:a16="http://schemas.microsoft.com/office/drawing/2014/main" id="{997D2A55-F9EC-8BB6-4B9A-3F7FFE23A5B1}"/>
              </a:ext>
            </a:extLst>
          </p:cNvPr>
          <p:cNvPicPr>
            <a:picLocks noChangeAspect="1"/>
          </p:cNvPicPr>
          <p:nvPr/>
        </p:nvPicPr>
        <p:blipFill>
          <a:blip r:embed="rId2"/>
          <a:stretch>
            <a:fillRect/>
          </a:stretch>
        </p:blipFill>
        <p:spPr>
          <a:xfrm>
            <a:off x="261194" y="3392939"/>
            <a:ext cx="7369714" cy="3207765"/>
          </a:xfrm>
          <a:prstGeom prst="rect">
            <a:avLst/>
          </a:prstGeom>
        </p:spPr>
      </p:pic>
      <p:pic>
        <p:nvPicPr>
          <p:cNvPr id="9" name="Picture 8">
            <a:extLst>
              <a:ext uri="{FF2B5EF4-FFF2-40B4-BE49-F238E27FC236}">
                <a16:creationId xmlns:a16="http://schemas.microsoft.com/office/drawing/2014/main" id="{F2847152-173F-9AC3-B449-3C455EE1AD1E}"/>
              </a:ext>
            </a:extLst>
          </p:cNvPr>
          <p:cNvPicPr>
            <a:picLocks noChangeAspect="1"/>
          </p:cNvPicPr>
          <p:nvPr/>
        </p:nvPicPr>
        <p:blipFill>
          <a:blip r:embed="rId3"/>
          <a:stretch>
            <a:fillRect/>
          </a:stretch>
        </p:blipFill>
        <p:spPr>
          <a:xfrm>
            <a:off x="6379010" y="4935794"/>
            <a:ext cx="2639318" cy="1544137"/>
          </a:xfrm>
          <a:prstGeom prst="rect">
            <a:avLst/>
          </a:prstGeom>
        </p:spPr>
      </p:pic>
    </p:spTree>
    <p:extLst>
      <p:ext uri="{BB962C8B-B14F-4D97-AF65-F5344CB8AC3E}">
        <p14:creationId xmlns:p14="http://schemas.microsoft.com/office/powerpoint/2010/main" val="3881563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Product Catalog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dirty="0"/>
              <a:t>Click “Retrieve” to show the available routes.</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28</a:t>
            </a:fld>
            <a:endParaRPr lang="en-US"/>
          </a:p>
        </p:txBody>
      </p:sp>
      <p:pic>
        <p:nvPicPr>
          <p:cNvPr id="6" name="Picture 5">
            <a:extLst>
              <a:ext uri="{FF2B5EF4-FFF2-40B4-BE49-F238E27FC236}">
                <a16:creationId xmlns:a16="http://schemas.microsoft.com/office/drawing/2014/main" id="{87205FBA-1B83-7DF9-FCF1-78192E9A221E}"/>
              </a:ext>
            </a:extLst>
          </p:cNvPr>
          <p:cNvPicPr>
            <a:picLocks noChangeAspect="1"/>
          </p:cNvPicPr>
          <p:nvPr/>
        </p:nvPicPr>
        <p:blipFill>
          <a:blip r:embed="rId2"/>
          <a:stretch>
            <a:fillRect/>
          </a:stretch>
        </p:blipFill>
        <p:spPr>
          <a:xfrm>
            <a:off x="0" y="1972577"/>
            <a:ext cx="9144000" cy="2362240"/>
          </a:xfrm>
          <a:prstGeom prst="rect">
            <a:avLst/>
          </a:prstGeom>
        </p:spPr>
      </p:pic>
      <p:pic>
        <p:nvPicPr>
          <p:cNvPr id="23" name="Graphic 22" descr="Badge 1 with solid fill">
            <a:extLst>
              <a:ext uri="{FF2B5EF4-FFF2-40B4-BE49-F238E27FC236}">
                <a16:creationId xmlns:a16="http://schemas.microsoft.com/office/drawing/2014/main" id="{466F0AFF-D7E0-B861-3191-6E071976E5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48706" y="1972577"/>
            <a:ext cx="347836" cy="347836"/>
          </a:xfrm>
          <a:prstGeom prst="rect">
            <a:avLst/>
          </a:prstGeom>
        </p:spPr>
      </p:pic>
      <p:pic>
        <p:nvPicPr>
          <p:cNvPr id="25" name="Graphic 24" descr="Badge with solid fill">
            <a:extLst>
              <a:ext uri="{FF2B5EF4-FFF2-40B4-BE49-F238E27FC236}">
                <a16:creationId xmlns:a16="http://schemas.microsoft.com/office/drawing/2014/main" id="{A93B4B67-FABD-BA68-A678-5B86AF6D3D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95037" y="1731035"/>
            <a:ext cx="356419" cy="356419"/>
          </a:xfrm>
          <a:prstGeom prst="rect">
            <a:avLst/>
          </a:prstGeom>
        </p:spPr>
      </p:pic>
      <p:pic>
        <p:nvPicPr>
          <p:cNvPr id="27" name="Graphic 26" descr="Badge 3 with solid fill">
            <a:extLst>
              <a:ext uri="{FF2B5EF4-FFF2-40B4-BE49-F238E27FC236}">
                <a16:creationId xmlns:a16="http://schemas.microsoft.com/office/drawing/2014/main" id="{CDBDAF7C-1448-40F6-B828-71035117868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96542" y="2657168"/>
            <a:ext cx="312174" cy="312174"/>
          </a:xfrm>
          <a:prstGeom prst="rect">
            <a:avLst/>
          </a:prstGeom>
        </p:spPr>
      </p:pic>
    </p:spTree>
    <p:extLst>
      <p:ext uri="{BB962C8B-B14F-4D97-AF65-F5344CB8AC3E}">
        <p14:creationId xmlns:p14="http://schemas.microsoft.com/office/powerpoint/2010/main" val="590800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Product Catalog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dirty="0"/>
              <a:t>Product Catalog</a:t>
            </a:r>
          </a:p>
          <a:p>
            <a:pPr marL="133350" indent="0">
              <a:buNone/>
            </a:pPr>
            <a:r>
              <a:rPr lang="en-US" dirty="0"/>
              <a:t>&gt; Detail</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29</a:t>
            </a:fld>
            <a:endParaRPr lang="en-US"/>
          </a:p>
        </p:txBody>
      </p:sp>
      <p:pic>
        <p:nvPicPr>
          <p:cNvPr id="7" name="Picture 6">
            <a:extLst>
              <a:ext uri="{FF2B5EF4-FFF2-40B4-BE49-F238E27FC236}">
                <a16:creationId xmlns:a16="http://schemas.microsoft.com/office/drawing/2014/main" id="{13723067-DAD6-EBBF-28B6-A53A618363B5}"/>
              </a:ext>
            </a:extLst>
          </p:cNvPr>
          <p:cNvPicPr>
            <a:picLocks noChangeAspect="1"/>
          </p:cNvPicPr>
          <p:nvPr/>
        </p:nvPicPr>
        <p:blipFill>
          <a:blip r:embed="rId2"/>
          <a:stretch>
            <a:fillRect/>
          </a:stretch>
        </p:blipFill>
        <p:spPr>
          <a:xfrm>
            <a:off x="0" y="2239461"/>
            <a:ext cx="9144000" cy="4109556"/>
          </a:xfrm>
          <a:prstGeom prst="rect">
            <a:avLst/>
          </a:prstGeom>
        </p:spPr>
      </p:pic>
    </p:spTree>
    <p:extLst>
      <p:ext uri="{BB962C8B-B14F-4D97-AF65-F5344CB8AC3E}">
        <p14:creationId xmlns:p14="http://schemas.microsoft.com/office/powerpoint/2010/main" val="3014089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Pricing Simulation</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Sales Management &gt; Pricing &gt; Simulation &gt; Pricing Simulation</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30</a:t>
            </a:fld>
            <a:endParaRPr lang="en-US"/>
          </a:p>
        </p:txBody>
      </p:sp>
      <p:pic>
        <p:nvPicPr>
          <p:cNvPr id="6" name="Picture 5">
            <a:extLst>
              <a:ext uri="{FF2B5EF4-FFF2-40B4-BE49-F238E27FC236}">
                <a16:creationId xmlns:a16="http://schemas.microsoft.com/office/drawing/2014/main" id="{53C3631E-EFA6-C619-5E2E-7467BB737E5F}"/>
              </a:ext>
            </a:extLst>
          </p:cNvPr>
          <p:cNvPicPr>
            <a:picLocks noChangeAspect="1"/>
          </p:cNvPicPr>
          <p:nvPr/>
        </p:nvPicPr>
        <p:blipFill>
          <a:blip r:embed="rId2"/>
          <a:stretch>
            <a:fillRect/>
          </a:stretch>
        </p:blipFill>
        <p:spPr>
          <a:xfrm>
            <a:off x="0" y="2221904"/>
            <a:ext cx="9144000" cy="3847841"/>
          </a:xfrm>
          <a:prstGeom prst="rect">
            <a:avLst/>
          </a:prstGeom>
        </p:spPr>
      </p:pic>
    </p:spTree>
    <p:extLst>
      <p:ext uri="{BB962C8B-B14F-4D97-AF65-F5344CB8AC3E}">
        <p14:creationId xmlns:p14="http://schemas.microsoft.com/office/powerpoint/2010/main" val="705671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Location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Sales Management &gt; Pricing &gt; Code &gt; Inquiry &gt; Location Inquiry</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31</a:t>
            </a:fld>
            <a:endParaRPr lang="en-US"/>
          </a:p>
        </p:txBody>
      </p:sp>
      <p:pic>
        <p:nvPicPr>
          <p:cNvPr id="7" name="Picture 6">
            <a:extLst>
              <a:ext uri="{FF2B5EF4-FFF2-40B4-BE49-F238E27FC236}">
                <a16:creationId xmlns:a16="http://schemas.microsoft.com/office/drawing/2014/main" id="{44DFD7AF-BF8F-834B-BAE3-A742EF2B2B31}"/>
              </a:ext>
            </a:extLst>
          </p:cNvPr>
          <p:cNvPicPr>
            <a:picLocks noChangeAspect="1"/>
          </p:cNvPicPr>
          <p:nvPr/>
        </p:nvPicPr>
        <p:blipFill>
          <a:blip r:embed="rId2"/>
          <a:stretch>
            <a:fillRect/>
          </a:stretch>
        </p:blipFill>
        <p:spPr>
          <a:xfrm>
            <a:off x="0" y="2630449"/>
            <a:ext cx="9144000" cy="1597101"/>
          </a:xfrm>
          <a:prstGeom prst="rect">
            <a:avLst/>
          </a:prstGeom>
        </p:spPr>
      </p:pic>
    </p:spTree>
    <p:extLst>
      <p:ext uri="{BB962C8B-B14F-4D97-AF65-F5344CB8AC3E}">
        <p14:creationId xmlns:p14="http://schemas.microsoft.com/office/powerpoint/2010/main" val="1790407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Surcharge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Sales Management &gt; Pricing &gt; Surcharge &gt; Surcharge Inquiry</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32</a:t>
            </a:fld>
            <a:endParaRPr lang="en-US"/>
          </a:p>
        </p:txBody>
      </p:sp>
      <p:pic>
        <p:nvPicPr>
          <p:cNvPr id="6" name="Picture 5">
            <a:extLst>
              <a:ext uri="{FF2B5EF4-FFF2-40B4-BE49-F238E27FC236}">
                <a16:creationId xmlns:a16="http://schemas.microsoft.com/office/drawing/2014/main" id="{8E49D3DB-C078-3258-9DDE-306EF5AA1C99}"/>
              </a:ext>
            </a:extLst>
          </p:cNvPr>
          <p:cNvPicPr>
            <a:picLocks noChangeAspect="1"/>
          </p:cNvPicPr>
          <p:nvPr/>
        </p:nvPicPr>
        <p:blipFill>
          <a:blip r:embed="rId2"/>
          <a:stretch>
            <a:fillRect/>
          </a:stretch>
        </p:blipFill>
        <p:spPr>
          <a:xfrm>
            <a:off x="0" y="1730743"/>
            <a:ext cx="9144000" cy="3985602"/>
          </a:xfrm>
          <a:prstGeom prst="rect">
            <a:avLst/>
          </a:prstGeom>
        </p:spPr>
      </p:pic>
    </p:spTree>
    <p:extLst>
      <p:ext uri="{BB962C8B-B14F-4D97-AF65-F5344CB8AC3E}">
        <p14:creationId xmlns:p14="http://schemas.microsoft.com/office/powerpoint/2010/main" val="4078743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RFA Proposal &amp; Amendment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Sales Management &gt; Pricing &gt; RFA &gt; Proposal &amp; Amendment &gt; RFA Proposal &amp; Amendment Inquiry</a:t>
            </a:r>
          </a:p>
          <a:p>
            <a:pPr marL="133350" indent="0">
              <a:buNone/>
            </a:pPr>
            <a:endParaRPr lang="en-US" dirty="0"/>
          </a:p>
          <a:p>
            <a:pPr marL="133350" indent="0">
              <a:buNone/>
            </a:pPr>
            <a:r>
              <a:rPr lang="en-US" dirty="0"/>
              <a:t>Sample RFA Used: TCMBN01356A</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33</a:t>
            </a:fld>
            <a:endParaRPr lang="en-US"/>
          </a:p>
        </p:txBody>
      </p:sp>
      <p:pic>
        <p:nvPicPr>
          <p:cNvPr id="7" name="Picture 6">
            <a:extLst>
              <a:ext uri="{FF2B5EF4-FFF2-40B4-BE49-F238E27FC236}">
                <a16:creationId xmlns:a16="http://schemas.microsoft.com/office/drawing/2014/main" id="{078D4AF8-E4E5-2085-C9FB-5C44F0F9494F}"/>
              </a:ext>
            </a:extLst>
          </p:cNvPr>
          <p:cNvPicPr>
            <a:picLocks noChangeAspect="1"/>
          </p:cNvPicPr>
          <p:nvPr/>
        </p:nvPicPr>
        <p:blipFill>
          <a:blip r:embed="rId2"/>
          <a:stretch>
            <a:fillRect/>
          </a:stretch>
        </p:blipFill>
        <p:spPr>
          <a:xfrm>
            <a:off x="0" y="2471201"/>
            <a:ext cx="9144000" cy="3803637"/>
          </a:xfrm>
          <a:prstGeom prst="rect">
            <a:avLst/>
          </a:prstGeom>
        </p:spPr>
      </p:pic>
    </p:spTree>
    <p:extLst>
      <p:ext uri="{BB962C8B-B14F-4D97-AF65-F5344CB8AC3E}">
        <p14:creationId xmlns:p14="http://schemas.microsoft.com/office/powerpoint/2010/main" val="3135976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RFA Proposal &amp; Amendment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Sales Management &gt; Pricing &gt; RFA &gt; Proposal &amp; Amendment &gt; RFA Proposal &amp; Amendment Inquiry</a:t>
            </a:r>
          </a:p>
          <a:p>
            <a:pPr marL="133350" indent="0">
              <a:buNone/>
            </a:pPr>
            <a:endParaRPr lang="en-US" dirty="0"/>
          </a:p>
          <a:p>
            <a:pPr marL="133350" indent="0">
              <a:buNone/>
            </a:pPr>
            <a:r>
              <a:rPr lang="en-US" dirty="0"/>
              <a:t>Sample RFA Used: TCMBN01356A</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34</a:t>
            </a:fld>
            <a:endParaRPr lang="en-US"/>
          </a:p>
        </p:txBody>
      </p:sp>
      <p:pic>
        <p:nvPicPr>
          <p:cNvPr id="7" name="Picture 6">
            <a:extLst>
              <a:ext uri="{FF2B5EF4-FFF2-40B4-BE49-F238E27FC236}">
                <a16:creationId xmlns:a16="http://schemas.microsoft.com/office/drawing/2014/main" id="{078D4AF8-E4E5-2085-C9FB-5C44F0F9494F}"/>
              </a:ext>
            </a:extLst>
          </p:cNvPr>
          <p:cNvPicPr>
            <a:picLocks noChangeAspect="1"/>
          </p:cNvPicPr>
          <p:nvPr/>
        </p:nvPicPr>
        <p:blipFill>
          <a:blip r:embed="rId2"/>
          <a:stretch>
            <a:fillRect/>
          </a:stretch>
        </p:blipFill>
        <p:spPr>
          <a:xfrm>
            <a:off x="0" y="2471201"/>
            <a:ext cx="9144000" cy="3803637"/>
          </a:xfrm>
          <a:prstGeom prst="rect">
            <a:avLst/>
          </a:prstGeom>
        </p:spPr>
      </p:pic>
    </p:spTree>
    <p:extLst>
      <p:ext uri="{BB962C8B-B14F-4D97-AF65-F5344CB8AC3E}">
        <p14:creationId xmlns:p14="http://schemas.microsoft.com/office/powerpoint/2010/main" val="3447394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TRI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Sales Management &gt; Pricing &gt; Tariff &gt; Tariff Rate Item &gt; TRI Inquiry</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35</a:t>
            </a:fld>
            <a:endParaRPr lang="en-US"/>
          </a:p>
        </p:txBody>
      </p:sp>
      <p:pic>
        <p:nvPicPr>
          <p:cNvPr id="6" name="Picture 5">
            <a:extLst>
              <a:ext uri="{FF2B5EF4-FFF2-40B4-BE49-F238E27FC236}">
                <a16:creationId xmlns:a16="http://schemas.microsoft.com/office/drawing/2014/main" id="{F3C5B97F-C0E7-443A-C76D-D1F93F7D2B56}"/>
              </a:ext>
            </a:extLst>
          </p:cNvPr>
          <p:cNvPicPr>
            <a:picLocks noChangeAspect="1"/>
          </p:cNvPicPr>
          <p:nvPr/>
        </p:nvPicPr>
        <p:blipFill>
          <a:blip r:embed="rId2"/>
          <a:stretch>
            <a:fillRect/>
          </a:stretch>
        </p:blipFill>
        <p:spPr>
          <a:xfrm>
            <a:off x="0" y="1728359"/>
            <a:ext cx="9144000" cy="3990369"/>
          </a:xfrm>
          <a:prstGeom prst="rect">
            <a:avLst/>
          </a:prstGeom>
        </p:spPr>
      </p:pic>
    </p:spTree>
    <p:extLst>
      <p:ext uri="{BB962C8B-B14F-4D97-AF65-F5344CB8AC3E}">
        <p14:creationId xmlns:p14="http://schemas.microsoft.com/office/powerpoint/2010/main" val="736428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Commodity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Sales Management &gt; Pricing &gt; Code &gt; Inquiry &gt; Commodity Inquiry</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36</a:t>
            </a:fld>
            <a:endParaRPr lang="en-US"/>
          </a:p>
        </p:txBody>
      </p:sp>
      <p:pic>
        <p:nvPicPr>
          <p:cNvPr id="7" name="Picture 6">
            <a:extLst>
              <a:ext uri="{FF2B5EF4-FFF2-40B4-BE49-F238E27FC236}">
                <a16:creationId xmlns:a16="http://schemas.microsoft.com/office/drawing/2014/main" id="{D93EA1D3-A6B0-E1ED-726B-A0DF779ABBA4}"/>
              </a:ext>
            </a:extLst>
          </p:cNvPr>
          <p:cNvPicPr>
            <a:picLocks noChangeAspect="1"/>
          </p:cNvPicPr>
          <p:nvPr/>
        </p:nvPicPr>
        <p:blipFill>
          <a:blip r:embed="rId2"/>
          <a:stretch>
            <a:fillRect/>
          </a:stretch>
        </p:blipFill>
        <p:spPr>
          <a:xfrm>
            <a:off x="0" y="2684887"/>
            <a:ext cx="9144000" cy="1488225"/>
          </a:xfrm>
          <a:prstGeom prst="rect">
            <a:avLst/>
          </a:prstGeom>
        </p:spPr>
      </p:pic>
    </p:spTree>
    <p:extLst>
      <p:ext uri="{BB962C8B-B14F-4D97-AF65-F5344CB8AC3E}">
        <p14:creationId xmlns:p14="http://schemas.microsoft.com/office/powerpoint/2010/main" val="1070965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Customer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Sales Management &gt; Pricing &gt; Code &gt; Inquiry &gt; Customer Inquiry</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37</a:t>
            </a:fld>
            <a:endParaRPr lang="en-US"/>
          </a:p>
        </p:txBody>
      </p:sp>
      <p:pic>
        <p:nvPicPr>
          <p:cNvPr id="6" name="Picture 5">
            <a:extLst>
              <a:ext uri="{FF2B5EF4-FFF2-40B4-BE49-F238E27FC236}">
                <a16:creationId xmlns:a16="http://schemas.microsoft.com/office/drawing/2014/main" id="{559B62ED-76F6-ABC5-FC56-E02E843F3F43}"/>
              </a:ext>
            </a:extLst>
          </p:cNvPr>
          <p:cNvPicPr>
            <a:picLocks noChangeAspect="1"/>
          </p:cNvPicPr>
          <p:nvPr/>
        </p:nvPicPr>
        <p:blipFill>
          <a:blip r:embed="rId2"/>
          <a:stretch>
            <a:fillRect/>
          </a:stretch>
        </p:blipFill>
        <p:spPr>
          <a:xfrm>
            <a:off x="0" y="2756787"/>
            <a:ext cx="9144000" cy="1344425"/>
          </a:xfrm>
          <a:prstGeom prst="rect">
            <a:avLst/>
          </a:prstGeom>
        </p:spPr>
      </p:pic>
    </p:spTree>
    <p:extLst>
      <p:ext uri="{BB962C8B-B14F-4D97-AF65-F5344CB8AC3E}">
        <p14:creationId xmlns:p14="http://schemas.microsoft.com/office/powerpoint/2010/main" val="460502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7E9-FC3D-A93F-481D-0AAB752C6073}"/>
              </a:ext>
            </a:extLst>
          </p:cNvPr>
          <p:cNvSpPr>
            <a:spLocks noGrp="1"/>
          </p:cNvSpPr>
          <p:nvPr>
            <p:ph type="title"/>
          </p:nvPr>
        </p:nvSpPr>
        <p:spPr/>
        <p:txBody>
          <a:bodyPr/>
          <a:lstStyle/>
          <a:p>
            <a:r>
              <a:rPr lang="en-US" dirty="0"/>
              <a:t>Long Range SKD Inquiry</a:t>
            </a:r>
          </a:p>
        </p:txBody>
      </p:sp>
      <p:sp>
        <p:nvSpPr>
          <p:cNvPr id="3" name="Text Placeholder 2">
            <a:extLst>
              <a:ext uri="{FF2B5EF4-FFF2-40B4-BE49-F238E27FC236}">
                <a16:creationId xmlns:a16="http://schemas.microsoft.com/office/drawing/2014/main" id="{E4D4E5CF-DDAF-C4E6-4053-91971E49146C}"/>
              </a:ext>
            </a:extLst>
          </p:cNvPr>
          <p:cNvSpPr>
            <a:spLocks noGrp="1"/>
          </p:cNvSpPr>
          <p:nvPr>
            <p:ph type="body" idx="1"/>
          </p:nvPr>
        </p:nvSpPr>
        <p:spPr/>
        <p:txBody>
          <a:bodyPr/>
          <a:lstStyle/>
          <a:p>
            <a:pPr marL="133350" indent="0">
              <a:buNone/>
            </a:pPr>
            <a:r>
              <a:rPr lang="en-US" b="1" dirty="0"/>
              <a:t>Path</a:t>
            </a:r>
            <a:r>
              <a:rPr lang="en-US" dirty="0"/>
              <a:t>:  Vessel Operation &gt; Vessel Schedule &gt; VSL SKD &gt; VSL SKD Inquiry &gt; Long Range SKD Inquiry</a:t>
            </a:r>
          </a:p>
          <a:p>
            <a:pPr marL="133350" indent="0">
              <a:buNone/>
            </a:pPr>
            <a:r>
              <a:rPr lang="en-US" dirty="0"/>
              <a:t>Input the Vessel Code that can be retrieved from the Booking Inquiry</a:t>
            </a:r>
          </a:p>
        </p:txBody>
      </p:sp>
      <p:sp>
        <p:nvSpPr>
          <p:cNvPr id="4" name="Slide Number Placeholder 3">
            <a:extLst>
              <a:ext uri="{FF2B5EF4-FFF2-40B4-BE49-F238E27FC236}">
                <a16:creationId xmlns:a16="http://schemas.microsoft.com/office/drawing/2014/main" id="{08D9FA05-2313-D1D8-C620-2E79506D94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38</a:t>
            </a:fld>
            <a:endParaRPr lang="en-US"/>
          </a:p>
        </p:txBody>
      </p:sp>
      <p:pic>
        <p:nvPicPr>
          <p:cNvPr id="7" name="Picture 6">
            <a:extLst>
              <a:ext uri="{FF2B5EF4-FFF2-40B4-BE49-F238E27FC236}">
                <a16:creationId xmlns:a16="http://schemas.microsoft.com/office/drawing/2014/main" id="{118B5316-B033-4D63-4D9D-D4FED3F00666}"/>
              </a:ext>
            </a:extLst>
          </p:cNvPr>
          <p:cNvPicPr>
            <a:picLocks noChangeAspect="1"/>
          </p:cNvPicPr>
          <p:nvPr/>
        </p:nvPicPr>
        <p:blipFill>
          <a:blip r:embed="rId2"/>
          <a:stretch>
            <a:fillRect/>
          </a:stretch>
        </p:blipFill>
        <p:spPr>
          <a:xfrm>
            <a:off x="0" y="2412711"/>
            <a:ext cx="9144000" cy="4067220"/>
          </a:xfrm>
          <a:prstGeom prst="rect">
            <a:avLst/>
          </a:prstGeom>
        </p:spPr>
      </p:pic>
    </p:spTree>
    <p:extLst>
      <p:ext uri="{BB962C8B-B14F-4D97-AF65-F5344CB8AC3E}">
        <p14:creationId xmlns:p14="http://schemas.microsoft.com/office/powerpoint/2010/main" val="823189311"/>
      </p:ext>
    </p:extLst>
  </p:cSld>
  <p:clrMapOvr>
    <a:masterClrMapping/>
  </p:clrMapOvr>
</p:sld>
</file>

<file path=ppt/theme/theme1.xml><?xml version="1.0" encoding="utf-8"?>
<a:theme xmlns:a="http://schemas.openxmlformats.org/drawingml/2006/main" name="3_ONE Container Theme">
  <a:themeElements>
    <a:clrScheme name="ONE Color Templete">
      <a:dk1>
        <a:srgbClr val="3C3C3C"/>
      </a:dk1>
      <a:lt1>
        <a:srgbClr val="FFFFFF"/>
      </a:lt1>
      <a:dk2>
        <a:srgbClr val="000000"/>
      </a:dk2>
      <a:lt2>
        <a:srgbClr val="BD0F72"/>
      </a:lt2>
      <a:accent1>
        <a:srgbClr val="CCD3D1"/>
      </a:accent1>
      <a:accent2>
        <a:srgbClr val="BD0F72"/>
      </a:accent2>
      <a:accent3>
        <a:srgbClr val="340535"/>
      </a:accent3>
      <a:accent4>
        <a:srgbClr val="00506D"/>
      </a:accent4>
      <a:accent5>
        <a:srgbClr val="84C5C3"/>
      </a:accent5>
      <a:accent6>
        <a:srgbClr val="F3920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2401</TotalTime>
  <Words>1451</Words>
  <Application>Microsoft Office PowerPoint</Application>
  <PresentationFormat>On-screen Show (4:3)</PresentationFormat>
  <Paragraphs>196</Paragraphs>
  <Slides>38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Merriweather Sans</vt:lpstr>
      <vt:lpstr>Wingdings</vt:lpstr>
      <vt:lpstr>Arial Black</vt:lpstr>
      <vt:lpstr>Arial</vt:lpstr>
      <vt:lpstr>Calibri</vt:lpstr>
      <vt:lpstr>Century Gothic</vt:lpstr>
      <vt:lpstr>3_ONE Container Theme</vt:lpstr>
      <vt:lpstr>Prepared by. Aira Benitez MAY 2025</vt:lpstr>
      <vt:lpstr>Opus Walkthrough</vt:lpstr>
      <vt:lpstr>Opus Walkthrough</vt:lpstr>
      <vt:lpstr>S/C Proposal &amp; Amendment Inquiry</vt:lpstr>
      <vt:lpstr>S/C Proposal &amp; Amendment Inquiry</vt:lpstr>
      <vt:lpstr>S/C Proposal &amp; Amendment Inquiry</vt:lpstr>
      <vt:lpstr>S/C Proposal &amp; Amendment Inquiry</vt:lpstr>
      <vt:lpstr>S/C Proposal &amp; Amendment Inquiry</vt:lpstr>
      <vt:lpstr>S/C Proposal &amp; Amendment Inquiry</vt:lpstr>
      <vt:lpstr>S/C Proposal &amp; Amendment Inquiry</vt:lpstr>
      <vt:lpstr>S/C Proposal &amp; Amendment Inquiry</vt:lpstr>
      <vt:lpstr>S/C Proposal &amp; Amendment Inquiry</vt:lpstr>
      <vt:lpstr>S/C Proposal &amp; Amendment Inquiry</vt:lpstr>
      <vt:lpstr>S/C Proposal &amp; Amendment Inquiry</vt:lpstr>
      <vt:lpstr>S/C Proposal &amp; Amendment Inquiry</vt:lpstr>
      <vt:lpstr>S/C Proposal &amp; Amendment Inquiry</vt:lpstr>
      <vt:lpstr>Booking Inquiry</vt:lpstr>
      <vt:lpstr>Booking Inquiry</vt:lpstr>
      <vt:lpstr>Booking Inquiry</vt:lpstr>
      <vt:lpstr>Booking Inquiry</vt:lpstr>
      <vt:lpstr>Booking Inquiry</vt:lpstr>
      <vt:lpstr>Booking Inquiry</vt:lpstr>
      <vt:lpstr>DEM/DET Adjustment Request - After Booking Approval</vt:lpstr>
      <vt:lpstr>DEM/DET Adjustment Request - After Booking Approval</vt:lpstr>
      <vt:lpstr>DEM/DET Adjustment Request - After Booking Approval</vt:lpstr>
      <vt:lpstr>Product Catalog Inquiry</vt:lpstr>
      <vt:lpstr>Product Catalog Inquiry</vt:lpstr>
      <vt:lpstr>Product Catalog Inquiry</vt:lpstr>
      <vt:lpstr>Product Catalog Inquiry</vt:lpstr>
      <vt:lpstr>Pricing Simulation</vt:lpstr>
      <vt:lpstr>Location Inquiry</vt:lpstr>
      <vt:lpstr>Surcharge Inquiry</vt:lpstr>
      <vt:lpstr>RFA Proposal &amp; Amendment Inquiry</vt:lpstr>
      <vt:lpstr>RFA Proposal &amp; Amendment Inquiry</vt:lpstr>
      <vt:lpstr>TRI Inquiry</vt:lpstr>
      <vt:lpstr>Commodity Inquiry</vt:lpstr>
      <vt:lpstr>Customer Inquiry</vt:lpstr>
      <vt:lpstr>Long Range SKD Inquiry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June 2024</dc:title>
  <dc:creator>Suzuki, Daisuke C.</dc:creator>
  <cp:lastModifiedBy>Aira Benitez</cp:lastModifiedBy>
  <cp:revision>30</cp:revision>
  <dcterms:modified xsi:type="dcterms:W3CDTF">2025-05-28T08:25:09Z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bc0f418-96a4-4caf-9d7c-ccc5ec7f9d91_Enabled">
    <vt:lpwstr>True</vt:lpwstr>
  </property>
  <property fmtid="{D5CDD505-2E9C-101B-9397-08002B2CF9AE}" pid="3" name="MSIP_Label_1bc0f418-96a4-4caf-9d7c-ccc5ec7f9d91_SiteId">
    <vt:lpwstr>e0793d39-0939-496d-b129-198edd916feb</vt:lpwstr>
  </property>
  <property fmtid="{D5CDD505-2E9C-101B-9397-08002B2CF9AE}" pid="4" name="MSIP_Label_1bc0f418-96a4-4caf-9d7c-ccc5ec7f9d91_Owner">
    <vt:lpwstr>kaya.kim@accenture.com</vt:lpwstr>
  </property>
  <property fmtid="{D5CDD505-2E9C-101B-9397-08002B2CF9AE}" pid="5" name="MSIP_Label_1bc0f418-96a4-4caf-9d7c-ccc5ec7f9d91_SetDate">
    <vt:lpwstr>2019-01-30T17:21:26.0694936Z</vt:lpwstr>
  </property>
  <property fmtid="{D5CDD505-2E9C-101B-9397-08002B2CF9AE}" pid="6" name="MSIP_Label_1bc0f418-96a4-4caf-9d7c-ccc5ec7f9d91_Name">
    <vt:lpwstr>Unrestricted</vt:lpwstr>
  </property>
  <property fmtid="{D5CDD505-2E9C-101B-9397-08002B2CF9AE}" pid="7" name="MSIP_Label_1bc0f418-96a4-4caf-9d7c-ccc5ec7f9d91_Application">
    <vt:lpwstr>Microsoft Azure Information Protection</vt:lpwstr>
  </property>
  <property fmtid="{D5CDD505-2E9C-101B-9397-08002B2CF9AE}" pid="8" name="MSIP_Label_1bc0f418-96a4-4caf-9d7c-ccc5ec7f9d91_Extended_MSFT_Method">
    <vt:lpwstr>Manual</vt:lpwstr>
  </property>
  <property fmtid="{D5CDD505-2E9C-101B-9397-08002B2CF9AE}" pid="9" name="Sensitivity">
    <vt:lpwstr>Unrestricted</vt:lpwstr>
  </property>
</Properties>
</file>