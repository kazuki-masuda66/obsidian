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146849211" r:id="rId2"/>
    <p:sldId id="2146849220" r:id="rId3"/>
    <p:sldId id="2146849221" r:id="rId4"/>
    <p:sldId id="2146849222" r:id="rId5"/>
    <p:sldId id="1204" r:id="rId6"/>
  </p:sldIdLst>
  <p:sldSz cx="9906000" cy="6858000" type="A4"/>
  <p:notesSz cx="6797675" cy="9872663"/>
  <p:custDataLst>
    <p:tags r:id="rId9"/>
  </p:custDataLst>
  <p:defaultTextStyle>
    <a:defPPr>
      <a:defRPr lang="en-US"/>
    </a:defPPr>
    <a:lvl1pPr marL="0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1pPr>
    <a:lvl2pPr marL="638617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2pPr>
    <a:lvl3pPr marL="1277234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3pPr>
    <a:lvl4pPr marL="1915851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4pPr>
    <a:lvl5pPr marL="2554468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5pPr>
    <a:lvl6pPr marL="3193085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6pPr>
    <a:lvl7pPr marL="3831702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7pPr>
    <a:lvl8pPr marL="4470319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8pPr>
    <a:lvl9pPr marL="5108936" algn="l" defTabSz="638617" rtl="0" eaLnBrk="1" latinLnBrk="0" hangingPunct="1">
      <a:defRPr sz="251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37" userDrawn="1">
          <p15:clr>
            <a:srgbClr val="A4A3A4"/>
          </p15:clr>
        </p15:guide>
        <p15:guide id="2" orient="horz" pos="883" userDrawn="1">
          <p15:clr>
            <a:srgbClr val="A4A3A4"/>
          </p15:clr>
        </p15:guide>
        <p15:guide id="3" pos="5675" userDrawn="1">
          <p15:clr>
            <a:srgbClr val="A4A3A4"/>
          </p15:clr>
        </p15:guide>
        <p15:guide id="4" pos="4702" userDrawn="1">
          <p15:clr>
            <a:srgbClr val="A4A3A4"/>
          </p15:clr>
        </p15:guide>
        <p15:guide id="5" pos="4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san Tan" initials="WT" lastIdx="1" clrIdx="0">
    <p:extLst>
      <p:ext uri="{19B8F6BF-5375-455C-9EA6-DF929625EA0E}">
        <p15:presenceInfo xmlns:p15="http://schemas.microsoft.com/office/powerpoint/2012/main" userId="S-1-12-1-2200369251-1099115335-2046934146-28351047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7FF"/>
    <a:srgbClr val="F39200"/>
    <a:srgbClr val="340535"/>
    <a:srgbClr val="3C3C3C"/>
    <a:srgbClr val="02C5CA"/>
    <a:srgbClr val="BD0F72"/>
    <a:srgbClr val="CCD3D1"/>
    <a:srgbClr val="000000"/>
    <a:srgbClr val="84C5C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80" autoAdjust="0"/>
    <p:restoredTop sz="80972" autoAdjust="0"/>
  </p:normalViewPr>
  <p:slideViewPr>
    <p:cSldViewPr snapToGrid="0" snapToObjects="1" showGuides="1">
      <p:cViewPr varScale="1">
        <p:scale>
          <a:sx n="89" d="100"/>
          <a:sy n="89" d="100"/>
        </p:scale>
        <p:origin x="1542" y="96"/>
      </p:cViewPr>
      <p:guideLst>
        <p:guide orient="horz" pos="4237"/>
        <p:guide orient="horz" pos="883"/>
        <p:guide pos="5675"/>
        <p:guide pos="4702"/>
        <p:guide pos="4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40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/>
          <a:lstStyle>
            <a:lvl1pPr algn="r">
              <a:defRPr sz="1100"/>
            </a:lvl1pPr>
          </a:lstStyle>
          <a:p>
            <a:fld id="{96A6B242-B48C-7040-8895-2B2A64CA70B4}" type="datetimeFigureOut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377318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 anchor="b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377318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 anchor="b"/>
          <a:lstStyle>
            <a:lvl1pPr algn="r">
              <a:defRPr sz="1100"/>
            </a:lvl1pPr>
          </a:lstStyle>
          <a:p>
            <a:fld id="{DE0624DD-B79E-AA47-81E3-68DCF8C64F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8787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/>
          <a:lstStyle>
            <a:lvl1pPr algn="r">
              <a:defRPr sz="1100"/>
            </a:lvl1pPr>
          </a:lstStyle>
          <a:p>
            <a:fld id="{A6117497-F667-834F-B4B6-E2473A618F88}" type="datetimeFigureOut">
              <a:rPr lang="en-US" smtClean="0"/>
              <a:t>10/2/2025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435" tIns="45218" rIns="90435" bIns="4521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89516"/>
            <a:ext cx="5438140" cy="4442698"/>
          </a:xfrm>
          <a:prstGeom prst="rect">
            <a:avLst/>
          </a:prstGeom>
        </p:spPr>
        <p:txBody>
          <a:bodyPr vert="horz" lIns="90435" tIns="45218" rIns="90435" bIns="4521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7318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 anchor="b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377318"/>
            <a:ext cx="2945659" cy="493633"/>
          </a:xfrm>
          <a:prstGeom prst="rect">
            <a:avLst/>
          </a:prstGeom>
        </p:spPr>
        <p:txBody>
          <a:bodyPr vert="horz" lIns="90435" tIns="45218" rIns="90435" bIns="45218" rtlCol="0" anchor="b"/>
          <a:lstStyle>
            <a:lvl1pPr algn="r">
              <a:defRPr sz="1100"/>
            </a:lvl1pPr>
          </a:lstStyle>
          <a:p>
            <a:fld id="{92E7FA0A-D12B-3A47-811D-6C94A79012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8979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1pPr>
    <a:lvl2pPr marL="638617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2pPr>
    <a:lvl3pPr marL="1277234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3pPr>
    <a:lvl4pPr marL="1915851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4pPr>
    <a:lvl5pPr marL="2554468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5pPr>
    <a:lvl6pPr marL="3193085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6pPr>
    <a:lvl7pPr marL="3831702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7pPr>
    <a:lvl8pPr marL="4470319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8pPr>
    <a:lvl9pPr marL="5108936" algn="l" defTabSz="638617" rtl="0" eaLnBrk="1" latinLnBrk="0" hangingPunct="1">
      <a:defRPr sz="16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7FA0A-D12B-3A47-811D-6C94A790124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5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0657812"/>
              </p:ext>
            </p:extLst>
          </p:nvPr>
        </p:nvGraphicFramePr>
        <p:xfrm>
          <a:off x="2295" y="2118"/>
          <a:ext cx="2292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6" imgH="396" progId="TCLayout.ActiveDocument.1">
                  <p:embed/>
                </p:oleObj>
              </mc:Choice>
              <mc:Fallback>
                <p:oleObj name="think-cell Slide" r:id="rId3" imgW="396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5" y="2118"/>
                        <a:ext cx="2292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554" y="4992177"/>
            <a:ext cx="9199610" cy="715512"/>
          </a:xfrm>
        </p:spPr>
        <p:txBody>
          <a:bodyPr lIns="0" anchor="b"/>
          <a:lstStyle>
            <a:lvl1pPr>
              <a:defRPr>
                <a:solidFill>
                  <a:srgbClr val="BF0B6C"/>
                </a:solidFill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554" y="5707691"/>
            <a:ext cx="9199610" cy="61406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900" b="1" i="0" cap="all">
                <a:solidFill>
                  <a:schemeClr val="bg2"/>
                </a:solidFill>
                <a:latin typeface="HGｺﾞｼｯｸM" panose="020B0609000000000000" pitchFamily="49" charset="-128"/>
                <a:ea typeface="HGｺﾞｼｯｸM" panose="020B0609000000000000" pitchFamily="49" charset="-128"/>
                <a:cs typeface="HGｺﾞｼｯｸM" panose="020B0609000000000000" pitchFamily="49" charset="-128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pic>
        <p:nvPicPr>
          <p:cNvPr id="33" name="図 3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73126" y="731230"/>
            <a:ext cx="6359748" cy="325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1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1">
    <p:bg>
      <p:bgPr>
        <a:solidFill>
          <a:srgbClr val="BD0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2338115"/>
              </p:ext>
            </p:extLst>
          </p:nvPr>
        </p:nvGraphicFramePr>
        <p:xfrm>
          <a:off x="2295" y="2118"/>
          <a:ext cx="2292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6" imgH="396" progId="TCLayout.ActiveDocument.1">
                  <p:embed/>
                </p:oleObj>
              </mc:Choice>
              <mc:Fallback>
                <p:oleObj name="think-cell Slide" r:id="rId3" imgW="396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5" y="2118"/>
                        <a:ext cx="2292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554" y="4992177"/>
            <a:ext cx="9199610" cy="715512"/>
          </a:xfrm>
        </p:spPr>
        <p:txBody>
          <a:bodyPr lIns="0" anchor="b"/>
          <a:lstStyle>
            <a:lvl1pPr>
              <a:defRPr>
                <a:solidFill>
                  <a:srgbClr val="CCD3D1"/>
                </a:solidFill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554" y="5707691"/>
            <a:ext cx="9199610" cy="61406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900" b="1" i="0" cap="all">
                <a:solidFill>
                  <a:srgbClr val="CCD3D1"/>
                </a:solidFill>
                <a:latin typeface="HGｺﾞｼｯｸM" panose="020B0609000000000000" pitchFamily="49" charset="-128"/>
                <a:ea typeface="HGｺﾞｼｯｸM" panose="020B0609000000000000" pitchFamily="49" charset="-128"/>
                <a:cs typeface="HGｺﾞｼｯｸM" panose="020B0609000000000000" pitchFamily="49" charset="-128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74800" y="730800"/>
            <a:ext cx="6515999" cy="32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4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2351822"/>
              </p:ext>
            </p:extLst>
          </p:nvPr>
        </p:nvGraphicFramePr>
        <p:xfrm>
          <a:off x="2295" y="2118"/>
          <a:ext cx="2292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6" imgH="396" progId="TCLayout.ActiveDocument.1">
                  <p:embed/>
                </p:oleObj>
              </mc:Choice>
              <mc:Fallback>
                <p:oleObj name="think-cell Slide" r:id="rId3" imgW="396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5" y="2118"/>
                        <a:ext cx="2292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4" y="67555"/>
            <a:ext cx="9208339" cy="846029"/>
          </a:xfrm>
        </p:spPr>
        <p:txBody>
          <a:bodyPr/>
          <a:lstStyle>
            <a:lvl1pPr>
              <a:defRPr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oxima Nova"/>
              </a:defRPr>
            </a:lvl1pPr>
          </a:lstStyle>
          <a:p>
            <a:fld id="{2D3281FA-4AB9-2D49-806F-9BDE89B0B3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コンテンツ プレースホルダー 10"/>
          <p:cNvSpPr>
            <a:spLocks noGrp="1"/>
          </p:cNvSpPr>
          <p:nvPr>
            <p:ph sz="quarter" idx="13"/>
          </p:nvPr>
        </p:nvSpPr>
        <p:spPr>
          <a:xfrm>
            <a:off x="346075" y="943663"/>
            <a:ext cx="9213850" cy="540000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3" name="コンテンツ プレースホルダー 12"/>
          <p:cNvSpPr>
            <a:spLocks noGrp="1"/>
          </p:cNvSpPr>
          <p:nvPr>
            <p:ph sz="quarter" idx="14"/>
          </p:nvPr>
        </p:nvSpPr>
        <p:spPr>
          <a:xfrm>
            <a:off x="346075" y="1521642"/>
            <a:ext cx="9213850" cy="5042787"/>
          </a:xfrm>
        </p:spPr>
        <p:txBody>
          <a:bodyPr/>
          <a:lstStyle>
            <a:lvl1pPr>
              <a:defRPr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1pPr>
            <a:lvl2pPr>
              <a:defRPr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2pPr>
            <a:lvl3pPr>
              <a:defRPr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3pPr>
            <a:lvl4pPr>
              <a:defRPr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4pPr>
            <a:lvl5pPr>
              <a:defRPr>
                <a:latin typeface="HGｺﾞｼｯｸM" panose="020B0609000000000000" pitchFamily="49" charset="-128"/>
                <a:ea typeface="HGｺﾞｼｯｸM" panose="020B0609000000000000" pitchFamily="49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196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574901267"/>
              </p:ext>
            </p:extLst>
          </p:nvPr>
        </p:nvGraphicFramePr>
        <p:xfrm>
          <a:off x="1722" y="2119"/>
          <a:ext cx="1719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6" imgH="396" progId="TCLayout.ActiveDocument.1">
                  <p:embed/>
                </p:oleObj>
              </mc:Choice>
              <mc:Fallback>
                <p:oleObj name="think-cell Slide" r:id="rId6" imgW="396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2" y="2119"/>
                        <a:ext cx="1719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824" y="67555"/>
            <a:ext cx="9208339" cy="846029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74752" y="6647544"/>
            <a:ext cx="2311400" cy="196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cap="all">
                <a:solidFill>
                  <a:srgbClr val="463D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3281FA-4AB9-2D49-806F-9BDE89B0B3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46823" y="6640616"/>
            <a:ext cx="9559177" cy="0"/>
          </a:xfrm>
          <a:prstGeom prst="line">
            <a:avLst/>
          </a:prstGeom>
          <a:ln w="12700" cmpd="sng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7"/>
          <p:cNvCxnSpPr/>
          <p:nvPr userDrawn="1"/>
        </p:nvCxnSpPr>
        <p:spPr>
          <a:xfrm>
            <a:off x="0" y="935691"/>
            <a:ext cx="9559177" cy="0"/>
          </a:xfrm>
          <a:prstGeom prst="line">
            <a:avLst/>
          </a:prstGeom>
          <a:ln w="12700" cmpd="sng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6"/>
          <p:cNvSpPr/>
          <p:nvPr userDrawn="1"/>
        </p:nvSpPr>
        <p:spPr bwMode="auto">
          <a:xfrm>
            <a:off x="346823" y="6658750"/>
            <a:ext cx="4428000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buSzTx/>
              <a:buFontTx/>
              <a:buNone/>
              <a:defRPr/>
            </a:pPr>
            <a:r>
              <a:rPr kumimoji="1" lang="en-AU" sz="975" baseline="0" dirty="0">
                <a:solidFill>
                  <a:srgbClr val="00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Meiryo UI" panose="020B0604030504040204" pitchFamily="50" charset="-128"/>
              </a:rPr>
              <a:t>Copyright © 201</a:t>
            </a:r>
            <a:r>
              <a:rPr kumimoji="1" lang="en-US" altLang="ja-JP" sz="975" baseline="0" dirty="0">
                <a:solidFill>
                  <a:srgbClr val="00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Meiryo UI" panose="020B0604030504040204" pitchFamily="50" charset="-128"/>
              </a:rPr>
              <a:t>7</a:t>
            </a:r>
            <a:r>
              <a:rPr kumimoji="1" lang="en-AU" sz="975" baseline="0" dirty="0">
                <a:solidFill>
                  <a:srgbClr val="00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Meiryo UI" panose="020B0604030504040204" pitchFamily="50" charset="-128"/>
              </a:rPr>
              <a:t> Ocean Network Express Pte. Ltd. All Rights Reserved</a:t>
            </a:r>
          </a:p>
        </p:txBody>
      </p:sp>
      <p:pic>
        <p:nvPicPr>
          <p:cNvPr id="22" name="図 2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5596" y="139165"/>
            <a:ext cx="1479567" cy="739784"/>
          </a:xfrm>
          <a:prstGeom prst="rect">
            <a:avLst/>
          </a:prstGeom>
        </p:spPr>
      </p:pic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46824" y="992434"/>
            <a:ext cx="9212353" cy="5591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3928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kumimoji="1" sz="2800" b="0" i="0" kern="1200" cap="none" spc="75" baseline="0">
          <a:solidFill>
            <a:srgbClr val="BF0B6C"/>
          </a:solidFill>
          <a:latin typeface="HGｺﾞｼｯｸM" panose="020B0609000000000000" pitchFamily="49" charset="-128"/>
          <a:ea typeface="HGｺﾞｼｯｸM" panose="020B0609000000000000" pitchFamily="49" charset="-128"/>
          <a:cs typeface="HGｺﾞｼｯｸM" panose="020B0609000000000000" pitchFamily="49" charset="-128"/>
        </a:defRPr>
      </a:lvl1pPr>
    </p:titleStyle>
    <p:bodyStyle>
      <a:lvl1pPr marL="0" indent="0" algn="l" defTabSz="3429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/>
        <a:buNone/>
        <a:defRPr kumimoji="1" sz="1650" b="0" i="0" kern="1200">
          <a:solidFill>
            <a:srgbClr val="BF0B6C"/>
          </a:solidFill>
          <a:latin typeface="HGｺﾞｼｯｸM" panose="020B0609000000000000" pitchFamily="49" charset="-128"/>
          <a:ea typeface="HGｺﾞｼｯｸM" panose="020B0609000000000000" pitchFamily="49" charset="-128"/>
          <a:cs typeface="HGｺﾞｼｯｸM" panose="020B0609000000000000" pitchFamily="49" charset="-128"/>
        </a:defRPr>
      </a:lvl1pPr>
      <a:lvl2pPr marL="0" indent="0" algn="l" defTabSz="342900" rtl="0" eaLnBrk="1" latinLnBrk="0" hangingPunct="1">
        <a:lnSpc>
          <a:spcPct val="120000"/>
        </a:lnSpc>
        <a:spcBef>
          <a:spcPts val="0"/>
        </a:spcBef>
        <a:spcAft>
          <a:spcPts val="450"/>
        </a:spcAft>
        <a:buFont typeface="Arial"/>
        <a:buNone/>
        <a:defRPr kumimoji="1" sz="1050" b="0" i="0" kern="1200">
          <a:solidFill>
            <a:srgbClr val="BF0B6C"/>
          </a:solidFill>
          <a:latin typeface="HGｺﾞｼｯｸM" panose="020B0609000000000000" pitchFamily="49" charset="-128"/>
          <a:ea typeface="HGｺﾞｼｯｸM" panose="020B0609000000000000" pitchFamily="49" charset="-128"/>
          <a:cs typeface="HGｺﾞｼｯｸM" panose="020B0609000000000000" pitchFamily="49" charset="-128"/>
        </a:defRPr>
      </a:lvl2pPr>
      <a:lvl3pPr marL="0" indent="0" algn="l" defTabSz="342900" rtl="0" eaLnBrk="1" latinLnBrk="0" hangingPunct="1">
        <a:lnSpc>
          <a:spcPct val="120000"/>
        </a:lnSpc>
        <a:spcBef>
          <a:spcPts val="0"/>
        </a:spcBef>
        <a:spcAft>
          <a:spcPts val="450"/>
        </a:spcAft>
        <a:buFont typeface="Arial"/>
        <a:buNone/>
        <a:defRPr kumimoji="1" sz="1050" b="0" i="0" kern="1200">
          <a:solidFill>
            <a:schemeClr val="tx1"/>
          </a:solidFill>
          <a:latin typeface="HGｺﾞｼｯｸM" panose="020B0609000000000000" pitchFamily="49" charset="-128"/>
          <a:ea typeface="HGｺﾞｼｯｸM" panose="020B0609000000000000" pitchFamily="49" charset="-128"/>
          <a:cs typeface="HGｺﾞｼｯｸM" panose="020B0609000000000000" pitchFamily="49" charset="-128"/>
        </a:defRPr>
      </a:lvl3pPr>
      <a:lvl4pPr marL="202500" indent="-202500" algn="l" defTabSz="342900" rtl="0" eaLnBrk="1" latinLnBrk="0" hangingPunct="1">
        <a:lnSpc>
          <a:spcPct val="120000"/>
        </a:lnSpc>
        <a:spcBef>
          <a:spcPts val="0"/>
        </a:spcBef>
        <a:spcAft>
          <a:spcPts val="450"/>
        </a:spcAft>
        <a:buClr>
          <a:schemeClr val="bg2"/>
        </a:buClr>
        <a:buFont typeface="Arial"/>
        <a:buChar char="•"/>
        <a:defRPr kumimoji="1" sz="1050" b="0" i="0" kern="1200">
          <a:solidFill>
            <a:schemeClr val="tx1"/>
          </a:solidFill>
          <a:latin typeface="HGｺﾞｼｯｸM" panose="020B0609000000000000" pitchFamily="49" charset="-128"/>
          <a:ea typeface="HGｺﾞｼｯｸM" panose="020B0609000000000000" pitchFamily="49" charset="-128"/>
          <a:cs typeface="HGｺﾞｼｯｸM" panose="020B0609000000000000" pitchFamily="49" charset="-128"/>
        </a:defRPr>
      </a:lvl4pPr>
      <a:lvl5pPr marL="405000" indent="-202500" algn="l" defTabSz="342900" rtl="0" eaLnBrk="1" latinLnBrk="0" hangingPunct="1">
        <a:lnSpc>
          <a:spcPct val="120000"/>
        </a:lnSpc>
        <a:spcBef>
          <a:spcPts val="0"/>
        </a:spcBef>
        <a:spcAft>
          <a:spcPts val="450"/>
        </a:spcAft>
        <a:buClr>
          <a:schemeClr val="bg2"/>
        </a:buClr>
        <a:buFont typeface="Lucida Grande"/>
        <a:buChar char="-"/>
        <a:defRPr kumimoji="1" sz="1050" b="0" i="0" kern="1200">
          <a:solidFill>
            <a:schemeClr val="tx1"/>
          </a:solidFill>
          <a:latin typeface="HGｺﾞｼｯｸM" panose="020B0609000000000000" pitchFamily="49" charset="-128"/>
          <a:ea typeface="HGｺﾞｼｯｸM" panose="020B0609000000000000" pitchFamily="49" charset="-128"/>
          <a:cs typeface="HGｺﾞｼｯｸM" panose="020B0609000000000000" pitchFamily="49" charset="-128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iNtsTvTMQH1mTGAwa3hGgdo37DHdN1s-/edit?gid=1098039368#gid=1098039368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A5D5-7330-C1CF-CDE9-3FEBB227A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SG" sz="4500" b="1" dirty="0"/>
              <a:t>LAWC-EB MKT </a:t>
            </a:r>
            <a:r>
              <a:rPr lang="en-SG" sz="4500" b="1" dirty="0">
                <a:hlinkClick r:id="rId2"/>
              </a:rPr>
              <a:t>KPI</a:t>
            </a:r>
            <a:r>
              <a:rPr lang="en-SG" sz="4500" b="1" dirty="0"/>
              <a:t> Review          </a:t>
            </a:r>
            <a:r>
              <a:rPr lang="en-SG" sz="2000" b="1" dirty="0"/>
              <a:t>(1H 2025 – Week 14-39)</a:t>
            </a:r>
            <a:br>
              <a:rPr lang="en-SG" sz="2000" b="1" dirty="0"/>
            </a:b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1507710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0822-5E1B-6A92-9BBB-29C0DFF5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CGM / Vessel Utilisation / Cargo Portfolio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A9674-79CA-798A-9F1D-5C215F13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81FA-4AB9-2D49-806F-9BDE89B0B3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6CA8D30-E07B-E53B-D277-E8C01383AE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810514"/>
            <a:ext cx="9213850" cy="2683526"/>
          </a:xfrm>
        </p:spPr>
        <p:txBody>
          <a:bodyPr/>
          <a:lstStyle/>
          <a:p>
            <a:r>
              <a:rPr lang="en-SG" sz="1500" dirty="0">
                <a:solidFill>
                  <a:schemeClr val="tx1"/>
                </a:solidFill>
              </a:rPr>
              <a:t>1) Continue to drive the volume (both CM/TEU) </a:t>
            </a:r>
          </a:p>
          <a:p>
            <a:endParaRPr lang="en-SG" sz="1500" dirty="0">
              <a:solidFill>
                <a:schemeClr val="tx1"/>
              </a:solidFill>
            </a:endParaRPr>
          </a:p>
          <a:p>
            <a:r>
              <a:rPr lang="en-SG" sz="1500" dirty="0">
                <a:solidFill>
                  <a:schemeClr val="tx1"/>
                </a:solidFill>
              </a:rPr>
              <a:t>2) Vessel load factor, 96%</a:t>
            </a:r>
          </a:p>
          <a:p>
            <a:endParaRPr lang="en-SG" sz="1500" dirty="0">
              <a:solidFill>
                <a:schemeClr val="tx1"/>
              </a:solidFill>
            </a:endParaRPr>
          </a:p>
          <a:p>
            <a:r>
              <a:rPr lang="en-SG" sz="1500" dirty="0">
                <a:solidFill>
                  <a:schemeClr val="tx1"/>
                </a:solidFill>
              </a:rPr>
              <a:t>3) S/M/L 55% / 5% / 40% (Target 56% / 8% / 36%)</a:t>
            </a:r>
          </a:p>
          <a:p>
            <a:endParaRPr lang="en-SG" sz="1500" dirty="0">
              <a:solidFill>
                <a:schemeClr val="tx1"/>
              </a:solidFill>
            </a:endParaRPr>
          </a:p>
          <a:p>
            <a:r>
              <a:rPr lang="en-SG" sz="1500" dirty="0">
                <a:solidFill>
                  <a:schemeClr val="tx1"/>
                </a:solidFill>
              </a:rPr>
              <a:t>4) Reefer/NOR (81%) - continue to drive NOR business, to the specific area. Control PE/MX.</a:t>
            </a:r>
          </a:p>
          <a:p>
            <a:endParaRPr lang="en-SG" sz="1500" dirty="0">
              <a:solidFill>
                <a:schemeClr val="tx1"/>
              </a:solidFill>
            </a:endParaRPr>
          </a:p>
          <a:p>
            <a:r>
              <a:rPr lang="en-SG" sz="1500" dirty="0">
                <a:solidFill>
                  <a:schemeClr val="tx1"/>
                </a:solidFill>
              </a:rPr>
              <a:t>5) OOG (84%) - non-SHA, direct call port (KR/JP/SPRC) with higher freight</a:t>
            </a:r>
          </a:p>
          <a:p>
            <a:endParaRPr lang="en-SG" sz="1500" dirty="0">
              <a:solidFill>
                <a:schemeClr val="tx1"/>
              </a:solidFill>
            </a:endParaRPr>
          </a:p>
          <a:p>
            <a:r>
              <a:rPr lang="en-SG" sz="1500" dirty="0">
                <a:solidFill>
                  <a:schemeClr val="tx1"/>
                </a:solidFill>
              </a:rPr>
              <a:t>6) Firecracker shipment - Review rate (USD10000/F) and follow up with sales (2 units/month)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A5B3B8C-572B-A73B-35B2-AB4BD888E3C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46824" y="1035366"/>
            <a:ext cx="9213850" cy="1279908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BB1D3F-1380-DB92-9A4E-36555B693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314" y="2391288"/>
            <a:ext cx="338184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6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0822-5E1B-6A92-9BBB-29C0DFF5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Cargo mix optimisation / Yield 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A9674-79CA-798A-9F1D-5C215F13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81FA-4AB9-2D49-806F-9BDE89B0B3E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32E3E0CB-671A-7CF6-AAFC-CAAD2A1A8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999649"/>
            <a:ext cx="9213850" cy="5580456"/>
          </a:xfrm>
        </p:spPr>
        <p:txBody>
          <a:bodyPr/>
          <a:lstStyle/>
          <a:p>
            <a:r>
              <a:rPr lang="en-SG" sz="1400" dirty="0">
                <a:solidFill>
                  <a:schemeClr val="tx1"/>
                </a:solidFill>
              </a:rPr>
              <a:t>1) Route priority review – on going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2) Meet reefer demand - Partial achieved. Require continuous effort to induce NOR to Chile &amp; Ecuador. Restricting PE/MX. 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3) Tonnage/Move count control – Target achieved. </a:t>
            </a:r>
          </a:p>
          <a:p>
            <a:r>
              <a:rPr lang="en-SG" sz="1400" b="1" dirty="0">
                <a:solidFill>
                  <a:schemeClr val="tx1"/>
                </a:solidFill>
              </a:rPr>
              <a:t>IQQ</a:t>
            </a:r>
            <a:r>
              <a:rPr lang="en-SG" sz="1400" dirty="0">
                <a:solidFill>
                  <a:schemeClr val="tx1"/>
                </a:solidFill>
              </a:rPr>
              <a:t> (average 159 moves)  / AX2 (COBUN 16968tons) / AX3 (GTPRQ 9698tons) /  AX3 (ECGYE 4189tons)  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4) Equipment </a:t>
            </a:r>
            <a:r>
              <a:rPr lang="en-SG" sz="1400" dirty="0" err="1">
                <a:solidFill>
                  <a:schemeClr val="tx1"/>
                </a:solidFill>
              </a:rPr>
              <a:t>matchback</a:t>
            </a:r>
            <a:r>
              <a:rPr lang="en-SG" sz="1400" dirty="0">
                <a:solidFill>
                  <a:schemeClr val="tx1"/>
                </a:solidFill>
              </a:rPr>
              <a:t> – Below expectation</a:t>
            </a:r>
          </a:p>
          <a:p>
            <a:r>
              <a:rPr lang="en-SG" sz="1400" dirty="0">
                <a:solidFill>
                  <a:schemeClr val="tx1"/>
                </a:solidFill>
              </a:rPr>
              <a:t>D2 – PECLL (9TEU/week)</a:t>
            </a:r>
          </a:p>
          <a:p>
            <a:r>
              <a:rPr lang="en-SG" sz="1400" dirty="0">
                <a:solidFill>
                  <a:schemeClr val="tx1"/>
                </a:solidFill>
              </a:rPr>
              <a:t>D5 – COCLO (Cali) /CLCNL/CLLQN/CLSVE</a:t>
            </a:r>
          </a:p>
          <a:p>
            <a:r>
              <a:rPr lang="en-SG" sz="1400" dirty="0">
                <a:solidFill>
                  <a:schemeClr val="tx1"/>
                </a:solidFill>
              </a:rPr>
              <a:t>R5 – PEPAI/ECGYE 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5) Extra loader / blank sailings – Meet expectation. 9 blank sailings (1/1/6 AX2/AX3/AX4)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6) Monthly review of cargo mix and steering to maximize profit</a:t>
            </a:r>
          </a:p>
          <a:p>
            <a:r>
              <a:rPr lang="en-SG" sz="1400" dirty="0">
                <a:solidFill>
                  <a:schemeClr val="tx1"/>
                </a:solidFill>
              </a:rPr>
              <a:t>Review L/M performance. </a:t>
            </a:r>
          </a:p>
          <a:p>
            <a:r>
              <a:rPr lang="en-SG" sz="1400" dirty="0">
                <a:solidFill>
                  <a:schemeClr val="tx1"/>
                </a:solidFill>
              </a:rPr>
              <a:t>Remove RFA for inactive accounts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7) One Quote – Target 622TEU vs Actual 87TEU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8) Improve AP flexibility – initiate discussion with DYM (2</a:t>
            </a:r>
            <a:r>
              <a:rPr lang="en-SG" sz="1400" baseline="30000" dirty="0">
                <a:solidFill>
                  <a:schemeClr val="tx1"/>
                </a:solidFill>
              </a:rPr>
              <a:t>nd</a:t>
            </a:r>
            <a:r>
              <a:rPr lang="en-SG" sz="1400" dirty="0">
                <a:solidFill>
                  <a:schemeClr val="tx1"/>
                </a:solidFill>
              </a:rPr>
              <a:t> half)</a:t>
            </a:r>
          </a:p>
          <a:p>
            <a:endParaRPr lang="en-SG" sz="1400" dirty="0">
              <a:solidFill>
                <a:schemeClr val="tx1"/>
              </a:solidFill>
            </a:endParaRPr>
          </a:p>
          <a:p>
            <a:r>
              <a:rPr lang="en-SG" sz="1400" dirty="0">
                <a:solidFill>
                  <a:schemeClr val="tx1"/>
                </a:solidFill>
              </a:rPr>
              <a:t>9) Digitalisation – Chorus (ongoing) / </a:t>
            </a:r>
            <a:r>
              <a:rPr lang="en-SG" sz="1400" dirty="0" err="1">
                <a:solidFill>
                  <a:schemeClr val="tx1"/>
                </a:solidFill>
              </a:rPr>
              <a:t>EagleX</a:t>
            </a:r>
            <a:r>
              <a:rPr lang="en-SG" sz="1400" dirty="0">
                <a:solidFill>
                  <a:schemeClr val="tx1"/>
                </a:solidFill>
              </a:rPr>
              <a:t> (ongoing) / </a:t>
            </a:r>
            <a:r>
              <a:rPr lang="en-SG" sz="1400" dirty="0" err="1">
                <a:solidFill>
                  <a:schemeClr val="tx1"/>
                </a:solidFill>
              </a:rPr>
              <a:t>OneForce</a:t>
            </a:r>
            <a:r>
              <a:rPr lang="en-SG" sz="1400" dirty="0">
                <a:solidFill>
                  <a:schemeClr val="tx1"/>
                </a:solidFill>
              </a:rPr>
              <a:t> (weekly/announcement/ campaign)</a:t>
            </a:r>
          </a:p>
        </p:txBody>
      </p:sp>
    </p:spTree>
    <p:extLst>
      <p:ext uri="{BB962C8B-B14F-4D97-AF65-F5344CB8AC3E}">
        <p14:creationId xmlns:p14="http://schemas.microsoft.com/office/powerpoint/2010/main" val="3363072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D95C-7CEC-E09E-5823-166306EC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5EEB-A3C5-9938-D736-E5827A81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Action Plans (2H 2025)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83129-1C05-F076-F4A2-E0104DD4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81FA-4AB9-2D49-806F-9BDE89B0B3E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91964959-677B-F434-AC00-28259A55E0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999649"/>
            <a:ext cx="9213850" cy="5580456"/>
          </a:xfrm>
        </p:spPr>
        <p:txBody>
          <a:bodyPr/>
          <a:lstStyle/>
          <a:p>
            <a:r>
              <a:rPr lang="en-SG" sz="1300" dirty="0">
                <a:solidFill>
                  <a:schemeClr val="tx1"/>
                </a:solidFill>
              </a:rPr>
              <a:t>1) TEU &amp; CM – </a:t>
            </a:r>
            <a:r>
              <a:rPr lang="en-SG" sz="1300" b="1" dirty="0">
                <a:solidFill>
                  <a:schemeClr val="tx1"/>
                </a:solidFill>
              </a:rPr>
              <a:t>all</a:t>
            </a:r>
            <a:r>
              <a:rPr lang="en-SG" sz="1300" dirty="0">
                <a:solidFill>
                  <a:schemeClr val="tx1"/>
                </a:solidFill>
              </a:rPr>
              <a:t> </a:t>
            </a:r>
            <a:r>
              <a:rPr lang="en-SG" sz="1300" b="1" dirty="0" err="1">
                <a:solidFill>
                  <a:schemeClr val="tx1"/>
                </a:solidFill>
              </a:rPr>
              <a:t>pricers</a:t>
            </a:r>
            <a:r>
              <a:rPr lang="en-SG" sz="1300" dirty="0">
                <a:solidFill>
                  <a:schemeClr val="tx1"/>
                </a:solidFill>
              </a:rPr>
              <a:t> (NOR, OOG promotion and EQP </a:t>
            </a:r>
            <a:r>
              <a:rPr lang="en-SG" sz="1300" dirty="0" err="1">
                <a:solidFill>
                  <a:schemeClr val="tx1"/>
                </a:solidFill>
              </a:rPr>
              <a:t>matchback</a:t>
            </a:r>
            <a:r>
              <a:rPr lang="en-SG" sz="1300" dirty="0">
                <a:solidFill>
                  <a:schemeClr val="tx1"/>
                </a:solidFill>
              </a:rPr>
              <a:t> promotion)</a:t>
            </a:r>
          </a:p>
          <a:p>
            <a:r>
              <a:rPr lang="en-SG" sz="1300" dirty="0">
                <a:solidFill>
                  <a:schemeClr val="tx1"/>
                </a:solidFill>
              </a:rPr>
              <a:t>NOR – Ron / Simon / </a:t>
            </a:r>
            <a:r>
              <a:rPr lang="en-SG" sz="1300" dirty="0" err="1">
                <a:solidFill>
                  <a:schemeClr val="tx1"/>
                </a:solidFill>
              </a:rPr>
              <a:t>SoonAng</a:t>
            </a:r>
            <a:r>
              <a:rPr lang="en-SG" sz="1300" dirty="0">
                <a:solidFill>
                  <a:schemeClr val="tx1"/>
                </a:solidFill>
              </a:rPr>
              <a:t> </a:t>
            </a:r>
          </a:p>
          <a:p>
            <a:r>
              <a:rPr lang="en-SG" sz="1300" dirty="0">
                <a:solidFill>
                  <a:schemeClr val="tx1"/>
                </a:solidFill>
              </a:rPr>
              <a:t>OOG – Simon / </a:t>
            </a:r>
            <a:r>
              <a:rPr lang="en-SG" sz="1300" dirty="0" err="1">
                <a:solidFill>
                  <a:schemeClr val="tx1"/>
                </a:solidFill>
              </a:rPr>
              <a:t>SoonAng</a:t>
            </a:r>
            <a:r>
              <a:rPr lang="en-SG" sz="1300" dirty="0">
                <a:solidFill>
                  <a:schemeClr val="tx1"/>
                </a:solidFill>
              </a:rPr>
              <a:t> / Ron / BK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2) Vessel Utilisation (Main coordinator, Ron with the support Ko/Adele/BK/Kazuki/</a:t>
            </a:r>
            <a:r>
              <a:rPr lang="en-SG" sz="1300" dirty="0" err="1">
                <a:solidFill>
                  <a:schemeClr val="tx1"/>
                </a:solidFill>
              </a:rPr>
              <a:t>Delaloye</a:t>
            </a:r>
            <a:r>
              <a:rPr lang="en-SG" sz="1300" dirty="0">
                <a:solidFill>
                  <a:schemeClr val="tx1"/>
                </a:solidFill>
              </a:rPr>
              <a:t>). </a:t>
            </a:r>
          </a:p>
          <a:p>
            <a:r>
              <a:rPr lang="en-SG" sz="1300" dirty="0">
                <a:solidFill>
                  <a:schemeClr val="tx1"/>
                </a:solidFill>
              </a:rPr>
              <a:t>Extra loader &amp; blank sailings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3) Firecrackers (Soon Ang &amp; Simon)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4) NOR / EQP </a:t>
            </a:r>
            <a:r>
              <a:rPr lang="en-SG" sz="1300" dirty="0" err="1">
                <a:solidFill>
                  <a:schemeClr val="tx1"/>
                </a:solidFill>
              </a:rPr>
              <a:t>matchback</a:t>
            </a:r>
            <a:r>
              <a:rPr lang="en-SG" sz="1300" dirty="0">
                <a:solidFill>
                  <a:schemeClr val="tx1"/>
                </a:solidFill>
              </a:rPr>
              <a:t> / WCCA (MAR/MX2/MX3) </a:t>
            </a:r>
            <a:r>
              <a:rPr lang="en-SG" sz="1300" b="1" dirty="0">
                <a:solidFill>
                  <a:schemeClr val="tx1"/>
                </a:solidFill>
              </a:rPr>
              <a:t>monitoring</a:t>
            </a:r>
            <a:r>
              <a:rPr lang="en-SG" sz="1300" dirty="0">
                <a:solidFill>
                  <a:schemeClr val="tx1"/>
                </a:solidFill>
              </a:rPr>
              <a:t> (</a:t>
            </a:r>
            <a:r>
              <a:rPr lang="en-SG" sz="1300" dirty="0" err="1">
                <a:solidFill>
                  <a:schemeClr val="tx1"/>
                </a:solidFill>
              </a:rPr>
              <a:t>Delaloye</a:t>
            </a:r>
            <a:r>
              <a:rPr lang="en-SG" sz="1300" dirty="0">
                <a:solidFill>
                  <a:schemeClr val="tx1"/>
                </a:solidFill>
              </a:rPr>
              <a:t>) + all </a:t>
            </a:r>
            <a:r>
              <a:rPr lang="en-SG" sz="1300" dirty="0" err="1">
                <a:solidFill>
                  <a:schemeClr val="tx1"/>
                </a:solidFill>
              </a:rPr>
              <a:t>pricers</a:t>
            </a:r>
            <a:r>
              <a:rPr lang="en-SG" sz="1300" dirty="0">
                <a:solidFill>
                  <a:schemeClr val="tx1"/>
                </a:solidFill>
              </a:rPr>
              <a:t> to drive the volume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5) Review of cargo mix and steering to maximize profit (Soon Ang – AP vs Actual analysis / all </a:t>
            </a:r>
            <a:r>
              <a:rPr lang="en-SG" sz="1300" dirty="0" err="1">
                <a:solidFill>
                  <a:schemeClr val="tx1"/>
                </a:solidFill>
              </a:rPr>
              <a:t>pricers</a:t>
            </a:r>
            <a:r>
              <a:rPr lang="en-SG" sz="1300" dirty="0">
                <a:solidFill>
                  <a:schemeClr val="tx1"/>
                </a:solidFill>
              </a:rPr>
              <a:t>)</a:t>
            </a:r>
          </a:p>
          <a:p>
            <a:r>
              <a:rPr lang="en-SG" sz="1300" dirty="0">
                <a:solidFill>
                  <a:schemeClr val="tx1"/>
                </a:solidFill>
              </a:rPr>
              <a:t>Review L/M performance. </a:t>
            </a:r>
          </a:p>
          <a:p>
            <a:r>
              <a:rPr lang="en-SG" sz="1300" dirty="0">
                <a:solidFill>
                  <a:schemeClr val="tx1"/>
                </a:solidFill>
              </a:rPr>
              <a:t>Remove RFA for inactive accounts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6) Improve AP flexibility – initiate discussion with DYM (Boon Keng / Kazuki / Simon)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7) Product catalogue – Kazuki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8) COD - Kazuki</a:t>
            </a:r>
          </a:p>
          <a:p>
            <a:endParaRPr lang="en-SG" sz="1300" dirty="0">
              <a:solidFill>
                <a:schemeClr val="tx1"/>
              </a:solidFill>
            </a:endParaRPr>
          </a:p>
          <a:p>
            <a:r>
              <a:rPr lang="en-SG" sz="1300" dirty="0">
                <a:solidFill>
                  <a:schemeClr val="tx1"/>
                </a:solidFill>
              </a:rPr>
              <a:t>9) Digitalisation</a:t>
            </a:r>
          </a:p>
          <a:p>
            <a:r>
              <a:rPr lang="en-SG" sz="1300" dirty="0">
                <a:solidFill>
                  <a:schemeClr val="tx1"/>
                </a:solidFill>
              </a:rPr>
              <a:t>Chorus - Adele / Soon Ang	</a:t>
            </a:r>
          </a:p>
          <a:p>
            <a:r>
              <a:rPr lang="en-SG" sz="1300" dirty="0">
                <a:solidFill>
                  <a:schemeClr val="tx1"/>
                </a:solidFill>
              </a:rPr>
              <a:t>Snow – Ron / Ko</a:t>
            </a:r>
          </a:p>
          <a:p>
            <a:r>
              <a:rPr lang="en-SG" sz="1300" dirty="0">
                <a:solidFill>
                  <a:schemeClr val="tx1"/>
                </a:solidFill>
              </a:rPr>
              <a:t>Tiger - Soon Ang / Adele	</a:t>
            </a:r>
          </a:p>
          <a:p>
            <a:r>
              <a:rPr lang="en-SG" sz="1300" dirty="0">
                <a:solidFill>
                  <a:schemeClr val="tx1"/>
                </a:solidFill>
              </a:rPr>
              <a:t>One Quote - Soon Ang / Kazuki	</a:t>
            </a:r>
          </a:p>
          <a:p>
            <a:r>
              <a:rPr lang="en-SG" sz="1300" dirty="0">
                <a:solidFill>
                  <a:schemeClr val="tx1"/>
                </a:solidFill>
              </a:rPr>
              <a:t>Bear – Ko / Ron</a:t>
            </a:r>
          </a:p>
          <a:p>
            <a:r>
              <a:rPr lang="en-SG" sz="1300" dirty="0" err="1">
                <a:solidFill>
                  <a:schemeClr val="tx1"/>
                </a:solidFill>
              </a:rPr>
              <a:t>EagleX</a:t>
            </a:r>
            <a:r>
              <a:rPr lang="en-SG" sz="1300" dirty="0">
                <a:solidFill>
                  <a:schemeClr val="tx1"/>
                </a:solidFill>
              </a:rPr>
              <a:t>	- Kazuki	</a:t>
            </a:r>
          </a:p>
        </p:txBody>
      </p:sp>
    </p:spTree>
    <p:extLst>
      <p:ext uri="{BB962C8B-B14F-4D97-AF65-F5344CB8AC3E}">
        <p14:creationId xmlns:p14="http://schemas.microsoft.com/office/powerpoint/2010/main" val="415772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BEB260-27A7-460B-B03F-6A9B978C1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81FA-4AB9-2D49-806F-9BDE89B0B3E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A8844B-57EB-4DF5-9B37-8985A86D31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6824" y="888126"/>
            <a:ext cx="9213850" cy="590231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SG" sz="7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5500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F8116A2-23B0-49EC-8DFE-E4758472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98" y="2509962"/>
            <a:ext cx="9208339" cy="846029"/>
          </a:xfrm>
        </p:spPr>
        <p:txBody>
          <a:bodyPr/>
          <a:lstStyle/>
          <a:p>
            <a:pPr algn="ctr"/>
            <a:r>
              <a:rPr lang="en-SG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76716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NE Container Theme">
  <a:themeElements>
    <a:clrScheme name="ONE Color Templete">
      <a:dk1>
        <a:srgbClr val="3C3C3C"/>
      </a:dk1>
      <a:lt1>
        <a:srgbClr val="FFFFFF"/>
      </a:lt1>
      <a:dk2>
        <a:srgbClr val="000000"/>
      </a:dk2>
      <a:lt2>
        <a:srgbClr val="BD0F72"/>
      </a:lt2>
      <a:accent1>
        <a:srgbClr val="CCD3D1"/>
      </a:accent1>
      <a:accent2>
        <a:srgbClr val="BD0F72"/>
      </a:accent2>
      <a:accent3>
        <a:srgbClr val="340535"/>
      </a:accent3>
      <a:accent4>
        <a:srgbClr val="00506D"/>
      </a:accent4>
      <a:accent5>
        <a:srgbClr val="84C5C3"/>
      </a:accent5>
      <a:accent6>
        <a:srgbClr val="F39200"/>
      </a:accent6>
      <a:hlink>
        <a:srgbClr val="0000FF"/>
      </a:hlink>
      <a:folHlink>
        <a:srgbClr val="800080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 err="1" smtClean="0">
            <a:latin typeface="Proxima Nova"/>
            <a:cs typeface="Proxima Nov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NE_Container_Template_Jun17_v3" id="{3F099471-04D1-C04D-9EFE-B4385E5EA276}" vid="{F614BD15-BA24-1D47-9014-1193372B68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ONE_Template_v01</Template>
  <TotalTime>31816</TotalTime>
  <Words>544</Words>
  <Application>Microsoft Office PowerPoint</Application>
  <PresentationFormat>A4 Paper (210x297 mm)</PresentationFormat>
  <Paragraphs>75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HGｺﾞｼｯｸM</vt:lpstr>
      <vt:lpstr>Lucida Grande</vt:lpstr>
      <vt:lpstr>Proxima Nova</vt:lpstr>
      <vt:lpstr>Arial</vt:lpstr>
      <vt:lpstr>Calibri</vt:lpstr>
      <vt:lpstr>ONE Container Theme</vt:lpstr>
      <vt:lpstr>think-cell Slide</vt:lpstr>
      <vt:lpstr>LAWC-EB MKT KPI Review          (1H 2025 – Week 14-39) </vt:lpstr>
      <vt:lpstr>CGM / Vessel Utilisation / Cargo Portfolio</vt:lpstr>
      <vt:lpstr>Cargo mix optimisation / Yield Management</vt:lpstr>
      <vt:lpstr>Action Plans (2H 2025)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Title goes here</dc:title>
  <dc:creator>Trini Tan</dc:creator>
  <cp:lastModifiedBy>Simon Wong</cp:lastModifiedBy>
  <cp:revision>1355</cp:revision>
  <cp:lastPrinted>2024-05-17T07:48:53Z</cp:lastPrinted>
  <dcterms:created xsi:type="dcterms:W3CDTF">2017-07-13T09:36:59Z</dcterms:created>
  <dcterms:modified xsi:type="dcterms:W3CDTF">2025-10-02T07:31:50Z</dcterms:modified>
</cp:coreProperties>
</file>