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76" r:id="rId2"/>
    <p:sldId id="275" r:id="rId3"/>
    <p:sldId id="2281" r:id="rId4"/>
    <p:sldId id="2271" r:id="rId5"/>
    <p:sldId id="2274" r:id="rId6"/>
    <p:sldId id="2275" r:id="rId7"/>
    <p:sldId id="2283" r:id="rId8"/>
    <p:sldId id="2247" r:id="rId9"/>
    <p:sldId id="283" r:id="rId10"/>
    <p:sldId id="284" r:id="rId11"/>
    <p:sldId id="2277" r:id="rId12"/>
    <p:sldId id="2278" r:id="rId13"/>
    <p:sldId id="2279" r:id="rId14"/>
    <p:sldId id="274" r:id="rId15"/>
  </p:sldIdLst>
  <p:sldSz cx="12192000" cy="6858000"/>
  <p:notesSz cx="7104063" cy="10234613"/>
  <p:embeddedFontLst>
    <p:embeddedFont>
      <p:font typeface="Arial Black" panose="020B0A04020102020204" pitchFamily="34" charset="0"/>
      <p:regular r:id="rId17"/>
      <p:bold r:id="rId18"/>
    </p:embeddedFont>
    <p:embeddedFont>
      <p:font typeface="Calibri" panose="020F0502020204030204" pitchFamily="34" charset="0"/>
      <p:regular r:id="rId19"/>
      <p:bold r:id="rId20"/>
      <p:italic r:id="rId21"/>
      <p:boldItalic r:id="rId22"/>
    </p:embeddedFont>
    <p:embeddedFont>
      <p:font typeface="Century Gothic" panose="020B0502020202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jnF56/xtuy5mN+m0u5z4Nf9OAqR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49F4194-75E7-4E2F-BB70-8B6C403B76A8}">
  <a:tblStyle styleId="{049F4194-75E7-4E2F-BB70-8B6C403B76A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F0627E8-F3A7-41E9-B869-1DA9ACDFA0F1}"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89307" autoAdjust="0"/>
  </p:normalViewPr>
  <p:slideViewPr>
    <p:cSldViewPr snapToGrid="0">
      <p:cViewPr varScale="1">
        <p:scale>
          <a:sx n="68" d="100"/>
          <a:sy n="68" d="100"/>
        </p:scale>
        <p:origin x="94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78427" cy="513508"/>
          </a:xfrm>
          <a:prstGeom prst="rect">
            <a:avLst/>
          </a:prstGeom>
          <a:noFill/>
          <a:ln>
            <a:noFill/>
          </a:ln>
        </p:spPr>
        <p:txBody>
          <a:bodyPr spcFirstLastPara="1" wrap="square" lIns="99051" tIns="49512" rIns="99051" bIns="49512"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3993" y="0"/>
            <a:ext cx="3078427" cy="513508"/>
          </a:xfrm>
          <a:prstGeom prst="rect">
            <a:avLst/>
          </a:prstGeom>
          <a:noFill/>
          <a:ln>
            <a:noFill/>
          </a:ln>
        </p:spPr>
        <p:txBody>
          <a:bodyPr spcFirstLastPara="1" wrap="square" lIns="99051" tIns="49512" rIns="99051" bIns="49512"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0407" y="4925408"/>
            <a:ext cx="5683250" cy="4029879"/>
          </a:xfrm>
          <a:prstGeom prst="rect">
            <a:avLst/>
          </a:prstGeom>
          <a:noFill/>
          <a:ln>
            <a:noFill/>
          </a:ln>
        </p:spPr>
        <p:txBody>
          <a:bodyPr spcFirstLastPara="1" wrap="square" lIns="99051" tIns="49512" rIns="99051" bIns="49512"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721107"/>
            <a:ext cx="3078427" cy="513507"/>
          </a:xfrm>
          <a:prstGeom prst="rect">
            <a:avLst/>
          </a:prstGeom>
          <a:noFill/>
          <a:ln>
            <a:noFill/>
          </a:ln>
        </p:spPr>
        <p:txBody>
          <a:bodyPr spcFirstLastPara="1" wrap="square" lIns="99051" tIns="49512" rIns="99051" bIns="49512"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3993" y="9721107"/>
            <a:ext cx="3078427" cy="513507"/>
          </a:xfrm>
          <a:prstGeom prst="rect">
            <a:avLst/>
          </a:prstGeom>
          <a:noFill/>
          <a:ln>
            <a:noFill/>
          </a:ln>
        </p:spPr>
        <p:txBody>
          <a:bodyPr spcFirstLastPara="1" wrap="square" lIns="99051" tIns="49512" rIns="99051" bIns="49512" anchor="b" anchorCtr="0">
            <a:noAutofit/>
          </a:bodyPr>
          <a:lstStyle/>
          <a:p>
            <a:pPr algn="r">
              <a:buSzPts val="1200"/>
            </a:pPr>
            <a:fld id="{00000000-1234-1234-1234-123412341234}" type="slidenum">
              <a:rPr lang="en-US" sz="1300" smtClean="0">
                <a:solidFill>
                  <a:schemeClr val="dk1"/>
                </a:solidFill>
                <a:latin typeface="Calibri"/>
                <a:ea typeface="Calibri"/>
                <a:cs typeface="Calibri"/>
                <a:sym typeface="Calibri"/>
              </a:rPr>
              <a:pPr algn="r">
                <a:buSzPts val="1200"/>
              </a:pPr>
              <a:t>‹#›</a:t>
            </a:fld>
            <a:endParaRPr lang="en-US" sz="13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p1:notes"/>
          <p:cNvSpPr txBox="1">
            <a:spLocks noGrp="1"/>
          </p:cNvSpPr>
          <p:nvPr>
            <p:ph type="body" idx="1"/>
          </p:nvPr>
        </p:nvSpPr>
        <p:spPr>
          <a:xfrm>
            <a:off x="710407" y="4925408"/>
            <a:ext cx="5683250" cy="4029879"/>
          </a:xfrm>
          <a:prstGeom prst="rect">
            <a:avLst/>
          </a:prstGeom>
          <a:noFill/>
          <a:ln>
            <a:noFill/>
          </a:ln>
        </p:spPr>
        <p:txBody>
          <a:bodyPr spcFirstLastPara="1" wrap="square" lIns="99051" tIns="49512" rIns="99051" bIns="49512" anchor="t" anchorCtr="0">
            <a:noAutofit/>
          </a:bodyPr>
          <a:lstStyle/>
          <a:p>
            <a:pPr marL="0" indent="0">
              <a:buClr>
                <a:schemeClr val="dk1"/>
              </a:buClr>
            </a:pPr>
            <a:endParaRPr dirty="0"/>
          </a:p>
        </p:txBody>
      </p:sp>
    </p:spTree>
    <p:extLst>
      <p:ext uri="{BB962C8B-B14F-4D97-AF65-F5344CB8AC3E}">
        <p14:creationId xmlns:p14="http://schemas.microsoft.com/office/powerpoint/2010/main" val="1927789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098889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algn="r">
              <a:buSzPts val="1200"/>
            </a:pPr>
            <a:fld id="{00000000-1234-1234-1234-123412341234}" type="slidenum">
              <a:rPr lang="en-US" sz="1300">
                <a:solidFill>
                  <a:schemeClr val="dk1"/>
                </a:solidFill>
                <a:latin typeface="Calibri"/>
                <a:ea typeface="Calibri"/>
                <a:cs typeface="Calibri"/>
                <a:sym typeface="Calibri"/>
              </a:rPr>
              <a:pPr algn="r">
                <a:buSzPts val="1200"/>
              </a:pPr>
              <a:t>9</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32083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algn="r">
              <a:buSzPts val="1200"/>
            </a:pPr>
            <a:fld id="{00000000-1234-1234-1234-123412341234}" type="slidenum">
              <a:rPr lang="en-US" sz="1300">
                <a:solidFill>
                  <a:schemeClr val="dk1"/>
                </a:solidFill>
                <a:latin typeface="Calibri"/>
                <a:ea typeface="Calibri"/>
                <a:cs typeface="Calibri"/>
                <a:sym typeface="Calibri"/>
              </a:rPr>
              <a:pPr algn="r">
                <a:buSzPts val="1200"/>
              </a:pPr>
              <a:t>10</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38420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algn="r">
              <a:buSzPts val="1200"/>
            </a:pPr>
            <a:fld id="{00000000-1234-1234-1234-123412341234}" type="slidenum">
              <a:rPr lang="en-US" sz="1300">
                <a:solidFill>
                  <a:schemeClr val="dk1"/>
                </a:solidFill>
                <a:latin typeface="Calibri"/>
                <a:ea typeface="Calibri"/>
                <a:cs typeface="Calibri"/>
                <a:sym typeface="Calibri"/>
              </a:rPr>
              <a:pPr algn="r">
                <a:buSzPts val="1200"/>
              </a:pPr>
              <a:t>11</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053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algn="r">
              <a:buSzPts val="1200"/>
            </a:pPr>
            <a:fld id="{00000000-1234-1234-1234-123412341234}" type="slidenum">
              <a:rPr lang="en-US" sz="1300">
                <a:solidFill>
                  <a:schemeClr val="dk1"/>
                </a:solidFill>
                <a:latin typeface="Calibri"/>
                <a:ea typeface="Calibri"/>
                <a:cs typeface="Calibri"/>
                <a:sym typeface="Calibri"/>
              </a:rPr>
              <a:pPr algn="r">
                <a:buSzPts val="1200"/>
              </a:pPr>
              <a:t>12</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62114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algn="r">
              <a:buSzPts val="1200"/>
            </a:pPr>
            <a:fld id="{00000000-1234-1234-1234-123412341234}" type="slidenum">
              <a:rPr lang="en-US" sz="1300">
                <a:solidFill>
                  <a:schemeClr val="dk1"/>
                </a:solidFill>
                <a:latin typeface="Calibri"/>
                <a:ea typeface="Calibri"/>
                <a:cs typeface="Calibri"/>
                <a:sym typeface="Calibri"/>
              </a:rPr>
              <a:pPr algn="r">
                <a:buSzPts val="1200"/>
              </a:pPr>
              <a:t>13</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43955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6: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p6:notes"/>
          <p:cNvSpPr txBox="1">
            <a:spLocks noGrp="1"/>
          </p:cNvSpPr>
          <p:nvPr>
            <p:ph type="body" idx="1"/>
          </p:nvPr>
        </p:nvSpPr>
        <p:spPr>
          <a:xfrm>
            <a:off x="710407" y="4925408"/>
            <a:ext cx="5683250" cy="4030047"/>
          </a:xfrm>
          <a:prstGeom prst="rect">
            <a:avLst/>
          </a:prstGeom>
          <a:noFill/>
          <a:ln>
            <a:noFill/>
          </a:ln>
        </p:spPr>
        <p:txBody>
          <a:bodyPr spcFirstLastPara="1" wrap="square" lIns="99051" tIns="49512" rIns="99051" bIns="49512" anchor="t" anchorCtr="0">
            <a:noAutofit/>
          </a:bodyPr>
          <a:lstStyle/>
          <a:p>
            <a:pPr marL="0" inden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over Slide">
  <p:cSld name="Cover Slide">
    <p:bg>
      <p:bgPr>
        <a:solidFill>
          <a:srgbClr val="BD0F72"/>
        </a:solidFill>
        <a:effectLst/>
      </p:bgPr>
    </p:bg>
    <p:spTree>
      <p:nvGrpSpPr>
        <p:cNvPr id="1" name="Shape 25"/>
        <p:cNvGrpSpPr/>
        <p:nvPr/>
      </p:nvGrpSpPr>
      <p:grpSpPr>
        <a:xfrm>
          <a:off x="0" y="0"/>
          <a:ext cx="0" cy="0"/>
          <a:chOff x="0" y="0"/>
          <a:chExt cx="0" cy="0"/>
        </a:xfrm>
      </p:grpSpPr>
      <p:sp>
        <p:nvSpPr>
          <p:cNvPr id="26" name="Google Shape;26;p36"/>
          <p:cNvSpPr/>
          <p:nvPr/>
        </p:nvSpPr>
        <p:spPr>
          <a:xfrm>
            <a:off x="9582517" y="6649661"/>
            <a:ext cx="2319546" cy="143629"/>
          </a:xfrm>
          <a:prstGeom prst="rect">
            <a:avLst/>
          </a:prstGeom>
          <a:noFill/>
          <a:ln>
            <a:noFill/>
          </a:ln>
        </p:spPr>
        <p:txBody>
          <a:bodyPr spcFirstLastPara="1" wrap="square" lIns="25400" tIns="25400" rIns="25400" bIns="2540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chemeClr val="lt1"/>
                </a:solidFill>
                <a:latin typeface="Arial"/>
                <a:ea typeface="Arial"/>
                <a:cs typeface="Arial"/>
                <a:sym typeface="Arial"/>
              </a:rPr>
              <a:t>Copyright © Ocean Network Express Pte. Ltd. All Rights Reserved</a:t>
            </a:r>
            <a:endParaRPr sz="1400" b="0" i="0" u="none" strike="noStrike" cap="none">
              <a:solidFill>
                <a:srgbClr val="000000"/>
              </a:solidFill>
              <a:latin typeface="Arial"/>
              <a:ea typeface="Arial"/>
              <a:cs typeface="Arial"/>
              <a:sym typeface="Arial"/>
            </a:endParaRPr>
          </a:p>
        </p:txBody>
      </p:sp>
      <p:sp>
        <p:nvSpPr>
          <p:cNvPr id="27" name="Google Shape;27;p36"/>
          <p:cNvSpPr txBox="1">
            <a:spLocks noGrp="1"/>
          </p:cNvSpPr>
          <p:nvPr>
            <p:ph type="title"/>
          </p:nvPr>
        </p:nvSpPr>
        <p:spPr>
          <a:xfrm>
            <a:off x="702387" y="2228584"/>
            <a:ext cx="6164406" cy="786604"/>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R="0" lvl="1"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9pPr>
          </a:lstStyle>
          <a:p>
            <a:endParaRPr/>
          </a:p>
        </p:txBody>
      </p:sp>
      <p:sp>
        <p:nvSpPr>
          <p:cNvPr id="28" name="Google Shape;28;p36"/>
          <p:cNvSpPr txBox="1">
            <a:spLocks noGrp="1"/>
          </p:cNvSpPr>
          <p:nvPr>
            <p:ph type="body" idx="1"/>
          </p:nvPr>
        </p:nvSpPr>
        <p:spPr>
          <a:xfrm>
            <a:off x="702387" y="5908431"/>
            <a:ext cx="6164406" cy="4103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950"/>
              </a:spcBef>
              <a:spcAft>
                <a:spcPts val="0"/>
              </a:spcAft>
              <a:buClr>
                <a:schemeClr val="lt1"/>
              </a:buClr>
              <a:buSzPts val="1500"/>
              <a:buFont typeface="Arial"/>
              <a:buNone/>
              <a:defRPr sz="2000" b="0" i="0" u="none" strike="noStrike" cap="none">
                <a:solidFill>
                  <a:schemeClr val="lt1"/>
                </a:solidFill>
                <a:latin typeface="Arial"/>
                <a:ea typeface="Arial"/>
                <a:cs typeface="Arial"/>
                <a:sym typeface="Arial"/>
              </a:defRPr>
            </a:lvl1pPr>
            <a:lvl2pPr marL="914400" marR="0" lvl="1" indent="-228600" algn="l" rtl="0">
              <a:lnSpc>
                <a:spcPct val="100000"/>
              </a:lnSpc>
              <a:spcBef>
                <a:spcPts val="2950"/>
              </a:spcBef>
              <a:spcAft>
                <a:spcPts val="0"/>
              </a:spcAft>
              <a:buClr>
                <a:srgbClr val="000000"/>
              </a:buClr>
              <a:buSzPts val="1500"/>
              <a:buFont typeface="Arial"/>
              <a:buNone/>
              <a:defRPr sz="2000" b="0" i="0" u="none" strike="noStrike" cap="none">
                <a:solidFill>
                  <a:srgbClr val="000000"/>
                </a:solidFill>
                <a:latin typeface="Arial"/>
                <a:ea typeface="Arial"/>
                <a:cs typeface="Arial"/>
                <a:sym typeface="Arial"/>
              </a:defRPr>
            </a:lvl2pPr>
            <a:lvl3pPr marL="1371600" marR="0" lvl="2" indent="-323850" algn="l" rtl="0">
              <a:lnSpc>
                <a:spcPct val="100000"/>
              </a:lnSpc>
              <a:spcBef>
                <a:spcPts val="2950"/>
              </a:spcBef>
              <a:spcAft>
                <a:spcPts val="0"/>
              </a:spcAft>
              <a:buClr>
                <a:srgbClr val="000000"/>
              </a:buClr>
              <a:buSzPts val="1500"/>
              <a:buFont typeface="Arial Black"/>
              <a:buChar char="•"/>
              <a:defRPr sz="2000" b="0" i="0" u="none" strike="noStrike" cap="none">
                <a:solidFill>
                  <a:srgbClr val="000000"/>
                </a:solidFill>
                <a:latin typeface="Arial Black"/>
                <a:ea typeface="Arial Black"/>
                <a:cs typeface="Arial Black"/>
                <a:sym typeface="Arial Black"/>
              </a:defRPr>
            </a:lvl3pPr>
            <a:lvl4pPr marL="1828800" marR="0" lvl="3" indent="-323850" algn="l" rtl="0">
              <a:lnSpc>
                <a:spcPct val="100000"/>
              </a:lnSpc>
              <a:spcBef>
                <a:spcPts val="2950"/>
              </a:spcBef>
              <a:spcAft>
                <a:spcPts val="0"/>
              </a:spcAft>
              <a:buClr>
                <a:srgbClr val="000000"/>
              </a:buClr>
              <a:buSzPts val="1500"/>
              <a:buFont typeface="Arial Black"/>
              <a:buChar char="•"/>
              <a:defRPr sz="2000" b="0" i="0" u="none" strike="noStrike" cap="none">
                <a:solidFill>
                  <a:srgbClr val="000000"/>
                </a:solidFill>
                <a:latin typeface="Arial Black"/>
                <a:ea typeface="Arial Black"/>
                <a:cs typeface="Arial Black"/>
                <a:sym typeface="Arial Black"/>
              </a:defRPr>
            </a:lvl4pPr>
            <a:lvl5pPr marL="2286000" marR="0" lvl="4" indent="-323850" algn="l" rtl="0">
              <a:lnSpc>
                <a:spcPct val="100000"/>
              </a:lnSpc>
              <a:spcBef>
                <a:spcPts val="2950"/>
              </a:spcBef>
              <a:spcAft>
                <a:spcPts val="0"/>
              </a:spcAft>
              <a:buClr>
                <a:srgbClr val="000000"/>
              </a:buClr>
              <a:buSzPts val="1500"/>
              <a:buFont typeface="Arial Black"/>
              <a:buChar char="•"/>
              <a:defRPr sz="2000" b="0" i="0" u="none" strike="noStrike" cap="none">
                <a:solidFill>
                  <a:srgbClr val="000000"/>
                </a:solidFill>
                <a:latin typeface="Arial Black"/>
                <a:ea typeface="Arial Black"/>
                <a:cs typeface="Arial Black"/>
                <a:sym typeface="Arial Black"/>
              </a:defRPr>
            </a:lvl5pPr>
            <a:lvl6pPr marL="2743200" marR="0" lvl="5" indent="-323850" algn="l" rtl="0">
              <a:lnSpc>
                <a:spcPct val="100000"/>
              </a:lnSpc>
              <a:spcBef>
                <a:spcPts val="2950"/>
              </a:spcBef>
              <a:spcAft>
                <a:spcPts val="0"/>
              </a:spcAft>
              <a:buClr>
                <a:srgbClr val="000000"/>
              </a:buClr>
              <a:buSzPts val="1500"/>
              <a:buFont typeface="Arial Black"/>
              <a:buChar char="•"/>
              <a:defRPr sz="2000" b="0" i="0" u="none" strike="noStrike" cap="none">
                <a:solidFill>
                  <a:srgbClr val="000000"/>
                </a:solidFill>
                <a:latin typeface="Arial Black"/>
                <a:ea typeface="Arial Black"/>
                <a:cs typeface="Arial Black"/>
                <a:sym typeface="Arial Black"/>
              </a:defRPr>
            </a:lvl6pPr>
            <a:lvl7pPr marL="3200400" marR="0" lvl="6" indent="-323850" algn="l" rtl="0">
              <a:lnSpc>
                <a:spcPct val="100000"/>
              </a:lnSpc>
              <a:spcBef>
                <a:spcPts val="2950"/>
              </a:spcBef>
              <a:spcAft>
                <a:spcPts val="0"/>
              </a:spcAft>
              <a:buClr>
                <a:srgbClr val="000000"/>
              </a:buClr>
              <a:buSzPts val="1500"/>
              <a:buFont typeface="Arial Black"/>
              <a:buChar char="•"/>
              <a:defRPr sz="2000" b="0" i="0" u="none" strike="noStrike" cap="none">
                <a:solidFill>
                  <a:srgbClr val="000000"/>
                </a:solidFill>
                <a:latin typeface="Arial Black"/>
                <a:ea typeface="Arial Black"/>
                <a:cs typeface="Arial Black"/>
                <a:sym typeface="Arial Black"/>
              </a:defRPr>
            </a:lvl7pPr>
            <a:lvl8pPr marL="3657600" marR="0" lvl="7" indent="-323850" algn="l" rtl="0">
              <a:lnSpc>
                <a:spcPct val="100000"/>
              </a:lnSpc>
              <a:spcBef>
                <a:spcPts val="2950"/>
              </a:spcBef>
              <a:spcAft>
                <a:spcPts val="0"/>
              </a:spcAft>
              <a:buClr>
                <a:srgbClr val="000000"/>
              </a:buClr>
              <a:buSzPts val="1500"/>
              <a:buFont typeface="Arial Black"/>
              <a:buChar char="•"/>
              <a:defRPr sz="2000" b="0" i="0" u="none" strike="noStrike" cap="none">
                <a:solidFill>
                  <a:srgbClr val="000000"/>
                </a:solidFill>
                <a:latin typeface="Arial Black"/>
                <a:ea typeface="Arial Black"/>
                <a:cs typeface="Arial Black"/>
                <a:sym typeface="Arial Black"/>
              </a:defRPr>
            </a:lvl8pPr>
            <a:lvl9pPr marL="4114800" marR="0" lvl="8" indent="-323850" algn="l" rtl="0">
              <a:lnSpc>
                <a:spcPct val="100000"/>
              </a:lnSpc>
              <a:spcBef>
                <a:spcPts val="2950"/>
              </a:spcBef>
              <a:spcAft>
                <a:spcPts val="0"/>
              </a:spcAft>
              <a:buClr>
                <a:srgbClr val="000000"/>
              </a:buClr>
              <a:buSzPts val="1500"/>
              <a:buFont typeface="Arial Black"/>
              <a:buChar char="•"/>
              <a:defRPr sz="2000" b="0" i="0" u="none" strike="noStrike" cap="none">
                <a:solidFill>
                  <a:srgbClr val="000000"/>
                </a:solidFill>
                <a:latin typeface="Arial Black"/>
                <a:ea typeface="Arial Black"/>
                <a:cs typeface="Arial Black"/>
                <a:sym typeface="Arial Black"/>
              </a:defRPr>
            </a:lvl9pPr>
          </a:lstStyle>
          <a:p>
            <a:endParaRPr/>
          </a:p>
        </p:txBody>
      </p:sp>
      <p:pic>
        <p:nvPicPr>
          <p:cNvPr id="29" name="Google Shape;29;p36"/>
          <p:cNvPicPr preferRelativeResize="0"/>
          <p:nvPr/>
        </p:nvPicPr>
        <p:blipFill rotWithShape="1">
          <a:blip r:embed="rId2">
            <a:alphaModFix/>
          </a:blip>
          <a:srcRect/>
          <a:stretch/>
        </p:blipFill>
        <p:spPr>
          <a:xfrm>
            <a:off x="7617385" y="2228584"/>
            <a:ext cx="3793099" cy="240083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age Layout 1">
  <p:cSld name="Page Layout 1">
    <p:spTree>
      <p:nvGrpSpPr>
        <p:cNvPr id="1" name="Shape 30"/>
        <p:cNvGrpSpPr/>
        <p:nvPr/>
      </p:nvGrpSpPr>
      <p:grpSpPr>
        <a:xfrm>
          <a:off x="0" y="0"/>
          <a:ext cx="0" cy="0"/>
          <a:chOff x="0" y="0"/>
          <a:chExt cx="0" cy="0"/>
        </a:xfrm>
      </p:grpSpPr>
      <p:sp>
        <p:nvSpPr>
          <p:cNvPr id="31" name="Google Shape;31;p57"/>
          <p:cNvSpPr txBox="1">
            <a:spLocks noGrp="1"/>
          </p:cNvSpPr>
          <p:nvPr>
            <p:ph type="title"/>
          </p:nvPr>
        </p:nvSpPr>
        <p:spPr>
          <a:xfrm>
            <a:off x="1949847" y="199173"/>
            <a:ext cx="9971100" cy="3579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BD0F72"/>
              </a:buClr>
              <a:buSzPts val="1900"/>
              <a:buFont typeface="Arial Black"/>
              <a:buNone/>
              <a:defRPr sz="2533" b="0" i="0" u="none" strike="noStrike" cap="none">
                <a:solidFill>
                  <a:srgbClr val="BD0F72"/>
                </a:solidFill>
                <a:latin typeface="Arial Black"/>
                <a:ea typeface="Arial Black"/>
                <a:cs typeface="Arial Black"/>
                <a:sym typeface="Arial Black"/>
              </a:defRPr>
            </a:lvl1pPr>
            <a:lvl2pPr marR="0" lvl="1" algn="ctr" rtl="0">
              <a:lnSpc>
                <a:spcPct val="100000"/>
              </a:lnSpc>
              <a:spcBef>
                <a:spcPts val="0"/>
              </a:spcBef>
              <a:spcAft>
                <a:spcPts val="0"/>
              </a:spcAft>
              <a:buClr>
                <a:srgbClr val="000000"/>
              </a:buClr>
              <a:buSzPts val="4200"/>
              <a:buFont typeface="Arial"/>
              <a:buNone/>
              <a:defRPr sz="56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4200"/>
              <a:buFont typeface="Arial"/>
              <a:buNone/>
              <a:defRPr sz="56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4200"/>
              <a:buFont typeface="Arial"/>
              <a:buNone/>
              <a:defRPr sz="56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4200"/>
              <a:buFont typeface="Arial"/>
              <a:buNone/>
              <a:defRPr sz="56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4200"/>
              <a:buFont typeface="Arial"/>
              <a:buNone/>
              <a:defRPr sz="56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4200"/>
              <a:buFont typeface="Arial"/>
              <a:buNone/>
              <a:defRPr sz="56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4200"/>
              <a:buFont typeface="Arial"/>
              <a:buNone/>
              <a:defRPr sz="56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4200"/>
              <a:buFont typeface="Arial"/>
              <a:buNone/>
              <a:defRPr sz="5600" b="0" i="0" u="none" strike="noStrike" cap="none">
                <a:solidFill>
                  <a:srgbClr val="000000"/>
                </a:solidFill>
                <a:latin typeface="Arial"/>
                <a:ea typeface="Arial"/>
                <a:cs typeface="Arial"/>
                <a:sym typeface="Arial"/>
              </a:defRPr>
            </a:lvl9pPr>
          </a:lstStyle>
          <a:p>
            <a:endParaRPr/>
          </a:p>
        </p:txBody>
      </p:sp>
      <p:sp>
        <p:nvSpPr>
          <p:cNvPr id="32" name="Google Shape;32;p57"/>
          <p:cNvSpPr txBox="1">
            <a:spLocks noGrp="1"/>
          </p:cNvSpPr>
          <p:nvPr>
            <p:ph type="body" idx="1"/>
          </p:nvPr>
        </p:nvSpPr>
        <p:spPr>
          <a:xfrm>
            <a:off x="270669" y="967155"/>
            <a:ext cx="11650800" cy="5512800"/>
          </a:xfrm>
          <a:prstGeom prst="rect">
            <a:avLst/>
          </a:prstGeom>
          <a:noFill/>
          <a:ln>
            <a:noFill/>
          </a:ln>
        </p:spPr>
        <p:txBody>
          <a:bodyPr spcFirstLastPara="1" wrap="square" lIns="68575" tIns="34275" rIns="68575" bIns="34275" anchor="t" anchorCtr="0">
            <a:noAutofit/>
          </a:bodyPr>
          <a:lstStyle>
            <a:lvl1pPr marL="457200" marR="0" lvl="0" indent="-298450" algn="l" rtl="0">
              <a:lnSpc>
                <a:spcPct val="100000"/>
              </a:lnSpc>
              <a:spcBef>
                <a:spcPts val="1467"/>
              </a:spcBef>
              <a:spcAft>
                <a:spcPts val="0"/>
              </a:spcAft>
              <a:buClr>
                <a:srgbClr val="000000"/>
              </a:buClr>
              <a:buSzPts val="1100"/>
              <a:buFont typeface="Arial"/>
              <a:buChar char="•"/>
              <a:defRPr sz="2000" b="0" i="0" u="none" strike="noStrike" cap="none">
                <a:solidFill>
                  <a:srgbClr val="000000"/>
                </a:solidFill>
                <a:latin typeface="Arial"/>
                <a:ea typeface="Arial"/>
                <a:cs typeface="Arial"/>
                <a:sym typeface="Arial"/>
              </a:defRPr>
            </a:lvl1pPr>
            <a:lvl2pPr marL="914400" marR="0" lvl="1" indent="-298450" algn="l" rtl="0">
              <a:lnSpc>
                <a:spcPct val="100000"/>
              </a:lnSpc>
              <a:spcBef>
                <a:spcPts val="1467"/>
              </a:spcBef>
              <a:spcAft>
                <a:spcPts val="0"/>
              </a:spcAft>
              <a:buClr>
                <a:srgbClr val="000000"/>
              </a:buClr>
              <a:buSzPts val="1100"/>
              <a:buFont typeface="Arial"/>
              <a:buChar char="•"/>
              <a:defRPr sz="2000" b="0" i="0" u="none" strike="noStrike" cap="none">
                <a:solidFill>
                  <a:srgbClr val="000000"/>
                </a:solidFill>
                <a:latin typeface="Arial"/>
                <a:ea typeface="Arial"/>
                <a:cs typeface="Arial"/>
                <a:sym typeface="Arial"/>
              </a:defRPr>
            </a:lvl2pPr>
            <a:lvl3pPr marL="1371600" marR="0" lvl="2" indent="-298450" algn="l" rtl="0">
              <a:lnSpc>
                <a:spcPct val="100000"/>
              </a:lnSpc>
              <a:spcBef>
                <a:spcPts val="1467"/>
              </a:spcBef>
              <a:spcAft>
                <a:spcPts val="0"/>
              </a:spcAft>
              <a:buClr>
                <a:srgbClr val="000000"/>
              </a:buClr>
              <a:buSzPts val="1100"/>
              <a:buFont typeface="Arial"/>
              <a:buChar char="•"/>
              <a:defRPr sz="2000" b="0" i="0" u="none" strike="noStrike" cap="none">
                <a:solidFill>
                  <a:srgbClr val="000000"/>
                </a:solidFill>
                <a:latin typeface="Arial"/>
                <a:ea typeface="Arial"/>
                <a:cs typeface="Arial"/>
                <a:sym typeface="Arial"/>
              </a:defRPr>
            </a:lvl3pPr>
            <a:lvl4pPr marL="1828800" marR="0" lvl="3" indent="-298450" algn="l" rtl="0">
              <a:lnSpc>
                <a:spcPct val="100000"/>
              </a:lnSpc>
              <a:spcBef>
                <a:spcPts val="1467"/>
              </a:spcBef>
              <a:spcAft>
                <a:spcPts val="0"/>
              </a:spcAft>
              <a:buClr>
                <a:srgbClr val="000000"/>
              </a:buClr>
              <a:buSzPts val="1100"/>
              <a:buFont typeface="Arial"/>
              <a:buChar char="•"/>
              <a:defRPr sz="2000" b="0" i="0" u="none" strike="noStrike" cap="none">
                <a:solidFill>
                  <a:srgbClr val="000000"/>
                </a:solidFill>
                <a:latin typeface="Arial"/>
                <a:ea typeface="Arial"/>
                <a:cs typeface="Arial"/>
                <a:sym typeface="Arial"/>
              </a:defRPr>
            </a:lvl4pPr>
            <a:lvl5pPr marL="2286000" marR="0" lvl="4" indent="-298450" algn="l" rtl="0">
              <a:lnSpc>
                <a:spcPct val="100000"/>
              </a:lnSpc>
              <a:spcBef>
                <a:spcPts val="1467"/>
              </a:spcBef>
              <a:spcAft>
                <a:spcPts val="0"/>
              </a:spcAft>
              <a:buClr>
                <a:srgbClr val="000000"/>
              </a:buClr>
              <a:buSzPts val="1100"/>
              <a:buFont typeface="Arial"/>
              <a:buChar char="•"/>
              <a:defRPr sz="2000" b="0" i="0" u="none" strike="noStrike" cap="none">
                <a:solidFill>
                  <a:srgbClr val="000000"/>
                </a:solidFill>
                <a:latin typeface="Arial"/>
                <a:ea typeface="Arial"/>
                <a:cs typeface="Arial"/>
                <a:sym typeface="Arial"/>
              </a:defRPr>
            </a:lvl5pPr>
            <a:lvl6pPr marL="2743200" marR="0" lvl="5" indent="-298450" algn="l" rtl="0">
              <a:lnSpc>
                <a:spcPct val="100000"/>
              </a:lnSpc>
              <a:spcBef>
                <a:spcPts val="2933"/>
              </a:spcBef>
              <a:spcAft>
                <a:spcPts val="0"/>
              </a:spcAft>
              <a:buClr>
                <a:srgbClr val="000000"/>
              </a:buClr>
              <a:buSzPts val="1100"/>
              <a:buFont typeface="Arial Black"/>
              <a:buChar char="•"/>
              <a:defRPr sz="2000" b="0" i="0" u="none" strike="noStrike" cap="none">
                <a:solidFill>
                  <a:srgbClr val="000000"/>
                </a:solidFill>
                <a:latin typeface="Arial Black"/>
                <a:ea typeface="Arial Black"/>
                <a:cs typeface="Arial Black"/>
                <a:sym typeface="Arial Black"/>
              </a:defRPr>
            </a:lvl6pPr>
            <a:lvl7pPr marL="3200400" marR="0" lvl="6" indent="-298450" algn="l" rtl="0">
              <a:lnSpc>
                <a:spcPct val="100000"/>
              </a:lnSpc>
              <a:spcBef>
                <a:spcPts val="2933"/>
              </a:spcBef>
              <a:spcAft>
                <a:spcPts val="0"/>
              </a:spcAft>
              <a:buClr>
                <a:srgbClr val="000000"/>
              </a:buClr>
              <a:buSzPts val="1100"/>
              <a:buFont typeface="Arial Black"/>
              <a:buChar char="•"/>
              <a:defRPr sz="2000" b="0" i="0" u="none" strike="noStrike" cap="none">
                <a:solidFill>
                  <a:srgbClr val="000000"/>
                </a:solidFill>
                <a:latin typeface="Arial Black"/>
                <a:ea typeface="Arial Black"/>
                <a:cs typeface="Arial Black"/>
                <a:sym typeface="Arial Black"/>
              </a:defRPr>
            </a:lvl7pPr>
            <a:lvl8pPr marL="3657600" marR="0" lvl="7" indent="-298450" algn="l" rtl="0">
              <a:lnSpc>
                <a:spcPct val="100000"/>
              </a:lnSpc>
              <a:spcBef>
                <a:spcPts val="2933"/>
              </a:spcBef>
              <a:spcAft>
                <a:spcPts val="0"/>
              </a:spcAft>
              <a:buClr>
                <a:srgbClr val="000000"/>
              </a:buClr>
              <a:buSzPts val="1100"/>
              <a:buFont typeface="Arial Black"/>
              <a:buChar char="•"/>
              <a:defRPr sz="2000" b="0" i="0" u="none" strike="noStrike" cap="none">
                <a:solidFill>
                  <a:srgbClr val="000000"/>
                </a:solidFill>
                <a:latin typeface="Arial Black"/>
                <a:ea typeface="Arial Black"/>
                <a:cs typeface="Arial Black"/>
                <a:sym typeface="Arial Black"/>
              </a:defRPr>
            </a:lvl8pPr>
            <a:lvl9pPr marL="4114800" marR="0" lvl="8" indent="-298450" algn="l" rtl="0">
              <a:lnSpc>
                <a:spcPct val="100000"/>
              </a:lnSpc>
              <a:spcBef>
                <a:spcPts val="2933"/>
              </a:spcBef>
              <a:spcAft>
                <a:spcPts val="0"/>
              </a:spcAft>
              <a:buClr>
                <a:srgbClr val="000000"/>
              </a:buClr>
              <a:buSzPts val="1100"/>
              <a:buFont typeface="Arial Black"/>
              <a:buChar char="•"/>
              <a:defRPr sz="2000" b="0" i="0" u="none" strike="noStrike" cap="none">
                <a:solidFill>
                  <a:srgbClr val="000000"/>
                </a:solidFill>
                <a:latin typeface="Arial Black"/>
                <a:ea typeface="Arial Black"/>
                <a:cs typeface="Arial Black"/>
                <a:sym typeface="Arial Black"/>
              </a:defRPr>
            </a:lvl9pPr>
          </a:lstStyle>
          <a:p>
            <a:endParaRPr/>
          </a:p>
        </p:txBody>
      </p:sp>
      <p:sp>
        <p:nvSpPr>
          <p:cNvPr id="33" name="Google Shape;33;p57"/>
          <p:cNvSpPr txBox="1">
            <a:spLocks noGrp="1"/>
          </p:cNvSpPr>
          <p:nvPr>
            <p:ph type="sldNum" idx="12"/>
          </p:nvPr>
        </p:nvSpPr>
        <p:spPr>
          <a:xfrm>
            <a:off x="257911" y="6479931"/>
            <a:ext cx="2743200" cy="241500"/>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500"/>
              <a:buFont typeface="Arial"/>
              <a:buNone/>
              <a:defRPr sz="667"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500"/>
              <a:buFont typeface="Arial"/>
              <a:buNone/>
              <a:defRPr sz="667"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500"/>
              <a:buFont typeface="Arial"/>
              <a:buNone/>
              <a:defRPr sz="667"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500"/>
              <a:buFont typeface="Arial"/>
              <a:buNone/>
              <a:defRPr sz="667"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500"/>
              <a:buFont typeface="Arial"/>
              <a:buNone/>
              <a:defRPr sz="667"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500"/>
              <a:buFont typeface="Arial"/>
              <a:buNone/>
              <a:defRPr sz="667"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500"/>
              <a:buFont typeface="Arial"/>
              <a:buNone/>
              <a:defRPr sz="667"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500"/>
              <a:buFont typeface="Arial"/>
              <a:buNone/>
              <a:defRPr sz="667"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500"/>
              <a:buFont typeface="Arial"/>
              <a:buNone/>
              <a:defRPr sz="667"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_Ending Slide Option 1">
  <p:cSld name="1_Ending Slide Option 1">
    <p:bg>
      <p:bgPr>
        <a:solidFill>
          <a:srgbClr val="BD0F72"/>
        </a:solidFill>
        <a:effectLst/>
      </p:bgPr>
    </p:bg>
    <p:spTree>
      <p:nvGrpSpPr>
        <p:cNvPr id="1" name="Shape 44"/>
        <p:cNvGrpSpPr/>
        <p:nvPr/>
      </p:nvGrpSpPr>
      <p:grpSpPr>
        <a:xfrm>
          <a:off x="0" y="0"/>
          <a:ext cx="0" cy="0"/>
          <a:chOff x="0" y="0"/>
          <a:chExt cx="0" cy="0"/>
        </a:xfrm>
      </p:grpSpPr>
      <p:sp>
        <p:nvSpPr>
          <p:cNvPr id="45" name="Google Shape;45;g12608ccb02c_2_1565"/>
          <p:cNvSpPr/>
          <p:nvPr/>
        </p:nvSpPr>
        <p:spPr>
          <a:xfrm>
            <a:off x="9582517" y="6649661"/>
            <a:ext cx="2319600" cy="1437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chemeClr val="lt1"/>
                </a:solidFill>
                <a:latin typeface="Arial"/>
                <a:ea typeface="Arial"/>
                <a:cs typeface="Arial"/>
                <a:sym typeface="Arial"/>
              </a:rPr>
              <a:t>Copyright © Ocean Network Express Pte. Ltd. All Rights Reserved</a:t>
            </a:r>
            <a:endParaRPr sz="1400" b="0" i="0" u="none" strike="noStrike" cap="none">
              <a:solidFill>
                <a:srgbClr val="000000"/>
              </a:solidFill>
              <a:latin typeface="Arial"/>
              <a:ea typeface="Arial"/>
              <a:cs typeface="Arial"/>
              <a:sym typeface="Arial"/>
            </a:endParaRPr>
          </a:p>
        </p:txBody>
      </p:sp>
      <p:sp>
        <p:nvSpPr>
          <p:cNvPr id="46" name="Google Shape;46;g12608ccb02c_2_1565"/>
          <p:cNvSpPr txBox="1">
            <a:spLocks noGrp="1"/>
          </p:cNvSpPr>
          <p:nvPr>
            <p:ph type="title"/>
          </p:nvPr>
        </p:nvSpPr>
        <p:spPr>
          <a:xfrm>
            <a:off x="767801" y="3035699"/>
            <a:ext cx="10656300" cy="7866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lt1"/>
              </a:buClr>
              <a:buSzPts val="3500"/>
              <a:buFont typeface="Arial"/>
              <a:buNone/>
              <a:defRPr sz="3500" b="1" i="0" u="none" strike="noStrike" cap="none">
                <a:solidFill>
                  <a:schemeClr val="lt1"/>
                </a:solidFill>
                <a:latin typeface="Arial"/>
                <a:ea typeface="Arial"/>
                <a:cs typeface="Arial"/>
                <a:sym typeface="Arial"/>
              </a:defRPr>
            </a:lvl1pPr>
            <a:lvl2pPr marR="0" lvl="1"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5600"/>
              <a:buFont typeface="Arial"/>
              <a:buNone/>
              <a:defRPr sz="5600" b="0" i="0" u="none" strike="noStrike" cap="none">
                <a:solidFill>
                  <a:srgbClr val="000000"/>
                </a:solidFill>
                <a:latin typeface="Arial"/>
                <a:ea typeface="Arial"/>
                <a:cs typeface="Arial"/>
                <a:sym typeface="Arial"/>
              </a:defRPr>
            </a:lvl9pPr>
          </a:lstStyle>
          <a:p>
            <a:endParaRPr/>
          </a:p>
        </p:txBody>
      </p:sp>
      <p:sp>
        <p:nvSpPr>
          <p:cNvPr id="47" name="Google Shape;47;g12608ccb02c_2_1565"/>
          <p:cNvSpPr txBox="1"/>
          <p:nvPr/>
        </p:nvSpPr>
        <p:spPr>
          <a:xfrm>
            <a:off x="696963" y="5803174"/>
            <a:ext cx="10797900" cy="438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250"/>
              <a:buFont typeface="Arial"/>
              <a:buNone/>
            </a:pPr>
            <a:r>
              <a:rPr lang="en-US" sz="2250" b="0" i="0" u="none" strike="noStrike" cap="none">
                <a:solidFill>
                  <a:schemeClr val="lt1"/>
                </a:solidFill>
                <a:latin typeface="Arial"/>
                <a:ea typeface="Arial"/>
                <a:cs typeface="Arial"/>
                <a:sym typeface="Arial"/>
              </a:rPr>
              <a:t>www.one-line.com</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8_Page Layout 1">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F210809-7ED9-45D5-9B66-4BD94F36BBD2}"/>
              </a:ext>
            </a:extLst>
          </p:cNvPr>
          <p:cNvSpPr>
            <a:spLocks noGrp="1"/>
          </p:cNvSpPr>
          <p:nvPr>
            <p:ph type="title" hasCustomPrompt="1"/>
          </p:nvPr>
        </p:nvSpPr>
        <p:spPr>
          <a:xfrm>
            <a:off x="2473569" y="199172"/>
            <a:ext cx="9447762" cy="357795"/>
          </a:xfrm>
          <a:prstGeom prst="rect">
            <a:avLst/>
          </a:prstGeom>
        </p:spPr>
        <p:txBody>
          <a:bodyPr/>
          <a:lstStyle>
            <a:lvl1pPr algn="l">
              <a:defRPr sz="2500">
                <a:solidFill>
                  <a:srgbClr val="BD0F72"/>
                </a:solidFill>
                <a:latin typeface="Arial Black" panose="020B0A04020102020204" pitchFamily="34" charset="0"/>
                <a:cs typeface="Arial" panose="020B0604020202020204" pitchFamily="34" charset="0"/>
              </a:defRPr>
            </a:lvl1pPr>
          </a:lstStyle>
          <a:p>
            <a:r>
              <a:rPr lang="en-US" dirty="0"/>
              <a:t>Section Title</a:t>
            </a:r>
            <a:endParaRPr lang="en-SG" dirty="0"/>
          </a:p>
        </p:txBody>
      </p:sp>
      <p:sp>
        <p:nvSpPr>
          <p:cNvPr id="13" name="Content Placeholder 12">
            <a:extLst>
              <a:ext uri="{FF2B5EF4-FFF2-40B4-BE49-F238E27FC236}">
                <a16:creationId xmlns:a16="http://schemas.microsoft.com/office/drawing/2014/main" id="{607DB240-6152-4485-82B2-A53CD172CD57}"/>
              </a:ext>
            </a:extLst>
          </p:cNvPr>
          <p:cNvSpPr>
            <a:spLocks noGrp="1"/>
          </p:cNvSpPr>
          <p:nvPr>
            <p:ph sz="quarter" idx="12"/>
          </p:nvPr>
        </p:nvSpPr>
        <p:spPr>
          <a:xfrm>
            <a:off x="270669" y="967155"/>
            <a:ext cx="11650663" cy="5512778"/>
          </a:xfrm>
          <a:prstGeom prst="rect">
            <a:avLst/>
          </a:prstGeom>
        </p:spPr>
        <p:txBody>
          <a:bodyPr/>
          <a:lstStyle>
            <a:lvl1pPr>
              <a:spcBef>
                <a:spcPts val="1500"/>
              </a:spcBef>
              <a:defRPr>
                <a:latin typeface="Arial" panose="020B0604020202020204" pitchFamily="34" charset="0"/>
                <a:cs typeface="Arial" panose="020B0604020202020204" pitchFamily="34" charset="0"/>
              </a:defRPr>
            </a:lvl1pPr>
            <a:lvl2pPr>
              <a:spcBef>
                <a:spcPts val="1500"/>
              </a:spcBef>
              <a:defRPr>
                <a:latin typeface="Arial" panose="020B0604020202020204" pitchFamily="34" charset="0"/>
                <a:cs typeface="Arial" panose="020B0604020202020204" pitchFamily="34" charset="0"/>
              </a:defRPr>
            </a:lvl2pPr>
            <a:lvl3pPr>
              <a:spcBef>
                <a:spcPts val="1500"/>
              </a:spcBef>
              <a:defRPr>
                <a:latin typeface="Arial" panose="020B0604020202020204" pitchFamily="34" charset="0"/>
                <a:cs typeface="Arial" panose="020B0604020202020204" pitchFamily="34" charset="0"/>
              </a:defRPr>
            </a:lvl3pPr>
            <a:lvl4pPr>
              <a:spcBef>
                <a:spcPts val="1500"/>
              </a:spcBef>
              <a:defRPr>
                <a:latin typeface="Arial" panose="020B0604020202020204" pitchFamily="34" charset="0"/>
                <a:cs typeface="Arial" panose="020B0604020202020204" pitchFamily="34" charset="0"/>
              </a:defRPr>
            </a:lvl4pPr>
            <a:lvl5pPr>
              <a:spcBef>
                <a:spcPts val="1500"/>
              </a:spcBef>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8" name="Slide Number Placeholder 5">
            <a:extLst>
              <a:ext uri="{FF2B5EF4-FFF2-40B4-BE49-F238E27FC236}">
                <a16:creationId xmlns:a16="http://schemas.microsoft.com/office/drawing/2014/main" id="{49E89D1E-4D2A-4758-A537-445B2E8A6F7B}"/>
              </a:ext>
            </a:extLst>
          </p:cNvPr>
          <p:cNvSpPr>
            <a:spLocks noGrp="1"/>
          </p:cNvSpPr>
          <p:nvPr>
            <p:ph type="sldNum" sz="quarter" idx="4"/>
          </p:nvPr>
        </p:nvSpPr>
        <p:spPr>
          <a:xfrm>
            <a:off x="257911" y="6479931"/>
            <a:ext cx="2743200" cy="241544"/>
          </a:xfrm>
          <a:prstGeom prst="rect">
            <a:avLst/>
          </a:prstGeom>
        </p:spPr>
        <p:txBody>
          <a:bodyPr vert="horz" lIns="91440" tIns="45720" rIns="91440" bIns="45720" rtlCol="0" anchor="ctr"/>
          <a:lstStyle>
            <a:lvl1pPr algn="l">
              <a:defRPr sz="600">
                <a:solidFill>
                  <a:schemeClr val="tx1"/>
                </a:solidFill>
                <a:latin typeface="Arial" panose="020B0604020202020204" pitchFamily="34" charset="0"/>
                <a:cs typeface="Arial" panose="020B0604020202020204" pitchFamily="34" charset="0"/>
              </a:defRPr>
            </a:lvl1pPr>
          </a:lstStyle>
          <a:p>
            <a:fld id="{EC0127F4-4675-4B17-A33D-7B3AA357E2F6}" type="slidenum">
              <a:rPr lang="en-SG" smtClean="0"/>
              <a:pPr/>
              <a:t>‹#›</a:t>
            </a:fld>
            <a:endParaRPr lang="en-SG"/>
          </a:p>
        </p:txBody>
      </p:sp>
    </p:spTree>
    <p:extLst>
      <p:ext uri="{BB962C8B-B14F-4D97-AF65-F5344CB8AC3E}">
        <p14:creationId xmlns:p14="http://schemas.microsoft.com/office/powerpoint/2010/main" val="4289249229"/>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cxnSp>
        <p:nvCxnSpPr>
          <p:cNvPr id="10" name="Google Shape;10;p43"/>
          <p:cNvCxnSpPr/>
          <p:nvPr/>
        </p:nvCxnSpPr>
        <p:spPr>
          <a:xfrm>
            <a:off x="272896" y="715089"/>
            <a:ext cx="1585200" cy="0"/>
          </a:xfrm>
          <a:prstGeom prst="straightConnector1">
            <a:avLst/>
          </a:prstGeom>
          <a:noFill/>
          <a:ln w="25400" cap="flat" cmpd="sng">
            <a:solidFill>
              <a:srgbClr val="000000"/>
            </a:solidFill>
            <a:prstDash val="solid"/>
            <a:miter lim="400000"/>
            <a:headEnd type="none" w="sm" len="sm"/>
            <a:tailEnd type="none" w="sm" len="sm"/>
          </a:ln>
        </p:spPr>
      </p:cxnSp>
      <p:pic>
        <p:nvPicPr>
          <p:cNvPr id="11" name="Google Shape;11;p43"/>
          <p:cNvPicPr preferRelativeResize="0"/>
          <p:nvPr/>
        </p:nvPicPr>
        <p:blipFill rotWithShape="1">
          <a:blip r:embed="rId6">
            <a:alphaModFix/>
          </a:blip>
          <a:srcRect/>
          <a:stretch/>
        </p:blipFill>
        <p:spPr>
          <a:xfrm>
            <a:off x="272897" y="226790"/>
            <a:ext cx="1406435" cy="298116"/>
          </a:xfrm>
          <a:prstGeom prst="rect">
            <a:avLst/>
          </a:prstGeom>
          <a:noFill/>
          <a:ln>
            <a:noFill/>
          </a:ln>
        </p:spPr>
      </p:pic>
      <p:sp>
        <p:nvSpPr>
          <p:cNvPr id="12" name="Google Shape;12;p43"/>
          <p:cNvSpPr/>
          <p:nvPr/>
        </p:nvSpPr>
        <p:spPr>
          <a:xfrm>
            <a:off x="9582517" y="6649661"/>
            <a:ext cx="2319546" cy="143629"/>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chemeClr val="dk1"/>
                </a:solidFill>
                <a:latin typeface="Arial"/>
                <a:ea typeface="Arial"/>
                <a:cs typeface="Arial"/>
                <a:sym typeface="Arial"/>
              </a:rPr>
              <a:t>Copyright © Ocean Network Express Pte. Ltd. All Rights Reserved</a:t>
            </a:r>
            <a:endParaRPr sz="1400" b="0" i="0" u="none" strike="noStrike" cap="none">
              <a:solidFill>
                <a:srgbClr val="000000"/>
              </a:solidFill>
              <a:latin typeface="Arial"/>
              <a:ea typeface="Arial"/>
              <a:cs typeface="Arial"/>
              <a:sym typeface="Arial"/>
            </a:endParaRPr>
          </a:p>
        </p:txBody>
      </p:sp>
      <p:cxnSp>
        <p:nvCxnSpPr>
          <p:cNvPr id="13" name="Google Shape;13;p43"/>
          <p:cNvCxnSpPr/>
          <p:nvPr/>
        </p:nvCxnSpPr>
        <p:spPr>
          <a:xfrm>
            <a:off x="1935133" y="715089"/>
            <a:ext cx="10029854" cy="0"/>
          </a:xfrm>
          <a:prstGeom prst="straightConnector1">
            <a:avLst/>
          </a:prstGeom>
          <a:noFill/>
          <a:ln w="25400" cap="flat" cmpd="sng">
            <a:solidFill>
              <a:srgbClr val="000000"/>
            </a:solidFill>
            <a:prstDash val="solid"/>
            <a:miter lim="400000"/>
            <a:headEnd type="none" w="sm" len="sm"/>
            <a:tailEnd type="none" w="sm" len="sm"/>
          </a:ln>
        </p:spPr>
      </p:cxnSp>
      <p:sp>
        <p:nvSpPr>
          <p:cNvPr id="14" name="Google Shape;14;p43"/>
          <p:cNvSpPr/>
          <p:nvPr/>
        </p:nvSpPr>
        <p:spPr>
          <a:xfrm>
            <a:off x="-1066800" y="1936250"/>
            <a:ext cx="1066800" cy="339915"/>
          </a:xfrm>
          <a:prstGeom prst="rect">
            <a:avLst/>
          </a:prstGeom>
          <a:solidFill>
            <a:srgbClr val="686F7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 name="Google Shape;15;p43"/>
          <p:cNvSpPr/>
          <p:nvPr/>
        </p:nvSpPr>
        <p:spPr>
          <a:xfrm>
            <a:off x="-1066800" y="2276165"/>
            <a:ext cx="1066800" cy="339915"/>
          </a:xfrm>
          <a:prstGeom prst="rect">
            <a:avLst/>
          </a:prstGeom>
          <a:solidFill>
            <a:srgbClr val="DFE7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6" name="Google Shape;16;p43"/>
          <p:cNvSpPr/>
          <p:nvPr/>
        </p:nvSpPr>
        <p:spPr>
          <a:xfrm>
            <a:off x="-1066800" y="2616080"/>
            <a:ext cx="1066800" cy="33991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Arial"/>
              <a:ea typeface="Arial"/>
              <a:cs typeface="Arial"/>
              <a:sym typeface="Arial"/>
            </a:endParaRPr>
          </a:p>
        </p:txBody>
      </p:sp>
      <p:sp>
        <p:nvSpPr>
          <p:cNvPr id="17" name="Google Shape;17;p43"/>
          <p:cNvSpPr/>
          <p:nvPr/>
        </p:nvSpPr>
        <p:spPr>
          <a:xfrm>
            <a:off x="-1066800" y="2955995"/>
            <a:ext cx="1066800" cy="339915"/>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8" name="Google Shape;18;p43"/>
          <p:cNvSpPr/>
          <p:nvPr/>
        </p:nvSpPr>
        <p:spPr>
          <a:xfrm>
            <a:off x="-1066800" y="3295910"/>
            <a:ext cx="1066800" cy="339915"/>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Arial"/>
              <a:ea typeface="Arial"/>
              <a:cs typeface="Arial"/>
              <a:sym typeface="Arial"/>
            </a:endParaRPr>
          </a:p>
        </p:txBody>
      </p:sp>
      <p:sp>
        <p:nvSpPr>
          <p:cNvPr id="19" name="Google Shape;19;p43"/>
          <p:cNvSpPr/>
          <p:nvPr/>
        </p:nvSpPr>
        <p:spPr>
          <a:xfrm>
            <a:off x="-1066800" y="3635825"/>
            <a:ext cx="1066800" cy="339915"/>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20" name="Google Shape;20;p43"/>
          <p:cNvSpPr/>
          <p:nvPr/>
        </p:nvSpPr>
        <p:spPr>
          <a:xfrm>
            <a:off x="-1066800" y="3975740"/>
            <a:ext cx="1066800" cy="339915"/>
          </a:xfrm>
          <a:prstGeom prst="rect">
            <a:avLst/>
          </a:prstGeom>
          <a:solidFill>
            <a:srgbClr val="5A5A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21" name="Google Shape;21;p43"/>
          <p:cNvSpPr/>
          <p:nvPr/>
        </p:nvSpPr>
        <p:spPr>
          <a:xfrm>
            <a:off x="-1066800" y="916505"/>
            <a:ext cx="1066800" cy="339915"/>
          </a:xfrm>
          <a:prstGeom prst="rect">
            <a:avLst/>
          </a:prstGeom>
          <a:solidFill>
            <a:srgbClr val="DD118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2" name="Google Shape;22;p43"/>
          <p:cNvSpPr/>
          <p:nvPr/>
        </p:nvSpPr>
        <p:spPr>
          <a:xfrm>
            <a:off x="-1066800" y="1256420"/>
            <a:ext cx="1066800" cy="339915"/>
          </a:xfrm>
          <a:prstGeom prst="rect">
            <a:avLst/>
          </a:prstGeom>
          <a:solidFill>
            <a:srgbClr val="F6DA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3" name="Google Shape;23;p43"/>
          <p:cNvSpPr/>
          <p:nvPr/>
        </p:nvSpPr>
        <p:spPr>
          <a:xfrm>
            <a:off x="-1066800" y="1596335"/>
            <a:ext cx="1066800" cy="339915"/>
          </a:xfrm>
          <a:prstGeom prst="rect">
            <a:avLst/>
          </a:prstGeom>
          <a:solidFill>
            <a:srgbClr val="004D6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 name="Google Shape;24;p43"/>
          <p:cNvSpPr/>
          <p:nvPr/>
        </p:nvSpPr>
        <p:spPr>
          <a:xfrm>
            <a:off x="-1066800" y="576590"/>
            <a:ext cx="1066800" cy="339915"/>
          </a:xfrm>
          <a:prstGeom prst="rect">
            <a:avLst/>
          </a:prstGeom>
          <a:solidFill>
            <a:srgbClr val="BD0F7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64"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a:spLocks noGrp="1"/>
          </p:cNvSpPr>
          <p:nvPr>
            <p:ph type="title"/>
          </p:nvPr>
        </p:nvSpPr>
        <p:spPr>
          <a:xfrm>
            <a:off x="702386" y="2059772"/>
            <a:ext cx="6628855" cy="78660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lt1"/>
              </a:buClr>
              <a:buSzPts val="3600"/>
              <a:buFont typeface="Arial"/>
              <a:buNone/>
            </a:pPr>
            <a:r>
              <a:rPr lang="en-US" altLang="ja-JP" sz="3600" dirty="0"/>
              <a:t>CM(Contribution Margin)</a:t>
            </a:r>
            <a:br>
              <a:rPr lang="en-US" altLang="ja-JP" sz="3600" dirty="0"/>
            </a:br>
            <a:r>
              <a:rPr lang="ja-JP" altLang="en-US" sz="3600" dirty="0"/>
              <a:t>計算について</a:t>
            </a:r>
            <a:br>
              <a:rPr lang="en-US" sz="2800" dirty="0"/>
            </a:br>
            <a:br>
              <a:rPr lang="en-US" sz="2800" dirty="0"/>
            </a:br>
            <a:endParaRPr sz="2400" dirty="0">
              <a:solidFill>
                <a:srgbClr val="D1F1FF"/>
              </a:solidFill>
            </a:endParaRPr>
          </a:p>
        </p:txBody>
      </p:sp>
      <p:sp>
        <p:nvSpPr>
          <p:cNvPr id="53" name="Google Shape;53;p1"/>
          <p:cNvSpPr txBox="1">
            <a:spLocks noGrp="1"/>
          </p:cNvSpPr>
          <p:nvPr>
            <p:ph type="body" idx="1"/>
          </p:nvPr>
        </p:nvSpPr>
        <p:spPr>
          <a:xfrm>
            <a:off x="787879" y="5504288"/>
            <a:ext cx="6164400" cy="701204"/>
          </a:xfrm>
          <a:prstGeom prst="rect">
            <a:avLst/>
          </a:prstGeom>
          <a:noFill/>
          <a:ln>
            <a:noFill/>
          </a:ln>
        </p:spPr>
        <p:txBody>
          <a:bodyPr spcFirstLastPara="1" wrap="square" lIns="91425" tIns="45700" rIns="91425" bIns="45700" anchor="t" anchorCtr="0">
            <a:noAutofit/>
          </a:bodyPr>
          <a:lstStyle/>
          <a:p>
            <a:pPr marL="0" indent="0">
              <a:spcBef>
                <a:spcPts val="0"/>
              </a:spcBef>
            </a:pPr>
            <a:r>
              <a:rPr lang="en-US" dirty="0"/>
              <a:t>SYM</a:t>
            </a:r>
            <a:r>
              <a:rPr lang="ja-JP" altLang="en-US" dirty="0"/>
              <a:t>部 </a:t>
            </a:r>
            <a:r>
              <a:rPr lang="en-GB" altLang="ja-JP" dirty="0"/>
              <a:t>SYM</a:t>
            </a:r>
            <a:r>
              <a:rPr lang="ja-JP" altLang="en-US" dirty="0"/>
              <a:t>課</a:t>
            </a:r>
            <a:br>
              <a:rPr lang="en-GB" altLang="ja-JP" dirty="0"/>
            </a:br>
            <a:r>
              <a:rPr lang="en-SG" dirty="0"/>
              <a:t>December 2022</a:t>
            </a:r>
          </a:p>
          <a:p>
            <a:pPr marL="0" lvl="0" indent="0" algn="l" rtl="0">
              <a:lnSpc>
                <a:spcPct val="100000"/>
              </a:lnSpc>
              <a:spcBef>
                <a:spcPts val="0"/>
              </a:spcBef>
              <a:spcAft>
                <a:spcPts val="0"/>
              </a:spcAft>
              <a:buClr>
                <a:schemeClr val="lt1"/>
              </a:buClr>
              <a:buSzPts val="1500"/>
              <a:buFont typeface="Arial"/>
              <a:buNone/>
            </a:pPr>
            <a:endParaRPr dirty="0"/>
          </a:p>
        </p:txBody>
      </p:sp>
    </p:spTree>
    <p:extLst>
      <p:ext uri="{BB962C8B-B14F-4D97-AF65-F5344CB8AC3E}">
        <p14:creationId xmlns:p14="http://schemas.microsoft.com/office/powerpoint/2010/main" val="1384172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BCC07-A319-4F2F-B8A7-F36765025373}"/>
              </a:ext>
            </a:extLst>
          </p:cNvPr>
          <p:cNvSpPr>
            <a:spLocks noGrp="1"/>
          </p:cNvSpPr>
          <p:nvPr>
            <p:ph type="title"/>
          </p:nvPr>
        </p:nvSpPr>
        <p:spPr/>
        <p:txBody>
          <a:bodyPr/>
          <a:lstStyle/>
          <a:p>
            <a:r>
              <a:rPr lang="en-US" altLang="ja-JP" dirty="0"/>
              <a:t>Agenda</a:t>
            </a:r>
            <a:endParaRPr lang="en-GB" dirty="0"/>
          </a:p>
        </p:txBody>
      </p:sp>
      <p:sp>
        <p:nvSpPr>
          <p:cNvPr id="3" name="Text Placeholder 2">
            <a:extLst>
              <a:ext uri="{FF2B5EF4-FFF2-40B4-BE49-F238E27FC236}">
                <a16:creationId xmlns:a16="http://schemas.microsoft.com/office/drawing/2014/main" id="{C4ADFAA5-8A57-4F16-85D9-ED3790538FC2}"/>
              </a:ext>
            </a:extLst>
          </p:cNvPr>
          <p:cNvSpPr>
            <a:spLocks noGrp="1"/>
          </p:cNvSpPr>
          <p:nvPr>
            <p:ph type="body" idx="1"/>
          </p:nvPr>
        </p:nvSpPr>
        <p:spPr/>
        <p:txBody>
          <a:bodyPr/>
          <a:lstStyle/>
          <a:p>
            <a:pPr marL="615950" indent="-457200">
              <a:buSzPct val="100000"/>
              <a:buFont typeface="+mj-lt"/>
              <a:buAutoNum type="arabicPeriod"/>
            </a:pPr>
            <a:r>
              <a:rPr lang="ja-JP" altLang="en-US" dirty="0"/>
              <a:t>損益計算書上の粗利計算</a:t>
            </a:r>
            <a:endParaRPr lang="en-GB" altLang="ja-JP" dirty="0"/>
          </a:p>
          <a:p>
            <a:pPr marL="615950" indent="-457200">
              <a:buSzPct val="100000"/>
              <a:buFont typeface="+mj-lt"/>
              <a:buAutoNum type="arabicPeriod"/>
            </a:pPr>
            <a:r>
              <a:rPr lang="en-US" altLang="ja-JP" dirty="0"/>
              <a:t>OPUS(COA)</a:t>
            </a:r>
            <a:r>
              <a:rPr lang="ja-JP" altLang="en-US" dirty="0"/>
              <a:t>の粗利計算　</a:t>
            </a:r>
            <a:endParaRPr lang="en-GB" altLang="ja-JP" dirty="0"/>
          </a:p>
          <a:p>
            <a:pPr marL="615950" indent="-457200">
              <a:buSzPct val="100000"/>
              <a:buFont typeface="+mj-lt"/>
              <a:buAutoNum type="arabicPeriod"/>
            </a:pPr>
            <a:r>
              <a:rPr lang="en-GB" altLang="ja-JP" dirty="0"/>
              <a:t>OPUS - Inquiry By Booking</a:t>
            </a:r>
            <a:r>
              <a:rPr lang="ja-JP" altLang="en-US" dirty="0"/>
              <a:t>機能</a:t>
            </a:r>
            <a:endParaRPr lang="en-GB" altLang="ja-JP" dirty="0"/>
          </a:p>
          <a:p>
            <a:pPr marL="615950" indent="-457200">
              <a:buSzPct val="100000"/>
              <a:buFont typeface="+mj-lt"/>
              <a:buAutoNum type="arabicPeriod"/>
            </a:pPr>
            <a:r>
              <a:rPr lang="en-US" altLang="ja-JP" dirty="0"/>
              <a:t>Q</a:t>
            </a:r>
            <a:r>
              <a:rPr lang="ja-JP" altLang="en-US" dirty="0"/>
              <a:t>＆</a:t>
            </a:r>
            <a:r>
              <a:rPr lang="en-US" altLang="ja-JP" dirty="0"/>
              <a:t>A</a:t>
            </a:r>
            <a:endParaRPr lang="en-GB" altLang="ja-JP" dirty="0"/>
          </a:p>
        </p:txBody>
      </p:sp>
      <p:sp>
        <p:nvSpPr>
          <p:cNvPr id="4" name="Slide Number Placeholder 3">
            <a:extLst>
              <a:ext uri="{FF2B5EF4-FFF2-40B4-BE49-F238E27FC236}">
                <a16:creationId xmlns:a16="http://schemas.microsoft.com/office/drawing/2014/main" id="{F0E2894F-B850-4EA3-831E-024A061ABCF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804389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5E8CE-7C8E-406B-8B1A-1F7EDB507232}"/>
              </a:ext>
            </a:extLst>
          </p:cNvPr>
          <p:cNvSpPr>
            <a:spLocks noGrp="1"/>
          </p:cNvSpPr>
          <p:nvPr>
            <p:ph type="title"/>
          </p:nvPr>
        </p:nvSpPr>
        <p:spPr/>
        <p:txBody>
          <a:bodyPr/>
          <a:lstStyle/>
          <a:p>
            <a:r>
              <a:rPr lang="en-GB" dirty="0"/>
              <a:t>1. </a:t>
            </a:r>
            <a:r>
              <a:rPr lang="ja-JP" altLang="en-US" dirty="0"/>
              <a:t>損益計算書上（営業利益まで）の粗利計算　</a:t>
            </a:r>
            <a:r>
              <a:rPr lang="en-GB" altLang="ja-JP" sz="2000" dirty="0"/>
              <a:t>2022</a:t>
            </a:r>
            <a:r>
              <a:rPr lang="ja-JP" altLang="en-US" sz="2000" dirty="0"/>
              <a:t>年</a:t>
            </a:r>
            <a:r>
              <a:rPr lang="en-GB" altLang="ja-JP" sz="2000" dirty="0"/>
              <a:t>7</a:t>
            </a:r>
            <a:r>
              <a:rPr lang="ja-JP" altLang="en-US" sz="2000" dirty="0"/>
              <a:t>月</a:t>
            </a:r>
            <a:r>
              <a:rPr lang="en-GB" altLang="ja-JP" sz="2000" dirty="0"/>
              <a:t>P/L</a:t>
            </a:r>
            <a:endParaRPr lang="en-GB" sz="2000" dirty="0"/>
          </a:p>
        </p:txBody>
      </p:sp>
      <p:sp>
        <p:nvSpPr>
          <p:cNvPr id="4" name="Slide Number Placeholder 3">
            <a:extLst>
              <a:ext uri="{FF2B5EF4-FFF2-40B4-BE49-F238E27FC236}">
                <a16:creationId xmlns:a16="http://schemas.microsoft.com/office/drawing/2014/main" id="{A31F739E-D2F6-4621-B596-76B50A0EAE1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a:t>
            </a:fld>
            <a:endParaRPr lang="en-US"/>
          </a:p>
        </p:txBody>
      </p:sp>
      <p:pic>
        <p:nvPicPr>
          <p:cNvPr id="6" name="Picture 5">
            <a:extLst>
              <a:ext uri="{FF2B5EF4-FFF2-40B4-BE49-F238E27FC236}">
                <a16:creationId xmlns:a16="http://schemas.microsoft.com/office/drawing/2014/main" id="{B4E44059-7493-4669-A626-5AD69D1C8D87}"/>
              </a:ext>
            </a:extLst>
          </p:cNvPr>
          <p:cNvPicPr>
            <a:picLocks noChangeAspect="1"/>
          </p:cNvPicPr>
          <p:nvPr/>
        </p:nvPicPr>
        <p:blipFill>
          <a:blip r:embed="rId2"/>
          <a:stretch>
            <a:fillRect/>
          </a:stretch>
        </p:blipFill>
        <p:spPr>
          <a:xfrm>
            <a:off x="853371" y="837392"/>
            <a:ext cx="10315575" cy="5715000"/>
          </a:xfrm>
          <a:prstGeom prst="rect">
            <a:avLst/>
          </a:prstGeom>
        </p:spPr>
      </p:pic>
      <p:sp>
        <p:nvSpPr>
          <p:cNvPr id="8" name="TextBox 7">
            <a:extLst>
              <a:ext uri="{FF2B5EF4-FFF2-40B4-BE49-F238E27FC236}">
                <a16:creationId xmlns:a16="http://schemas.microsoft.com/office/drawing/2014/main" id="{0D04D6E6-7D96-4AD3-A484-FEB69E0FA0AE}"/>
              </a:ext>
            </a:extLst>
          </p:cNvPr>
          <p:cNvSpPr txBox="1"/>
          <p:nvPr/>
        </p:nvSpPr>
        <p:spPr>
          <a:xfrm>
            <a:off x="10331777" y="837392"/>
            <a:ext cx="1187777" cy="369332"/>
          </a:xfrm>
          <a:prstGeom prst="rect">
            <a:avLst/>
          </a:prstGeom>
          <a:solidFill>
            <a:srgbClr val="FFFF00"/>
          </a:solidFill>
          <a:ln>
            <a:solidFill>
              <a:schemeClr val="tx1"/>
            </a:solidFill>
          </a:ln>
        </p:spPr>
        <p:txBody>
          <a:bodyPr wrap="square" rtlCol="0">
            <a:spAutoFit/>
          </a:bodyPr>
          <a:lstStyle/>
          <a:p>
            <a:pPr algn="ctr"/>
            <a:r>
              <a:rPr lang="ja-JP" altLang="en-US" sz="1800" dirty="0">
                <a:solidFill>
                  <a:srgbClr val="FF0000"/>
                </a:solidFill>
              </a:rPr>
              <a:t>社内限</a:t>
            </a:r>
            <a:endParaRPr lang="en-GB" altLang="ja-JP" sz="1800" dirty="0">
              <a:solidFill>
                <a:srgbClr val="FF0000"/>
              </a:solidFill>
            </a:endParaRPr>
          </a:p>
        </p:txBody>
      </p:sp>
    </p:spTree>
    <p:extLst>
      <p:ext uri="{BB962C8B-B14F-4D97-AF65-F5344CB8AC3E}">
        <p14:creationId xmlns:p14="http://schemas.microsoft.com/office/powerpoint/2010/main" val="4013579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21CB0-32CB-4AF8-A553-9E354AF8ED65}"/>
              </a:ext>
            </a:extLst>
          </p:cNvPr>
          <p:cNvSpPr>
            <a:spLocks noGrp="1"/>
          </p:cNvSpPr>
          <p:nvPr>
            <p:ph type="title"/>
          </p:nvPr>
        </p:nvSpPr>
        <p:spPr/>
        <p:txBody>
          <a:bodyPr/>
          <a:lstStyle/>
          <a:p>
            <a:r>
              <a:rPr lang="en-GB" dirty="0"/>
              <a:t>2.</a:t>
            </a:r>
            <a:r>
              <a:rPr lang="ja-JP" altLang="en-US" dirty="0"/>
              <a:t> </a:t>
            </a:r>
            <a:r>
              <a:rPr lang="en-GB" altLang="ja-JP" dirty="0"/>
              <a:t>OPUS(COA)</a:t>
            </a:r>
            <a:r>
              <a:rPr lang="ja-JP" altLang="en-US" dirty="0"/>
              <a:t>の粗利計算　</a:t>
            </a:r>
            <a:br>
              <a:rPr lang="ja-JP" altLang="en-US" dirty="0"/>
            </a:br>
            <a:endParaRPr lang="en-GB" dirty="0"/>
          </a:p>
        </p:txBody>
      </p:sp>
      <p:sp>
        <p:nvSpPr>
          <p:cNvPr id="3" name="Text Placeholder 2">
            <a:extLst>
              <a:ext uri="{FF2B5EF4-FFF2-40B4-BE49-F238E27FC236}">
                <a16:creationId xmlns:a16="http://schemas.microsoft.com/office/drawing/2014/main" id="{66A93258-DD91-4797-8AC2-A05E561CE3C7}"/>
              </a:ext>
            </a:extLst>
          </p:cNvPr>
          <p:cNvSpPr>
            <a:spLocks noGrp="1"/>
          </p:cNvSpPr>
          <p:nvPr>
            <p:ph type="body" idx="1"/>
          </p:nvPr>
        </p:nvSpPr>
        <p:spPr>
          <a:xfrm>
            <a:off x="270669" y="709104"/>
            <a:ext cx="11650800" cy="5770851"/>
          </a:xfrm>
        </p:spPr>
        <p:txBody>
          <a:bodyPr/>
          <a:lstStyle/>
          <a:p>
            <a:pPr marL="158750" indent="0">
              <a:buNone/>
            </a:pPr>
            <a:r>
              <a:rPr lang="ja-JP" altLang="en-US" dirty="0"/>
              <a:t>日々の業務においては、</a:t>
            </a:r>
            <a:r>
              <a:rPr lang="en-GB" altLang="ja-JP" dirty="0"/>
              <a:t>OPUS</a:t>
            </a:r>
            <a:r>
              <a:rPr lang="ja-JP" altLang="en-US" dirty="0"/>
              <a:t> </a:t>
            </a:r>
            <a:r>
              <a:rPr lang="en-US" altLang="ja-JP" dirty="0"/>
              <a:t>COA module</a:t>
            </a:r>
            <a:r>
              <a:rPr lang="ja-JP" altLang="en-US" dirty="0"/>
              <a:t>で算出される粗利</a:t>
            </a:r>
            <a:r>
              <a:rPr lang="en-GB" altLang="ja-JP" dirty="0"/>
              <a:t>(</a:t>
            </a:r>
            <a:r>
              <a:rPr lang="en-US" altLang="ja-JP" dirty="0"/>
              <a:t>Contribution Margin</a:t>
            </a:r>
            <a:r>
              <a:rPr lang="en-GB" altLang="ja-JP" dirty="0"/>
              <a:t>)</a:t>
            </a:r>
            <a:r>
              <a:rPr lang="ja-JP" altLang="en-US" dirty="0"/>
              <a:t>を使用して各貨物を評価します。損益計算上の粗利計算とは異なり、どの貨物を引き受けるかによって金額が変わるコストのみが変動費</a:t>
            </a:r>
            <a:r>
              <a:rPr lang="en-GB" altLang="ja-JP" dirty="0"/>
              <a:t>(Variable Cost)</a:t>
            </a:r>
            <a:r>
              <a:rPr lang="ja-JP" altLang="en-US" dirty="0"/>
              <a:t>となり、どの貨物を引き受けても変動しないコストは固定費</a:t>
            </a:r>
            <a:r>
              <a:rPr lang="en-GB" altLang="ja-JP" dirty="0"/>
              <a:t>(Fixed Cost)</a:t>
            </a:r>
            <a:r>
              <a:rPr lang="ja-JP" altLang="en-US" dirty="0"/>
              <a:t>とみなします。</a:t>
            </a:r>
            <a:br>
              <a:rPr lang="en-GB" altLang="ja-JP" dirty="0"/>
            </a:br>
            <a:endParaRPr lang="en-GB" altLang="ja-JP" sz="800" dirty="0"/>
          </a:p>
          <a:p>
            <a:pPr marL="158750" indent="0">
              <a:buNone/>
            </a:pPr>
            <a:r>
              <a:rPr lang="en-GB" altLang="ja-JP" b="1" u="sng" dirty="0"/>
              <a:t>COA</a:t>
            </a:r>
            <a:r>
              <a:rPr lang="ja-JP" altLang="en-US" b="1" u="sng" dirty="0"/>
              <a:t>の</a:t>
            </a:r>
            <a:r>
              <a:rPr lang="en-US" altLang="ja-JP" b="1" u="sng" dirty="0"/>
              <a:t>CM</a:t>
            </a:r>
            <a:r>
              <a:rPr lang="ja-JP" altLang="en-US" b="1" u="sng" dirty="0"/>
              <a:t>計算において覚えておくべきポイント</a:t>
            </a:r>
            <a:br>
              <a:rPr lang="en-GB" altLang="ja-JP" b="1" u="sng" dirty="0"/>
            </a:br>
            <a:r>
              <a:rPr lang="ja-JP" altLang="en-US" dirty="0"/>
              <a:t>・コンテナ資本費は固定費扱いとなります。</a:t>
            </a:r>
            <a:br>
              <a:rPr lang="en-GB" altLang="ja-JP" dirty="0"/>
            </a:br>
            <a:r>
              <a:rPr lang="ja-JP" altLang="en-US" dirty="0"/>
              <a:t>・</a:t>
            </a:r>
            <a:r>
              <a:rPr lang="en-US" altLang="ja-JP" dirty="0"/>
              <a:t>Reefer</a:t>
            </a:r>
            <a:r>
              <a:rPr lang="ja-JP" altLang="en-US" dirty="0"/>
              <a:t>貨には、</a:t>
            </a:r>
            <a:r>
              <a:rPr lang="en-GB" altLang="ja-JP" dirty="0"/>
              <a:t>Reefer Bunker consumption Cost(Frozen/Chilled)</a:t>
            </a:r>
            <a:r>
              <a:rPr lang="ja-JP" altLang="en-US" dirty="0"/>
              <a:t>が変動費として適用されます。</a:t>
            </a:r>
            <a:br>
              <a:rPr lang="en-GB" altLang="ja-JP" dirty="0"/>
            </a:br>
            <a:r>
              <a:rPr lang="ja-JP" altLang="en-US" dirty="0"/>
              <a:t>・</a:t>
            </a:r>
            <a:r>
              <a:rPr lang="en-US" altLang="ja-JP" dirty="0"/>
              <a:t>Demurrage Detention</a:t>
            </a:r>
            <a:r>
              <a:rPr lang="ja-JP" altLang="en-US" dirty="0"/>
              <a:t>の賃収については</a:t>
            </a:r>
            <a:r>
              <a:rPr lang="en-US" altLang="ja-JP" dirty="0"/>
              <a:t>CM</a:t>
            </a:r>
            <a:r>
              <a:rPr lang="ja-JP" altLang="en-US" dirty="0"/>
              <a:t>計算には含みません。変動費である</a:t>
            </a:r>
            <a:r>
              <a:rPr lang="en-GB" altLang="ja-JP" dirty="0"/>
              <a:t>Storage cost</a:t>
            </a:r>
            <a:r>
              <a:rPr lang="ja-JP" altLang="en-US" dirty="0"/>
              <a:t>は</a:t>
            </a:r>
            <a:r>
              <a:rPr lang="en-US" altLang="ja-JP" dirty="0"/>
              <a:t>Location</a:t>
            </a:r>
            <a:r>
              <a:rPr lang="ja-JP" altLang="en-US" dirty="0"/>
              <a:t>毎の全顧客過去平均値が適用され、各顧客・各</a:t>
            </a:r>
            <a:r>
              <a:rPr lang="en-US" altLang="ja-JP" dirty="0"/>
              <a:t>Unit</a:t>
            </a:r>
            <a:r>
              <a:rPr lang="ja-JP" altLang="en-US" dirty="0"/>
              <a:t>の実績が反映されるわけではありません。</a:t>
            </a:r>
            <a:br>
              <a:rPr lang="en-GB" altLang="ja-JP" dirty="0"/>
            </a:br>
            <a:r>
              <a:rPr lang="ja-JP" altLang="en-US" dirty="0"/>
              <a:t>・</a:t>
            </a:r>
            <a:r>
              <a:rPr lang="en-GB" altLang="ja-JP" dirty="0"/>
              <a:t>Bunker</a:t>
            </a:r>
            <a:r>
              <a:rPr lang="ja-JP" altLang="en-US" dirty="0"/>
              <a:t>上昇局面では、</a:t>
            </a:r>
            <a:r>
              <a:rPr lang="en-GB" altLang="ja-JP" dirty="0"/>
              <a:t>Bunker cost</a:t>
            </a:r>
            <a:r>
              <a:rPr lang="ja-JP" altLang="en-US" dirty="0"/>
              <a:t>の上昇は</a:t>
            </a:r>
            <a:r>
              <a:rPr lang="en-GB" altLang="ja-JP" dirty="0"/>
              <a:t>CM</a:t>
            </a:r>
            <a:r>
              <a:rPr lang="ja-JP" altLang="en-US" dirty="0"/>
              <a:t>に反映されませんが、</a:t>
            </a:r>
            <a:r>
              <a:rPr lang="en-GB" altLang="ja-JP" dirty="0"/>
              <a:t> OBS</a:t>
            </a:r>
            <a:r>
              <a:rPr lang="ja-JP" altLang="en-US" dirty="0"/>
              <a:t>賃収には反映される為全体の</a:t>
            </a:r>
            <a:r>
              <a:rPr lang="en-US" altLang="ja-JP" dirty="0"/>
              <a:t>CM</a:t>
            </a:r>
            <a:r>
              <a:rPr lang="ja-JP" altLang="en-US" dirty="0"/>
              <a:t>は上昇するのが自然です。</a:t>
            </a:r>
            <a:endParaRPr lang="en-GB" dirty="0"/>
          </a:p>
        </p:txBody>
      </p:sp>
      <p:sp>
        <p:nvSpPr>
          <p:cNvPr id="4" name="Slide Number Placeholder 3">
            <a:extLst>
              <a:ext uri="{FF2B5EF4-FFF2-40B4-BE49-F238E27FC236}">
                <a16:creationId xmlns:a16="http://schemas.microsoft.com/office/drawing/2014/main" id="{0E5D5724-B674-4C03-A622-BD5FC5F50FE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4</a:t>
            </a:fld>
            <a:endParaRPr lang="en-US"/>
          </a:p>
        </p:txBody>
      </p:sp>
      <p:sp>
        <p:nvSpPr>
          <p:cNvPr id="15" name="TextBox 14">
            <a:extLst>
              <a:ext uri="{FF2B5EF4-FFF2-40B4-BE49-F238E27FC236}">
                <a16:creationId xmlns:a16="http://schemas.microsoft.com/office/drawing/2014/main" id="{D53A26B7-77FD-435D-8DCD-F51C253471C3}"/>
              </a:ext>
            </a:extLst>
          </p:cNvPr>
          <p:cNvSpPr txBox="1"/>
          <p:nvPr/>
        </p:nvSpPr>
        <p:spPr>
          <a:xfrm>
            <a:off x="1065335" y="5156492"/>
            <a:ext cx="8540575" cy="1323439"/>
          </a:xfrm>
          <a:prstGeom prst="rect">
            <a:avLst/>
          </a:prstGeom>
          <a:noFill/>
          <a:ln w="38100">
            <a:solidFill>
              <a:srgbClr val="00B0F0"/>
            </a:solidFill>
          </a:ln>
        </p:spPr>
        <p:txBody>
          <a:bodyPr wrap="square" rtlCol="0" anchor="ctr">
            <a:spAutoFit/>
          </a:bodyPr>
          <a:lstStyle/>
          <a:p>
            <a:r>
              <a:rPr lang="en-US" altLang="ja-JP" sz="2000" dirty="0"/>
              <a:t>Admin cost : </a:t>
            </a:r>
            <a:r>
              <a:rPr lang="ja-JP" altLang="en-US" sz="2000" dirty="0"/>
              <a:t>人件費や</a:t>
            </a:r>
            <a:r>
              <a:rPr lang="en-US" altLang="ja-JP" sz="2000" dirty="0"/>
              <a:t>Office</a:t>
            </a:r>
            <a:r>
              <a:rPr lang="ja-JP" altLang="en-US" sz="2000" dirty="0"/>
              <a:t>レンタル費用</a:t>
            </a:r>
            <a:endParaRPr lang="en-GB" altLang="ja-JP" sz="2000" dirty="0"/>
          </a:p>
          <a:p>
            <a:r>
              <a:rPr lang="en-US" altLang="ja-JP" sz="2000" dirty="0"/>
              <a:t>Container Capital cost</a:t>
            </a:r>
            <a:r>
              <a:rPr lang="ja-JP" altLang="en-US" sz="2000" dirty="0"/>
              <a:t>：コンテナ資本費</a:t>
            </a:r>
            <a:endParaRPr lang="en-GB" altLang="ja-JP" sz="1600" dirty="0"/>
          </a:p>
          <a:p>
            <a:r>
              <a:rPr lang="en-GB" sz="2000" dirty="0"/>
              <a:t>Vessel cost : </a:t>
            </a:r>
            <a:r>
              <a:rPr lang="ja-JP" altLang="en-US" sz="2000" dirty="0"/>
              <a:t>傭船料</a:t>
            </a:r>
            <a:endParaRPr lang="en-GB" altLang="ja-JP" sz="2000" dirty="0"/>
          </a:p>
          <a:p>
            <a:r>
              <a:rPr lang="en-GB" altLang="ja-JP" sz="2000" dirty="0"/>
              <a:t>Voyage cost :</a:t>
            </a:r>
            <a:r>
              <a:rPr lang="ja-JP" altLang="en-US" sz="2000" dirty="0"/>
              <a:t> 運航費 </a:t>
            </a:r>
            <a:r>
              <a:rPr lang="en-GB" altLang="ja-JP" sz="1600" dirty="0"/>
              <a:t>(</a:t>
            </a:r>
            <a:r>
              <a:rPr lang="en-US" altLang="ja-JP" sz="1600" dirty="0"/>
              <a:t>Bunker</a:t>
            </a:r>
            <a:r>
              <a:rPr lang="ja-JP" altLang="en-US" sz="1600" dirty="0"/>
              <a:t>、</a:t>
            </a:r>
            <a:r>
              <a:rPr lang="en-GB" altLang="ja-JP" sz="1600" dirty="0"/>
              <a:t>Port Charge</a:t>
            </a:r>
            <a:r>
              <a:rPr lang="ja-JP" altLang="en-US" sz="1600" dirty="0"/>
              <a:t>、</a:t>
            </a:r>
            <a:r>
              <a:rPr lang="en-GB" altLang="ja-JP" sz="1600" dirty="0"/>
              <a:t>Canal Transit Charge)</a:t>
            </a:r>
          </a:p>
        </p:txBody>
      </p:sp>
      <p:sp>
        <p:nvSpPr>
          <p:cNvPr id="16" name="TextBox 15">
            <a:extLst>
              <a:ext uri="{FF2B5EF4-FFF2-40B4-BE49-F238E27FC236}">
                <a16:creationId xmlns:a16="http://schemas.microsoft.com/office/drawing/2014/main" id="{748E1FF3-0489-404D-BE59-ADC86A43325C}"/>
              </a:ext>
            </a:extLst>
          </p:cNvPr>
          <p:cNvSpPr txBox="1"/>
          <p:nvPr/>
        </p:nvSpPr>
        <p:spPr>
          <a:xfrm>
            <a:off x="1177372" y="4779345"/>
            <a:ext cx="4195906" cy="369332"/>
          </a:xfrm>
          <a:prstGeom prst="rect">
            <a:avLst/>
          </a:prstGeom>
          <a:solidFill>
            <a:srgbClr val="00B0F0"/>
          </a:solidFill>
        </p:spPr>
        <p:txBody>
          <a:bodyPr wrap="square" rtlCol="0">
            <a:spAutoFit/>
          </a:bodyPr>
          <a:lstStyle/>
          <a:p>
            <a:pPr algn="ctr"/>
            <a:r>
              <a:rPr lang="en-US" altLang="ja-JP" sz="1800" dirty="0">
                <a:solidFill>
                  <a:schemeClr val="bg1"/>
                </a:solidFill>
              </a:rPr>
              <a:t>COA</a:t>
            </a:r>
            <a:r>
              <a:rPr lang="ja-JP" altLang="en-US" sz="1800" dirty="0">
                <a:solidFill>
                  <a:schemeClr val="bg1"/>
                </a:solidFill>
              </a:rPr>
              <a:t>の粗利計算で固定費とみなすもの</a:t>
            </a:r>
            <a:endParaRPr lang="en-GB" sz="1800" dirty="0">
              <a:solidFill>
                <a:schemeClr val="bg1"/>
              </a:solidFill>
            </a:endParaRPr>
          </a:p>
        </p:txBody>
      </p:sp>
    </p:spTree>
    <p:extLst>
      <p:ext uri="{BB962C8B-B14F-4D97-AF65-F5344CB8AC3E}">
        <p14:creationId xmlns:p14="http://schemas.microsoft.com/office/powerpoint/2010/main" val="2372417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868915-A3A4-4FBB-B682-5BCFC01A8059}"/>
              </a:ext>
            </a:extLst>
          </p:cNvPr>
          <p:cNvSpPr>
            <a:spLocks noGrp="1"/>
          </p:cNvSpPr>
          <p:nvPr>
            <p:ph type="body" idx="1"/>
          </p:nvPr>
        </p:nvSpPr>
        <p:spPr>
          <a:xfrm>
            <a:off x="270669" y="683581"/>
            <a:ext cx="11650800" cy="5796374"/>
          </a:xfrm>
        </p:spPr>
        <p:txBody>
          <a:bodyPr/>
          <a:lstStyle/>
          <a:p>
            <a:r>
              <a:rPr lang="en-GB" b="1" dirty="0">
                <a:solidFill>
                  <a:schemeClr val="tx1"/>
                </a:solidFill>
              </a:rPr>
              <a:t>CM (Contribution Margin) = </a:t>
            </a:r>
            <a:r>
              <a:rPr lang="en-US" sz="2000" b="1" dirty="0">
                <a:solidFill>
                  <a:schemeClr val="tx1"/>
                </a:solidFill>
                <a:latin typeface="Proxima Nova" panose="020B0600070205080204"/>
              </a:rPr>
              <a:t>“</a:t>
            </a:r>
            <a:r>
              <a:rPr lang="en-US" sz="2000" b="1" dirty="0">
                <a:solidFill>
                  <a:srgbClr val="FF0000"/>
                </a:solidFill>
                <a:latin typeface="Proxima Nova" panose="020B0600070205080204"/>
              </a:rPr>
              <a:t>Revenue</a:t>
            </a:r>
            <a:r>
              <a:rPr lang="en-US" sz="2000" b="1" dirty="0">
                <a:solidFill>
                  <a:schemeClr val="tx1"/>
                </a:solidFill>
                <a:latin typeface="Proxima Nova" panose="020B0600070205080204"/>
              </a:rPr>
              <a:t>” – “Variable Cost” </a:t>
            </a:r>
            <a:endParaRPr lang="en-US" sz="800" b="1" dirty="0">
              <a:solidFill>
                <a:schemeClr val="accent2"/>
              </a:solidFill>
              <a:latin typeface="Proxima Nova" panose="020B0600070205080204"/>
            </a:endParaRPr>
          </a:p>
          <a:p>
            <a:pPr marL="158750" indent="0">
              <a:buNone/>
            </a:pPr>
            <a:r>
              <a:rPr lang="ja-JP" altLang="en-US" sz="2000" b="1" dirty="0">
                <a:solidFill>
                  <a:schemeClr val="tx1"/>
                </a:solidFill>
                <a:latin typeface="Proxima Nova" panose="020B0600070205080204"/>
              </a:rPr>
              <a:t>　</a:t>
            </a:r>
            <a:r>
              <a:rPr lang="en-US" sz="2000" b="1" dirty="0">
                <a:solidFill>
                  <a:schemeClr val="tx1"/>
                </a:solidFill>
                <a:latin typeface="Proxima Nova" panose="020B0600070205080204"/>
              </a:rPr>
              <a:t>“</a:t>
            </a:r>
            <a:r>
              <a:rPr lang="en-US" sz="2000" b="1" dirty="0">
                <a:solidFill>
                  <a:srgbClr val="FF0000"/>
                </a:solidFill>
                <a:latin typeface="Proxima Nova" panose="020B0600070205080204"/>
              </a:rPr>
              <a:t>Revenue</a:t>
            </a:r>
            <a:r>
              <a:rPr lang="en-US" sz="2000" b="1" dirty="0">
                <a:solidFill>
                  <a:schemeClr val="tx1"/>
                </a:solidFill>
                <a:latin typeface="Proxima Nova" panose="020B0600070205080204"/>
              </a:rPr>
              <a:t>” </a:t>
            </a:r>
            <a:r>
              <a:rPr lang="ja-JP" altLang="en-US" sz="2000" b="1" dirty="0">
                <a:solidFill>
                  <a:schemeClr val="tx1"/>
                </a:solidFill>
                <a:latin typeface="Proxima Nova" panose="020B0600070205080204"/>
              </a:rPr>
              <a:t>とは、</a:t>
            </a:r>
            <a:r>
              <a:rPr lang="en-GB" altLang="ja-JP" sz="2000" dirty="0">
                <a:solidFill>
                  <a:schemeClr val="tx1"/>
                </a:solidFill>
                <a:latin typeface="Proxima Nova" panose="020B0600070205080204"/>
              </a:rPr>
              <a:t>OPUS</a:t>
            </a:r>
            <a:r>
              <a:rPr lang="ja-JP" altLang="en-US" sz="2000" dirty="0">
                <a:solidFill>
                  <a:schemeClr val="tx1"/>
                </a:solidFill>
                <a:latin typeface="Proxima Nova" panose="020B0600070205080204"/>
              </a:rPr>
              <a:t>上 </a:t>
            </a:r>
            <a:r>
              <a:rPr lang="en-GB" altLang="ja-JP" sz="2000" dirty="0">
                <a:solidFill>
                  <a:schemeClr val="tx1"/>
                </a:solidFill>
                <a:latin typeface="Proxima Nova" panose="020B0600070205080204"/>
              </a:rPr>
              <a:t>BKG</a:t>
            </a:r>
            <a:r>
              <a:rPr lang="ja-JP" altLang="en-US" dirty="0">
                <a:solidFill>
                  <a:schemeClr val="tx1"/>
                </a:solidFill>
                <a:latin typeface="Proxima Nova" panose="020B0600070205080204"/>
              </a:rPr>
              <a:t> </a:t>
            </a:r>
            <a:r>
              <a:rPr lang="en-GB" altLang="ja-JP" dirty="0">
                <a:solidFill>
                  <a:schemeClr val="tx1"/>
                </a:solidFill>
                <a:latin typeface="Proxima Nova" panose="020B0600070205080204"/>
              </a:rPr>
              <a:t>Inquiry</a:t>
            </a:r>
            <a:r>
              <a:rPr lang="ja-JP" altLang="en-US" dirty="0">
                <a:solidFill>
                  <a:schemeClr val="tx1"/>
                </a:solidFill>
                <a:latin typeface="Proxima Nova" panose="020B0600070205080204"/>
              </a:rPr>
              <a:t>画面</a:t>
            </a:r>
            <a:r>
              <a:rPr lang="ja-JP" altLang="en-US" b="1" dirty="0">
                <a:solidFill>
                  <a:schemeClr val="tx1"/>
                </a:solidFill>
                <a:latin typeface="Proxima Nova" panose="020B0600070205080204"/>
              </a:rPr>
              <a:t>の</a:t>
            </a:r>
            <a:r>
              <a:rPr lang="en-GB" sz="2000" dirty="0">
                <a:solidFill>
                  <a:schemeClr val="tx1"/>
                </a:solidFill>
                <a:latin typeface="Proxima Nova" panose="020B0600070205080204"/>
                <a:sym typeface="Wingdings" panose="05000000000000000000" pitchFamily="2" charset="2"/>
              </a:rPr>
              <a:t>Charge Tab</a:t>
            </a:r>
            <a:r>
              <a:rPr lang="ja-JP" altLang="en-US" sz="2000" dirty="0">
                <a:solidFill>
                  <a:schemeClr val="tx1"/>
                </a:solidFill>
                <a:latin typeface="Proxima Nova" panose="020B0600070205080204"/>
                <a:sym typeface="Wingdings" panose="05000000000000000000" pitchFamily="2" charset="2"/>
              </a:rPr>
              <a:t>に表示される賃収のこと。</a:t>
            </a:r>
            <a:endParaRPr lang="en-US" altLang="ja-JP" b="1" dirty="0">
              <a:solidFill>
                <a:schemeClr val="tx1"/>
              </a:solidFill>
              <a:latin typeface="Proxima Nova" panose="020B0600070205080204"/>
              <a:sym typeface="Wingdings" panose="05000000000000000000" pitchFamily="2" charset="2"/>
            </a:endParaRPr>
          </a:p>
          <a:p>
            <a:pPr marL="158750" indent="0">
              <a:buNone/>
            </a:pPr>
            <a:r>
              <a:rPr lang="ja-JP" altLang="en-US" sz="1800" b="1" dirty="0">
                <a:solidFill>
                  <a:schemeClr val="tx1"/>
                </a:solidFill>
                <a:latin typeface="Proxima Nova" panose="020B0600070205080204"/>
                <a:sym typeface="Wingdings" panose="05000000000000000000" pitchFamily="2" charset="2"/>
              </a:rPr>
              <a:t>　</a:t>
            </a:r>
            <a:r>
              <a:rPr lang="en-US" altLang="ja-JP" sz="1800" b="1" dirty="0">
                <a:solidFill>
                  <a:schemeClr val="tx1"/>
                </a:solidFill>
                <a:latin typeface="Proxima Nova" panose="020B0600070205080204"/>
                <a:sym typeface="Wingdings" panose="05000000000000000000" pitchFamily="2" charset="2"/>
              </a:rPr>
              <a:t>CM</a:t>
            </a:r>
            <a:r>
              <a:rPr lang="ja-JP" altLang="en-US" sz="1800" b="1" dirty="0">
                <a:solidFill>
                  <a:schemeClr val="tx1"/>
                </a:solidFill>
                <a:latin typeface="Proxima Nova" panose="020B0600070205080204"/>
                <a:sym typeface="Wingdings" panose="05000000000000000000" pitchFamily="2" charset="2"/>
              </a:rPr>
              <a:t>計算に含まれるもの：</a:t>
            </a:r>
            <a:r>
              <a:rPr lang="en-US" sz="1800" b="1" dirty="0">
                <a:solidFill>
                  <a:schemeClr val="tx1"/>
                </a:solidFill>
                <a:latin typeface="Proxima Nova" panose="020B0600070205080204"/>
              </a:rPr>
              <a:t> </a:t>
            </a:r>
            <a:r>
              <a:rPr lang="en-US" sz="1800" dirty="0">
                <a:solidFill>
                  <a:schemeClr val="tx1"/>
                </a:solidFill>
                <a:latin typeface="Proxima Nova" panose="020B0600070205080204"/>
              </a:rPr>
              <a:t>Base freight, Inland haulage, Manifested surcharge</a:t>
            </a:r>
          </a:p>
          <a:p>
            <a:pPr marL="158750" indent="0">
              <a:buNone/>
            </a:pPr>
            <a:r>
              <a:rPr lang="ja-JP" altLang="en-US" sz="1800" b="1" dirty="0">
                <a:solidFill>
                  <a:schemeClr val="tx1"/>
                </a:solidFill>
                <a:latin typeface="Proxima Nova" panose="020B0600070205080204"/>
              </a:rPr>
              <a:t>　</a:t>
            </a:r>
            <a:r>
              <a:rPr lang="en-US" altLang="ja-JP" sz="1800" b="1" dirty="0">
                <a:solidFill>
                  <a:schemeClr val="tx1"/>
                </a:solidFill>
                <a:latin typeface="Proxima Nova" panose="020B0600070205080204"/>
                <a:sym typeface="Wingdings" panose="05000000000000000000" pitchFamily="2" charset="2"/>
              </a:rPr>
              <a:t>CM</a:t>
            </a:r>
            <a:r>
              <a:rPr lang="ja-JP" altLang="en-US" sz="1800" b="1" dirty="0">
                <a:solidFill>
                  <a:schemeClr val="tx1"/>
                </a:solidFill>
                <a:latin typeface="Proxima Nova" panose="020B0600070205080204"/>
                <a:sym typeface="Wingdings" panose="05000000000000000000" pitchFamily="2" charset="2"/>
              </a:rPr>
              <a:t>計算に</a:t>
            </a:r>
            <a:r>
              <a:rPr lang="ja-JP" altLang="en-US" sz="1800" b="1" dirty="0">
                <a:solidFill>
                  <a:schemeClr val="tx1"/>
                </a:solidFill>
                <a:latin typeface="Proxima Nova" panose="020B0600070205080204"/>
              </a:rPr>
              <a:t>含まれないもの：</a:t>
            </a:r>
            <a:r>
              <a:rPr lang="en-US" sz="1800" dirty="0">
                <a:solidFill>
                  <a:schemeClr val="tx1"/>
                </a:solidFill>
                <a:latin typeface="Proxima Nova" panose="020B0600070205080204"/>
              </a:rPr>
              <a:t>Non-manifested local charges, Demurrage Detention Charge</a:t>
            </a:r>
          </a:p>
        </p:txBody>
      </p:sp>
      <p:sp>
        <p:nvSpPr>
          <p:cNvPr id="4" name="Slide Number Placeholder 3">
            <a:extLst>
              <a:ext uri="{FF2B5EF4-FFF2-40B4-BE49-F238E27FC236}">
                <a16:creationId xmlns:a16="http://schemas.microsoft.com/office/drawing/2014/main" id="{8AC747BD-2367-4CDD-A3B6-18724E89479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5</a:t>
            </a:fld>
            <a:endParaRPr lang="en-US"/>
          </a:p>
        </p:txBody>
      </p:sp>
      <p:sp>
        <p:nvSpPr>
          <p:cNvPr id="5" name="Title 1">
            <a:extLst>
              <a:ext uri="{FF2B5EF4-FFF2-40B4-BE49-F238E27FC236}">
                <a16:creationId xmlns:a16="http://schemas.microsoft.com/office/drawing/2014/main" id="{B40C9A6D-473A-475E-A473-5411A6ED1944}"/>
              </a:ext>
            </a:extLst>
          </p:cNvPr>
          <p:cNvSpPr>
            <a:spLocks noGrp="1"/>
          </p:cNvSpPr>
          <p:nvPr>
            <p:ph type="title"/>
          </p:nvPr>
        </p:nvSpPr>
        <p:spPr>
          <a:xfrm>
            <a:off x="1949847" y="199173"/>
            <a:ext cx="9971100" cy="357900"/>
          </a:xfrm>
        </p:spPr>
        <p:txBody>
          <a:bodyPr/>
          <a:lstStyle/>
          <a:p>
            <a:r>
              <a:rPr lang="en-GB" dirty="0"/>
              <a:t>2.</a:t>
            </a:r>
            <a:r>
              <a:rPr lang="ja-JP" altLang="en-US" dirty="0"/>
              <a:t> </a:t>
            </a:r>
            <a:r>
              <a:rPr lang="en-GB" altLang="ja-JP" dirty="0"/>
              <a:t>OPUS(COA)</a:t>
            </a:r>
            <a:r>
              <a:rPr lang="ja-JP" altLang="en-US" dirty="0"/>
              <a:t>の粗利計算　</a:t>
            </a:r>
            <a:r>
              <a:rPr lang="en-GB" altLang="ja-JP" dirty="0"/>
              <a:t>– Revenue – </a:t>
            </a:r>
            <a:endParaRPr lang="en-GB" dirty="0"/>
          </a:p>
        </p:txBody>
      </p:sp>
      <p:pic>
        <p:nvPicPr>
          <p:cNvPr id="2" name="Picture 1">
            <a:extLst>
              <a:ext uri="{FF2B5EF4-FFF2-40B4-BE49-F238E27FC236}">
                <a16:creationId xmlns:a16="http://schemas.microsoft.com/office/drawing/2014/main" id="{EE8E1D76-D23F-4307-B0DF-E67DEE9E4A7E}"/>
              </a:ext>
            </a:extLst>
          </p:cNvPr>
          <p:cNvPicPr>
            <a:picLocks noChangeAspect="1"/>
          </p:cNvPicPr>
          <p:nvPr/>
        </p:nvPicPr>
        <p:blipFill>
          <a:blip r:embed="rId2"/>
          <a:stretch>
            <a:fillRect/>
          </a:stretch>
        </p:blipFill>
        <p:spPr>
          <a:xfrm>
            <a:off x="1949846" y="2818858"/>
            <a:ext cx="7300685" cy="3839970"/>
          </a:xfrm>
          <a:prstGeom prst="rect">
            <a:avLst/>
          </a:prstGeom>
        </p:spPr>
      </p:pic>
    </p:spTree>
    <p:extLst>
      <p:ext uri="{BB962C8B-B14F-4D97-AF65-F5344CB8AC3E}">
        <p14:creationId xmlns:p14="http://schemas.microsoft.com/office/powerpoint/2010/main" val="673136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868915-A3A4-4FBB-B682-5BCFC01A8059}"/>
              </a:ext>
            </a:extLst>
          </p:cNvPr>
          <p:cNvSpPr>
            <a:spLocks noGrp="1"/>
          </p:cNvSpPr>
          <p:nvPr>
            <p:ph type="body" idx="1"/>
          </p:nvPr>
        </p:nvSpPr>
        <p:spPr>
          <a:xfrm>
            <a:off x="270669" y="692457"/>
            <a:ext cx="11650800" cy="5787497"/>
          </a:xfrm>
        </p:spPr>
        <p:txBody>
          <a:bodyPr/>
          <a:lstStyle/>
          <a:p>
            <a:r>
              <a:rPr lang="en-GB" b="1" dirty="0">
                <a:solidFill>
                  <a:schemeClr val="tx1"/>
                </a:solidFill>
              </a:rPr>
              <a:t>CM (Contribution Margin) = </a:t>
            </a:r>
            <a:r>
              <a:rPr lang="en-US" sz="2000" b="1" dirty="0">
                <a:solidFill>
                  <a:schemeClr val="tx1"/>
                </a:solidFill>
                <a:latin typeface="Proxima Nova" panose="020B0600070205080204"/>
              </a:rPr>
              <a:t>“Revenue” – “</a:t>
            </a:r>
            <a:r>
              <a:rPr lang="en-US" sz="2000" b="1" dirty="0">
                <a:solidFill>
                  <a:srgbClr val="0070C0"/>
                </a:solidFill>
                <a:latin typeface="Proxima Nova" panose="020B0600070205080204"/>
              </a:rPr>
              <a:t>Variable Cost</a:t>
            </a:r>
            <a:r>
              <a:rPr lang="en-US" sz="2000" b="1" dirty="0">
                <a:solidFill>
                  <a:schemeClr val="tx1"/>
                </a:solidFill>
                <a:latin typeface="Proxima Nova" panose="020B0600070205080204"/>
              </a:rPr>
              <a:t>” </a:t>
            </a:r>
            <a:endParaRPr lang="en-US" sz="800" b="1" dirty="0">
              <a:solidFill>
                <a:schemeClr val="accent2"/>
              </a:solidFill>
              <a:latin typeface="Proxima Nova" panose="020B0600070205080204"/>
            </a:endParaRPr>
          </a:p>
          <a:p>
            <a:pPr marL="158750" indent="0">
              <a:buNone/>
            </a:pPr>
            <a:r>
              <a:rPr lang="ja-JP" altLang="en-US" sz="2000" b="1" dirty="0">
                <a:solidFill>
                  <a:schemeClr val="tx1"/>
                </a:solidFill>
                <a:latin typeface="Proxima Nova" panose="020B0600070205080204"/>
              </a:rPr>
              <a:t>　</a:t>
            </a:r>
            <a:r>
              <a:rPr lang="en-US" sz="2000" b="1" dirty="0">
                <a:solidFill>
                  <a:schemeClr val="tx1"/>
                </a:solidFill>
                <a:latin typeface="Proxima Nova" panose="020B0600070205080204"/>
              </a:rPr>
              <a:t>“</a:t>
            </a:r>
            <a:r>
              <a:rPr lang="en-US" altLang="ja-JP" sz="2000" b="1" dirty="0">
                <a:solidFill>
                  <a:srgbClr val="0070C0"/>
                </a:solidFill>
                <a:latin typeface="Proxima Nova" panose="020B0600070205080204"/>
              </a:rPr>
              <a:t>Variable Cost</a:t>
            </a:r>
            <a:r>
              <a:rPr lang="en-US" sz="2000" b="1" dirty="0">
                <a:solidFill>
                  <a:schemeClr val="tx1"/>
                </a:solidFill>
                <a:latin typeface="Proxima Nova" panose="020B0600070205080204"/>
              </a:rPr>
              <a:t>” </a:t>
            </a:r>
            <a:r>
              <a:rPr lang="ja-JP" altLang="en-US" sz="2000" dirty="0">
                <a:solidFill>
                  <a:schemeClr val="tx1"/>
                </a:solidFill>
                <a:latin typeface="Proxima Nova" panose="020B0600070205080204"/>
              </a:rPr>
              <a:t>とは、</a:t>
            </a:r>
            <a:r>
              <a:rPr lang="ja-JP" altLang="en-US" dirty="0">
                <a:solidFill>
                  <a:schemeClr val="tx1"/>
                </a:solidFill>
                <a:latin typeface="Proxima Nova" panose="020B0600070205080204"/>
              </a:rPr>
              <a:t>各コンテナを物理的に輸送することで生じる</a:t>
            </a:r>
            <a:r>
              <a:rPr lang="ja-JP" altLang="en-US" sz="2000" dirty="0">
                <a:solidFill>
                  <a:schemeClr val="tx1"/>
                </a:solidFill>
                <a:latin typeface="Proxima Nova" panose="020B0600070205080204"/>
                <a:sym typeface="Wingdings" panose="05000000000000000000" pitchFamily="2" charset="2"/>
              </a:rPr>
              <a:t>コストのこと。</a:t>
            </a:r>
            <a:r>
              <a:rPr lang="en-US" altLang="ja-JP" sz="2000" dirty="0">
                <a:solidFill>
                  <a:schemeClr val="tx1"/>
                </a:solidFill>
                <a:latin typeface="Proxima Nova" panose="020B0600070205080204"/>
                <a:sym typeface="Wingdings" panose="05000000000000000000" pitchFamily="2" charset="2"/>
              </a:rPr>
              <a:t>Pricing Simulation</a:t>
            </a:r>
            <a:r>
              <a:rPr lang="ja-JP" altLang="en-US" sz="2000" dirty="0">
                <a:solidFill>
                  <a:schemeClr val="tx1"/>
                </a:solidFill>
                <a:latin typeface="Proxima Nova" panose="020B0600070205080204"/>
                <a:sym typeface="Wingdings" panose="05000000000000000000" pitchFamily="2" charset="2"/>
              </a:rPr>
              <a:t>に表示されるコストと同じ</a:t>
            </a:r>
            <a:r>
              <a:rPr lang="ja-JP" altLang="en-US" dirty="0">
                <a:solidFill>
                  <a:schemeClr val="tx1"/>
                </a:solidFill>
                <a:latin typeface="Proxima Nova" panose="020B0600070205080204"/>
                <a:sym typeface="Wingdings" panose="05000000000000000000" pitchFamily="2" charset="2"/>
              </a:rPr>
              <a:t>です</a:t>
            </a:r>
            <a:r>
              <a:rPr lang="ja-JP" altLang="en-US" sz="2000" dirty="0">
                <a:solidFill>
                  <a:schemeClr val="tx1"/>
                </a:solidFill>
                <a:latin typeface="Proxima Nova" panose="020B0600070205080204"/>
                <a:sym typeface="Wingdings" panose="05000000000000000000" pitchFamily="2" charset="2"/>
              </a:rPr>
              <a:t>が、タイミングや実際の</a:t>
            </a:r>
            <a:r>
              <a:rPr lang="en-US" altLang="ja-JP" sz="2000" dirty="0">
                <a:solidFill>
                  <a:schemeClr val="tx1"/>
                </a:solidFill>
                <a:latin typeface="Proxima Nova" panose="020B0600070205080204"/>
                <a:sym typeface="Wingdings" panose="05000000000000000000" pitchFamily="2" charset="2"/>
              </a:rPr>
              <a:t>Routing</a:t>
            </a:r>
            <a:r>
              <a:rPr lang="ja-JP" altLang="en-US" sz="2000" dirty="0">
                <a:solidFill>
                  <a:schemeClr val="tx1"/>
                </a:solidFill>
                <a:latin typeface="Proxima Nova" panose="020B0600070205080204"/>
                <a:sym typeface="Wingdings" panose="05000000000000000000" pitchFamily="2" charset="2"/>
              </a:rPr>
              <a:t>によって変化します。</a:t>
            </a:r>
            <a:endParaRPr lang="en-GB" altLang="ja-JP" sz="2000" dirty="0">
              <a:solidFill>
                <a:schemeClr val="tx1"/>
              </a:solidFill>
              <a:latin typeface="Proxima Nova" panose="020B0600070205080204"/>
              <a:sym typeface="Wingdings" panose="05000000000000000000" pitchFamily="2" charset="2"/>
            </a:endParaRPr>
          </a:p>
          <a:p>
            <a:pPr marL="158750" indent="0">
              <a:buNone/>
            </a:pPr>
            <a:r>
              <a:rPr lang="en-US" altLang="ja-JP" sz="1800" b="1" dirty="0">
                <a:solidFill>
                  <a:schemeClr val="tx1"/>
                </a:solidFill>
                <a:latin typeface="Proxima Nova" panose="020B0600070205080204"/>
                <a:sym typeface="Wingdings" panose="05000000000000000000" pitchFamily="2" charset="2"/>
              </a:rPr>
              <a:t>CM</a:t>
            </a:r>
            <a:r>
              <a:rPr lang="ja-JP" altLang="en-US" sz="1800" b="1" dirty="0">
                <a:solidFill>
                  <a:schemeClr val="tx1"/>
                </a:solidFill>
                <a:latin typeface="Proxima Nova" panose="020B0600070205080204"/>
                <a:sym typeface="Wingdings" panose="05000000000000000000" pitchFamily="2" charset="2"/>
              </a:rPr>
              <a:t>計算に含まれるもの：</a:t>
            </a:r>
            <a:r>
              <a:rPr lang="en-US" sz="1800" b="1" dirty="0">
                <a:solidFill>
                  <a:schemeClr val="tx1"/>
                </a:solidFill>
                <a:latin typeface="Proxima Nova" panose="020B0600070205080204"/>
              </a:rPr>
              <a:t> </a:t>
            </a:r>
            <a:r>
              <a:rPr lang="en-US" sz="1800" dirty="0">
                <a:solidFill>
                  <a:schemeClr val="tx1"/>
                </a:solidFill>
                <a:latin typeface="Proxima Nova" panose="020B0600070205080204"/>
              </a:rPr>
              <a:t>TES(terminal cost)</a:t>
            </a:r>
            <a:r>
              <a:rPr lang="ja-JP" altLang="en-US" sz="1800" dirty="0">
                <a:solidFill>
                  <a:schemeClr val="tx1"/>
                </a:solidFill>
                <a:latin typeface="Proxima Nova" panose="020B0600070205080204"/>
              </a:rPr>
              <a:t>、</a:t>
            </a:r>
            <a:r>
              <a:rPr lang="en-US" altLang="ja-JP" sz="1800" dirty="0">
                <a:solidFill>
                  <a:schemeClr val="tx1"/>
                </a:solidFill>
                <a:latin typeface="Proxima Nova" panose="020B0600070205080204"/>
              </a:rPr>
              <a:t>TRS(transport cost)</a:t>
            </a:r>
            <a:r>
              <a:rPr lang="ja-JP" altLang="en-US" sz="1800" dirty="0">
                <a:solidFill>
                  <a:schemeClr val="tx1"/>
                </a:solidFill>
                <a:latin typeface="Proxima Nova" panose="020B0600070205080204"/>
              </a:rPr>
              <a:t>、</a:t>
            </a:r>
            <a:r>
              <a:rPr lang="en-GB" altLang="ja-JP" sz="1800" dirty="0">
                <a:solidFill>
                  <a:schemeClr val="tx1"/>
                </a:solidFill>
                <a:latin typeface="Proxima Nova" panose="020B0600070205080204"/>
              </a:rPr>
              <a:t>EPP(Empty Positioning Cost)</a:t>
            </a:r>
            <a:r>
              <a:rPr lang="ja-JP" altLang="en-US" sz="1800" dirty="0">
                <a:solidFill>
                  <a:schemeClr val="tx1"/>
                </a:solidFill>
                <a:latin typeface="Proxima Nova" panose="020B0600070205080204"/>
              </a:rPr>
              <a:t>、</a:t>
            </a:r>
            <a:r>
              <a:rPr lang="en-GB" altLang="ja-JP" sz="1800" dirty="0">
                <a:solidFill>
                  <a:schemeClr val="tx1"/>
                </a:solidFill>
                <a:latin typeface="Proxima Nova" panose="020B0600070205080204"/>
              </a:rPr>
              <a:t>Reefer</a:t>
            </a:r>
            <a:r>
              <a:rPr lang="ja-JP" altLang="en-US" sz="1800" dirty="0">
                <a:solidFill>
                  <a:schemeClr val="tx1"/>
                </a:solidFill>
                <a:latin typeface="Proxima Nova" panose="020B0600070205080204"/>
              </a:rPr>
              <a:t> </a:t>
            </a:r>
            <a:r>
              <a:rPr lang="en-GB" altLang="ja-JP" sz="1800" dirty="0">
                <a:solidFill>
                  <a:schemeClr val="tx1"/>
                </a:solidFill>
                <a:latin typeface="Proxima Nova" panose="020B0600070205080204"/>
              </a:rPr>
              <a:t>Bunker consumption Cost</a:t>
            </a:r>
            <a:r>
              <a:rPr lang="ja-JP" altLang="en-US" sz="1800" dirty="0">
                <a:solidFill>
                  <a:schemeClr val="tx1"/>
                </a:solidFill>
                <a:latin typeface="Proxima Nova" panose="020B0600070205080204"/>
              </a:rPr>
              <a:t>、</a:t>
            </a:r>
            <a:r>
              <a:rPr lang="en-US" altLang="ja-JP" sz="1800" dirty="0">
                <a:solidFill>
                  <a:schemeClr val="tx1"/>
                </a:solidFill>
                <a:latin typeface="Proxima Nova" panose="020B0600070205080204"/>
              </a:rPr>
              <a:t>ACM(Agency Commission)</a:t>
            </a:r>
            <a:r>
              <a:rPr lang="ja-JP" altLang="en-US" sz="1800" dirty="0">
                <a:solidFill>
                  <a:schemeClr val="tx1"/>
                </a:solidFill>
                <a:latin typeface="Proxima Nova" panose="020B0600070205080204"/>
              </a:rPr>
              <a:t>　　　　　　　</a:t>
            </a:r>
            <a:endParaRPr lang="en-US" sz="1800" dirty="0">
              <a:solidFill>
                <a:schemeClr val="tx1"/>
              </a:solidFill>
              <a:latin typeface="Proxima Nova" panose="020B0600070205080204"/>
            </a:endParaRPr>
          </a:p>
          <a:p>
            <a:pPr marL="158750" indent="0">
              <a:buNone/>
            </a:pPr>
            <a:r>
              <a:rPr lang="ja-JP" altLang="en-US" b="1" dirty="0">
                <a:solidFill>
                  <a:schemeClr val="tx1"/>
                </a:solidFill>
                <a:latin typeface="Proxima Nova" panose="020B0600070205080204"/>
              </a:rPr>
              <a:t>                             </a:t>
            </a:r>
            <a:endParaRPr lang="en-US" altLang="ja-JP" b="1" dirty="0">
              <a:solidFill>
                <a:schemeClr val="tx1"/>
              </a:solidFill>
              <a:latin typeface="Proxima Nova" panose="020B0600070205080204"/>
              <a:sym typeface="Wingdings" panose="05000000000000000000" pitchFamily="2" charset="2"/>
            </a:endParaRPr>
          </a:p>
          <a:p>
            <a:pPr marL="158750" indent="0">
              <a:buNone/>
            </a:pPr>
            <a:r>
              <a:rPr lang="ja-JP" altLang="en-US" sz="1800" b="1" dirty="0">
                <a:solidFill>
                  <a:schemeClr val="tx1"/>
                </a:solidFill>
                <a:latin typeface="Proxima Nova" panose="020B0600070205080204"/>
                <a:sym typeface="Wingdings" panose="05000000000000000000" pitchFamily="2" charset="2"/>
              </a:rPr>
              <a:t>　</a:t>
            </a:r>
            <a:endParaRPr lang="en-US" sz="1800" dirty="0">
              <a:solidFill>
                <a:schemeClr val="tx1"/>
              </a:solidFill>
              <a:latin typeface="Proxima Nova" panose="020B0600070205080204"/>
            </a:endParaRPr>
          </a:p>
        </p:txBody>
      </p:sp>
      <p:sp>
        <p:nvSpPr>
          <p:cNvPr id="4" name="Slide Number Placeholder 3">
            <a:extLst>
              <a:ext uri="{FF2B5EF4-FFF2-40B4-BE49-F238E27FC236}">
                <a16:creationId xmlns:a16="http://schemas.microsoft.com/office/drawing/2014/main" id="{8AC747BD-2367-4CDD-A3B6-18724E89479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6</a:t>
            </a:fld>
            <a:endParaRPr lang="en-US"/>
          </a:p>
        </p:txBody>
      </p:sp>
      <p:sp>
        <p:nvSpPr>
          <p:cNvPr id="5" name="Title 1">
            <a:extLst>
              <a:ext uri="{FF2B5EF4-FFF2-40B4-BE49-F238E27FC236}">
                <a16:creationId xmlns:a16="http://schemas.microsoft.com/office/drawing/2014/main" id="{B40C9A6D-473A-475E-A473-5411A6ED1944}"/>
              </a:ext>
            </a:extLst>
          </p:cNvPr>
          <p:cNvSpPr>
            <a:spLocks noGrp="1"/>
          </p:cNvSpPr>
          <p:nvPr>
            <p:ph type="title"/>
          </p:nvPr>
        </p:nvSpPr>
        <p:spPr>
          <a:xfrm>
            <a:off x="1949847" y="199173"/>
            <a:ext cx="9971100" cy="357900"/>
          </a:xfrm>
        </p:spPr>
        <p:txBody>
          <a:bodyPr/>
          <a:lstStyle/>
          <a:p>
            <a:r>
              <a:rPr lang="en-GB" dirty="0"/>
              <a:t>2.</a:t>
            </a:r>
            <a:r>
              <a:rPr lang="ja-JP" altLang="en-US" dirty="0"/>
              <a:t> </a:t>
            </a:r>
            <a:r>
              <a:rPr lang="en-GB" altLang="ja-JP" dirty="0"/>
              <a:t>OPUS(COA)</a:t>
            </a:r>
            <a:r>
              <a:rPr lang="ja-JP" altLang="en-US" dirty="0"/>
              <a:t>の粗利計算　</a:t>
            </a:r>
            <a:r>
              <a:rPr lang="en-GB" altLang="ja-JP" dirty="0"/>
              <a:t> – Variable Cost – </a:t>
            </a:r>
            <a:endParaRPr lang="en-GB" dirty="0"/>
          </a:p>
        </p:txBody>
      </p:sp>
      <p:pic>
        <p:nvPicPr>
          <p:cNvPr id="9" name="Picture 8">
            <a:extLst>
              <a:ext uri="{FF2B5EF4-FFF2-40B4-BE49-F238E27FC236}">
                <a16:creationId xmlns:a16="http://schemas.microsoft.com/office/drawing/2014/main" id="{1D520573-A3EE-471E-8CF7-822BB2032707}"/>
              </a:ext>
            </a:extLst>
          </p:cNvPr>
          <p:cNvPicPr>
            <a:picLocks noChangeAspect="1"/>
          </p:cNvPicPr>
          <p:nvPr/>
        </p:nvPicPr>
        <p:blipFill>
          <a:blip r:embed="rId2"/>
          <a:stretch>
            <a:fillRect/>
          </a:stretch>
        </p:blipFill>
        <p:spPr>
          <a:xfrm>
            <a:off x="1508854" y="3194589"/>
            <a:ext cx="8196007" cy="3149958"/>
          </a:xfrm>
          <a:prstGeom prst="rect">
            <a:avLst/>
          </a:prstGeom>
        </p:spPr>
      </p:pic>
    </p:spTree>
    <p:extLst>
      <p:ext uri="{BB962C8B-B14F-4D97-AF65-F5344CB8AC3E}">
        <p14:creationId xmlns:p14="http://schemas.microsoft.com/office/powerpoint/2010/main" val="873053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E6463-648F-4DAE-96C6-799C1DF2A77E}"/>
              </a:ext>
            </a:extLst>
          </p:cNvPr>
          <p:cNvSpPr>
            <a:spLocks noGrp="1"/>
          </p:cNvSpPr>
          <p:nvPr>
            <p:ph type="title"/>
          </p:nvPr>
        </p:nvSpPr>
        <p:spPr/>
        <p:txBody>
          <a:bodyPr/>
          <a:lstStyle/>
          <a:p>
            <a:r>
              <a:rPr lang="en-GB" dirty="0"/>
              <a:t>2.</a:t>
            </a:r>
            <a:r>
              <a:rPr lang="ja-JP" altLang="en-US" dirty="0"/>
              <a:t> </a:t>
            </a:r>
            <a:r>
              <a:rPr lang="en-GB" altLang="ja-JP" dirty="0"/>
              <a:t>OPUS(COA)</a:t>
            </a:r>
            <a:r>
              <a:rPr lang="ja-JP" altLang="en-US" dirty="0"/>
              <a:t>の粗利計算　</a:t>
            </a:r>
            <a:r>
              <a:rPr lang="en-GB" altLang="ja-JP" dirty="0"/>
              <a:t> – </a:t>
            </a:r>
            <a:r>
              <a:rPr lang="ja-JP" altLang="en-US" dirty="0"/>
              <a:t>営業損益の考え方 </a:t>
            </a:r>
            <a:r>
              <a:rPr lang="en-GB" altLang="ja-JP" dirty="0"/>
              <a:t>per UNIT– </a:t>
            </a:r>
            <a:endParaRPr lang="en-GB" dirty="0"/>
          </a:p>
        </p:txBody>
      </p:sp>
      <p:sp>
        <p:nvSpPr>
          <p:cNvPr id="4" name="Slide Number Placeholder 3">
            <a:extLst>
              <a:ext uri="{FF2B5EF4-FFF2-40B4-BE49-F238E27FC236}">
                <a16:creationId xmlns:a16="http://schemas.microsoft.com/office/drawing/2014/main" id="{3B2EC725-9E63-4498-AAAF-D1DC6287E94B}"/>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7</a:t>
            </a:fld>
            <a:endParaRPr lang="en-US"/>
          </a:p>
        </p:txBody>
      </p:sp>
      <p:pic>
        <p:nvPicPr>
          <p:cNvPr id="11" name="Picture 10">
            <a:extLst>
              <a:ext uri="{FF2B5EF4-FFF2-40B4-BE49-F238E27FC236}">
                <a16:creationId xmlns:a16="http://schemas.microsoft.com/office/drawing/2014/main" id="{901E3F6A-843C-445E-BF8F-E838466CFB54}"/>
              </a:ext>
            </a:extLst>
          </p:cNvPr>
          <p:cNvPicPr>
            <a:picLocks noChangeAspect="1"/>
          </p:cNvPicPr>
          <p:nvPr/>
        </p:nvPicPr>
        <p:blipFill>
          <a:blip r:embed="rId2"/>
          <a:stretch>
            <a:fillRect/>
          </a:stretch>
        </p:blipFill>
        <p:spPr>
          <a:xfrm>
            <a:off x="1092871" y="866631"/>
            <a:ext cx="9572625" cy="5734050"/>
          </a:xfrm>
          <a:prstGeom prst="rect">
            <a:avLst/>
          </a:prstGeom>
        </p:spPr>
      </p:pic>
    </p:spTree>
    <p:extLst>
      <p:ext uri="{BB962C8B-B14F-4D97-AF65-F5344CB8AC3E}">
        <p14:creationId xmlns:p14="http://schemas.microsoft.com/office/powerpoint/2010/main" val="1793871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913746-DD17-49C9-93D7-E49E0756B72C}"/>
              </a:ext>
            </a:extLst>
          </p:cNvPr>
          <p:cNvSpPr>
            <a:spLocks noGrp="1"/>
          </p:cNvSpPr>
          <p:nvPr>
            <p:ph type="sldNum" sz="quarter" idx="4"/>
          </p:nvPr>
        </p:nvSpPr>
        <p:spPr/>
        <p:txBody>
          <a:bodyPr/>
          <a:lstStyle/>
          <a:p>
            <a:fld id="{EC0127F4-4675-4B17-A33D-7B3AA357E2F6}" type="slidenum">
              <a:rPr lang="en-SG" smtClean="0"/>
              <a:pPr/>
              <a:t>8</a:t>
            </a:fld>
            <a:endParaRPr lang="en-SG"/>
          </a:p>
        </p:txBody>
      </p:sp>
      <p:sp>
        <p:nvSpPr>
          <p:cNvPr id="10" name="Right Triangle 9">
            <a:extLst>
              <a:ext uri="{FF2B5EF4-FFF2-40B4-BE49-F238E27FC236}">
                <a16:creationId xmlns:a16="http://schemas.microsoft.com/office/drawing/2014/main" id="{CD5345EA-3263-4957-A78D-9F77414160DB}"/>
              </a:ext>
            </a:extLst>
          </p:cNvPr>
          <p:cNvSpPr/>
          <p:nvPr/>
        </p:nvSpPr>
        <p:spPr>
          <a:xfrm flipH="1">
            <a:off x="1659269" y="3267458"/>
            <a:ext cx="6134782" cy="1822366"/>
          </a:xfrm>
          <a:prstGeom prst="rtTriangle">
            <a:avLst/>
          </a:prstGeom>
          <a:blipFill rotWithShape="1">
            <a:blip r:embed="rId3"/>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412750" hangingPunct="0">
              <a:buClrTx/>
            </a:pPr>
            <a:endParaRPr lang="en-GB" sz="450" dirty="0">
              <a:solidFill>
                <a:srgbClr val="FFFFFF"/>
              </a:solidFill>
            </a:endParaRPr>
          </a:p>
          <a:p>
            <a:pPr algn="ctr" defTabSz="412750" hangingPunct="0">
              <a:buClrTx/>
            </a:pPr>
            <a:endParaRPr lang="en-GB" sz="450" dirty="0">
              <a:solidFill>
                <a:srgbClr val="FFFFFF"/>
              </a:solidFill>
            </a:endParaRPr>
          </a:p>
          <a:p>
            <a:pPr algn="ctr" defTabSz="412750" hangingPunct="0">
              <a:buClrTx/>
            </a:pPr>
            <a:r>
              <a:rPr lang="en-GB" sz="1600" dirty="0">
                <a:solidFill>
                  <a:srgbClr val="FFFFFF"/>
                </a:solidFill>
                <a:latin typeface="+mn-lt"/>
                <a:ea typeface="+mn-ea"/>
                <a:cs typeface="+mn-cs"/>
                <a:sym typeface="ヒラギノ角ゴ ProN W3"/>
              </a:rPr>
              <a:t>Variable Cost</a:t>
            </a:r>
          </a:p>
          <a:p>
            <a:pPr algn="ctr" defTabSz="412750" hangingPunct="0">
              <a:buClrTx/>
            </a:pPr>
            <a:endParaRPr lang="en-GB" sz="700" dirty="0">
              <a:solidFill>
                <a:srgbClr val="FFFFFF"/>
              </a:solidFill>
              <a:latin typeface="+mn-lt"/>
              <a:ea typeface="+mn-ea"/>
              <a:cs typeface="+mn-cs"/>
              <a:sym typeface="ヒラギノ角ゴ ProN W3"/>
            </a:endParaRPr>
          </a:p>
          <a:p>
            <a:pPr algn="ctr" defTabSz="412750" hangingPunct="0">
              <a:buClrTx/>
            </a:pPr>
            <a:endParaRPr lang="en-GB" sz="450" dirty="0">
              <a:solidFill>
                <a:srgbClr val="FFFFFF"/>
              </a:solidFill>
              <a:latin typeface="+mn-lt"/>
              <a:ea typeface="+mn-ea"/>
              <a:cs typeface="+mn-cs"/>
              <a:sym typeface="ヒラギノ角ゴ ProN W3"/>
            </a:endParaRPr>
          </a:p>
        </p:txBody>
      </p:sp>
      <p:cxnSp>
        <p:nvCxnSpPr>
          <p:cNvPr id="12" name="Straight Connector 11">
            <a:extLst>
              <a:ext uri="{FF2B5EF4-FFF2-40B4-BE49-F238E27FC236}">
                <a16:creationId xmlns:a16="http://schemas.microsoft.com/office/drawing/2014/main" id="{44776DDF-EE4C-4F6E-86C7-05C6686DCCB1}"/>
              </a:ext>
            </a:extLst>
          </p:cNvPr>
          <p:cNvCxnSpPr/>
          <p:nvPr/>
        </p:nvCxnSpPr>
        <p:spPr>
          <a:xfrm>
            <a:off x="1650951" y="6084182"/>
            <a:ext cx="6583680" cy="0"/>
          </a:xfrm>
          <a:prstGeom prst="line">
            <a:avLst/>
          </a:prstGeom>
          <a:noFill/>
          <a:ln w="571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4CE7DA88-379F-4523-B324-81FC43E45148}"/>
              </a:ext>
            </a:extLst>
          </p:cNvPr>
          <p:cNvSpPr txBox="1"/>
          <p:nvPr/>
        </p:nvSpPr>
        <p:spPr>
          <a:xfrm>
            <a:off x="1576137" y="6182866"/>
            <a:ext cx="7032567" cy="307777"/>
          </a:xfrm>
          <a:prstGeom prst="rect">
            <a:avLst/>
          </a:prstGeom>
        </p:spPr>
        <p:txBody>
          <a:bodyPr wrap="square" rtlCol="0" anchor="t">
            <a:spAutoFit/>
          </a:bodyPr>
          <a:lstStyle/>
          <a:p>
            <a:pPr algn="l" hangingPunct="1"/>
            <a:r>
              <a:rPr lang="en-GB" dirty="0">
                <a:latin typeface="Arial" panose="020B0604020202020204" pitchFamily="34" charset="0"/>
                <a:cs typeface="Arial" panose="020B0604020202020204" pitchFamily="34" charset="0"/>
              </a:rPr>
              <a:t>0 %    10 %    20 %    30 %    40 %    50 %    60 %    70 %    80 %    90 %    100 %</a:t>
            </a:r>
          </a:p>
        </p:txBody>
      </p:sp>
      <p:cxnSp>
        <p:nvCxnSpPr>
          <p:cNvPr id="15" name="Straight Connector 14">
            <a:extLst>
              <a:ext uri="{FF2B5EF4-FFF2-40B4-BE49-F238E27FC236}">
                <a16:creationId xmlns:a16="http://schemas.microsoft.com/office/drawing/2014/main" id="{F487A344-ED49-4FBE-925C-0E352A87495B}"/>
              </a:ext>
            </a:extLst>
          </p:cNvPr>
          <p:cNvCxnSpPr>
            <a:cxnSpLocks/>
          </p:cNvCxnSpPr>
          <p:nvPr/>
        </p:nvCxnSpPr>
        <p:spPr>
          <a:xfrm>
            <a:off x="1650951" y="2597926"/>
            <a:ext cx="8313" cy="3486256"/>
          </a:xfrm>
          <a:prstGeom prst="line">
            <a:avLst/>
          </a:prstGeom>
          <a:noFill/>
          <a:ln w="571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17" name="Table 17">
            <a:extLst>
              <a:ext uri="{FF2B5EF4-FFF2-40B4-BE49-F238E27FC236}">
                <a16:creationId xmlns:a16="http://schemas.microsoft.com/office/drawing/2014/main" id="{C4886A84-CDB5-4823-876F-20862AA435E9}"/>
              </a:ext>
            </a:extLst>
          </p:cNvPr>
          <p:cNvGraphicFramePr>
            <a:graphicFrameLocks noGrp="1"/>
          </p:cNvGraphicFramePr>
          <p:nvPr>
            <p:extLst>
              <p:ext uri="{D42A27DB-BD31-4B8C-83A1-F6EECF244321}">
                <p14:modId xmlns:p14="http://schemas.microsoft.com/office/powerpoint/2010/main" val="1777645219"/>
              </p:ext>
            </p:extLst>
          </p:nvPr>
        </p:nvGraphicFramePr>
        <p:xfrm>
          <a:off x="827991" y="2513951"/>
          <a:ext cx="748146" cy="3570235"/>
        </p:xfrm>
        <a:graphic>
          <a:graphicData uri="http://schemas.openxmlformats.org/drawingml/2006/table">
            <a:tbl>
              <a:tblPr firstRow="1" bandRow="1">
                <a:tableStyleId>{5940675A-B579-460E-94D1-54222C63F5DA}</a:tableStyleId>
              </a:tblPr>
              <a:tblGrid>
                <a:gridCol w="748146">
                  <a:extLst>
                    <a:ext uri="{9D8B030D-6E8A-4147-A177-3AD203B41FA5}">
                      <a16:colId xmlns:a16="http://schemas.microsoft.com/office/drawing/2014/main" val="24381536"/>
                    </a:ext>
                  </a:extLst>
                </a:gridCol>
              </a:tblGrid>
              <a:tr h="714047">
                <a:tc>
                  <a:txBody>
                    <a:bodyPr/>
                    <a:lstStyle/>
                    <a:p>
                      <a:r>
                        <a:rPr lang="en-GB" sz="1000" dirty="0">
                          <a:latin typeface="Arial" panose="020B0604020202020204" pitchFamily="34" charset="0"/>
                          <a:cs typeface="Arial" panose="020B0604020202020204" pitchFamily="34" charset="0"/>
                        </a:rPr>
                        <a:t>$250 mil</a:t>
                      </a:r>
                    </a:p>
                  </a:txBody>
                  <a:tcPr marL="45720" marR="45720" marT="22860" marB="228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4738564"/>
                  </a:ext>
                </a:extLst>
              </a:tr>
              <a:tr h="714047">
                <a:tc>
                  <a:txBody>
                    <a:bodyPr/>
                    <a:lstStyle/>
                    <a:p>
                      <a:r>
                        <a:rPr lang="en-GB" sz="1000" dirty="0">
                          <a:latin typeface="Arial" panose="020B0604020202020204" pitchFamily="34" charset="0"/>
                          <a:cs typeface="Arial" panose="020B0604020202020204" pitchFamily="34" charset="0"/>
                        </a:rPr>
                        <a:t>$200 mil</a:t>
                      </a:r>
                    </a:p>
                  </a:txBody>
                  <a:tcPr marL="45720" marR="45720" marT="22860" marB="228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5138694"/>
                  </a:ext>
                </a:extLst>
              </a:tr>
              <a:tr h="714047">
                <a:tc>
                  <a:txBody>
                    <a:bodyPr/>
                    <a:lstStyle/>
                    <a:p>
                      <a:r>
                        <a:rPr lang="en-GB" sz="1000" dirty="0">
                          <a:latin typeface="Arial" panose="020B0604020202020204" pitchFamily="34" charset="0"/>
                          <a:cs typeface="Arial" panose="020B0604020202020204" pitchFamily="34" charset="0"/>
                        </a:rPr>
                        <a:t>$150 mil</a:t>
                      </a:r>
                    </a:p>
                  </a:txBody>
                  <a:tcPr marL="45720" marR="45720" marT="22860" marB="228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940229"/>
                  </a:ext>
                </a:extLst>
              </a:tr>
              <a:tr h="714047">
                <a:tc>
                  <a:txBody>
                    <a:bodyPr/>
                    <a:lstStyle/>
                    <a:p>
                      <a:r>
                        <a:rPr lang="en-GB" sz="1000" dirty="0">
                          <a:latin typeface="Arial" panose="020B0604020202020204" pitchFamily="34" charset="0"/>
                          <a:cs typeface="Arial" panose="020B0604020202020204" pitchFamily="34" charset="0"/>
                        </a:rPr>
                        <a:t>$100 mil</a:t>
                      </a:r>
                    </a:p>
                  </a:txBody>
                  <a:tcPr marL="45720" marR="45720" marT="22860" marB="228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09858747"/>
                  </a:ext>
                </a:extLst>
              </a:tr>
              <a:tr h="714047">
                <a:tc>
                  <a:txBody>
                    <a:bodyPr/>
                    <a:lstStyle/>
                    <a:p>
                      <a:r>
                        <a:rPr lang="en-GB" sz="1000" dirty="0">
                          <a:latin typeface="Arial" panose="020B0604020202020204" pitchFamily="34" charset="0"/>
                          <a:cs typeface="Arial" panose="020B0604020202020204" pitchFamily="34" charset="0"/>
                        </a:rPr>
                        <a:t>$50 mil</a:t>
                      </a:r>
                    </a:p>
                  </a:txBody>
                  <a:tcPr marL="45720" marR="45720" marT="22860" marB="228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75510646"/>
                  </a:ext>
                </a:extLst>
              </a:tr>
            </a:tbl>
          </a:graphicData>
        </a:graphic>
      </p:graphicFrame>
      <p:sp>
        <p:nvSpPr>
          <p:cNvPr id="3" name="Rectangle 2">
            <a:extLst>
              <a:ext uri="{FF2B5EF4-FFF2-40B4-BE49-F238E27FC236}">
                <a16:creationId xmlns:a16="http://schemas.microsoft.com/office/drawing/2014/main" id="{CF2218B8-1B76-4C1E-B7D6-8320BDCB068A}"/>
              </a:ext>
            </a:extLst>
          </p:cNvPr>
          <p:cNvSpPr/>
          <p:nvPr/>
        </p:nvSpPr>
        <p:spPr>
          <a:xfrm>
            <a:off x="1684195" y="5087818"/>
            <a:ext cx="6118165" cy="974626"/>
          </a:xfrm>
          <a:prstGeom prst="rect">
            <a:avLst/>
          </a:prstGeom>
          <a:solidFill>
            <a:srgbClr val="66CCFF"/>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412750" hangingPunct="0">
              <a:buClrTx/>
            </a:pPr>
            <a:endParaRPr lang="en-GB" sz="600" dirty="0">
              <a:solidFill>
                <a:srgbClr val="FFFFFF"/>
              </a:solidFill>
              <a:latin typeface="+mn-lt"/>
              <a:ea typeface="+mn-ea"/>
              <a:cs typeface="+mn-cs"/>
              <a:sym typeface="ヒラギノ角ゴ ProN W3"/>
            </a:endParaRPr>
          </a:p>
          <a:p>
            <a:pPr algn="ctr" defTabSz="412750" hangingPunct="0">
              <a:buClrTx/>
            </a:pPr>
            <a:endParaRPr lang="en-GB" sz="1600" dirty="0">
              <a:solidFill>
                <a:srgbClr val="FFFFFF"/>
              </a:solidFill>
              <a:latin typeface="+mn-lt"/>
              <a:ea typeface="+mn-ea"/>
              <a:cs typeface="+mn-cs"/>
              <a:sym typeface="ヒラギノ角ゴ ProN W3"/>
            </a:endParaRPr>
          </a:p>
          <a:p>
            <a:pPr algn="ctr" defTabSz="412750" hangingPunct="0">
              <a:buClrTx/>
            </a:pPr>
            <a:r>
              <a:rPr lang="en-GB" sz="1600" dirty="0">
                <a:solidFill>
                  <a:srgbClr val="FFFFFF"/>
                </a:solidFill>
                <a:latin typeface="+mn-lt"/>
                <a:ea typeface="+mn-ea"/>
                <a:cs typeface="+mn-cs"/>
                <a:sym typeface="ヒラギノ角ゴ ProN W3"/>
              </a:rPr>
              <a:t>                                             Fixed Cost</a:t>
            </a:r>
          </a:p>
          <a:p>
            <a:pPr algn="ctr" defTabSz="412750" hangingPunct="0">
              <a:buClrTx/>
            </a:pPr>
            <a:endParaRPr lang="en-GB" sz="1600" dirty="0">
              <a:solidFill>
                <a:srgbClr val="FFFFFF"/>
              </a:solidFill>
              <a:latin typeface="+mn-lt"/>
              <a:ea typeface="+mn-ea"/>
              <a:cs typeface="+mn-cs"/>
              <a:sym typeface="ヒラギノ角ゴ ProN W3"/>
            </a:endParaRPr>
          </a:p>
          <a:p>
            <a:pPr algn="ctr" defTabSz="412750" hangingPunct="0">
              <a:buClrTx/>
            </a:pPr>
            <a:endParaRPr lang="en-GB" sz="600" dirty="0">
              <a:solidFill>
                <a:srgbClr val="FFFFFF"/>
              </a:solidFill>
              <a:latin typeface="+mn-lt"/>
              <a:ea typeface="+mn-ea"/>
              <a:cs typeface="+mn-cs"/>
              <a:sym typeface="ヒラギノ角ゴ ProN W3"/>
            </a:endParaRPr>
          </a:p>
        </p:txBody>
      </p:sp>
      <p:cxnSp>
        <p:nvCxnSpPr>
          <p:cNvPr id="7" name="Straight Connector 6">
            <a:extLst>
              <a:ext uri="{FF2B5EF4-FFF2-40B4-BE49-F238E27FC236}">
                <a16:creationId xmlns:a16="http://schemas.microsoft.com/office/drawing/2014/main" id="{7485BA8B-FC62-472D-AE42-6D5F77927B03}"/>
              </a:ext>
            </a:extLst>
          </p:cNvPr>
          <p:cNvCxnSpPr>
            <a:cxnSpLocks/>
          </p:cNvCxnSpPr>
          <p:nvPr/>
        </p:nvCxnSpPr>
        <p:spPr>
          <a:xfrm flipV="1">
            <a:off x="1667578" y="2756547"/>
            <a:ext cx="6168725" cy="3323278"/>
          </a:xfrm>
          <a:prstGeom prst="line">
            <a:avLst/>
          </a:prstGeom>
          <a:noFill/>
          <a:ln w="57150" cap="flat">
            <a:solidFill>
              <a:srgbClr val="FF0000"/>
            </a:solidFill>
            <a:prstDash val="solid"/>
            <a:miter lim="4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1D6A405D-07E3-496F-B08E-200D2D68433E}"/>
              </a:ext>
            </a:extLst>
          </p:cNvPr>
          <p:cNvSpPr txBox="1"/>
          <p:nvPr/>
        </p:nvSpPr>
        <p:spPr>
          <a:xfrm>
            <a:off x="7893601" y="2517177"/>
            <a:ext cx="1431421" cy="430887"/>
          </a:xfrm>
          <a:prstGeom prst="rect">
            <a:avLst/>
          </a:prstGeom>
        </p:spPr>
        <p:txBody>
          <a:bodyPr wrap="square" rtlCol="0" anchor="t">
            <a:spAutoFit/>
          </a:bodyPr>
          <a:lstStyle/>
          <a:p>
            <a:pPr algn="l" hangingPunct="1"/>
            <a:r>
              <a:rPr lang="en-GB" sz="2200" dirty="0">
                <a:solidFill>
                  <a:srgbClr val="FF0000"/>
                </a:solidFill>
              </a:rPr>
              <a:t>Revenue</a:t>
            </a:r>
          </a:p>
        </p:txBody>
      </p:sp>
      <p:cxnSp>
        <p:nvCxnSpPr>
          <p:cNvPr id="16" name="Straight Connector 15">
            <a:extLst>
              <a:ext uri="{FF2B5EF4-FFF2-40B4-BE49-F238E27FC236}">
                <a16:creationId xmlns:a16="http://schemas.microsoft.com/office/drawing/2014/main" id="{FBDEF326-A8FB-403D-9242-E17B4CC66FBB}"/>
              </a:ext>
            </a:extLst>
          </p:cNvPr>
          <p:cNvCxnSpPr>
            <a:cxnSpLocks/>
          </p:cNvCxnSpPr>
          <p:nvPr/>
        </p:nvCxnSpPr>
        <p:spPr>
          <a:xfrm flipV="1">
            <a:off x="1701521" y="4637383"/>
            <a:ext cx="6092530" cy="1442443"/>
          </a:xfrm>
          <a:prstGeom prst="line">
            <a:avLst/>
          </a:prstGeom>
          <a:noFill/>
          <a:ln w="57150" cap="flat">
            <a:solidFill>
              <a:srgbClr val="00B050"/>
            </a:solidFill>
            <a:prstDash val="dash"/>
            <a:miter lim="400000"/>
          </a:ln>
          <a:effectLst/>
          <a:sp3d/>
        </p:spPr>
        <p:style>
          <a:lnRef idx="0">
            <a:scrgbClr r="0" g="0" b="0"/>
          </a:lnRef>
          <a:fillRef idx="0">
            <a:scrgbClr r="0" g="0" b="0"/>
          </a:fillRef>
          <a:effectRef idx="0">
            <a:scrgbClr r="0" g="0" b="0"/>
          </a:effectRef>
          <a:fontRef idx="none"/>
        </p:style>
      </p:cxnSp>
      <p:sp>
        <p:nvSpPr>
          <p:cNvPr id="18" name="TextBox 17">
            <a:extLst>
              <a:ext uri="{FF2B5EF4-FFF2-40B4-BE49-F238E27FC236}">
                <a16:creationId xmlns:a16="http://schemas.microsoft.com/office/drawing/2014/main" id="{712B2E3F-9336-4678-B347-617C3CD559CF}"/>
              </a:ext>
            </a:extLst>
          </p:cNvPr>
          <p:cNvSpPr txBox="1"/>
          <p:nvPr/>
        </p:nvSpPr>
        <p:spPr>
          <a:xfrm>
            <a:off x="7861937" y="4478112"/>
            <a:ext cx="1253004" cy="430887"/>
          </a:xfrm>
          <a:prstGeom prst="rect">
            <a:avLst/>
          </a:prstGeom>
        </p:spPr>
        <p:txBody>
          <a:bodyPr wrap="square" rtlCol="0" anchor="t">
            <a:spAutoFit/>
          </a:bodyPr>
          <a:lstStyle/>
          <a:p>
            <a:pPr algn="l" hangingPunct="1"/>
            <a:r>
              <a:rPr lang="en-GB" sz="2200" dirty="0">
                <a:solidFill>
                  <a:srgbClr val="00B050"/>
                </a:solidFill>
              </a:rPr>
              <a:t>CM</a:t>
            </a:r>
          </a:p>
        </p:txBody>
      </p:sp>
      <p:sp>
        <p:nvSpPr>
          <p:cNvPr id="14" name="TextBox 13">
            <a:extLst>
              <a:ext uri="{FF2B5EF4-FFF2-40B4-BE49-F238E27FC236}">
                <a16:creationId xmlns:a16="http://schemas.microsoft.com/office/drawing/2014/main" id="{2EFF3214-0CB3-435D-A43D-5B4334C5A002}"/>
              </a:ext>
            </a:extLst>
          </p:cNvPr>
          <p:cNvSpPr txBox="1"/>
          <p:nvPr/>
        </p:nvSpPr>
        <p:spPr>
          <a:xfrm>
            <a:off x="4500980" y="6444476"/>
            <a:ext cx="930736" cy="276999"/>
          </a:xfrm>
          <a:prstGeom prst="rect">
            <a:avLst/>
          </a:prstGeom>
        </p:spPr>
        <p:txBody>
          <a:bodyPr wrap="square" rtlCol="0" anchor="t">
            <a:spAutoFit/>
          </a:bodyPr>
          <a:lstStyle/>
          <a:p>
            <a:pPr algn="l" hangingPunct="1"/>
            <a:r>
              <a:rPr lang="en-GB" sz="1200" dirty="0"/>
              <a:t>Utilization</a:t>
            </a:r>
          </a:p>
        </p:txBody>
      </p:sp>
      <p:sp>
        <p:nvSpPr>
          <p:cNvPr id="20" name="TextBox 19">
            <a:extLst>
              <a:ext uri="{FF2B5EF4-FFF2-40B4-BE49-F238E27FC236}">
                <a16:creationId xmlns:a16="http://schemas.microsoft.com/office/drawing/2014/main" id="{5F3DC825-28B5-4CE6-9CFA-2081E1FC79AD}"/>
              </a:ext>
            </a:extLst>
          </p:cNvPr>
          <p:cNvSpPr txBox="1"/>
          <p:nvPr/>
        </p:nvSpPr>
        <p:spPr>
          <a:xfrm>
            <a:off x="745724" y="836135"/>
            <a:ext cx="9630007" cy="646331"/>
          </a:xfrm>
          <a:prstGeom prst="rect">
            <a:avLst/>
          </a:prstGeom>
        </p:spPr>
        <p:txBody>
          <a:bodyPr wrap="square" rtlCol="0" anchor="t">
            <a:spAutoFit/>
          </a:bodyPr>
          <a:lstStyle/>
          <a:p>
            <a:pPr algn="l" hangingPunct="1"/>
            <a:r>
              <a:rPr lang="en-GB" sz="1800" dirty="0"/>
              <a:t>CM = Freight Revenue – Variable Cost.</a:t>
            </a:r>
          </a:p>
          <a:p>
            <a:pPr algn="l" hangingPunct="1"/>
            <a:r>
              <a:rPr lang="en-GB" sz="1800" dirty="0"/>
              <a:t>Gross</a:t>
            </a:r>
            <a:r>
              <a:rPr lang="ja-JP" altLang="en-US" sz="1800" dirty="0"/>
              <a:t> </a:t>
            </a:r>
            <a:r>
              <a:rPr lang="en-GB" altLang="ja-JP" sz="1800" dirty="0"/>
              <a:t>CM</a:t>
            </a:r>
            <a:r>
              <a:rPr lang="ja-JP" altLang="en-US" sz="1800" dirty="0"/>
              <a:t>が</a:t>
            </a:r>
            <a:r>
              <a:rPr lang="en-GB" sz="1800" dirty="0"/>
              <a:t>Fixed cost</a:t>
            </a:r>
            <a:r>
              <a:rPr lang="ja-JP" altLang="en-US" sz="1800" dirty="0"/>
              <a:t>を上回ると、黒字となる。</a:t>
            </a:r>
            <a:endParaRPr lang="en-GB" sz="1800" dirty="0"/>
          </a:p>
        </p:txBody>
      </p:sp>
      <p:sp>
        <p:nvSpPr>
          <p:cNvPr id="25" name="TextBox 24">
            <a:extLst>
              <a:ext uri="{FF2B5EF4-FFF2-40B4-BE49-F238E27FC236}">
                <a16:creationId xmlns:a16="http://schemas.microsoft.com/office/drawing/2014/main" id="{1F167988-3F72-4A03-BCFC-9D8DCFA7BE7C}"/>
              </a:ext>
            </a:extLst>
          </p:cNvPr>
          <p:cNvSpPr txBox="1"/>
          <p:nvPr/>
        </p:nvSpPr>
        <p:spPr>
          <a:xfrm>
            <a:off x="3026743" y="2026739"/>
            <a:ext cx="2948474" cy="338554"/>
          </a:xfrm>
          <a:prstGeom prst="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wrap="square" rtlCol="0" anchor="t">
            <a:spAutoFit/>
          </a:bodyPr>
          <a:lstStyle/>
          <a:p>
            <a:pPr algn="ctr" hangingPunct="1"/>
            <a:r>
              <a:rPr lang="en-GB" sz="1600" dirty="0"/>
              <a:t>P/L structure</a:t>
            </a:r>
          </a:p>
        </p:txBody>
      </p:sp>
      <p:sp>
        <p:nvSpPr>
          <p:cNvPr id="21" name="Title 1">
            <a:extLst>
              <a:ext uri="{FF2B5EF4-FFF2-40B4-BE49-F238E27FC236}">
                <a16:creationId xmlns:a16="http://schemas.microsoft.com/office/drawing/2014/main" id="{E359ABCC-F1B1-4ECC-B5FA-EDB7ED37F191}"/>
              </a:ext>
            </a:extLst>
          </p:cNvPr>
          <p:cNvSpPr>
            <a:spLocks noGrp="1"/>
          </p:cNvSpPr>
          <p:nvPr>
            <p:ph type="title"/>
          </p:nvPr>
        </p:nvSpPr>
        <p:spPr>
          <a:xfrm>
            <a:off x="1949847" y="199173"/>
            <a:ext cx="9971100" cy="357900"/>
          </a:xfrm>
        </p:spPr>
        <p:txBody>
          <a:bodyPr/>
          <a:lstStyle/>
          <a:p>
            <a:r>
              <a:rPr lang="en-GB" dirty="0"/>
              <a:t>2.</a:t>
            </a:r>
            <a:r>
              <a:rPr lang="ja-JP" altLang="en-US" dirty="0"/>
              <a:t> </a:t>
            </a:r>
            <a:r>
              <a:rPr lang="en-GB" altLang="ja-JP" dirty="0"/>
              <a:t>OPUS(COA)</a:t>
            </a:r>
            <a:r>
              <a:rPr lang="ja-JP" altLang="en-US" dirty="0"/>
              <a:t>の粗利計算　</a:t>
            </a:r>
            <a:r>
              <a:rPr lang="en-GB" altLang="ja-JP" dirty="0"/>
              <a:t> – </a:t>
            </a:r>
            <a:r>
              <a:rPr lang="ja-JP" altLang="en-US" dirty="0"/>
              <a:t>営業損益の考え方 全体像</a:t>
            </a:r>
            <a:r>
              <a:rPr lang="en-GB" altLang="ja-JP" dirty="0"/>
              <a:t>– </a:t>
            </a:r>
            <a:endParaRPr lang="en-GB" dirty="0"/>
          </a:p>
        </p:txBody>
      </p:sp>
      <p:sp>
        <p:nvSpPr>
          <p:cNvPr id="22" name="Flowchart: Alternative Process 21">
            <a:extLst>
              <a:ext uri="{FF2B5EF4-FFF2-40B4-BE49-F238E27FC236}">
                <a16:creationId xmlns:a16="http://schemas.microsoft.com/office/drawing/2014/main" id="{5D26C08A-843B-4119-9E8E-691C344CBD71}"/>
              </a:ext>
            </a:extLst>
          </p:cNvPr>
          <p:cNvSpPr/>
          <p:nvPr/>
        </p:nvSpPr>
        <p:spPr>
          <a:xfrm>
            <a:off x="6604986" y="833464"/>
            <a:ext cx="5315961" cy="1553567"/>
          </a:xfrm>
          <a:prstGeom prst="flowChartAlternateProcess">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00" u="sng" dirty="0"/>
              <a:t>覚えておきたいポイント</a:t>
            </a:r>
            <a:endParaRPr lang="en-GB" altLang="ja-JP" sz="1800" u="sng" dirty="0"/>
          </a:p>
          <a:p>
            <a:r>
              <a:rPr lang="en-US" altLang="ja-JP" sz="1800" dirty="0"/>
              <a:t>Revenue</a:t>
            </a:r>
            <a:r>
              <a:rPr lang="ja-JP" altLang="en-US" sz="1800" dirty="0"/>
              <a:t>と</a:t>
            </a:r>
            <a:r>
              <a:rPr lang="en-US" altLang="ja-JP" sz="1800" dirty="0"/>
              <a:t>Variable Cost</a:t>
            </a:r>
            <a:r>
              <a:rPr lang="ja-JP" altLang="en-US" sz="1800" dirty="0"/>
              <a:t>は、消席率が高くなるほど増加。一方、</a:t>
            </a:r>
            <a:r>
              <a:rPr lang="en-GB" altLang="ja-JP" sz="1800" dirty="0"/>
              <a:t>Fixed Cost</a:t>
            </a:r>
            <a:r>
              <a:rPr lang="ja-JP" altLang="en-US" sz="1800" dirty="0"/>
              <a:t>は原則一定。</a:t>
            </a:r>
            <a:endParaRPr lang="en-GB" sz="1800" dirty="0"/>
          </a:p>
        </p:txBody>
      </p:sp>
    </p:spTree>
    <p:extLst>
      <p:ext uri="{BB962C8B-B14F-4D97-AF65-F5344CB8AC3E}">
        <p14:creationId xmlns:p14="http://schemas.microsoft.com/office/powerpoint/2010/main" val="170709845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07A4C-E657-46BC-A502-2BAD21E63882}"/>
              </a:ext>
            </a:extLst>
          </p:cNvPr>
          <p:cNvSpPr>
            <a:spLocks noGrp="1"/>
          </p:cNvSpPr>
          <p:nvPr>
            <p:ph type="title"/>
          </p:nvPr>
        </p:nvSpPr>
        <p:spPr/>
        <p:txBody>
          <a:bodyPr/>
          <a:lstStyle/>
          <a:p>
            <a:r>
              <a:rPr lang="en-GB" dirty="0"/>
              <a:t>3. </a:t>
            </a:r>
            <a:r>
              <a:rPr lang="en-US" altLang="ja-JP" dirty="0"/>
              <a:t>OPUS - Inquiry By Booking</a:t>
            </a:r>
            <a:r>
              <a:rPr lang="ja-JP" altLang="en-US" dirty="0"/>
              <a:t>機能</a:t>
            </a:r>
            <a:br>
              <a:rPr lang="ja-JP" altLang="en-US" dirty="0"/>
            </a:br>
            <a:endParaRPr lang="en-GB" dirty="0"/>
          </a:p>
        </p:txBody>
      </p:sp>
      <p:sp>
        <p:nvSpPr>
          <p:cNvPr id="3" name="Text Placeholder 2">
            <a:extLst>
              <a:ext uri="{FF2B5EF4-FFF2-40B4-BE49-F238E27FC236}">
                <a16:creationId xmlns:a16="http://schemas.microsoft.com/office/drawing/2014/main" id="{63201741-EEB5-42C7-BBFD-1784E26D0D59}"/>
              </a:ext>
            </a:extLst>
          </p:cNvPr>
          <p:cNvSpPr>
            <a:spLocks noGrp="1"/>
          </p:cNvSpPr>
          <p:nvPr>
            <p:ph type="body" idx="1"/>
          </p:nvPr>
        </p:nvSpPr>
        <p:spPr>
          <a:xfrm>
            <a:off x="270669" y="751438"/>
            <a:ext cx="6112376" cy="5728517"/>
          </a:xfrm>
        </p:spPr>
        <p:txBody>
          <a:bodyPr/>
          <a:lstStyle/>
          <a:p>
            <a:pPr marL="158750" indent="0">
              <a:buNone/>
            </a:pPr>
            <a:r>
              <a:rPr lang="en-GB" altLang="ja-JP" dirty="0"/>
              <a:t>OPUS</a:t>
            </a:r>
            <a:r>
              <a:rPr lang="ja-JP" altLang="en-US" dirty="0"/>
              <a:t>「</a:t>
            </a:r>
            <a:r>
              <a:rPr lang="en-GB" dirty="0"/>
              <a:t>Inquiry by BKG</a:t>
            </a:r>
            <a:r>
              <a:rPr lang="ja-JP" altLang="en-US" dirty="0"/>
              <a:t>」モジュールで各</a:t>
            </a:r>
            <a:r>
              <a:rPr lang="en-US" altLang="ja-JP" dirty="0"/>
              <a:t>BKG (</a:t>
            </a:r>
            <a:r>
              <a:rPr lang="en-GB" altLang="ja-JP" dirty="0"/>
              <a:t>Post shipment)</a:t>
            </a:r>
            <a:r>
              <a:rPr lang="ja-JP" altLang="en-US" dirty="0"/>
              <a:t>の</a:t>
            </a:r>
            <a:r>
              <a:rPr lang="en-US" altLang="ja-JP" dirty="0"/>
              <a:t>CM</a:t>
            </a:r>
            <a:r>
              <a:rPr lang="ja-JP" altLang="en-US" dirty="0"/>
              <a:t>計算に適用された</a:t>
            </a:r>
            <a:r>
              <a:rPr lang="en-US" altLang="ja-JP" dirty="0"/>
              <a:t>Revenue</a:t>
            </a:r>
            <a:r>
              <a:rPr lang="ja-JP" altLang="en-US" dirty="0"/>
              <a:t>と</a:t>
            </a:r>
            <a:r>
              <a:rPr lang="en-US" altLang="ja-JP" dirty="0"/>
              <a:t>Variable Cost</a:t>
            </a:r>
            <a:r>
              <a:rPr lang="ja-JP" altLang="en-US" dirty="0"/>
              <a:t>の詳細をご確認頂けます。</a:t>
            </a:r>
            <a:endParaRPr lang="en-GB" altLang="ja-JP" dirty="0"/>
          </a:p>
          <a:p>
            <a:pPr marL="158750" indent="0">
              <a:buNone/>
            </a:pPr>
            <a:endParaRPr lang="en-GB" altLang="ja-JP" dirty="0"/>
          </a:p>
          <a:p>
            <a:pPr marL="158750" indent="0">
              <a:buNone/>
            </a:pPr>
            <a:r>
              <a:rPr lang="ja-JP" altLang="en-US" b="1" u="sng" dirty="0"/>
              <a:t>推奨する利用目的</a:t>
            </a:r>
            <a:endParaRPr lang="en-GB" altLang="ja-JP" b="1" u="sng" dirty="0"/>
          </a:p>
          <a:p>
            <a:pPr>
              <a:buFont typeface="Wingdings" panose="05000000000000000000" pitchFamily="2" charset="2"/>
              <a:buChar char="§"/>
            </a:pPr>
            <a:r>
              <a:rPr lang="en-GB" altLang="ja-JP" sz="1800" dirty="0"/>
              <a:t>Negative CM </a:t>
            </a:r>
            <a:r>
              <a:rPr lang="ja-JP" altLang="en-US" sz="1800" dirty="0"/>
              <a:t>や</a:t>
            </a:r>
            <a:r>
              <a:rPr lang="en-US" altLang="ja-JP" sz="1800" dirty="0"/>
              <a:t>Low CM </a:t>
            </a:r>
            <a:r>
              <a:rPr lang="en-GB" altLang="ja-JP" sz="1800" dirty="0"/>
              <a:t>cargo</a:t>
            </a:r>
            <a:r>
              <a:rPr lang="ja-JP" altLang="en-US" sz="1800" dirty="0"/>
              <a:t>の詳細確認</a:t>
            </a:r>
            <a:endParaRPr lang="en-GB" altLang="ja-JP" sz="1800" dirty="0"/>
          </a:p>
          <a:p>
            <a:pPr>
              <a:buFont typeface="Wingdings" panose="05000000000000000000" pitchFamily="2" charset="2"/>
              <a:buChar char="§"/>
            </a:pPr>
            <a:r>
              <a:rPr lang="en-GB" altLang="ja-JP" sz="1800" dirty="0"/>
              <a:t>Pre</a:t>
            </a:r>
            <a:r>
              <a:rPr lang="ja-JP" altLang="en-US" sz="1800" dirty="0"/>
              <a:t> </a:t>
            </a:r>
            <a:r>
              <a:rPr lang="en-GB" altLang="ja-JP" sz="1800" dirty="0"/>
              <a:t>shipment</a:t>
            </a:r>
            <a:r>
              <a:rPr lang="ja-JP" altLang="en-US" sz="1800" dirty="0"/>
              <a:t>と</a:t>
            </a:r>
            <a:r>
              <a:rPr lang="en-US" altLang="ja-JP" sz="1800" dirty="0"/>
              <a:t>Post shipment</a:t>
            </a:r>
            <a:r>
              <a:rPr lang="ja-JP" altLang="en-US" sz="1800" dirty="0"/>
              <a:t>のコスト相違確認（</a:t>
            </a:r>
            <a:r>
              <a:rPr lang="en-GB" altLang="ja-JP" sz="1800" dirty="0"/>
              <a:t>Pricing simulation</a:t>
            </a:r>
            <a:r>
              <a:rPr lang="ja-JP" altLang="en-US" sz="1800" dirty="0"/>
              <a:t>で認識していた</a:t>
            </a:r>
            <a:r>
              <a:rPr lang="en-US" altLang="ja-JP" sz="1800" dirty="0"/>
              <a:t>CM level</a:t>
            </a:r>
            <a:r>
              <a:rPr lang="ja-JP" altLang="en-US" sz="1800" dirty="0"/>
              <a:t>と実績値が異なる場合など）</a:t>
            </a:r>
            <a:endParaRPr lang="en-GB" altLang="ja-JP" sz="1800" dirty="0"/>
          </a:p>
          <a:p>
            <a:pPr>
              <a:buFont typeface="Wingdings" panose="05000000000000000000" pitchFamily="2" charset="2"/>
              <a:buChar char="§"/>
            </a:pPr>
            <a:r>
              <a:rPr lang="ja-JP" altLang="en-US" sz="1800" dirty="0"/>
              <a:t>各船積みで発生したコストを確認し、適切に</a:t>
            </a:r>
            <a:r>
              <a:rPr lang="en-US" altLang="ja-JP" sz="1800" dirty="0"/>
              <a:t>Revenue</a:t>
            </a:r>
            <a:r>
              <a:rPr lang="ja-JP" altLang="en-US" sz="1800" dirty="0"/>
              <a:t>が回収されているかを確認</a:t>
            </a:r>
            <a:endParaRPr lang="en-GB" altLang="ja-JP" sz="1800" dirty="0"/>
          </a:p>
          <a:p>
            <a:pPr marL="158750" indent="0">
              <a:buNone/>
            </a:pPr>
            <a:endParaRPr lang="en-GB" altLang="ja-JP" sz="1800" dirty="0"/>
          </a:p>
          <a:p>
            <a:pPr marL="158750" indent="0">
              <a:buNone/>
            </a:pPr>
            <a:endParaRPr lang="en-GB" sz="1800" dirty="0"/>
          </a:p>
          <a:p>
            <a:pPr marL="158750" indent="0">
              <a:buNone/>
            </a:pPr>
            <a:endParaRPr lang="en-GB" dirty="0"/>
          </a:p>
        </p:txBody>
      </p:sp>
      <p:sp>
        <p:nvSpPr>
          <p:cNvPr id="4" name="Slide Number Placeholder 3">
            <a:extLst>
              <a:ext uri="{FF2B5EF4-FFF2-40B4-BE49-F238E27FC236}">
                <a16:creationId xmlns:a16="http://schemas.microsoft.com/office/drawing/2014/main" id="{FAA5318C-1829-441E-BF55-AF7C9CC0C09B}"/>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9</a:t>
            </a:fld>
            <a:endParaRPr lang="en-US"/>
          </a:p>
        </p:txBody>
      </p:sp>
      <p:pic>
        <p:nvPicPr>
          <p:cNvPr id="7" name="Picture 6">
            <a:extLst>
              <a:ext uri="{FF2B5EF4-FFF2-40B4-BE49-F238E27FC236}">
                <a16:creationId xmlns:a16="http://schemas.microsoft.com/office/drawing/2014/main" id="{F3716443-3521-417D-B707-929764A987FB}"/>
              </a:ext>
            </a:extLst>
          </p:cNvPr>
          <p:cNvPicPr>
            <a:picLocks noChangeAspect="1"/>
          </p:cNvPicPr>
          <p:nvPr/>
        </p:nvPicPr>
        <p:blipFill>
          <a:blip r:embed="rId3"/>
          <a:stretch>
            <a:fillRect/>
          </a:stretch>
        </p:blipFill>
        <p:spPr>
          <a:xfrm>
            <a:off x="6746633" y="1065207"/>
            <a:ext cx="4289205" cy="2579566"/>
          </a:xfrm>
          <a:prstGeom prst="rect">
            <a:avLst/>
          </a:prstGeom>
        </p:spPr>
      </p:pic>
      <p:pic>
        <p:nvPicPr>
          <p:cNvPr id="8" name="Picture 7">
            <a:extLst>
              <a:ext uri="{FF2B5EF4-FFF2-40B4-BE49-F238E27FC236}">
                <a16:creationId xmlns:a16="http://schemas.microsoft.com/office/drawing/2014/main" id="{F8B958E6-FA8C-4759-B07D-E2C1C221636F}"/>
              </a:ext>
            </a:extLst>
          </p:cNvPr>
          <p:cNvPicPr>
            <a:picLocks noChangeAspect="1"/>
          </p:cNvPicPr>
          <p:nvPr/>
        </p:nvPicPr>
        <p:blipFill>
          <a:blip r:embed="rId4"/>
          <a:stretch>
            <a:fillRect/>
          </a:stretch>
        </p:blipFill>
        <p:spPr>
          <a:xfrm>
            <a:off x="6705069" y="3691471"/>
            <a:ext cx="4372333" cy="2545617"/>
          </a:xfrm>
          <a:prstGeom prst="rect">
            <a:avLst/>
          </a:prstGeom>
        </p:spPr>
      </p:pic>
      <p:sp>
        <p:nvSpPr>
          <p:cNvPr id="9" name="TextBox 8">
            <a:extLst>
              <a:ext uri="{FF2B5EF4-FFF2-40B4-BE49-F238E27FC236}">
                <a16:creationId xmlns:a16="http://schemas.microsoft.com/office/drawing/2014/main" id="{F12354EB-C3E9-4EC8-9D8E-032A5E82CD15}"/>
              </a:ext>
            </a:extLst>
          </p:cNvPr>
          <p:cNvSpPr txBox="1"/>
          <p:nvPr/>
        </p:nvSpPr>
        <p:spPr>
          <a:xfrm>
            <a:off x="6624426" y="6224205"/>
            <a:ext cx="4298290" cy="307777"/>
          </a:xfrm>
          <a:prstGeom prst="rect">
            <a:avLst/>
          </a:prstGeom>
          <a:noFill/>
        </p:spPr>
        <p:txBody>
          <a:bodyPr wrap="square" rtlCol="0">
            <a:spAutoFit/>
          </a:bodyPr>
          <a:lstStyle/>
          <a:p>
            <a:pPr algn="l"/>
            <a:r>
              <a:rPr lang="en-US" altLang="ja-JP" b="1" dirty="0">
                <a:solidFill>
                  <a:schemeClr val="tx1"/>
                </a:solidFill>
                <a:latin typeface="Arial" panose="020B0604020202020204" pitchFamily="34" charset="0"/>
                <a:cs typeface="Arial" panose="020B0604020202020204" pitchFamily="34" charset="0"/>
              </a:rPr>
              <a:t>※</a:t>
            </a:r>
            <a:r>
              <a:rPr lang="en-GB" b="1" dirty="0">
                <a:solidFill>
                  <a:schemeClr val="tx1"/>
                </a:solidFill>
                <a:latin typeface="Arial" panose="020B0604020202020204" pitchFamily="34" charset="0"/>
                <a:cs typeface="Arial" panose="020B0604020202020204" pitchFamily="34" charset="0"/>
              </a:rPr>
              <a:t>‘Booking Inquiry’</a:t>
            </a:r>
            <a:r>
              <a:rPr lang="ja-JP" altLang="en-US" b="1" dirty="0">
                <a:solidFill>
                  <a:schemeClr val="tx1"/>
                </a:solidFill>
                <a:latin typeface="Arial" panose="020B0604020202020204" pitchFamily="34" charset="0"/>
                <a:cs typeface="Arial" panose="020B0604020202020204" pitchFamily="34" charset="0"/>
              </a:rPr>
              <a:t>とは異なる</a:t>
            </a:r>
            <a:r>
              <a:rPr lang="en-US" altLang="ja-JP" b="1" dirty="0">
                <a:solidFill>
                  <a:schemeClr val="tx1"/>
                </a:solidFill>
                <a:latin typeface="Arial" panose="020B0604020202020204" pitchFamily="34" charset="0"/>
                <a:cs typeface="Arial" panose="020B0604020202020204" pitchFamily="34" charset="0"/>
              </a:rPr>
              <a:t>Module</a:t>
            </a:r>
            <a:r>
              <a:rPr lang="ja-JP" altLang="en-US" b="1" dirty="0">
                <a:solidFill>
                  <a:schemeClr val="tx1"/>
                </a:solidFill>
                <a:latin typeface="Arial" panose="020B0604020202020204" pitchFamily="34" charset="0"/>
                <a:cs typeface="Arial" panose="020B0604020202020204" pitchFamily="34" charset="0"/>
              </a:rPr>
              <a:t>です。</a:t>
            </a:r>
            <a:endParaRPr lang="en-GB" b="1" dirty="0">
              <a:solidFill>
                <a:schemeClr val="tx1"/>
              </a:solidFill>
              <a:latin typeface="Arial" panose="020B0604020202020204" pitchFamily="34" charset="0"/>
              <a:cs typeface="Arial" panose="020B0604020202020204" pitchFamily="34" charset="0"/>
            </a:endParaRPr>
          </a:p>
        </p:txBody>
      </p:sp>
      <p:sp>
        <p:nvSpPr>
          <p:cNvPr id="10" name="Google Shape;63;p8" descr="Visit Here!">
            <a:extLst>
              <a:ext uri="{FF2B5EF4-FFF2-40B4-BE49-F238E27FC236}">
                <a16:creationId xmlns:a16="http://schemas.microsoft.com/office/drawing/2014/main" id="{D008A0BD-BE8C-480B-B23B-F72F04CF1D48}"/>
              </a:ext>
            </a:extLst>
          </p:cNvPr>
          <p:cNvSpPr/>
          <p:nvPr/>
        </p:nvSpPr>
        <p:spPr>
          <a:xfrm rot="-9052160">
            <a:off x="9154207" y="1893218"/>
            <a:ext cx="340179" cy="443388"/>
          </a:xfrm>
          <a:prstGeom prst="upArrow">
            <a:avLst>
              <a:gd name="adj1" fmla="val 50000"/>
              <a:gd name="adj2" fmla="val 50000"/>
            </a:avLst>
          </a:prstGeom>
          <a:solidFill>
            <a:srgbClr val="FBC3E3"/>
          </a:solidFill>
          <a:ln w="25400" cap="flat" cmpd="sng">
            <a:solidFill>
              <a:schemeClr val="lt2"/>
            </a:solidFill>
            <a:prstDash val="solid"/>
            <a:round/>
            <a:headEnd type="none" w="sm" len="sm"/>
            <a:tailEnd type="none" w="sm" len="sm"/>
          </a:ln>
        </p:spPr>
        <p:txBody>
          <a:bodyPr spcFirstLastPara="1" wrap="square" lIns="45713" tIns="22850" rIns="45713" bIns="22850" anchor="ctr" anchorCtr="0">
            <a:noAutofit/>
          </a:bodyPr>
          <a:lstStyle/>
          <a:p>
            <a:pPr algn="ctr"/>
            <a:endParaRPr sz="800">
              <a:solidFill>
                <a:schemeClr val="dk1"/>
              </a:solidFill>
              <a:latin typeface="Century Gothic"/>
              <a:ea typeface="Century Gothic"/>
              <a:cs typeface="Century Gothic"/>
              <a:sym typeface="Century Gothic"/>
            </a:endParaRPr>
          </a:p>
        </p:txBody>
      </p:sp>
      <p:sp>
        <p:nvSpPr>
          <p:cNvPr id="11" name="Google Shape;63;p8" descr="Visit Here!">
            <a:extLst>
              <a:ext uri="{FF2B5EF4-FFF2-40B4-BE49-F238E27FC236}">
                <a16:creationId xmlns:a16="http://schemas.microsoft.com/office/drawing/2014/main" id="{6CEE539B-8E48-4700-813D-6CCF83ACD84F}"/>
              </a:ext>
            </a:extLst>
          </p:cNvPr>
          <p:cNvSpPr/>
          <p:nvPr/>
        </p:nvSpPr>
        <p:spPr>
          <a:xfrm rot="-9052160">
            <a:off x="10865749" y="4938245"/>
            <a:ext cx="340179" cy="443388"/>
          </a:xfrm>
          <a:prstGeom prst="upArrow">
            <a:avLst>
              <a:gd name="adj1" fmla="val 50000"/>
              <a:gd name="adj2" fmla="val 50000"/>
            </a:avLst>
          </a:prstGeom>
          <a:solidFill>
            <a:srgbClr val="FBC3E3"/>
          </a:solidFill>
          <a:ln w="25400" cap="flat" cmpd="sng">
            <a:solidFill>
              <a:schemeClr val="lt2"/>
            </a:solidFill>
            <a:prstDash val="solid"/>
            <a:round/>
            <a:headEnd type="none" w="sm" len="sm"/>
            <a:tailEnd type="none" w="sm" len="sm"/>
          </a:ln>
        </p:spPr>
        <p:txBody>
          <a:bodyPr spcFirstLastPara="1" wrap="square" lIns="45713" tIns="22850" rIns="45713" bIns="22850" anchor="ctr" anchorCtr="0">
            <a:noAutofit/>
          </a:bodyPr>
          <a:lstStyle/>
          <a:p>
            <a:pPr algn="ctr"/>
            <a:endParaRPr sz="800">
              <a:solidFill>
                <a:schemeClr val="dk1"/>
              </a:solidFill>
              <a:latin typeface="Century Gothic"/>
              <a:ea typeface="Century Gothic"/>
              <a:cs typeface="Century Gothic"/>
              <a:sym typeface="Century Gothic"/>
            </a:endParaRPr>
          </a:p>
        </p:txBody>
      </p:sp>
      <p:pic>
        <p:nvPicPr>
          <p:cNvPr id="13" name="Picture 12">
            <a:extLst>
              <a:ext uri="{FF2B5EF4-FFF2-40B4-BE49-F238E27FC236}">
                <a16:creationId xmlns:a16="http://schemas.microsoft.com/office/drawing/2014/main" id="{8DE3E32D-A6C6-4D59-91D0-679552CBFE0D}"/>
              </a:ext>
            </a:extLst>
          </p:cNvPr>
          <p:cNvPicPr>
            <a:picLocks noChangeAspect="1"/>
          </p:cNvPicPr>
          <p:nvPr/>
        </p:nvPicPr>
        <p:blipFill>
          <a:blip r:embed="rId5"/>
          <a:stretch>
            <a:fillRect/>
          </a:stretch>
        </p:blipFill>
        <p:spPr>
          <a:xfrm>
            <a:off x="9675828" y="187846"/>
            <a:ext cx="2258399" cy="1505599"/>
          </a:xfrm>
          <a:prstGeom prst="rect">
            <a:avLst/>
          </a:prstGeom>
        </p:spPr>
      </p:pic>
    </p:spTree>
    <p:extLst>
      <p:ext uri="{BB962C8B-B14F-4D97-AF65-F5344CB8AC3E}">
        <p14:creationId xmlns:p14="http://schemas.microsoft.com/office/powerpoint/2010/main" val="395168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2559F-2986-4CEF-A3C8-856C50E8E30C}"/>
              </a:ext>
            </a:extLst>
          </p:cNvPr>
          <p:cNvSpPr>
            <a:spLocks noGrp="1"/>
          </p:cNvSpPr>
          <p:nvPr>
            <p:ph type="title"/>
          </p:nvPr>
        </p:nvSpPr>
        <p:spPr/>
        <p:txBody>
          <a:bodyPr/>
          <a:lstStyle/>
          <a:p>
            <a:r>
              <a:rPr lang="en-GB" dirty="0"/>
              <a:t>3. </a:t>
            </a:r>
            <a:r>
              <a:rPr lang="en-US" altLang="ja-JP" dirty="0"/>
              <a:t>OPUS - Inquiry By Booking</a:t>
            </a:r>
            <a:r>
              <a:rPr lang="ja-JP" altLang="en-US" dirty="0"/>
              <a:t>機能</a:t>
            </a:r>
            <a:br>
              <a:rPr lang="ja-JP" altLang="en-US" dirty="0"/>
            </a:br>
            <a:endParaRPr lang="en-GB" dirty="0"/>
          </a:p>
        </p:txBody>
      </p:sp>
      <p:sp>
        <p:nvSpPr>
          <p:cNvPr id="4" name="Slide Number Placeholder 3">
            <a:extLst>
              <a:ext uri="{FF2B5EF4-FFF2-40B4-BE49-F238E27FC236}">
                <a16:creationId xmlns:a16="http://schemas.microsoft.com/office/drawing/2014/main" id="{CE10DCBF-1442-4494-8281-22846F3456A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10</a:t>
            </a:fld>
            <a:endParaRPr lang="en-US"/>
          </a:p>
        </p:txBody>
      </p:sp>
      <p:pic>
        <p:nvPicPr>
          <p:cNvPr id="5" name="Picture 4">
            <a:extLst>
              <a:ext uri="{FF2B5EF4-FFF2-40B4-BE49-F238E27FC236}">
                <a16:creationId xmlns:a16="http://schemas.microsoft.com/office/drawing/2014/main" id="{E45DD4A3-4A3B-402E-8842-1790625C38A8}"/>
              </a:ext>
            </a:extLst>
          </p:cNvPr>
          <p:cNvPicPr>
            <a:picLocks noChangeAspect="1"/>
          </p:cNvPicPr>
          <p:nvPr/>
        </p:nvPicPr>
        <p:blipFill>
          <a:blip r:embed="rId3"/>
          <a:stretch>
            <a:fillRect/>
          </a:stretch>
        </p:blipFill>
        <p:spPr>
          <a:xfrm>
            <a:off x="1158885" y="2069542"/>
            <a:ext cx="7119253" cy="3323994"/>
          </a:xfrm>
          <a:prstGeom prst="rect">
            <a:avLst/>
          </a:prstGeom>
        </p:spPr>
      </p:pic>
      <p:sp>
        <p:nvSpPr>
          <p:cNvPr id="6" name="TextBox 5">
            <a:extLst>
              <a:ext uri="{FF2B5EF4-FFF2-40B4-BE49-F238E27FC236}">
                <a16:creationId xmlns:a16="http://schemas.microsoft.com/office/drawing/2014/main" id="{BC94C07B-B803-4E52-A681-A672B07B16F6}"/>
              </a:ext>
            </a:extLst>
          </p:cNvPr>
          <p:cNvSpPr txBox="1"/>
          <p:nvPr/>
        </p:nvSpPr>
        <p:spPr>
          <a:xfrm>
            <a:off x="656947" y="870459"/>
            <a:ext cx="10688715" cy="1015663"/>
          </a:xfrm>
          <a:prstGeom prst="rect">
            <a:avLst/>
          </a:prstGeom>
        </p:spPr>
        <p:txBody>
          <a:bodyPr wrap="square" rtlCol="0" anchor="t">
            <a:spAutoFit/>
          </a:bodyPr>
          <a:lstStyle/>
          <a:p>
            <a:pPr marL="342900" indent="-342900">
              <a:buFont typeface="Arial" panose="020B0604020202020204" pitchFamily="34" charset="0"/>
              <a:buChar char="•"/>
            </a:pPr>
            <a:r>
              <a:rPr lang="en-GB" sz="2000" dirty="0">
                <a:solidFill>
                  <a:schemeClr val="tx1"/>
                </a:solidFill>
              </a:rPr>
              <a:t>Booking Number</a:t>
            </a:r>
            <a:r>
              <a:rPr lang="ja-JP" altLang="en-US" sz="2000" dirty="0">
                <a:solidFill>
                  <a:schemeClr val="tx1"/>
                </a:solidFill>
              </a:rPr>
              <a:t>を入力し、いずれかの</a:t>
            </a:r>
            <a:r>
              <a:rPr lang="en-GB" altLang="ja-JP" sz="2000" dirty="0">
                <a:solidFill>
                  <a:schemeClr val="tx1"/>
                </a:solidFill>
              </a:rPr>
              <a:t>Route</a:t>
            </a:r>
            <a:r>
              <a:rPr lang="ja-JP" altLang="en-US" sz="2000" dirty="0">
                <a:solidFill>
                  <a:schemeClr val="tx1"/>
                </a:solidFill>
              </a:rPr>
              <a:t>をダブルクリック</a:t>
            </a:r>
            <a:r>
              <a:rPr lang="ja-JP" altLang="en-US" sz="2000" dirty="0"/>
              <a:t>。</a:t>
            </a:r>
            <a:endParaRPr lang="en-GB" altLang="ja-JP" sz="2000" dirty="0">
              <a:solidFill>
                <a:schemeClr val="tx1"/>
              </a:solidFill>
            </a:endParaRPr>
          </a:p>
          <a:p>
            <a:pPr marL="342900" indent="-342900">
              <a:buFont typeface="Arial" panose="020B0604020202020204" pitchFamily="34" charset="0"/>
              <a:buChar char="•"/>
            </a:pPr>
            <a:r>
              <a:rPr lang="en-US" altLang="ja-JP" sz="2000" dirty="0"/>
              <a:t>Cost Details</a:t>
            </a:r>
            <a:r>
              <a:rPr lang="ja-JP" altLang="en-US" sz="2000" dirty="0"/>
              <a:t>をクリック。対象の</a:t>
            </a:r>
            <a:r>
              <a:rPr lang="en-US" altLang="ja-JP" sz="2000" dirty="0"/>
              <a:t>Booking</a:t>
            </a:r>
            <a:r>
              <a:rPr lang="ja-JP" altLang="en-US" sz="2000" dirty="0"/>
              <a:t>に適用されたコストが表示されます。</a:t>
            </a:r>
            <a:endParaRPr lang="en-GB" altLang="ja-JP" sz="2000" dirty="0"/>
          </a:p>
          <a:p>
            <a:pPr marL="342900" indent="-342900">
              <a:buFont typeface="Arial" panose="020B0604020202020204" pitchFamily="34" charset="0"/>
              <a:buChar char="•"/>
            </a:pPr>
            <a:r>
              <a:rPr lang="ja-JP" altLang="en-US" sz="2000" dirty="0"/>
              <a:t>最下段の</a:t>
            </a:r>
            <a:r>
              <a:rPr lang="en-US" altLang="ja-JP" sz="2000" dirty="0"/>
              <a:t>Remarks</a:t>
            </a:r>
            <a:r>
              <a:rPr lang="ja-JP" altLang="en-US" sz="2000" dirty="0"/>
              <a:t>をクリックすれば詳細が確認できます。</a:t>
            </a:r>
            <a:endParaRPr lang="en-GB" sz="2000" dirty="0"/>
          </a:p>
        </p:txBody>
      </p:sp>
      <p:pic>
        <p:nvPicPr>
          <p:cNvPr id="8" name="Picture 7">
            <a:extLst>
              <a:ext uri="{FF2B5EF4-FFF2-40B4-BE49-F238E27FC236}">
                <a16:creationId xmlns:a16="http://schemas.microsoft.com/office/drawing/2014/main" id="{5758038F-FA57-496A-8481-F84234A67FB7}"/>
              </a:ext>
            </a:extLst>
          </p:cNvPr>
          <p:cNvPicPr>
            <a:picLocks noChangeAspect="1"/>
          </p:cNvPicPr>
          <p:nvPr/>
        </p:nvPicPr>
        <p:blipFill>
          <a:blip r:embed="rId4"/>
          <a:stretch>
            <a:fillRect/>
          </a:stretch>
        </p:blipFill>
        <p:spPr>
          <a:xfrm>
            <a:off x="1242934" y="4035476"/>
            <a:ext cx="8860325" cy="2623351"/>
          </a:xfrm>
          <a:prstGeom prst="rect">
            <a:avLst/>
          </a:prstGeom>
        </p:spPr>
      </p:pic>
      <p:sp>
        <p:nvSpPr>
          <p:cNvPr id="9" name="TextBox 8">
            <a:extLst>
              <a:ext uri="{FF2B5EF4-FFF2-40B4-BE49-F238E27FC236}">
                <a16:creationId xmlns:a16="http://schemas.microsoft.com/office/drawing/2014/main" id="{D013C969-EE44-4D91-A5E1-10C43B578FE4}"/>
              </a:ext>
            </a:extLst>
          </p:cNvPr>
          <p:cNvSpPr txBox="1"/>
          <p:nvPr/>
        </p:nvSpPr>
        <p:spPr>
          <a:xfrm>
            <a:off x="9087206" y="3172564"/>
            <a:ext cx="2833741" cy="584775"/>
          </a:xfrm>
          <a:prstGeom prst="rect">
            <a:avLst/>
          </a:prstGeom>
          <a:solidFill>
            <a:schemeClr val="accent3">
              <a:lumMod val="40000"/>
              <a:lumOff val="60000"/>
            </a:schemeClr>
          </a:solidFill>
          <a:ln>
            <a:solidFill>
              <a:schemeClr val="tx1"/>
            </a:solidFill>
          </a:ln>
        </p:spPr>
        <p:txBody>
          <a:bodyPr wrap="square" rtlCol="0" anchor="t">
            <a:spAutoFit/>
          </a:bodyPr>
          <a:lstStyle/>
          <a:p>
            <a:r>
              <a:rPr lang="en-GB" sz="1600" dirty="0"/>
              <a:t>Cost Detail : </a:t>
            </a:r>
            <a:r>
              <a:rPr lang="ja-JP" altLang="en-US" sz="1600" dirty="0"/>
              <a:t>サマリー確認</a:t>
            </a:r>
            <a:endParaRPr lang="en-GB" altLang="ja-JP" sz="1600" dirty="0"/>
          </a:p>
          <a:p>
            <a:r>
              <a:rPr lang="en-GB" sz="1600" dirty="0"/>
              <a:t>Remarks    :</a:t>
            </a:r>
            <a:r>
              <a:rPr lang="ja-JP" altLang="en-US" sz="1600" dirty="0"/>
              <a:t> 詳細確認</a:t>
            </a:r>
            <a:endParaRPr lang="en-GB" sz="1600" dirty="0"/>
          </a:p>
        </p:txBody>
      </p:sp>
    </p:spTree>
    <p:extLst>
      <p:ext uri="{BB962C8B-B14F-4D97-AF65-F5344CB8AC3E}">
        <p14:creationId xmlns:p14="http://schemas.microsoft.com/office/powerpoint/2010/main" val="3432310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2559F-2986-4CEF-A3C8-856C50E8E30C}"/>
              </a:ext>
            </a:extLst>
          </p:cNvPr>
          <p:cNvSpPr>
            <a:spLocks noGrp="1"/>
          </p:cNvSpPr>
          <p:nvPr>
            <p:ph type="title"/>
          </p:nvPr>
        </p:nvSpPr>
        <p:spPr/>
        <p:txBody>
          <a:bodyPr/>
          <a:lstStyle/>
          <a:p>
            <a:r>
              <a:rPr lang="en-GB" dirty="0"/>
              <a:t>3. </a:t>
            </a:r>
            <a:r>
              <a:rPr lang="en-US" altLang="ja-JP" dirty="0"/>
              <a:t>OPUS - Inquiry By Booking</a:t>
            </a:r>
            <a:r>
              <a:rPr lang="ja-JP" altLang="en-US" dirty="0"/>
              <a:t>機能</a:t>
            </a:r>
            <a:endParaRPr lang="en-GB" dirty="0"/>
          </a:p>
        </p:txBody>
      </p:sp>
      <p:sp>
        <p:nvSpPr>
          <p:cNvPr id="4" name="Slide Number Placeholder 3">
            <a:extLst>
              <a:ext uri="{FF2B5EF4-FFF2-40B4-BE49-F238E27FC236}">
                <a16:creationId xmlns:a16="http://schemas.microsoft.com/office/drawing/2014/main" id="{CE10DCBF-1442-4494-8281-22846F3456A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11</a:t>
            </a:fld>
            <a:endParaRPr lang="en-US"/>
          </a:p>
        </p:txBody>
      </p:sp>
      <p:sp>
        <p:nvSpPr>
          <p:cNvPr id="9" name="TextBox 8">
            <a:extLst>
              <a:ext uri="{FF2B5EF4-FFF2-40B4-BE49-F238E27FC236}">
                <a16:creationId xmlns:a16="http://schemas.microsoft.com/office/drawing/2014/main" id="{CC4E35BA-23B6-4A4B-ADD2-0250BD875AF8}"/>
              </a:ext>
            </a:extLst>
          </p:cNvPr>
          <p:cNvSpPr txBox="1"/>
          <p:nvPr/>
        </p:nvSpPr>
        <p:spPr>
          <a:xfrm>
            <a:off x="914399" y="896645"/>
            <a:ext cx="9712171" cy="369332"/>
          </a:xfrm>
          <a:prstGeom prst="rect">
            <a:avLst/>
          </a:prstGeom>
          <a:noFill/>
        </p:spPr>
        <p:txBody>
          <a:bodyPr wrap="square" rtlCol="0">
            <a:spAutoFit/>
          </a:bodyPr>
          <a:lstStyle/>
          <a:p>
            <a:r>
              <a:rPr lang="ja-JP" altLang="en-US" sz="1800" dirty="0"/>
              <a:t>例　</a:t>
            </a:r>
            <a:r>
              <a:rPr lang="en-GB" sz="1800" dirty="0"/>
              <a:t>BKG Number : TYOCH6829700</a:t>
            </a:r>
            <a:r>
              <a:rPr lang="ja-JP" altLang="en-US" sz="1800" dirty="0"/>
              <a:t>　</a:t>
            </a:r>
            <a:r>
              <a:rPr lang="en-US" altLang="ja-JP" sz="1800" dirty="0"/>
              <a:t>R5x1 </a:t>
            </a:r>
            <a:endParaRPr lang="en-GB" sz="1800" dirty="0"/>
          </a:p>
        </p:txBody>
      </p:sp>
      <p:pic>
        <p:nvPicPr>
          <p:cNvPr id="11" name="Picture 10">
            <a:extLst>
              <a:ext uri="{FF2B5EF4-FFF2-40B4-BE49-F238E27FC236}">
                <a16:creationId xmlns:a16="http://schemas.microsoft.com/office/drawing/2014/main" id="{FEC045CB-325D-438E-8C23-663D2E46FED8}"/>
              </a:ext>
            </a:extLst>
          </p:cNvPr>
          <p:cNvPicPr>
            <a:picLocks noChangeAspect="1"/>
          </p:cNvPicPr>
          <p:nvPr/>
        </p:nvPicPr>
        <p:blipFill>
          <a:blip r:embed="rId3"/>
          <a:stretch>
            <a:fillRect/>
          </a:stretch>
        </p:blipFill>
        <p:spPr>
          <a:xfrm>
            <a:off x="1114476" y="1321408"/>
            <a:ext cx="8474915" cy="5337419"/>
          </a:xfrm>
          <a:prstGeom prst="rect">
            <a:avLst/>
          </a:prstGeom>
        </p:spPr>
      </p:pic>
      <p:pic>
        <p:nvPicPr>
          <p:cNvPr id="7" name="Picture 6">
            <a:extLst>
              <a:ext uri="{FF2B5EF4-FFF2-40B4-BE49-F238E27FC236}">
                <a16:creationId xmlns:a16="http://schemas.microsoft.com/office/drawing/2014/main" id="{C3DABC68-63C8-4E29-9005-FFF43BE95CD4}"/>
              </a:ext>
            </a:extLst>
          </p:cNvPr>
          <p:cNvPicPr>
            <a:picLocks noChangeAspect="1"/>
          </p:cNvPicPr>
          <p:nvPr/>
        </p:nvPicPr>
        <p:blipFill>
          <a:blip r:embed="rId4"/>
          <a:stretch>
            <a:fillRect/>
          </a:stretch>
        </p:blipFill>
        <p:spPr>
          <a:xfrm>
            <a:off x="7161572" y="821213"/>
            <a:ext cx="4505325" cy="11620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63078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2559F-2986-4CEF-A3C8-856C50E8E30C}"/>
              </a:ext>
            </a:extLst>
          </p:cNvPr>
          <p:cNvSpPr>
            <a:spLocks noGrp="1"/>
          </p:cNvSpPr>
          <p:nvPr>
            <p:ph type="title"/>
          </p:nvPr>
        </p:nvSpPr>
        <p:spPr/>
        <p:txBody>
          <a:bodyPr/>
          <a:lstStyle/>
          <a:p>
            <a:r>
              <a:rPr lang="en-GB" dirty="0"/>
              <a:t>3. </a:t>
            </a:r>
            <a:r>
              <a:rPr lang="en-US" altLang="ja-JP" dirty="0"/>
              <a:t>OPUS - Inquiry By Booking</a:t>
            </a:r>
            <a:r>
              <a:rPr lang="ja-JP" altLang="en-US" dirty="0"/>
              <a:t>機能</a:t>
            </a:r>
            <a:endParaRPr lang="en-GB" dirty="0"/>
          </a:p>
        </p:txBody>
      </p:sp>
      <p:sp>
        <p:nvSpPr>
          <p:cNvPr id="4" name="Slide Number Placeholder 3">
            <a:extLst>
              <a:ext uri="{FF2B5EF4-FFF2-40B4-BE49-F238E27FC236}">
                <a16:creationId xmlns:a16="http://schemas.microsoft.com/office/drawing/2014/main" id="{CE10DCBF-1442-4494-8281-22846F3456A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12</a:t>
            </a:fld>
            <a:endParaRPr lang="en-US"/>
          </a:p>
        </p:txBody>
      </p:sp>
      <p:sp>
        <p:nvSpPr>
          <p:cNvPr id="9" name="TextBox 8">
            <a:extLst>
              <a:ext uri="{FF2B5EF4-FFF2-40B4-BE49-F238E27FC236}">
                <a16:creationId xmlns:a16="http://schemas.microsoft.com/office/drawing/2014/main" id="{CC4E35BA-23B6-4A4B-ADD2-0250BD875AF8}"/>
              </a:ext>
            </a:extLst>
          </p:cNvPr>
          <p:cNvSpPr txBox="1"/>
          <p:nvPr/>
        </p:nvSpPr>
        <p:spPr>
          <a:xfrm>
            <a:off x="914399" y="896645"/>
            <a:ext cx="9712171" cy="369332"/>
          </a:xfrm>
          <a:prstGeom prst="rect">
            <a:avLst/>
          </a:prstGeom>
          <a:noFill/>
        </p:spPr>
        <p:txBody>
          <a:bodyPr wrap="square" rtlCol="0">
            <a:spAutoFit/>
          </a:bodyPr>
          <a:lstStyle/>
          <a:p>
            <a:r>
              <a:rPr lang="ja-JP" altLang="en-US" sz="1800" dirty="0"/>
              <a:t>例　</a:t>
            </a:r>
            <a:r>
              <a:rPr lang="en-GB" sz="1800" dirty="0"/>
              <a:t>BKG Number : TYOCF0141700</a:t>
            </a:r>
            <a:r>
              <a:rPr lang="ja-JP" altLang="en-US" sz="1800" dirty="0"/>
              <a:t>　</a:t>
            </a:r>
            <a:r>
              <a:rPr lang="en-US" altLang="ja-JP" sz="1800" dirty="0"/>
              <a:t>D5x4 (D5x4</a:t>
            </a:r>
            <a:r>
              <a:rPr lang="ja-JP" altLang="en-US" sz="1800" dirty="0"/>
              <a:t>の</a:t>
            </a:r>
            <a:r>
              <a:rPr lang="en-US" altLang="ja-JP" sz="1800" dirty="0"/>
              <a:t>TTL Cost</a:t>
            </a:r>
            <a:r>
              <a:rPr lang="en-GB" altLang="ja-JP" sz="1800" dirty="0"/>
              <a:t>)</a:t>
            </a:r>
            <a:endParaRPr lang="en-GB" sz="1800" dirty="0"/>
          </a:p>
        </p:txBody>
      </p:sp>
      <p:pic>
        <p:nvPicPr>
          <p:cNvPr id="5" name="Picture 4">
            <a:extLst>
              <a:ext uri="{FF2B5EF4-FFF2-40B4-BE49-F238E27FC236}">
                <a16:creationId xmlns:a16="http://schemas.microsoft.com/office/drawing/2014/main" id="{A311848D-37A7-4BA4-8A61-36E01B754336}"/>
              </a:ext>
            </a:extLst>
          </p:cNvPr>
          <p:cNvPicPr>
            <a:picLocks noChangeAspect="1"/>
          </p:cNvPicPr>
          <p:nvPr/>
        </p:nvPicPr>
        <p:blipFill>
          <a:blip r:embed="rId3"/>
          <a:stretch>
            <a:fillRect/>
          </a:stretch>
        </p:blipFill>
        <p:spPr>
          <a:xfrm>
            <a:off x="1094803" y="1349545"/>
            <a:ext cx="7248851" cy="5251136"/>
          </a:xfrm>
          <a:prstGeom prst="rect">
            <a:avLst/>
          </a:prstGeom>
        </p:spPr>
      </p:pic>
      <p:pic>
        <p:nvPicPr>
          <p:cNvPr id="6" name="Picture 5">
            <a:extLst>
              <a:ext uri="{FF2B5EF4-FFF2-40B4-BE49-F238E27FC236}">
                <a16:creationId xmlns:a16="http://schemas.microsoft.com/office/drawing/2014/main" id="{C7213A76-017F-4212-B1B7-4BD27A8E52C7}"/>
              </a:ext>
            </a:extLst>
          </p:cNvPr>
          <p:cNvPicPr>
            <a:picLocks noChangeAspect="1"/>
          </p:cNvPicPr>
          <p:nvPr/>
        </p:nvPicPr>
        <p:blipFill>
          <a:blip r:embed="rId4"/>
          <a:stretch>
            <a:fillRect/>
          </a:stretch>
        </p:blipFill>
        <p:spPr>
          <a:xfrm>
            <a:off x="7472772" y="896645"/>
            <a:ext cx="4448175" cy="11715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27107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F903F-E6BC-47EA-88EF-C6D166F2AF20}"/>
              </a:ext>
            </a:extLst>
          </p:cNvPr>
          <p:cNvSpPr>
            <a:spLocks noGrp="1"/>
          </p:cNvSpPr>
          <p:nvPr>
            <p:ph type="title"/>
          </p:nvPr>
        </p:nvSpPr>
        <p:spPr>
          <a:xfrm>
            <a:off x="767850" y="2254929"/>
            <a:ext cx="10656300" cy="1638392"/>
          </a:xfrm>
        </p:spPr>
        <p:txBody>
          <a:bodyPr/>
          <a:lstStyle/>
          <a:p>
            <a:r>
              <a:rPr lang="en-GB" sz="7200" dirty="0"/>
              <a:t>Q &amp; A</a:t>
            </a:r>
          </a:p>
        </p:txBody>
      </p:sp>
    </p:spTree>
    <p:extLst>
      <p:ext uri="{BB962C8B-B14F-4D97-AF65-F5344CB8AC3E}">
        <p14:creationId xmlns:p14="http://schemas.microsoft.com/office/powerpoint/2010/main" val="1638890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6"/>
          <p:cNvSpPr txBox="1">
            <a:spLocks noGrp="1"/>
          </p:cNvSpPr>
          <p:nvPr>
            <p:ph type="title"/>
          </p:nvPr>
        </p:nvSpPr>
        <p:spPr>
          <a:xfrm>
            <a:off x="809875" y="2811750"/>
            <a:ext cx="10656300" cy="123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n-US" dirty="0"/>
              <a:t>Thank You !</a:t>
            </a:r>
            <a:endParaRPr dirty="0"/>
          </a:p>
          <a:p>
            <a:pPr marL="0" lvl="0" indent="0" algn="ctr" rtl="0">
              <a:lnSpc>
                <a:spcPct val="100000"/>
              </a:lnSpc>
              <a:spcBef>
                <a:spcPts val="0"/>
              </a:spcBef>
              <a:spcAft>
                <a:spcPts val="0"/>
              </a:spcAft>
              <a:buClr>
                <a:schemeClr val="dk1"/>
              </a:buClr>
              <a:buSzPts val="1100"/>
              <a:buFont typeface="Arial"/>
              <a:buNone/>
            </a:pPr>
            <a:endParaRPr dirty="0"/>
          </a:p>
          <a:p>
            <a:pPr marL="0" lvl="0" indent="0" algn="ctr" rtl="0">
              <a:lnSpc>
                <a:spcPct val="100000"/>
              </a:lnSpc>
              <a:spcBef>
                <a:spcPts val="0"/>
              </a:spcBef>
              <a:spcAft>
                <a:spcPts val="0"/>
              </a:spcAft>
              <a:buClr>
                <a:schemeClr val="dk1"/>
              </a:buClr>
              <a:buSzPts val="1100"/>
              <a:buFont typeface="Arial"/>
              <a:buNone/>
            </a:pPr>
            <a:r>
              <a:rPr lang="en-GB" dirty="0"/>
              <a:t>Let’s maximize Gross CM together!</a:t>
            </a:r>
          </a:p>
        </p:txBody>
      </p:sp>
    </p:spTree>
  </p:cSld>
  <p:clrMapOvr>
    <a:masterClrMapping/>
  </p:clrMapOvr>
</p:sld>
</file>

<file path=ppt/theme/theme1.xml><?xml version="1.0" encoding="utf-8"?>
<a:theme xmlns:a="http://schemas.openxmlformats.org/drawingml/2006/main" name="1_ONE PPT Template-16X9">
  <a:themeElements>
    <a:clrScheme name="Custom 7">
      <a:dk1>
        <a:srgbClr val="000000"/>
      </a:dk1>
      <a:lt1>
        <a:srgbClr val="FFFFFF"/>
      </a:lt1>
      <a:dk2>
        <a:srgbClr val="53585F"/>
      </a:dk2>
      <a:lt2>
        <a:srgbClr val="DCDEE0"/>
      </a:lt2>
      <a:accent1>
        <a:srgbClr val="0365C0"/>
      </a:accent1>
      <a:accent2>
        <a:srgbClr val="00882B"/>
      </a:accent2>
      <a:accent3>
        <a:srgbClr val="DCBD23"/>
      </a:accent3>
      <a:accent4>
        <a:srgbClr val="BD0F72"/>
      </a:accent4>
      <a:accent5>
        <a:srgbClr val="DD1186"/>
      </a:accent5>
      <a:accent6>
        <a:srgbClr val="0033C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1143</TotalTime>
  <Words>848</Words>
  <Application>Microsoft Office PowerPoint</Application>
  <PresentationFormat>ワイド画面</PresentationFormat>
  <Paragraphs>89</Paragraphs>
  <Slides>14</Slides>
  <Notes>8</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14</vt:i4>
      </vt:variant>
    </vt:vector>
  </HeadingPairs>
  <TitlesOfParts>
    <vt:vector size="21" baseType="lpstr">
      <vt:lpstr>Arial Black</vt:lpstr>
      <vt:lpstr>Wingdings</vt:lpstr>
      <vt:lpstr>Century Gothic</vt:lpstr>
      <vt:lpstr>Calibri</vt:lpstr>
      <vt:lpstr>Arial</vt:lpstr>
      <vt:lpstr>Proxima Nova</vt:lpstr>
      <vt:lpstr>1_ONE PPT Template-16X9</vt:lpstr>
      <vt:lpstr>CM(Contribution Margin) 計算について  </vt:lpstr>
      <vt:lpstr>Agenda</vt:lpstr>
      <vt:lpstr>1. 損益計算書上（営業利益まで）の粗利計算　2022年7月P/L</vt:lpstr>
      <vt:lpstr>2. OPUS(COA)の粗利計算　 </vt:lpstr>
      <vt:lpstr>2. OPUS(COA)の粗利計算　– Revenue – </vt:lpstr>
      <vt:lpstr>2. OPUS(COA)の粗利計算　 – Variable Cost – </vt:lpstr>
      <vt:lpstr>2. OPUS(COA)の粗利計算　 – 営業損益の考え方 per UNIT– </vt:lpstr>
      <vt:lpstr>2. OPUS(COA)の粗利計算　 – 営業損益の考え方 全体像– </vt:lpstr>
      <vt:lpstr>3. OPUS - Inquiry By Booking機能 </vt:lpstr>
      <vt:lpstr>3. OPUS - Inquiry By Booking機能 </vt:lpstr>
      <vt:lpstr>3. OPUS - Inquiry By Booking機能</vt:lpstr>
      <vt:lpstr>3. OPUS - Inquiry By Booking機能</vt:lpstr>
      <vt:lpstr>Q &amp; A</vt:lpstr>
      <vt:lpstr>Thank You !  Let’s maximize Gross CM together!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Force  Sales Cloud Adoption  Customer Groupsページの活用について</dc:title>
  <dc:creator>Ee, May-Ann</dc:creator>
  <cp:lastModifiedBy>Yugo Fukai</cp:lastModifiedBy>
  <cp:revision>48</cp:revision>
  <cp:lastPrinted>2022-12-02T01:11:10Z</cp:lastPrinted>
  <dcterms:modified xsi:type="dcterms:W3CDTF">2022-12-02T04:42:22Z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0x010100270E4C2A5E29B644833AF722D17C1450</vt:lpwstr>
  </property>
</Properties>
</file>