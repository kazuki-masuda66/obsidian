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7" r:id="rId2"/>
    <p:sldId id="2146847457" r:id="rId3"/>
    <p:sldId id="2146847433" r:id="rId4"/>
    <p:sldId id="2146847449" r:id="rId5"/>
    <p:sldId id="2146847455" r:id="rId6"/>
    <p:sldId id="2146847371" r:id="rId7"/>
    <p:sldId id="2146847454" r:id="rId8"/>
    <p:sldId id="2146847446" r:id="rId9"/>
    <p:sldId id="2146847443" r:id="rId10"/>
    <p:sldId id="2146847417" r:id="rId11"/>
    <p:sldId id="2146847377" r:id="rId12"/>
    <p:sldId id="2146847435" r:id="rId13"/>
    <p:sldId id="2146847444" r:id="rId14"/>
    <p:sldId id="2146847447" r:id="rId15"/>
    <p:sldId id="2146847451" r:id="rId16"/>
    <p:sldId id="2146847373" r:id="rId17"/>
    <p:sldId id="2146847382" r:id="rId18"/>
    <p:sldId id="2146847438" r:id="rId19"/>
    <p:sldId id="2146847436" r:id="rId20"/>
    <p:sldId id="2146847442" r:id="rId21"/>
    <p:sldId id="2146847450" r:id="rId22"/>
    <p:sldId id="2146847386" r:id="rId23"/>
  </p:sldIdLst>
  <p:sldSz cx="12192000" cy="6858000"/>
  <p:notesSz cx="6858000" cy="9144000"/>
  <p:custDataLst>
    <p:tags r:id="rId25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ace Grand Design" id="{E4730C4C-2621-4024-85AF-E7B214125FDD}">
          <p14:sldIdLst>
            <p14:sldId id="257"/>
            <p14:sldId id="2146847457"/>
            <p14:sldId id="2146847433"/>
            <p14:sldId id="2146847449"/>
            <p14:sldId id="2146847455"/>
            <p14:sldId id="2146847371"/>
            <p14:sldId id="2146847454"/>
            <p14:sldId id="2146847446"/>
            <p14:sldId id="2146847443"/>
            <p14:sldId id="2146847417"/>
            <p14:sldId id="2146847377"/>
            <p14:sldId id="2146847435"/>
            <p14:sldId id="2146847444"/>
            <p14:sldId id="2146847447"/>
            <p14:sldId id="2146847451"/>
            <p14:sldId id="2146847373"/>
            <p14:sldId id="2146847382"/>
            <p14:sldId id="2146847438"/>
            <p14:sldId id="2146847436"/>
            <p14:sldId id="2146847442"/>
            <p14:sldId id="2146847450"/>
            <p14:sldId id="21468473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47" userDrawn="1">
          <p15:clr>
            <a:srgbClr val="A4A3A4"/>
          </p15:clr>
        </p15:guide>
        <p15:guide id="3" pos="7582" userDrawn="1">
          <p15:clr>
            <a:srgbClr val="A4A3A4"/>
          </p15:clr>
        </p15:guide>
        <p15:guide id="4" pos="166" userDrawn="1">
          <p15:clr>
            <a:srgbClr val="A4A3A4"/>
          </p15:clr>
        </p15:guide>
        <p15:guide id="5" pos="3364" userDrawn="1">
          <p15:clr>
            <a:srgbClr val="A4A3A4"/>
          </p15:clr>
        </p15:guide>
        <p15:guide id="6" pos="7219" userDrawn="1">
          <p15:clr>
            <a:srgbClr val="A4A3A4"/>
          </p15:clr>
        </p15:guide>
        <p15:guide id="7" orient="horz" pos="1003" userDrawn="1">
          <p15:clr>
            <a:srgbClr val="A4A3A4"/>
          </p15:clr>
        </p15:guide>
        <p15:guide id="8" pos="1595" userDrawn="1">
          <p15:clr>
            <a:srgbClr val="A4A3A4"/>
          </p15:clr>
        </p15:guide>
        <p15:guide id="9" pos="3568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1" orient="horz" pos="3090" userDrawn="1">
          <p15:clr>
            <a:srgbClr val="A4A3A4"/>
          </p15:clr>
        </p15:guide>
        <p15:guide id="12" orient="horz" pos="1979" userDrawn="1">
          <p15:clr>
            <a:srgbClr val="A4A3A4"/>
          </p15:clr>
        </p15:guide>
        <p15:guide id="13" orient="horz" pos="3884" userDrawn="1">
          <p15:clr>
            <a:srgbClr val="A4A3A4"/>
          </p15:clr>
        </p15:guide>
        <p15:guide id="14" orient="horz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AEA"/>
    <a:srgbClr val="FDE9F4"/>
    <a:srgbClr val="FFFFFF"/>
    <a:srgbClr val="F3F9FF"/>
    <a:srgbClr val="DEEFFE"/>
    <a:srgbClr val="CCFFCC"/>
    <a:srgbClr val="F79ACF"/>
    <a:srgbClr val="FEF8FB"/>
    <a:srgbClr val="FBCCE7"/>
    <a:srgbClr val="DF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78669" autoAdjust="0"/>
  </p:normalViewPr>
  <p:slideViewPr>
    <p:cSldViewPr>
      <p:cViewPr varScale="1">
        <p:scale>
          <a:sx n="123" d="100"/>
          <a:sy n="123" d="100"/>
        </p:scale>
        <p:origin x="912" y="108"/>
      </p:cViewPr>
      <p:guideLst>
        <p:guide orient="horz" pos="4247"/>
        <p:guide pos="7582"/>
        <p:guide pos="166"/>
        <p:guide pos="3364"/>
        <p:guide pos="7219"/>
        <p:guide orient="horz" pos="1003"/>
        <p:guide pos="1595"/>
        <p:guide pos="3568"/>
        <p:guide pos="3840"/>
        <p:guide orient="horz" pos="3090"/>
        <p:guide orient="horz" pos="1979"/>
        <p:guide orient="horz" pos="3884"/>
        <p:guide orient="horz" pos="2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031446503855546E-2"/>
          <c:y val="4.4569962078842569E-2"/>
          <c:w val="0.9412564641016864"/>
          <c:h val="0.9108600758423148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Award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3.5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062-4D6F-ABCE-41169AEC5C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2.4000000000000004</c:v>
                </c:pt>
                <c:pt idx="1">
                  <c:v>3.5</c:v>
                </c:pt>
                <c:pt idx="2">
                  <c:v>2.8000000000000003</c:v>
                </c:pt>
                <c:pt idx="3">
                  <c:v>4.8000000000000007</c:v>
                </c:pt>
                <c:pt idx="4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062-4D6F-ABCE-41169AEC5C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2378848"/>
        <c:axId val="492379680"/>
      </c:lineChart>
      <c:catAx>
        <c:axId val="492378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92379680"/>
        <c:crosses val="autoZero"/>
        <c:auto val="1"/>
        <c:lblAlgn val="ctr"/>
        <c:lblOffset val="100"/>
        <c:noMultiLvlLbl val="0"/>
      </c:catAx>
      <c:valAx>
        <c:axId val="4923796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92378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031446503855546E-2"/>
          <c:y val="4.4569962078842569E-2"/>
          <c:w val="0.9412564641016864"/>
          <c:h val="0.9108600758423148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Award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3.5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062-4D6F-ABCE-41169AEC5C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2.4000000000000004</c:v>
                </c:pt>
                <c:pt idx="1">
                  <c:v>3.5</c:v>
                </c:pt>
                <c:pt idx="2">
                  <c:v>2.8000000000000003</c:v>
                </c:pt>
                <c:pt idx="3">
                  <c:v>4.8000000000000007</c:v>
                </c:pt>
                <c:pt idx="4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062-4D6F-ABCE-41169AEC5C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2378848"/>
        <c:axId val="492379680"/>
      </c:lineChart>
      <c:catAx>
        <c:axId val="492378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92379680"/>
        <c:crosses val="autoZero"/>
        <c:auto val="1"/>
        <c:lblAlgn val="ctr"/>
        <c:lblOffset val="100"/>
        <c:noMultiLvlLbl val="0"/>
      </c:catAx>
      <c:valAx>
        <c:axId val="4923796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92378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27CB0-0F83-4011-A5C6-7216CF7149BA}" type="datetimeFigureOut">
              <a:rPr kumimoji="1" lang="ja-JP" altLang="en-US" smtClean="0"/>
              <a:t>2023/3/10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243FB-BE8D-441D-B875-B1FA78F815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80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2" name="Google Shape;7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243FB-BE8D-441D-B875-B1FA78F8153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279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243FB-BE8D-441D-B875-B1FA78F8153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679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243FB-BE8D-441D-B875-B1FA78F8153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018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200"/>
              </a:lnSpc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243FB-BE8D-441D-B875-B1FA78F8153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5963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243FB-BE8D-441D-B875-B1FA78F8153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309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5" name="Google Shape;15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7373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243FB-BE8D-441D-B875-B1FA78F81538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32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89ADCB-A0BF-4848-BBB5-243D47CC40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5"/>
          <a:stretch/>
        </p:blipFill>
        <p:spPr>
          <a:xfrm>
            <a:off x="3489" y="-1"/>
            <a:ext cx="12177879" cy="6858001"/>
          </a:xfrm>
          <a:prstGeom prst="rect">
            <a:avLst/>
          </a:prstGeom>
        </p:spPr>
      </p:pic>
      <p:sp>
        <p:nvSpPr>
          <p:cNvPr id="9" name="正方形/長方形 6">
            <a:extLst>
              <a:ext uri="{FF2B5EF4-FFF2-40B4-BE49-F238E27FC236}">
                <a16:creationId xmlns:a16="http://schemas.microsoft.com/office/drawing/2014/main" id="{FAEA0CD0-FF23-40C3-A975-26DE3DAB9208}"/>
              </a:ext>
            </a:extLst>
          </p:cNvPr>
          <p:cNvSpPr/>
          <p:nvPr userDrawn="1"/>
        </p:nvSpPr>
        <p:spPr>
          <a:xfrm>
            <a:off x="-3572" y="3287541"/>
            <a:ext cx="12192000" cy="297517"/>
          </a:xfrm>
          <a:prstGeom prst="rect">
            <a:avLst/>
          </a:prstGeom>
          <a:solidFill>
            <a:schemeClr val="tx1">
              <a:alpha val="46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ヒラギノ角ゴ ProN W3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2B6727-A9D7-4F28-801B-49882E9D1A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969" y="219074"/>
            <a:ext cx="1405800" cy="29855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9442EAD-523C-4457-8A5B-BC6201D3F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82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0127F4-4675-4B17-A33D-7B3AA357E2F6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8A87147-B309-43A1-AC3C-02DB3FDDA140}"/>
              </a:ext>
            </a:extLst>
          </p:cNvPr>
          <p:cNvSpPr/>
          <p:nvPr userDrawn="1"/>
        </p:nvSpPr>
        <p:spPr>
          <a:xfrm>
            <a:off x="9582517" y="6649661"/>
            <a:ext cx="2319546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 defTabSz="292100"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sz="600" dirty="0">
                <a:solidFill>
                  <a:schemeClr val="bg1"/>
                </a:solidFill>
              </a:rPr>
              <a:t>Copyright © Ocean Network Express Pte. Ltd. All Rights Reserved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4A12ED-CB87-4BBF-9C16-DBB64F291F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621" y="1066803"/>
            <a:ext cx="10721982" cy="4760256"/>
          </a:xfrm>
          <a:prstGeom prst="rect">
            <a:avLst/>
          </a:prstGeom>
        </p:spPr>
      </p:pic>
      <p:sp>
        <p:nvSpPr>
          <p:cNvPr id="11" name="Shape 150">
            <a:extLst>
              <a:ext uri="{FF2B5EF4-FFF2-40B4-BE49-F238E27FC236}">
                <a16:creationId xmlns:a16="http://schemas.microsoft.com/office/drawing/2014/main" id="{1759CCD1-EB2B-4FB6-AD84-C44236FE0A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1070" y="2660328"/>
            <a:ext cx="5103628" cy="78660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SG" sz="4000" dirty="0"/>
              <a:t>Divider Title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87189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Layout 1">
  <p:cSld name="Page Layout 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5"/>
          <p:cNvSpPr txBox="1">
            <a:spLocks noGrp="1"/>
          </p:cNvSpPr>
          <p:nvPr>
            <p:ph type="title"/>
          </p:nvPr>
        </p:nvSpPr>
        <p:spPr>
          <a:xfrm>
            <a:off x="1949846" y="199173"/>
            <a:ext cx="9971486" cy="35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2500"/>
              <a:buFont typeface="Arial Black"/>
              <a:buNone/>
              <a:defRPr sz="2500" b="0" i="0" u="none" strike="noStrike" cap="none">
                <a:solidFill>
                  <a:srgbClr val="BD0F7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2" name="Google Shape;32;p215"/>
          <p:cNvSpPr txBox="1">
            <a:spLocks noGrp="1"/>
          </p:cNvSpPr>
          <p:nvPr>
            <p:ph type="body" idx="1"/>
          </p:nvPr>
        </p:nvSpPr>
        <p:spPr>
          <a:xfrm>
            <a:off x="270669" y="725611"/>
            <a:ext cx="11650663" cy="94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133350" marR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 dirty="0"/>
          </a:p>
        </p:txBody>
      </p:sp>
      <p:sp>
        <p:nvSpPr>
          <p:cNvPr id="33" name="Google Shape;33;p215"/>
          <p:cNvSpPr txBox="1">
            <a:spLocks noGrp="1"/>
          </p:cNvSpPr>
          <p:nvPr>
            <p:ph type="sldNum" idx="12"/>
          </p:nvPr>
        </p:nvSpPr>
        <p:spPr>
          <a:xfrm>
            <a:off x="257911" y="6479931"/>
            <a:ext cx="2743200" cy="24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026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14A12ED-CB87-4BBF-9C16-DBB64F291F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21" y="1066803"/>
            <a:ext cx="10721982" cy="47602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82B6727-A9D7-4F28-801B-49882E9D1A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969" y="219074"/>
            <a:ext cx="1405800" cy="29855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9442EAD-523C-4457-8A5B-BC6201D3F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82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0127F4-4675-4B17-A33D-7B3AA357E2F6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11" name="Shape 150">
            <a:extLst>
              <a:ext uri="{FF2B5EF4-FFF2-40B4-BE49-F238E27FC236}">
                <a16:creationId xmlns:a16="http://schemas.microsoft.com/office/drawing/2014/main" id="{1759CCD1-EB2B-4FB6-AD84-C44236FE0A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395" y="1745235"/>
            <a:ext cx="6283204" cy="78660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SG" sz="4000" dirty="0"/>
              <a:t>Divider Title</a:t>
            </a:r>
            <a:endParaRPr sz="40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8A87147-B309-43A1-AC3C-02DB3FDDA140}"/>
              </a:ext>
            </a:extLst>
          </p:cNvPr>
          <p:cNvSpPr/>
          <p:nvPr userDrawn="1"/>
        </p:nvSpPr>
        <p:spPr>
          <a:xfrm>
            <a:off x="9582517" y="6649661"/>
            <a:ext cx="2319546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 defTabSz="292100"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sz="600" dirty="0">
                <a:solidFill>
                  <a:schemeClr val="bg1"/>
                </a:solidFill>
              </a:rPr>
              <a:t>Copyright © Ocean Network Express Pte. Ltd. All Rights Reserved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4F2DFD-659E-4199-ABAA-AF343098BDA8}"/>
              </a:ext>
            </a:extLst>
          </p:cNvPr>
          <p:cNvCxnSpPr>
            <a:cxnSpLocks/>
          </p:cNvCxnSpPr>
          <p:nvPr userDrawn="1"/>
        </p:nvCxnSpPr>
        <p:spPr>
          <a:xfrm>
            <a:off x="272896" y="715089"/>
            <a:ext cx="1585200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4BF440-22B3-4892-A04F-2D767AFCC69D}"/>
              </a:ext>
            </a:extLst>
          </p:cNvPr>
          <p:cNvCxnSpPr>
            <a:cxnSpLocks/>
          </p:cNvCxnSpPr>
          <p:nvPr userDrawn="1"/>
        </p:nvCxnSpPr>
        <p:spPr>
          <a:xfrm>
            <a:off x="1935133" y="715089"/>
            <a:ext cx="10029854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8177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 Option 2">
    <p:bg>
      <p:bgPr>
        <a:solidFill>
          <a:srgbClr val="BD0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6">
            <a:extLst>
              <a:ext uri="{FF2B5EF4-FFF2-40B4-BE49-F238E27FC236}">
                <a16:creationId xmlns:a16="http://schemas.microsoft.com/office/drawing/2014/main" id="{33B24472-9F2C-4F6A-904E-1F8B061B3EB1}"/>
              </a:ext>
            </a:extLst>
          </p:cNvPr>
          <p:cNvSpPr/>
          <p:nvPr userDrawn="1"/>
        </p:nvSpPr>
        <p:spPr>
          <a:xfrm>
            <a:off x="9582517" y="6649661"/>
            <a:ext cx="2319546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 defTabSz="292100"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rPr sz="600" dirty="0">
                <a:solidFill>
                  <a:schemeClr val="bg1"/>
                </a:solidFill>
              </a:rPr>
              <a:t>Copyright © Ocean Network Express Pte. Ltd. All Rights Reserved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EFF25-B940-4042-A11F-2C402D3935D3}"/>
              </a:ext>
            </a:extLst>
          </p:cNvPr>
          <p:cNvSpPr txBox="1"/>
          <p:nvPr userDrawn="1"/>
        </p:nvSpPr>
        <p:spPr>
          <a:xfrm>
            <a:off x="696963" y="5803174"/>
            <a:ext cx="10797952" cy="438582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ctr" hangingPunct="1"/>
            <a:r>
              <a:rPr lang="en-SG" sz="22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www.one-line.com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3DBC128-1585-442D-B610-525C45B8BA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5059" y="2586622"/>
            <a:ext cx="2661760" cy="168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42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Slide">
  <p:cSld name="Cover Slide">
    <p:bg>
      <p:bgPr>
        <a:solidFill>
          <a:srgbClr val="BD0F7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0"/>
          <p:cNvSpPr/>
          <p:nvPr/>
        </p:nvSpPr>
        <p:spPr>
          <a:xfrm>
            <a:off x="9582517" y="6649661"/>
            <a:ext cx="2319546" cy="14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80"/>
          <p:cNvSpPr txBox="1">
            <a:spLocks noGrp="1"/>
          </p:cNvSpPr>
          <p:nvPr>
            <p:ph type="title"/>
          </p:nvPr>
        </p:nvSpPr>
        <p:spPr>
          <a:xfrm>
            <a:off x="702387" y="2228584"/>
            <a:ext cx="6164406" cy="78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80"/>
          <p:cNvSpPr txBox="1">
            <a:spLocks noGrp="1"/>
          </p:cNvSpPr>
          <p:nvPr>
            <p:ph type="body" idx="1"/>
          </p:nvPr>
        </p:nvSpPr>
        <p:spPr>
          <a:xfrm>
            <a:off x="702387" y="5908431"/>
            <a:ext cx="6164406" cy="410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 Black"/>
              <a:buChar char="•"/>
              <a:defRPr sz="2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pic>
        <p:nvPicPr>
          <p:cNvPr id="29" name="Google Shape;29;p1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7385" y="2228584"/>
            <a:ext cx="3793099" cy="2400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544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57FED05-E137-44C9-81A4-1C49A2F71C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54333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752"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57FED05-E137-44C9-81A4-1C49A2F71C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Google Shape;10;p179"/>
          <p:cNvCxnSpPr/>
          <p:nvPr/>
        </p:nvCxnSpPr>
        <p:spPr>
          <a:xfrm>
            <a:off x="272896" y="715089"/>
            <a:ext cx="15852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1" name="Google Shape;11;p17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2897" y="226790"/>
            <a:ext cx="1406435" cy="29811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79"/>
          <p:cNvSpPr/>
          <p:nvPr/>
        </p:nvSpPr>
        <p:spPr>
          <a:xfrm>
            <a:off x="9582517" y="6649661"/>
            <a:ext cx="2319546" cy="14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179"/>
          <p:cNvCxnSpPr/>
          <p:nvPr/>
        </p:nvCxnSpPr>
        <p:spPr>
          <a:xfrm>
            <a:off x="1935133" y="715089"/>
            <a:ext cx="10029854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4" name="Google Shape;14;p179"/>
          <p:cNvSpPr/>
          <p:nvPr/>
        </p:nvSpPr>
        <p:spPr>
          <a:xfrm>
            <a:off x="-1066800" y="1936250"/>
            <a:ext cx="1066800" cy="339915"/>
          </a:xfrm>
          <a:prstGeom prst="rect">
            <a:avLst/>
          </a:prstGeom>
          <a:solidFill>
            <a:srgbClr val="686F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79"/>
          <p:cNvSpPr/>
          <p:nvPr/>
        </p:nvSpPr>
        <p:spPr>
          <a:xfrm>
            <a:off x="-1066800" y="2276165"/>
            <a:ext cx="1066800" cy="339915"/>
          </a:xfrm>
          <a:prstGeom prst="rect">
            <a:avLst/>
          </a:prstGeom>
          <a:solidFill>
            <a:srgbClr val="DF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79"/>
          <p:cNvSpPr/>
          <p:nvPr/>
        </p:nvSpPr>
        <p:spPr>
          <a:xfrm>
            <a:off x="-1066800" y="2616080"/>
            <a:ext cx="1066800" cy="3399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9"/>
          <p:cNvSpPr/>
          <p:nvPr/>
        </p:nvSpPr>
        <p:spPr>
          <a:xfrm>
            <a:off x="-1066800" y="2955995"/>
            <a:ext cx="1066800" cy="3399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79"/>
          <p:cNvSpPr/>
          <p:nvPr/>
        </p:nvSpPr>
        <p:spPr>
          <a:xfrm>
            <a:off x="-1066800" y="3295910"/>
            <a:ext cx="1066800" cy="3399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79"/>
          <p:cNvSpPr/>
          <p:nvPr/>
        </p:nvSpPr>
        <p:spPr>
          <a:xfrm>
            <a:off x="-1066800" y="3635825"/>
            <a:ext cx="1066800" cy="33991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79"/>
          <p:cNvSpPr/>
          <p:nvPr/>
        </p:nvSpPr>
        <p:spPr>
          <a:xfrm>
            <a:off x="-1066800" y="3975740"/>
            <a:ext cx="1066800" cy="339915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79"/>
          <p:cNvSpPr/>
          <p:nvPr/>
        </p:nvSpPr>
        <p:spPr>
          <a:xfrm>
            <a:off x="-1066800" y="916505"/>
            <a:ext cx="1066800" cy="339915"/>
          </a:xfrm>
          <a:prstGeom prst="rect">
            <a:avLst/>
          </a:prstGeom>
          <a:solidFill>
            <a:srgbClr val="DD11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9"/>
          <p:cNvSpPr/>
          <p:nvPr/>
        </p:nvSpPr>
        <p:spPr>
          <a:xfrm>
            <a:off x="-1066800" y="1256420"/>
            <a:ext cx="1066800" cy="339915"/>
          </a:xfrm>
          <a:prstGeom prst="rect">
            <a:avLst/>
          </a:prstGeom>
          <a:solidFill>
            <a:srgbClr val="F6DA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79"/>
          <p:cNvSpPr/>
          <p:nvPr/>
        </p:nvSpPr>
        <p:spPr>
          <a:xfrm>
            <a:off x="-1066800" y="1596335"/>
            <a:ext cx="1066800" cy="339915"/>
          </a:xfrm>
          <a:prstGeom prst="rect">
            <a:avLst/>
          </a:prstGeom>
          <a:solidFill>
            <a:srgbClr val="004D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79"/>
          <p:cNvSpPr/>
          <p:nvPr/>
        </p:nvSpPr>
        <p:spPr>
          <a:xfrm>
            <a:off x="-1066800" y="576590"/>
            <a:ext cx="1066800" cy="339915"/>
          </a:xfrm>
          <a:prstGeom prst="rect">
            <a:avLst/>
          </a:prstGeom>
          <a:solidFill>
            <a:srgbClr val="BD0F7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65141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5.xml"/><Relationship Id="rId7" Type="http://schemas.openxmlformats.org/officeDocument/2006/relationships/oleObject" Target="../embeddings/oleObject3.bin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2.xml"/><Relationship Id="rId7" Type="http://schemas.openxmlformats.org/officeDocument/2006/relationships/oleObject" Target="../embeddings/oleObject8.bin"/><Relationship Id="rId2" Type="http://schemas.openxmlformats.org/officeDocument/2006/relationships/tags" Target="../tags/tag11.xml"/><Relationship Id="rId1" Type="http://schemas.openxmlformats.org/officeDocument/2006/relationships/vmlDrawing" Target="../drawings/vmlDrawing8.v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5.xml"/><Relationship Id="rId7" Type="http://schemas.openxmlformats.org/officeDocument/2006/relationships/oleObject" Target="../embeddings/oleObject9.bin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0.xml"/><Relationship Id="rId7" Type="http://schemas.openxmlformats.org/officeDocument/2006/relationships/oleObject" Target="../embeddings/oleObject12.bin"/><Relationship Id="rId2" Type="http://schemas.openxmlformats.org/officeDocument/2006/relationships/tags" Target="../tags/tag19.xml"/><Relationship Id="rId1" Type="http://schemas.openxmlformats.org/officeDocument/2006/relationships/vmlDrawing" Target="../drawings/vmlDrawing12.v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0.sv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7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chart" Target="../charts/chart2.xml"/><Relationship Id="rId2" Type="http://schemas.openxmlformats.org/officeDocument/2006/relationships/tags" Target="../tags/tag28.xml"/><Relationship Id="rId1" Type="http://schemas.openxmlformats.org/officeDocument/2006/relationships/vmlDrawing" Target="../drawings/vmlDrawing19.vml"/><Relationship Id="rId6" Type="http://schemas.openxmlformats.org/officeDocument/2006/relationships/chart" Target="../charts/chart1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2" Type="http://schemas.openxmlformats.org/officeDocument/2006/relationships/tags" Target="../tags/tag3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.png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3.xml"/><Relationship Id="rId7" Type="http://schemas.openxmlformats.org/officeDocument/2006/relationships/oleObject" Target="../embeddings/oleObject23.bin"/><Relationship Id="rId2" Type="http://schemas.openxmlformats.org/officeDocument/2006/relationships/tags" Target="../tags/tag32.xml"/><Relationship Id="rId1" Type="http://schemas.openxmlformats.org/officeDocument/2006/relationships/vmlDrawing" Target="../drawings/vmlDrawing23.v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0B074CD1-A464-47DA-8341-C3E7230A66A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36220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68" name="think-cell スライド" r:id="rId5" imgW="592" imgH="595" progId="TCLayout.ActiveDocument.1">
                  <p:embed/>
                </p:oleObj>
              </mc:Choice>
              <mc:Fallback>
                <p:oleObj name="think-cell スライド" r:id="rId5" imgW="592" imgH="595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0B074CD1-A464-47DA-8341-C3E7230A66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" name="Google Shape;794;p1"/>
          <p:cNvSpPr txBox="1">
            <a:spLocks noGrp="1"/>
          </p:cNvSpPr>
          <p:nvPr>
            <p:ph type="title"/>
          </p:nvPr>
        </p:nvSpPr>
        <p:spPr>
          <a:xfrm>
            <a:off x="587388" y="2059772"/>
            <a:ext cx="6628855" cy="78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ts val="3600"/>
            </a:pPr>
            <a:r>
              <a:rPr lang="en-US" altLang="ja-JP" sz="3240" dirty="0"/>
              <a:t>Space Management Grand Design</a:t>
            </a:r>
            <a:br>
              <a:rPr lang="en-US" altLang="ja-JP" sz="2268" dirty="0"/>
            </a:br>
            <a:endParaRPr sz="3240" dirty="0">
              <a:latin typeface="+mj-lt"/>
            </a:endParaRPr>
          </a:p>
        </p:txBody>
      </p:sp>
      <p:sp>
        <p:nvSpPr>
          <p:cNvPr id="795" name="Google Shape;795;p1"/>
          <p:cNvSpPr txBox="1">
            <a:spLocks noGrp="1"/>
          </p:cNvSpPr>
          <p:nvPr>
            <p:ph type="body" idx="1"/>
          </p:nvPr>
        </p:nvSpPr>
        <p:spPr>
          <a:xfrm>
            <a:off x="702387" y="5908431"/>
            <a:ext cx="6164406" cy="410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Mar. 2023</a:t>
            </a:r>
            <a:endParaRPr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1AE956F4-2BDA-40E9-9743-9C55A6A2F43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921290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16" name="think-cell スライド" r:id="rId7" imgW="592" imgH="595" progId="TCLayout.ActiveDocument.1">
                  <p:embed/>
                </p:oleObj>
              </mc:Choice>
              <mc:Fallback>
                <p:oleObj name="think-cell スライド" r:id="rId7" imgW="592" imgH="595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1AE956F4-2BDA-40E9-9743-9C55A6A2F4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正方形/長方形 5" hidden="1">
            <a:extLst>
              <a:ext uri="{FF2B5EF4-FFF2-40B4-BE49-F238E27FC236}">
                <a16:creationId xmlns:a16="http://schemas.microsoft.com/office/drawing/2014/main" id="{54A4672E-B373-4EEC-A8FF-5C0F9C272A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7" name="正方形/長方形 6" hidden="1">
            <a:extLst>
              <a:ext uri="{FF2B5EF4-FFF2-40B4-BE49-F238E27FC236}">
                <a16:creationId xmlns:a16="http://schemas.microsoft.com/office/drawing/2014/main" id="{B3B680C4-B193-4DAF-AF65-F59A4E6A8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01315A-4855-4D79-A285-B7B84B0A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ja-JP" dirty="0"/>
              <a:t>Space Management Grand Design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DB84523E-000E-4D2A-8CC0-0D6BD692D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スペースマネジメントの目的とあるべき姿、及び全ての取組みにおいて遵守すべき基本原則を定義したうえで、ターゲットを設定する。ターゲットの達成によりあるべき姿を実現していくため、戦術、実行体制</a:t>
            </a: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 dirty="0">
                <a:solidFill>
                  <a:schemeClr val="tx1"/>
                </a:solidFill>
              </a:rPr>
              <a:t>プロジェクト編成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r>
              <a:rPr kumimoji="1" lang="ja-JP" altLang="en-US" dirty="0">
                <a:solidFill>
                  <a:schemeClr val="tx1"/>
                </a:solidFill>
              </a:rPr>
              <a:t>、評価プロセスをデザインする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5AA6A5-EA00-4347-9E4C-120E4DA45A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2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C448204-3034-4BEA-8CA7-9772EEF25EBB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EE04911-3FBC-43DC-9806-C97B8162B7A2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F17CCBB-C6AF-4BD3-8704-B8880C96CD6E}"/>
              </a:ext>
            </a:extLst>
          </p:cNvPr>
          <p:cNvSpPr/>
          <p:nvPr/>
        </p:nvSpPr>
        <p:spPr>
          <a:xfrm>
            <a:off x="2131028" y="5540602"/>
            <a:ext cx="2789827" cy="44974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00FC09C-97F2-449C-B555-BADE096C856A}"/>
              </a:ext>
            </a:extLst>
          </p:cNvPr>
          <p:cNvSpPr txBox="1"/>
          <p:nvPr/>
        </p:nvSpPr>
        <p:spPr>
          <a:xfrm>
            <a:off x="299873" y="2096851"/>
            <a:ext cx="5049496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ja-JP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Contribution</a:t>
            </a:r>
            <a:r>
              <a:rPr lang="ja-JP" altLang="en-US" sz="1600" b="1" kern="0" dirty="0">
                <a:latin typeface="Arial"/>
                <a:cs typeface="Arial"/>
                <a:sym typeface="Arial"/>
              </a:rPr>
              <a:t> </a:t>
            </a:r>
            <a:r>
              <a:rPr lang="en-US" altLang="ja-JP" sz="1600" b="1" kern="0" dirty="0">
                <a:latin typeface="Arial"/>
                <a:cs typeface="Arial"/>
                <a:sym typeface="Arial"/>
              </a:rPr>
              <a:t>Margin</a:t>
            </a:r>
            <a:r>
              <a:rPr lang="ja-JP" altLang="en-US" sz="1600" b="1" kern="0" dirty="0">
                <a:latin typeface="Arial"/>
                <a:cs typeface="Arial"/>
                <a:sym typeface="Arial"/>
              </a:rPr>
              <a:t>の改善プロセス</a:t>
            </a:r>
            <a:endParaRPr kumimoji="1" lang="en-US" altLang="ja-JP" sz="16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34B17010-B355-483A-856F-9296BB456999}"/>
              </a:ext>
            </a:extLst>
          </p:cNvPr>
          <p:cNvSpPr/>
          <p:nvPr/>
        </p:nvSpPr>
        <p:spPr>
          <a:xfrm rot="5400000">
            <a:off x="-586921" y="3121188"/>
            <a:ext cx="2103474" cy="329886"/>
          </a:xfrm>
          <a:prstGeom prst="homePlate">
            <a:avLst>
              <a:gd name="adj" fmla="val 26576"/>
            </a:avLst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/>
                </a:solidFill>
              </a:rPr>
              <a:t>Portfolio Strategy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42E428BF-86A6-443E-A6B3-DC19F6009FAE}"/>
              </a:ext>
            </a:extLst>
          </p:cNvPr>
          <p:cNvSpPr/>
          <p:nvPr/>
        </p:nvSpPr>
        <p:spPr>
          <a:xfrm rot="5400000">
            <a:off x="50770" y="4746445"/>
            <a:ext cx="1951771" cy="1453566"/>
          </a:xfrm>
          <a:prstGeom prst="homePlate">
            <a:avLst>
              <a:gd name="adj" fmla="val 15727"/>
            </a:avLst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</a:rPr>
              <a:t>Execution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5D7A2F5D-A378-4E1A-B4B4-13712E85E394}"/>
              </a:ext>
            </a:extLst>
          </p:cNvPr>
          <p:cNvSpPr/>
          <p:nvPr/>
        </p:nvSpPr>
        <p:spPr>
          <a:xfrm rot="5400000">
            <a:off x="777607" y="2230562"/>
            <a:ext cx="972000" cy="979663"/>
          </a:xfrm>
          <a:prstGeom prst="homePlate">
            <a:avLst>
              <a:gd name="adj" fmla="val 26576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Trade/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en-US" altLang="ja-JP" sz="1400" dirty="0">
                <a:solidFill>
                  <a:schemeClr val="tx1"/>
                </a:solidFill>
              </a:rPr>
              <a:t>Service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Portfolio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矢印: 五方向 37">
            <a:extLst>
              <a:ext uri="{FF2B5EF4-FFF2-40B4-BE49-F238E27FC236}">
                <a16:creationId xmlns:a16="http://schemas.microsoft.com/office/drawing/2014/main" id="{7A02A92B-9472-4258-A534-651144EE2DD9}"/>
              </a:ext>
            </a:extLst>
          </p:cNvPr>
          <p:cNvSpPr/>
          <p:nvPr/>
        </p:nvSpPr>
        <p:spPr>
          <a:xfrm rot="5400000">
            <a:off x="777607" y="3362034"/>
            <a:ext cx="972000" cy="979663"/>
          </a:xfrm>
          <a:prstGeom prst="homePlate">
            <a:avLst>
              <a:gd name="adj" fmla="val 26576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Cargo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Portfolio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D8B332B-711D-4C17-AA1C-86A12C97BF47}"/>
              </a:ext>
            </a:extLst>
          </p:cNvPr>
          <p:cNvSpPr txBox="1"/>
          <p:nvPr/>
        </p:nvSpPr>
        <p:spPr>
          <a:xfrm>
            <a:off x="1915005" y="2234391"/>
            <a:ext cx="3348372" cy="9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 dirty="0"/>
              <a:t>中長期的な視点に基づき、</a:t>
            </a:r>
            <a:r>
              <a:rPr lang="en-US" altLang="ja-JP" sz="1400" dirty="0"/>
              <a:t>Trade/Service</a:t>
            </a:r>
            <a:r>
              <a:rPr lang="ja-JP" altLang="en-US" sz="1400" dirty="0"/>
              <a:t>の</a:t>
            </a:r>
            <a:r>
              <a:rPr lang="en-US" altLang="ja-JP" sz="1400" dirty="0"/>
              <a:t>Portfolio</a:t>
            </a:r>
            <a:r>
              <a:rPr lang="ja-JP" altLang="en-US" sz="1400" dirty="0"/>
              <a:t>を決定し、</a:t>
            </a:r>
            <a:br>
              <a:rPr lang="en-US" altLang="ja-JP" sz="1400" dirty="0"/>
            </a:br>
            <a:r>
              <a:rPr lang="ja-JP" altLang="en-US" sz="1400" dirty="0"/>
              <a:t>船舶投資</a:t>
            </a:r>
            <a:r>
              <a:rPr lang="en-US" altLang="ja-JP" sz="1400" dirty="0"/>
              <a:t>/</a:t>
            </a:r>
            <a:r>
              <a:rPr lang="ja-JP" altLang="en-US" sz="1400" dirty="0"/>
              <a:t>サービス設計を実践</a:t>
            </a:r>
            <a:endParaRPr lang="en-US" altLang="ja-JP" sz="1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09C54BF-A2FC-4744-9465-F462E87A5702}"/>
              </a:ext>
            </a:extLst>
          </p:cNvPr>
          <p:cNvSpPr txBox="1"/>
          <p:nvPr/>
        </p:nvSpPr>
        <p:spPr>
          <a:xfrm>
            <a:off x="1915005" y="3365865"/>
            <a:ext cx="3348372" cy="9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400" dirty="0"/>
              <a:t>事業セグメント別（契約種類別など）、</a:t>
            </a:r>
            <a:br>
              <a:rPr lang="en-US" altLang="ja-JP" sz="1400" dirty="0"/>
            </a:br>
            <a:r>
              <a:rPr lang="ja-JP" altLang="en-US" sz="1400" dirty="0"/>
              <a:t>顧客、及び航路の観点から、もっとも</a:t>
            </a:r>
            <a:br>
              <a:rPr lang="en-US" altLang="ja-JP" sz="1400" dirty="0"/>
            </a:br>
            <a:r>
              <a:rPr lang="ja-JP" altLang="en-US" sz="1400" dirty="0"/>
              <a:t>望ましい</a:t>
            </a:r>
            <a:r>
              <a:rPr lang="en-US" altLang="ja-JP" sz="1400" dirty="0"/>
              <a:t>Cargo Portfolio</a:t>
            </a:r>
            <a:r>
              <a:rPr lang="ja-JP" altLang="en-US" sz="1400" dirty="0"/>
              <a:t>を決定</a:t>
            </a:r>
            <a:endParaRPr lang="en-US" altLang="ja-JP" sz="14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7AF0AD9-8CC1-4325-8494-F60402B112EC}"/>
              </a:ext>
            </a:extLst>
          </p:cNvPr>
          <p:cNvSpPr txBox="1"/>
          <p:nvPr/>
        </p:nvSpPr>
        <p:spPr>
          <a:xfrm>
            <a:off x="5818707" y="2096851"/>
            <a:ext cx="6073420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ja-JP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“</a:t>
            </a:r>
            <a:r>
              <a:rPr lang="en-US" altLang="ja-JP" sz="1600" b="1" kern="0" dirty="0">
                <a:latin typeface="Arial"/>
                <a:cs typeface="Arial"/>
                <a:sym typeface="Arial"/>
              </a:rPr>
              <a:t>Space</a:t>
            </a:r>
            <a:r>
              <a:rPr kumimoji="1" lang="en-US" altLang="ja-JP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 Management”</a:t>
            </a:r>
            <a:r>
              <a:rPr kumimoji="1" lang="ja-JP" altLang="en-US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の意義</a:t>
            </a:r>
            <a:endParaRPr kumimoji="1" lang="en-US" altLang="ja-JP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7BE7DD-E113-42B7-BE53-203EEBE19512}"/>
              </a:ext>
            </a:extLst>
          </p:cNvPr>
          <p:cNvGrpSpPr/>
          <p:nvPr/>
        </p:nvGrpSpPr>
        <p:grpSpPr>
          <a:xfrm>
            <a:off x="1915005" y="3286128"/>
            <a:ext cx="3434364" cy="1131474"/>
            <a:chOff x="1956966" y="3286128"/>
            <a:chExt cx="3240360" cy="1131474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AD702F55-0453-4296-B1E2-A852C49C0115}"/>
                </a:ext>
              </a:extLst>
            </p:cNvPr>
            <p:cNvCxnSpPr>
              <a:cxnSpLocks/>
            </p:cNvCxnSpPr>
            <p:nvPr/>
          </p:nvCxnSpPr>
          <p:spPr>
            <a:xfrm>
              <a:off x="1956966" y="3286128"/>
              <a:ext cx="32403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FCC72E54-E8CC-4D3E-82FB-1C0FF28EE32F}"/>
                </a:ext>
              </a:extLst>
            </p:cNvPr>
            <p:cNvCxnSpPr>
              <a:cxnSpLocks/>
            </p:cNvCxnSpPr>
            <p:nvPr/>
          </p:nvCxnSpPr>
          <p:spPr>
            <a:xfrm>
              <a:off x="1956966" y="4417602"/>
              <a:ext cx="32403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9C25176-0076-49A3-A3DD-122511E208B8}"/>
              </a:ext>
            </a:extLst>
          </p:cNvPr>
          <p:cNvGrpSpPr/>
          <p:nvPr/>
        </p:nvGrpSpPr>
        <p:grpSpPr>
          <a:xfrm>
            <a:off x="4920856" y="2217029"/>
            <a:ext cx="821878" cy="4314022"/>
            <a:chOff x="5037213" y="2217029"/>
            <a:chExt cx="747481" cy="4314022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8B692577-F2F1-4B39-AD73-B0F641051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7213" y="2217029"/>
              <a:ext cx="747481" cy="3259405"/>
            </a:xfrm>
            <a:prstGeom prst="line">
              <a:avLst/>
            </a:prstGeom>
            <a:ln w="28575">
              <a:solidFill>
                <a:schemeClr val="accent4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94F2F10F-A99B-49E2-9587-BE2AED1C0A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13" y="6057292"/>
              <a:ext cx="747481" cy="473759"/>
            </a:xfrm>
            <a:prstGeom prst="line">
              <a:avLst/>
            </a:prstGeom>
            <a:ln w="28575">
              <a:solidFill>
                <a:schemeClr val="accent4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4105DCC-D07E-4ED6-9580-FC13F2E1B9A0}"/>
              </a:ext>
            </a:extLst>
          </p:cNvPr>
          <p:cNvSpPr txBox="1"/>
          <p:nvPr/>
        </p:nvSpPr>
        <p:spPr>
          <a:xfrm>
            <a:off x="1915005" y="4497340"/>
            <a:ext cx="3348372" cy="19482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 sz="1400" dirty="0"/>
              <a:t>後続の取組みを通じて、理想とする</a:t>
            </a:r>
            <a:br>
              <a:rPr lang="en-US" altLang="ja-JP" sz="1400" dirty="0"/>
            </a:br>
            <a:r>
              <a:rPr lang="ja-JP" altLang="en-US" sz="1400" dirty="0"/>
              <a:t>ゴールを実現</a:t>
            </a:r>
            <a:r>
              <a:rPr lang="en-US" altLang="ja-JP" sz="1400" dirty="0"/>
              <a:t>:</a:t>
            </a:r>
          </a:p>
          <a:p>
            <a:pPr marL="447675" indent="-171450">
              <a:spcAft>
                <a:spcPts val="1200"/>
              </a:spcAft>
              <a:buFont typeface="Arial" panose="020B0604020202020204" pitchFamily="34" charset="0"/>
              <a:buChar char="-"/>
            </a:pPr>
            <a:r>
              <a:rPr lang="en-US" altLang="ja-JP" sz="1400" b="1" dirty="0"/>
              <a:t>Pricing Management</a:t>
            </a:r>
          </a:p>
          <a:p>
            <a:pPr marL="447675" indent="-171450">
              <a:spcAft>
                <a:spcPts val="1200"/>
              </a:spcAft>
              <a:buFont typeface="Arial" panose="020B0604020202020204" pitchFamily="34" charset="0"/>
              <a:buChar char="-"/>
            </a:pPr>
            <a:r>
              <a:rPr lang="en-US" altLang="ja-JP" sz="1400" b="1" dirty="0"/>
              <a:t>Space Management</a:t>
            </a:r>
          </a:p>
          <a:p>
            <a:pPr marL="447675" indent="-171450">
              <a:spcAft>
                <a:spcPts val="1200"/>
              </a:spcAft>
              <a:buFont typeface="Arial" panose="020B0604020202020204" pitchFamily="34" charset="0"/>
              <a:buChar char="-"/>
            </a:pPr>
            <a:r>
              <a:rPr lang="en-US" altLang="ja-JP" sz="1400" b="1" dirty="0"/>
              <a:t>Route Management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DFD1D1B-9E26-4743-8A0B-DAF99E87BB26}"/>
              </a:ext>
            </a:extLst>
          </p:cNvPr>
          <p:cNvSpPr txBox="1"/>
          <p:nvPr/>
        </p:nvSpPr>
        <p:spPr>
          <a:xfrm>
            <a:off x="5818707" y="3685413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Tactics</a:t>
            </a:r>
            <a:br>
              <a:rPr lang="en-US" altLang="ja-JP" sz="1400" b="1" dirty="0">
                <a:solidFill>
                  <a:schemeClr val="bg1"/>
                </a:solidFill>
              </a:rPr>
            </a:br>
            <a:r>
              <a:rPr lang="en-US" altLang="ja-JP" sz="1400" b="1" dirty="0">
                <a:solidFill>
                  <a:schemeClr val="bg1"/>
                </a:solidFill>
              </a:rPr>
              <a:t>(Solution)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DF4520D-5396-4458-8F6B-22242B9E6200}"/>
              </a:ext>
            </a:extLst>
          </p:cNvPr>
          <p:cNvSpPr txBox="1"/>
          <p:nvPr/>
        </p:nvSpPr>
        <p:spPr>
          <a:xfrm>
            <a:off x="5818707" y="4719681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Execution</a:t>
            </a:r>
          </a:p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Process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0DEF4AC-834B-4AF7-9328-B23FB14A7E38}"/>
              </a:ext>
            </a:extLst>
          </p:cNvPr>
          <p:cNvSpPr/>
          <p:nvPr/>
        </p:nvSpPr>
        <p:spPr>
          <a:xfrm>
            <a:off x="5818707" y="4719681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3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87ECAB7-D258-425D-A338-921EB4DCCF2C}"/>
              </a:ext>
            </a:extLst>
          </p:cNvPr>
          <p:cNvSpPr/>
          <p:nvPr/>
        </p:nvSpPr>
        <p:spPr>
          <a:xfrm>
            <a:off x="5818707" y="3685412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2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64DE1ABD-6452-4020-8D6B-C4D77A6A7E6A}"/>
              </a:ext>
            </a:extLst>
          </p:cNvPr>
          <p:cNvSpPr/>
          <p:nvPr/>
        </p:nvSpPr>
        <p:spPr>
          <a:xfrm>
            <a:off x="6163477" y="4390307"/>
            <a:ext cx="396020" cy="421247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2" name="テキスト ボックス 28">
            <a:extLst>
              <a:ext uri="{FF2B5EF4-FFF2-40B4-BE49-F238E27FC236}">
                <a16:creationId xmlns:a16="http://schemas.microsoft.com/office/drawing/2014/main" id="{B32759F2-6348-4CCC-81AF-C9A35E8A02D2}"/>
              </a:ext>
            </a:extLst>
          </p:cNvPr>
          <p:cNvSpPr txBox="1"/>
          <p:nvPr/>
        </p:nvSpPr>
        <p:spPr>
          <a:xfrm>
            <a:off x="5818707" y="2672918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Principles</a:t>
            </a:r>
          </a:p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and</a:t>
            </a:r>
            <a:r>
              <a:rPr lang="ja-JP" altLang="en-US" sz="1400" b="1" dirty="0">
                <a:solidFill>
                  <a:schemeClr val="bg1"/>
                </a:solidFill>
              </a:rPr>
              <a:t> </a:t>
            </a:r>
            <a:r>
              <a:rPr lang="en-US" altLang="ja-JP" sz="1400" b="1" dirty="0">
                <a:solidFill>
                  <a:schemeClr val="bg1"/>
                </a:solidFill>
              </a:rPr>
              <a:t>Targets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33" name="正方形/長方形 45">
            <a:extLst>
              <a:ext uri="{FF2B5EF4-FFF2-40B4-BE49-F238E27FC236}">
                <a16:creationId xmlns:a16="http://schemas.microsoft.com/office/drawing/2014/main" id="{50E1C711-C852-4D47-A054-5AF3237270F2}"/>
              </a:ext>
            </a:extLst>
          </p:cNvPr>
          <p:cNvSpPr/>
          <p:nvPr/>
        </p:nvSpPr>
        <p:spPr>
          <a:xfrm>
            <a:off x="5818707" y="2672916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1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矢印: 下 8">
            <a:extLst>
              <a:ext uri="{FF2B5EF4-FFF2-40B4-BE49-F238E27FC236}">
                <a16:creationId xmlns:a16="http://schemas.microsoft.com/office/drawing/2014/main" id="{7FB3F4EF-11B4-42D9-994B-470DC0BDE75F}"/>
              </a:ext>
            </a:extLst>
          </p:cNvPr>
          <p:cNvSpPr/>
          <p:nvPr/>
        </p:nvSpPr>
        <p:spPr>
          <a:xfrm>
            <a:off x="6160008" y="3430172"/>
            <a:ext cx="396020" cy="421247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40" name="テキスト ボックス 29">
            <a:extLst>
              <a:ext uri="{FF2B5EF4-FFF2-40B4-BE49-F238E27FC236}">
                <a16:creationId xmlns:a16="http://schemas.microsoft.com/office/drawing/2014/main" id="{6A7BABD8-8CE7-49B7-B451-6531687B14FD}"/>
              </a:ext>
            </a:extLst>
          </p:cNvPr>
          <p:cNvSpPr txBox="1"/>
          <p:nvPr/>
        </p:nvSpPr>
        <p:spPr>
          <a:xfrm>
            <a:off x="5818707" y="5719963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Evaluation</a:t>
            </a:r>
          </a:p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Process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F2874C1-00D7-4A6B-A2C7-3C8B36F92326}"/>
              </a:ext>
            </a:extLst>
          </p:cNvPr>
          <p:cNvSpPr txBox="1"/>
          <p:nvPr/>
        </p:nvSpPr>
        <p:spPr>
          <a:xfrm>
            <a:off x="6910959" y="4719681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あるべき姿の実現に向けた、</a:t>
            </a:r>
            <a:r>
              <a:rPr lang="ja-JP" altLang="en-US" sz="1600" b="1" u="sng" dirty="0"/>
              <a:t>複数プロジェクトによるプロセス改善と</a:t>
            </a:r>
            <a:r>
              <a:rPr lang="en-US" altLang="ja-JP" sz="1600" b="1" u="sng" dirty="0"/>
              <a:t>IT</a:t>
            </a:r>
            <a:r>
              <a:rPr lang="ja-JP" altLang="en-US" sz="1600" b="1" u="sng" dirty="0"/>
              <a:t>ソリューション</a:t>
            </a:r>
            <a:endParaRPr lang="en-US" altLang="ja-JP" sz="1600" b="1" u="sng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28D822C-4FF8-44ED-90B0-1AA3527A4FB1}"/>
              </a:ext>
            </a:extLst>
          </p:cNvPr>
          <p:cNvSpPr txBox="1"/>
          <p:nvPr/>
        </p:nvSpPr>
        <p:spPr>
          <a:xfrm>
            <a:off x="6910959" y="3685412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目的および</a:t>
            </a:r>
            <a:r>
              <a:rPr lang="en-US" altLang="ja-JP" sz="1600" dirty="0"/>
              <a:t>Target</a:t>
            </a:r>
            <a:r>
              <a:rPr lang="ja-JP" altLang="en-US" sz="1600" dirty="0"/>
              <a:t>達成のための</a:t>
            </a:r>
            <a:r>
              <a:rPr lang="en-US" altLang="ja-JP" sz="1600" b="1" u="sng" dirty="0"/>
              <a:t>4</a:t>
            </a:r>
            <a:r>
              <a:rPr lang="ja-JP" altLang="en-US" sz="1600" b="1" u="sng" dirty="0"/>
              <a:t>つの基本戦術（ソリューション）</a:t>
            </a:r>
            <a:endParaRPr lang="en-US" altLang="ja-JP" sz="1600" b="1" u="sng" dirty="0"/>
          </a:p>
        </p:txBody>
      </p:sp>
      <p:sp>
        <p:nvSpPr>
          <p:cNvPr id="34" name="テキスト ボックス 47">
            <a:extLst>
              <a:ext uri="{FF2B5EF4-FFF2-40B4-BE49-F238E27FC236}">
                <a16:creationId xmlns:a16="http://schemas.microsoft.com/office/drawing/2014/main" id="{53F24161-2412-4D35-8038-518048946262}"/>
              </a:ext>
            </a:extLst>
          </p:cNvPr>
          <p:cNvSpPr txBox="1"/>
          <p:nvPr/>
        </p:nvSpPr>
        <p:spPr>
          <a:xfrm>
            <a:off x="6910958" y="2672916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スペースマネジメントに係る全ての取組みにおいて遵守すべき</a:t>
            </a:r>
            <a:r>
              <a:rPr lang="en-US" altLang="ja-JP" sz="1600" b="1" u="sng" dirty="0"/>
              <a:t>6</a:t>
            </a:r>
            <a:r>
              <a:rPr lang="ja-JP" altLang="en-US" sz="1600" b="1" u="sng" dirty="0"/>
              <a:t>つの基本原則</a:t>
            </a:r>
            <a:r>
              <a:rPr lang="ja-JP" altLang="en-US" sz="1600" dirty="0"/>
              <a:t>、及び目的・基本原則を踏まえた</a:t>
            </a:r>
            <a:r>
              <a:rPr lang="en-US" altLang="ja-JP" sz="1600" b="1" u="sng" dirty="0"/>
              <a:t>7</a:t>
            </a:r>
            <a:r>
              <a:rPr lang="ja-JP" altLang="en-US" sz="1600" b="1" u="sng" dirty="0"/>
              <a:t>つのターゲット</a:t>
            </a:r>
            <a:endParaRPr lang="en-US" altLang="ja-JP" sz="1600" b="1" u="sng" dirty="0"/>
          </a:p>
        </p:txBody>
      </p:sp>
      <p:sp>
        <p:nvSpPr>
          <p:cNvPr id="49" name="テキスト ボックス 43">
            <a:extLst>
              <a:ext uri="{FF2B5EF4-FFF2-40B4-BE49-F238E27FC236}">
                <a16:creationId xmlns:a16="http://schemas.microsoft.com/office/drawing/2014/main" id="{827E8757-E98B-4CC0-A25E-D9ACA046AAC2}"/>
              </a:ext>
            </a:extLst>
          </p:cNvPr>
          <p:cNvSpPr txBox="1"/>
          <p:nvPr/>
        </p:nvSpPr>
        <p:spPr>
          <a:xfrm>
            <a:off x="6910959" y="5719963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プロセスと</a:t>
            </a:r>
            <a:r>
              <a:rPr lang="en-US" altLang="ja-JP" sz="1600" dirty="0"/>
              <a:t>IT</a:t>
            </a:r>
            <a:r>
              <a:rPr lang="ja-JP" altLang="en-US" sz="1600" dirty="0"/>
              <a:t>の継続的強化・改善を図るための</a:t>
            </a:r>
            <a:r>
              <a:rPr lang="ja-JP" altLang="en-US" sz="1600" b="1" u="sng" dirty="0"/>
              <a:t>体系的評価指標</a:t>
            </a:r>
            <a:endParaRPr lang="en-US" altLang="ja-JP" sz="1600" b="1" u="sng" dirty="0"/>
          </a:p>
        </p:txBody>
      </p:sp>
      <p:sp>
        <p:nvSpPr>
          <p:cNvPr id="50" name="正方形/長方形 44">
            <a:extLst>
              <a:ext uri="{FF2B5EF4-FFF2-40B4-BE49-F238E27FC236}">
                <a16:creationId xmlns:a16="http://schemas.microsoft.com/office/drawing/2014/main" id="{AA88A6EA-71D0-49C1-BFF8-F425D7091CAA}"/>
              </a:ext>
            </a:extLst>
          </p:cNvPr>
          <p:cNvSpPr/>
          <p:nvPr/>
        </p:nvSpPr>
        <p:spPr>
          <a:xfrm>
            <a:off x="5818707" y="5719963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4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矢印: 環状 16">
            <a:extLst>
              <a:ext uri="{FF2B5EF4-FFF2-40B4-BE49-F238E27FC236}">
                <a16:creationId xmlns:a16="http://schemas.microsoft.com/office/drawing/2014/main" id="{EB50C344-5C3D-4716-86E6-0EF669B99C88}"/>
              </a:ext>
            </a:extLst>
          </p:cNvPr>
          <p:cNvSpPr/>
          <p:nvPr/>
        </p:nvSpPr>
        <p:spPr>
          <a:xfrm rot="9900000">
            <a:off x="6111634" y="5403413"/>
            <a:ext cx="474203" cy="47420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34306"/>
              <a:gd name="adj5" fmla="val 12500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A79BCB90-7027-4B1D-91F8-6481B8AF011A}"/>
              </a:ext>
            </a:extLst>
          </p:cNvPr>
          <p:cNvSpPr/>
          <p:nvPr/>
        </p:nvSpPr>
        <p:spPr>
          <a:xfrm>
            <a:off x="5818707" y="2154341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4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Introduction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957C14C-D76C-47E0-B0CB-B9C095B7CF64}"/>
              </a:ext>
            </a:extLst>
          </p:cNvPr>
          <p:cNvSpPr/>
          <p:nvPr/>
        </p:nvSpPr>
        <p:spPr>
          <a:xfrm>
            <a:off x="5818707" y="2331331"/>
            <a:ext cx="6073420" cy="26453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spcBef>
                <a:spcPts val="600"/>
              </a:spcBef>
            </a:pPr>
            <a:r>
              <a:rPr lang="ja-JP" altLang="en-US" sz="1600" dirty="0">
                <a:solidFill>
                  <a:schemeClr val="tx1"/>
                </a:solidFill>
              </a:rPr>
              <a:t>スペースマネジメントの</a:t>
            </a:r>
            <a:r>
              <a:rPr lang="ja-JP" altLang="en-US" sz="1600" b="1" u="sng" dirty="0">
                <a:solidFill>
                  <a:schemeClr val="tx1"/>
                </a:solidFill>
              </a:rPr>
              <a:t>目的とあるべき姿</a:t>
            </a:r>
            <a:r>
              <a:rPr lang="ja-JP" altLang="en-US" sz="1600" dirty="0">
                <a:solidFill>
                  <a:schemeClr val="tx1"/>
                </a:solidFill>
              </a:rPr>
              <a:t>のデザイン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F69BA82-F925-47AF-AA09-F3052CEC6D4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23276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79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F69BA82-F925-47AF-AA09-F3052CEC6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ACD25AEB-BABC-4AA5-8AD0-DBFBFF93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ja-JP" dirty="0"/>
              <a:t>Space Management</a:t>
            </a:r>
            <a:r>
              <a:rPr kumimoji="1" lang="ja-JP" altLang="en-US" dirty="0"/>
              <a:t>の目的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34FA8C-4738-4641-B43C-AC05C230DE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CF5B511D-A631-4F9C-8F34-E88EE00845A2}"/>
              </a:ext>
            </a:extLst>
          </p:cNvPr>
          <p:cNvSpPr/>
          <p:nvPr/>
        </p:nvSpPr>
        <p:spPr>
          <a:xfrm>
            <a:off x="553068" y="1159793"/>
            <a:ext cx="11085864" cy="672593"/>
          </a:xfrm>
          <a:prstGeom prst="homePlate">
            <a:avLst>
              <a:gd name="adj" fmla="val 0"/>
            </a:avLst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公共財</a:t>
            </a:r>
            <a:r>
              <a:rPr lang="en-US" altLang="ja-JP" sz="1400" dirty="0">
                <a:solidFill>
                  <a:schemeClr val="tx1"/>
                </a:solidFill>
              </a:rPr>
              <a:t>(</a:t>
            </a:r>
            <a:r>
              <a:rPr lang="ja-JP" altLang="en-US" sz="1400" dirty="0">
                <a:solidFill>
                  <a:schemeClr val="tx1"/>
                </a:solidFill>
              </a:rPr>
              <a:t>全社経営資源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  <a:r>
              <a:rPr lang="ja-JP" altLang="en-US" sz="1400" dirty="0">
                <a:solidFill>
                  <a:schemeClr val="tx1"/>
                </a:solidFill>
              </a:rPr>
              <a:t>であるスペースを、組織の枠を超えて最大限活用するとともに、最適な貨物を選択し、全社</a:t>
            </a:r>
            <a:r>
              <a:rPr lang="en-US" altLang="ja-JP" sz="1400" dirty="0">
                <a:solidFill>
                  <a:schemeClr val="tx1"/>
                </a:solidFill>
              </a:rPr>
              <a:t>CM</a:t>
            </a:r>
            <a:r>
              <a:rPr lang="ja-JP" altLang="en-US" sz="1400" dirty="0">
                <a:solidFill>
                  <a:schemeClr val="tx1"/>
                </a:solidFill>
              </a:rPr>
              <a:t>を最大化</a:t>
            </a:r>
          </a:p>
        </p:txBody>
      </p:sp>
      <p:sp>
        <p:nvSpPr>
          <p:cNvPr id="29" name="矢印: 下 28">
            <a:extLst>
              <a:ext uri="{FF2B5EF4-FFF2-40B4-BE49-F238E27FC236}">
                <a16:creationId xmlns:a16="http://schemas.microsoft.com/office/drawing/2014/main" id="{47FEF6B4-52C8-427E-8EB3-5F53F9C102D1}"/>
              </a:ext>
            </a:extLst>
          </p:cNvPr>
          <p:cNvSpPr/>
          <p:nvPr/>
        </p:nvSpPr>
        <p:spPr>
          <a:xfrm>
            <a:off x="3327598" y="1949305"/>
            <a:ext cx="5536805" cy="287943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6000" rtlCol="0" anchor="ctr"/>
          <a:lstStyle/>
          <a:p>
            <a:pPr algn="ctr"/>
            <a:r>
              <a:rPr lang="en-US" altLang="ja-JP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Breakdown</a:t>
            </a:r>
            <a:endParaRPr kumimoji="1" lang="en-GB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277E1E91-A916-467F-88ED-268C5F6DF33A}"/>
              </a:ext>
            </a:extLst>
          </p:cNvPr>
          <p:cNvSpPr/>
          <p:nvPr/>
        </p:nvSpPr>
        <p:spPr>
          <a:xfrm>
            <a:off x="1959807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4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Introduction</a:t>
            </a:r>
          </a:p>
        </p:txBody>
      </p:sp>
      <p:sp>
        <p:nvSpPr>
          <p:cNvPr id="27" name="矢印: 五方向 26">
            <a:extLst>
              <a:ext uri="{FF2B5EF4-FFF2-40B4-BE49-F238E27FC236}">
                <a16:creationId xmlns:a16="http://schemas.microsoft.com/office/drawing/2014/main" id="{FB530B43-4CAD-4DEC-984A-610206A5D023}"/>
              </a:ext>
            </a:extLst>
          </p:cNvPr>
          <p:cNvSpPr/>
          <p:nvPr/>
        </p:nvSpPr>
        <p:spPr>
          <a:xfrm>
            <a:off x="553068" y="3749138"/>
            <a:ext cx="267362" cy="2711770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endParaRPr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75992EB5-539E-4D7F-B0E2-7E837D398286}"/>
              </a:ext>
            </a:extLst>
          </p:cNvPr>
          <p:cNvSpPr/>
          <p:nvPr/>
        </p:nvSpPr>
        <p:spPr>
          <a:xfrm>
            <a:off x="553068" y="2361366"/>
            <a:ext cx="266400" cy="1301663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endParaRPr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B237213F-7E5D-41CE-8E2D-9C1B47E7A40E}"/>
              </a:ext>
            </a:extLst>
          </p:cNvPr>
          <p:cNvSpPr/>
          <p:nvPr/>
        </p:nvSpPr>
        <p:spPr>
          <a:xfrm>
            <a:off x="553068" y="3749138"/>
            <a:ext cx="11085864" cy="266755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lang="en-US" altLang="ja-JP" sz="1400" dirty="0">
                <a:solidFill>
                  <a:schemeClr val="bg1"/>
                </a:solidFill>
              </a:rPr>
              <a:t>OCN</a:t>
            </a:r>
            <a:r>
              <a:rPr lang="ja-JP" altLang="en-US" sz="1400" dirty="0">
                <a:solidFill>
                  <a:schemeClr val="bg1"/>
                </a:solidFill>
              </a:rPr>
              <a:t>だけでは埋められない余剰スペースを、</a:t>
            </a:r>
            <a:r>
              <a:rPr lang="en-US" altLang="ja-JP" sz="1400" dirty="0">
                <a:solidFill>
                  <a:schemeClr val="bg1"/>
                </a:solidFill>
              </a:rPr>
              <a:t>Trade</a:t>
            </a:r>
            <a:r>
              <a:rPr lang="ja-JP" altLang="en-US" sz="1400" dirty="0">
                <a:solidFill>
                  <a:schemeClr val="bg1"/>
                </a:solidFill>
              </a:rPr>
              <a:t>横断で有効活用（公共財の全社活用）</a:t>
            </a: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75C8CEDF-DFFC-4FC3-A470-A02DBD02041E}"/>
              </a:ext>
            </a:extLst>
          </p:cNvPr>
          <p:cNvSpPr/>
          <p:nvPr/>
        </p:nvSpPr>
        <p:spPr>
          <a:xfrm>
            <a:off x="553068" y="2361366"/>
            <a:ext cx="11085864" cy="266755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lang="ja-JP" altLang="en-US" sz="1400" dirty="0">
                <a:solidFill>
                  <a:schemeClr val="bg1"/>
                </a:solidFill>
              </a:rPr>
              <a:t>全航路・</a:t>
            </a:r>
            <a:r>
              <a:rPr lang="en-US" altLang="ja-JP" sz="1400" dirty="0">
                <a:solidFill>
                  <a:schemeClr val="bg1"/>
                </a:solidFill>
              </a:rPr>
              <a:t>Vessel</a:t>
            </a:r>
            <a:r>
              <a:rPr lang="ja-JP" altLang="en-US" sz="1400" dirty="0">
                <a:solidFill>
                  <a:schemeClr val="bg1"/>
                </a:solidFill>
              </a:rPr>
              <a:t>における消席率≧</a:t>
            </a:r>
            <a:r>
              <a:rPr lang="en-US" altLang="ja-JP" sz="1400" dirty="0">
                <a:solidFill>
                  <a:schemeClr val="bg1"/>
                </a:solidFill>
              </a:rPr>
              <a:t>100%</a:t>
            </a:r>
            <a:r>
              <a:rPr lang="ja-JP" altLang="en-US" sz="1400" dirty="0">
                <a:solidFill>
                  <a:schemeClr val="bg1"/>
                </a:solidFill>
              </a:rPr>
              <a:t>の達成と、最適貨物の選択</a:t>
            </a:r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4F2372C5-08A6-4B00-844D-E97AA4232144}"/>
              </a:ext>
            </a:extLst>
          </p:cNvPr>
          <p:cNvSpPr/>
          <p:nvPr/>
        </p:nvSpPr>
        <p:spPr>
          <a:xfrm>
            <a:off x="899927" y="2908708"/>
            <a:ext cx="936104" cy="756066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/>
            <a:r>
              <a:rPr lang="en-US" altLang="ja-JP" sz="1400" dirty="0">
                <a:solidFill>
                  <a:schemeClr val="dk1"/>
                </a:solidFill>
              </a:rPr>
              <a:t>OCN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E2553007-6B76-4F9A-8905-EFF8A5374CBF}"/>
              </a:ext>
            </a:extLst>
          </p:cNvPr>
          <p:cNvSpPr/>
          <p:nvPr/>
        </p:nvSpPr>
        <p:spPr>
          <a:xfrm>
            <a:off x="1897001" y="2908708"/>
            <a:ext cx="3484341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lang="ja-JP" altLang="en-US" sz="1200" dirty="0">
                <a:solidFill>
                  <a:schemeClr val="dk1"/>
                </a:solidFill>
              </a:rPr>
              <a:t>大陸間で輸送する貨物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5D5EBBCE-D510-4CF8-89EF-5597B5FF78C5}"/>
              </a:ext>
            </a:extLst>
          </p:cNvPr>
          <p:cNvSpPr/>
          <p:nvPr/>
        </p:nvSpPr>
        <p:spPr>
          <a:xfrm>
            <a:off x="5438195" y="2908708"/>
            <a:ext cx="6200737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171450" indent="-171450">
              <a:buFont typeface="Arial" panose="020B0604020202020204" pitchFamily="34" charset="0"/>
              <a:buChar char="-"/>
            </a:pPr>
            <a:r>
              <a:rPr lang="en-US" altLang="ja-JP" sz="1200" dirty="0">
                <a:solidFill>
                  <a:schemeClr val="dk1"/>
                </a:solidFill>
              </a:rPr>
              <a:t>ONE</a:t>
            </a:r>
            <a:r>
              <a:rPr lang="ja-JP" altLang="en-US" sz="1200" dirty="0">
                <a:solidFill>
                  <a:schemeClr val="dk1"/>
                </a:solidFill>
              </a:rPr>
              <a:t>のコア・ビジネスであり、</a:t>
            </a:r>
            <a:r>
              <a:rPr lang="en-US" altLang="ja-JP" sz="1200" dirty="0">
                <a:solidFill>
                  <a:schemeClr val="dk1"/>
                </a:solidFill>
              </a:rPr>
              <a:t>OCN</a:t>
            </a:r>
            <a:r>
              <a:rPr lang="ja-JP" altLang="en-US" sz="1200" dirty="0">
                <a:solidFill>
                  <a:schemeClr val="dk1"/>
                </a:solidFill>
              </a:rPr>
              <a:t>でスペースを埋めることが、まずもって優先される</a:t>
            </a:r>
            <a:endParaRPr lang="en-US" altLang="ja-JP" sz="1200" dirty="0">
              <a:solidFill>
                <a:schemeClr val="dk1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ja-JP" altLang="en-US" sz="1200" dirty="0">
                <a:solidFill>
                  <a:schemeClr val="tx1"/>
                </a:solidFill>
              </a:rPr>
              <a:t>但し本当に</a:t>
            </a:r>
            <a:r>
              <a:rPr lang="en-US" altLang="ja-JP" sz="1200" dirty="0">
                <a:solidFill>
                  <a:schemeClr val="tx1"/>
                </a:solidFill>
              </a:rPr>
              <a:t>booking/lifting</a:t>
            </a:r>
            <a:r>
              <a:rPr lang="ja-JP" altLang="en-US" sz="1200" dirty="0">
                <a:solidFill>
                  <a:schemeClr val="tx1"/>
                </a:solidFill>
              </a:rPr>
              <a:t>されるか分からない貨物で、公共財であるスペースを出航直前まで確保し続けることは、全体最適の観点から不適切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7F8E876A-58F2-4C8B-B364-63B7EA40122E}"/>
              </a:ext>
            </a:extLst>
          </p:cNvPr>
          <p:cNvSpPr/>
          <p:nvPr/>
        </p:nvSpPr>
        <p:spPr>
          <a:xfrm>
            <a:off x="899927" y="4074832"/>
            <a:ext cx="936104" cy="756066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dk1"/>
                </a:solidFill>
              </a:rPr>
              <a:t>IPC</a:t>
            </a:r>
            <a:br>
              <a:rPr lang="en-US" altLang="ja-JP" sz="1400" dirty="0">
                <a:solidFill>
                  <a:schemeClr val="dk1"/>
                </a:solidFill>
              </a:rPr>
            </a:br>
            <a:r>
              <a:rPr lang="en-US" altLang="ja-JP" sz="1400" dirty="0">
                <a:solidFill>
                  <a:schemeClr val="dk1"/>
                </a:solidFill>
              </a:rPr>
              <a:t>(Wayport)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AB0FE705-4E20-4679-B0AC-624E31537061}"/>
              </a:ext>
            </a:extLst>
          </p:cNvPr>
          <p:cNvSpPr/>
          <p:nvPr/>
        </p:nvSpPr>
        <p:spPr>
          <a:xfrm>
            <a:off x="1897001" y="4074832"/>
            <a:ext cx="3484341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lang="ja-JP" altLang="en-US" sz="1200" dirty="0">
                <a:solidFill>
                  <a:schemeClr val="dk1"/>
                </a:solidFill>
              </a:rPr>
              <a:t>アジア域内</a:t>
            </a:r>
            <a:r>
              <a:rPr lang="en-US" altLang="ja-JP" sz="1200" dirty="0">
                <a:solidFill>
                  <a:schemeClr val="dk1"/>
                </a:solidFill>
              </a:rPr>
              <a:t>/</a:t>
            </a:r>
            <a:r>
              <a:rPr lang="ja-JP" altLang="en-US" sz="1200" dirty="0">
                <a:solidFill>
                  <a:schemeClr val="dk1"/>
                </a:solidFill>
              </a:rPr>
              <a:t>欧州域内など、大陸間の移動を伴わない貨物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63A53BA9-4094-4DC9-A86B-96AD031F7A92}"/>
              </a:ext>
            </a:extLst>
          </p:cNvPr>
          <p:cNvSpPr/>
          <p:nvPr/>
        </p:nvSpPr>
        <p:spPr>
          <a:xfrm>
            <a:off x="5438195" y="4074832"/>
            <a:ext cx="6200737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ja-JP" altLang="en-US" sz="1200" dirty="0">
                <a:solidFill>
                  <a:schemeClr val="dk1"/>
                </a:solidFill>
              </a:rPr>
              <a:t>追加利益の稼得</a:t>
            </a:r>
            <a:endParaRPr lang="en-US" altLang="ja-JP" sz="1200" dirty="0">
              <a:solidFill>
                <a:schemeClr val="dk1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ja-JP" altLang="en-US" sz="1200" dirty="0">
                <a:solidFill>
                  <a:schemeClr val="dk1"/>
                </a:solidFill>
              </a:rPr>
              <a:t>二重投資回避（</a:t>
            </a:r>
            <a:r>
              <a:rPr lang="en-US" altLang="ja-JP" sz="1200" dirty="0">
                <a:solidFill>
                  <a:schemeClr val="dk1"/>
                </a:solidFill>
              </a:rPr>
              <a:t>WA/EA</a:t>
            </a:r>
            <a:r>
              <a:rPr lang="ja-JP" altLang="en-US" sz="1200" dirty="0">
                <a:solidFill>
                  <a:schemeClr val="dk1"/>
                </a:solidFill>
              </a:rPr>
              <a:t>の既存サービスではカバーできない域内の潜在需要を、</a:t>
            </a:r>
            <a:r>
              <a:rPr lang="en-US" altLang="ja-JP" sz="1200" dirty="0">
                <a:solidFill>
                  <a:schemeClr val="dk1"/>
                </a:solidFill>
              </a:rPr>
              <a:t>TP</a:t>
            </a:r>
            <a:r>
              <a:rPr lang="ja-JP" altLang="en-US" sz="1200" dirty="0">
                <a:solidFill>
                  <a:schemeClr val="dk1"/>
                </a:solidFill>
              </a:rPr>
              <a:t>や</a:t>
            </a:r>
            <a:r>
              <a:rPr lang="en-US" altLang="ja-JP" sz="1200" dirty="0">
                <a:solidFill>
                  <a:schemeClr val="dk1"/>
                </a:solidFill>
              </a:rPr>
              <a:t>AE</a:t>
            </a:r>
            <a:r>
              <a:rPr lang="ja-JP" altLang="en-US" sz="1200" dirty="0">
                <a:solidFill>
                  <a:schemeClr val="dk1"/>
                </a:solidFill>
              </a:rPr>
              <a:t>のサービスも活用して取り込み、新規投資を回避）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1AB6C07D-6C15-4240-9C58-FBF325D63890}"/>
              </a:ext>
            </a:extLst>
          </p:cNvPr>
          <p:cNvSpPr/>
          <p:nvPr/>
        </p:nvSpPr>
        <p:spPr>
          <a:xfrm>
            <a:off x="899927" y="4889837"/>
            <a:ext cx="936104" cy="756066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/>
            <a:r>
              <a:rPr lang="en-US" altLang="ja-JP" sz="1400" dirty="0">
                <a:solidFill>
                  <a:schemeClr val="dk1"/>
                </a:solidFill>
              </a:rPr>
              <a:t>T/S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F2B69A7A-7CAE-4252-A26C-037B57488548}"/>
              </a:ext>
            </a:extLst>
          </p:cNvPr>
          <p:cNvSpPr/>
          <p:nvPr/>
        </p:nvSpPr>
        <p:spPr>
          <a:xfrm>
            <a:off x="1897001" y="4889837"/>
            <a:ext cx="3484341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lang="ja-JP" altLang="en-US" sz="1200" dirty="0">
                <a:solidFill>
                  <a:schemeClr val="dk1"/>
                </a:solidFill>
              </a:rPr>
              <a:t>フィーダー輸送の貨物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477743E7-A436-4919-8980-0ACB5C896F32}"/>
              </a:ext>
            </a:extLst>
          </p:cNvPr>
          <p:cNvSpPr/>
          <p:nvPr/>
        </p:nvSpPr>
        <p:spPr>
          <a:xfrm>
            <a:off x="5438195" y="4889837"/>
            <a:ext cx="6200737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171450" indent="-171450">
              <a:buFont typeface="Arial" panose="020B0604020202020204" pitchFamily="34" charset="0"/>
              <a:buChar char="-"/>
            </a:pPr>
            <a:r>
              <a:rPr lang="en-US" altLang="ja-JP" sz="1200" dirty="0">
                <a:solidFill>
                  <a:schemeClr val="tx1"/>
                </a:solidFill>
              </a:rPr>
              <a:t>Third Party</a:t>
            </a:r>
            <a:r>
              <a:rPr lang="ja-JP" altLang="en-US" sz="1200" dirty="0">
                <a:solidFill>
                  <a:schemeClr val="tx1"/>
                </a:solidFill>
              </a:rPr>
              <a:t>への資金流出を回避するとともに、追加利益を稼得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AEFF5C22-BF86-4632-909E-0758F7271514}"/>
              </a:ext>
            </a:extLst>
          </p:cNvPr>
          <p:cNvSpPr/>
          <p:nvPr/>
        </p:nvSpPr>
        <p:spPr>
          <a:xfrm>
            <a:off x="899927" y="5704842"/>
            <a:ext cx="936104" cy="756066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/>
            <a:r>
              <a:rPr lang="en-US" altLang="ja-JP" sz="1400" dirty="0">
                <a:solidFill>
                  <a:schemeClr val="dk1"/>
                </a:solidFill>
              </a:rPr>
              <a:t>MT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94893179-B144-44C7-A63D-609B28CB3939}"/>
              </a:ext>
            </a:extLst>
          </p:cNvPr>
          <p:cNvSpPr/>
          <p:nvPr/>
        </p:nvSpPr>
        <p:spPr>
          <a:xfrm>
            <a:off x="1897001" y="5704842"/>
            <a:ext cx="3484341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chemeClr val="dk1"/>
                </a:solidFill>
              </a:rPr>
              <a:t>空コンテナ</a:t>
            </a:r>
            <a:endParaRPr lang="en-US" altLang="ja-JP" sz="1200" dirty="0">
              <a:solidFill>
                <a:schemeClr val="dk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ja-JP" sz="1050" dirty="0">
                <a:solidFill>
                  <a:schemeClr val="dk1"/>
                </a:solidFill>
              </a:rPr>
              <a:t>* </a:t>
            </a:r>
            <a:r>
              <a:rPr lang="ja-JP" altLang="en-US" sz="1050" dirty="0">
                <a:solidFill>
                  <a:schemeClr val="dk1"/>
                </a:solidFill>
              </a:rPr>
              <a:t>船舶とともにサービス提供の前提となる公共財であり、</a:t>
            </a:r>
            <a:r>
              <a:rPr lang="en-US" altLang="ja-JP" sz="1050" dirty="0">
                <a:solidFill>
                  <a:schemeClr val="dk1"/>
                </a:solidFill>
              </a:rPr>
              <a:t>Dynamic</a:t>
            </a:r>
            <a:r>
              <a:rPr lang="ja-JP" altLang="en-US" sz="1050" dirty="0">
                <a:solidFill>
                  <a:schemeClr val="dk1"/>
                </a:solidFill>
              </a:rPr>
              <a:t>に需要地へ最適配置すべきもの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5" name="矢印: 五方向 24">
            <a:extLst>
              <a:ext uri="{FF2B5EF4-FFF2-40B4-BE49-F238E27FC236}">
                <a16:creationId xmlns:a16="http://schemas.microsoft.com/office/drawing/2014/main" id="{BC79CF59-E78F-4247-B8E6-0BC758790D6F}"/>
              </a:ext>
            </a:extLst>
          </p:cNvPr>
          <p:cNvSpPr/>
          <p:nvPr/>
        </p:nvSpPr>
        <p:spPr>
          <a:xfrm>
            <a:off x="5438195" y="5704842"/>
            <a:ext cx="6200737" cy="756066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171450" indent="-171450">
              <a:buFont typeface="Arial" panose="020B0604020202020204" pitchFamily="34" charset="0"/>
              <a:buChar char="-"/>
            </a:pPr>
            <a:r>
              <a:rPr lang="en-US" altLang="ja-JP" sz="1200" dirty="0">
                <a:solidFill>
                  <a:schemeClr val="dk1"/>
                </a:solidFill>
              </a:rPr>
              <a:t>MT</a:t>
            </a:r>
            <a:r>
              <a:rPr lang="ja-JP" altLang="en-US" sz="1200" dirty="0">
                <a:solidFill>
                  <a:schemeClr val="dk1"/>
                </a:solidFill>
              </a:rPr>
              <a:t>の運搬自体は利益を生まないが、需要地における機会損失を回避（運搬先で見込まれる利益の逸失を回避）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8AD05C25-42CC-4603-BD5D-1E68E1E684A4}"/>
              </a:ext>
            </a:extLst>
          </p:cNvPr>
          <p:cNvSpPr/>
          <p:nvPr/>
        </p:nvSpPr>
        <p:spPr>
          <a:xfrm>
            <a:off x="2787035" y="2653358"/>
            <a:ext cx="1704273" cy="230112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dk1"/>
                </a:solidFill>
              </a:rPr>
              <a:t>(</a:t>
            </a:r>
            <a:r>
              <a:rPr lang="ja-JP" altLang="en-US" sz="1400" dirty="0">
                <a:solidFill>
                  <a:schemeClr val="dk1"/>
                </a:solidFill>
              </a:rPr>
              <a:t>定義</a:t>
            </a:r>
            <a:r>
              <a:rPr lang="en-US" altLang="ja-JP" sz="1400" dirty="0">
                <a:solidFill>
                  <a:schemeClr val="dk1"/>
                </a:solidFill>
              </a:rPr>
              <a:t>)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矢印: 五方向 31">
            <a:extLst>
              <a:ext uri="{FF2B5EF4-FFF2-40B4-BE49-F238E27FC236}">
                <a16:creationId xmlns:a16="http://schemas.microsoft.com/office/drawing/2014/main" id="{CB6BFE2F-6F29-4AE9-B3DD-4FB40B9A6827}"/>
              </a:ext>
            </a:extLst>
          </p:cNvPr>
          <p:cNvSpPr/>
          <p:nvPr/>
        </p:nvSpPr>
        <p:spPr>
          <a:xfrm>
            <a:off x="7290950" y="2653358"/>
            <a:ext cx="2495226" cy="230112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dk1"/>
                </a:solidFill>
              </a:rPr>
              <a:t>(</a:t>
            </a:r>
            <a:r>
              <a:rPr lang="ja-JP" altLang="en-US" sz="1400" dirty="0">
                <a:solidFill>
                  <a:schemeClr val="dk1"/>
                </a:solidFill>
              </a:rPr>
              <a:t>目的適合性</a:t>
            </a:r>
            <a:r>
              <a:rPr lang="en-US" altLang="ja-JP" sz="1400" dirty="0">
                <a:solidFill>
                  <a:schemeClr val="dk1"/>
                </a:solidFill>
              </a:rPr>
              <a:t>)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9F7D4826-0181-4AF5-8308-DE2E80069E01}"/>
              </a:ext>
            </a:extLst>
          </p:cNvPr>
          <p:cNvSpPr/>
          <p:nvPr/>
        </p:nvSpPr>
        <p:spPr>
          <a:xfrm>
            <a:off x="970452" y="2653358"/>
            <a:ext cx="795055" cy="230112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dk1"/>
                </a:solidFill>
              </a:rPr>
              <a:t>(</a:t>
            </a:r>
            <a:r>
              <a:rPr lang="ja-JP" altLang="en-US" sz="1400" dirty="0">
                <a:solidFill>
                  <a:schemeClr val="dk1"/>
                </a:solidFill>
              </a:rPr>
              <a:t>種別</a:t>
            </a:r>
            <a:r>
              <a:rPr lang="en-US" altLang="ja-JP" sz="1400" dirty="0">
                <a:solidFill>
                  <a:schemeClr val="dk1"/>
                </a:solidFill>
              </a:rPr>
              <a:t>)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矢印: 五方向 33">
            <a:extLst>
              <a:ext uri="{FF2B5EF4-FFF2-40B4-BE49-F238E27FC236}">
                <a16:creationId xmlns:a16="http://schemas.microsoft.com/office/drawing/2014/main" id="{946B0295-E8DF-4A54-8F13-4080F906D193}"/>
              </a:ext>
            </a:extLst>
          </p:cNvPr>
          <p:cNvSpPr/>
          <p:nvPr/>
        </p:nvSpPr>
        <p:spPr>
          <a:xfrm>
            <a:off x="459910" y="989836"/>
            <a:ext cx="2191133" cy="266755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</a:rPr>
              <a:t>大目的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C1107E7-68AC-4E4C-B40E-539F01A83CAB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3BFD7A4-B6B3-4DAD-9E68-D88F38C52889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18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273C82F0-AB5C-4E1D-98A2-7568168E3D8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381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273C82F0-AB5C-4E1D-98A2-7568168E3D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8362B909-2757-416C-BC42-810964F07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目指すべき姿 </a:t>
            </a:r>
            <a:r>
              <a:rPr kumimoji="1" lang="en-US" altLang="ja-JP" dirty="0"/>
              <a:t>(</a:t>
            </a:r>
            <a:r>
              <a:rPr kumimoji="1" lang="ja-JP" altLang="en-US" dirty="0"/>
              <a:t>目的達成後のイメージ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45D768-78C3-45AD-8285-94F63EFA26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70" name="テキスト プレースホルダー 69">
            <a:extLst>
              <a:ext uri="{FF2B5EF4-FFF2-40B4-BE49-F238E27FC236}">
                <a16:creationId xmlns:a16="http://schemas.microsoft.com/office/drawing/2014/main" id="{526E5E35-8A5A-4F12-A8F7-521560365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800" dirty="0">
                <a:solidFill>
                  <a:schemeClr val="tx1"/>
                </a:solidFill>
              </a:rPr>
              <a:t>公共財</a:t>
            </a:r>
            <a:r>
              <a:rPr lang="en-US" altLang="ja-JP" sz="1800" dirty="0">
                <a:solidFill>
                  <a:schemeClr val="tx1"/>
                </a:solidFill>
              </a:rPr>
              <a:t>(</a:t>
            </a:r>
            <a:r>
              <a:rPr lang="ja-JP" altLang="en-US" sz="1800" dirty="0">
                <a:solidFill>
                  <a:schemeClr val="tx1"/>
                </a:solidFill>
              </a:rPr>
              <a:t>全社経営資源</a:t>
            </a:r>
            <a:r>
              <a:rPr lang="en-US" altLang="ja-JP" sz="1800" dirty="0">
                <a:solidFill>
                  <a:schemeClr val="tx1"/>
                </a:solidFill>
              </a:rPr>
              <a:t>)</a:t>
            </a:r>
            <a:r>
              <a:rPr lang="ja-JP" altLang="en-US" sz="1800" dirty="0">
                <a:solidFill>
                  <a:schemeClr val="tx1"/>
                </a:solidFill>
              </a:rPr>
              <a:t>であるスペースを組織の枠を超えて</a:t>
            </a:r>
            <a:r>
              <a:rPr lang="ja-JP" altLang="en-US" dirty="0">
                <a:solidFill>
                  <a:schemeClr val="tx1"/>
                </a:solidFill>
              </a:rPr>
              <a:t>最大限</a:t>
            </a:r>
            <a:r>
              <a:rPr lang="ja-JP" altLang="en-US" sz="1800" dirty="0">
                <a:solidFill>
                  <a:schemeClr val="tx1"/>
                </a:solidFill>
              </a:rPr>
              <a:t>活用</a:t>
            </a:r>
            <a:r>
              <a:rPr lang="ja-JP" altLang="en-US" dirty="0">
                <a:solidFill>
                  <a:schemeClr val="tx1"/>
                </a:solidFill>
              </a:rPr>
              <a:t>。最終仕向港ベースでの消席率≧</a:t>
            </a:r>
            <a:r>
              <a:rPr lang="en-US" altLang="ja-JP" dirty="0">
                <a:solidFill>
                  <a:schemeClr val="tx1"/>
                </a:solidFill>
              </a:rPr>
              <a:t>100%</a:t>
            </a:r>
            <a:r>
              <a:rPr lang="ja-JP" altLang="en-US" dirty="0">
                <a:solidFill>
                  <a:schemeClr val="tx1"/>
                </a:solidFill>
              </a:rPr>
              <a:t>は必達として、仕出港から最終仕向港に至るまで高い消席率を維持</a:t>
            </a:r>
            <a:endParaRPr lang="ja-JP" altLang="en-US" sz="1800" dirty="0">
              <a:solidFill>
                <a:schemeClr val="tx1"/>
              </a:solidFill>
            </a:endParaRPr>
          </a:p>
        </p:txBody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FDDE3C75-94C2-4A31-9A69-76DE86266E52}"/>
              </a:ext>
            </a:extLst>
          </p:cNvPr>
          <p:cNvSpPr/>
          <p:nvPr/>
        </p:nvSpPr>
        <p:spPr>
          <a:xfrm>
            <a:off x="1959807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4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Introduction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E5BEB21-08C6-4174-82FE-57FB8D482A45}"/>
              </a:ext>
            </a:extLst>
          </p:cNvPr>
          <p:cNvGrpSpPr/>
          <p:nvPr/>
        </p:nvGrpSpPr>
        <p:grpSpPr>
          <a:xfrm>
            <a:off x="1642007" y="2373063"/>
            <a:ext cx="9358054" cy="3312000"/>
            <a:chOff x="1642007" y="2349000"/>
            <a:chExt cx="9358054" cy="3312000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F0ACD3E9-708E-46E0-9BCE-87EE2999359D}"/>
                </a:ext>
              </a:extLst>
            </p:cNvPr>
            <p:cNvSpPr/>
            <p:nvPr/>
          </p:nvSpPr>
          <p:spPr>
            <a:xfrm>
              <a:off x="1642008" y="2349000"/>
              <a:ext cx="6120000" cy="2952000"/>
            </a:xfrm>
            <a:prstGeom prst="rect">
              <a:avLst/>
            </a:prstGeom>
            <a:solidFill>
              <a:srgbClr val="FDE9F4"/>
            </a:solidFill>
            <a:ln w="952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4" name="フリーフォーム: 図形 53">
              <a:extLst>
                <a:ext uri="{FF2B5EF4-FFF2-40B4-BE49-F238E27FC236}">
                  <a16:creationId xmlns:a16="http://schemas.microsoft.com/office/drawing/2014/main" id="{A5EC0320-5CEE-4948-8BAA-3308D6E80B5A}"/>
                </a:ext>
              </a:extLst>
            </p:cNvPr>
            <p:cNvSpPr/>
            <p:nvPr/>
          </p:nvSpPr>
          <p:spPr>
            <a:xfrm>
              <a:off x="1642007" y="2349000"/>
              <a:ext cx="9358054" cy="3312000"/>
            </a:xfrm>
            <a:custGeom>
              <a:avLst/>
              <a:gdLst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8000 w 9358054"/>
                <a:gd name="connsiteY6" fmla="*/ 3240000 h 3312000"/>
                <a:gd name="connsiteX7" fmla="*/ 3527351 w 9358054"/>
                <a:gd name="connsiteY7" fmla="*/ 3240000 h 3312000"/>
                <a:gd name="connsiteX8" fmla="*/ 3527351 w 9358054"/>
                <a:gd name="connsiteY8" fmla="*/ 3312000 h 3312000"/>
                <a:gd name="connsiteX9" fmla="*/ 2448001 w 9358054"/>
                <a:gd name="connsiteY9" fmla="*/ 3312000 h 3312000"/>
                <a:gd name="connsiteX10" fmla="*/ 1728001 w 9358054"/>
                <a:gd name="connsiteY10" fmla="*/ 3312000 h 3312000"/>
                <a:gd name="connsiteX11" fmla="*/ 1440000 w 9358054"/>
                <a:gd name="connsiteY11" fmla="*/ 3312000 h 3312000"/>
                <a:gd name="connsiteX12" fmla="*/ 1224000 w 9358054"/>
                <a:gd name="connsiteY12" fmla="*/ 3312000 h 3312000"/>
                <a:gd name="connsiteX13" fmla="*/ 0 w 9358054"/>
                <a:gd name="connsiteY13" fmla="*/ 3312000 h 3312000"/>
                <a:gd name="connsiteX14" fmla="*/ 0 w 9358054"/>
                <a:gd name="connsiteY14" fmla="*/ 2952000 h 3312000"/>
                <a:gd name="connsiteX15" fmla="*/ 1440000 w 9358054"/>
                <a:gd name="connsiteY15" fmla="*/ 2952000 h 3312000"/>
                <a:gd name="connsiteX16" fmla="*/ 1440000 w 9358054"/>
                <a:gd name="connsiteY16" fmla="*/ 2376000 h 3312000"/>
                <a:gd name="connsiteX17" fmla="*/ 2448001 w 9358054"/>
                <a:gd name="connsiteY17" fmla="*/ 2376000 h 3312000"/>
                <a:gd name="connsiteX18" fmla="*/ 2448001 w 9358054"/>
                <a:gd name="connsiteY18" fmla="*/ 1944000 h 3312000"/>
                <a:gd name="connsiteX19" fmla="*/ 3527351 w 9358054"/>
                <a:gd name="connsiteY19" fmla="*/ 1944000 h 3312000"/>
                <a:gd name="connsiteX20" fmla="*/ 3527351 w 9358054"/>
                <a:gd name="connsiteY20" fmla="*/ 2016000 h 3312000"/>
                <a:gd name="connsiteX21" fmla="*/ 3528000 w 9358054"/>
                <a:gd name="connsiteY21" fmla="*/ 2016000 h 3312000"/>
                <a:gd name="connsiteX22" fmla="*/ 3528000 w 9358054"/>
                <a:gd name="connsiteY22" fmla="*/ 1224000 h 3312000"/>
                <a:gd name="connsiteX23" fmla="*/ 4752000 w 9358054"/>
                <a:gd name="connsiteY23" fmla="*/ 1224000 h 3312000"/>
                <a:gd name="connsiteX24" fmla="*/ 4752000 w 9358054"/>
                <a:gd name="connsiteY24" fmla="*/ 432000 h 3312000"/>
                <a:gd name="connsiteX25" fmla="*/ 6120000 w 9358054"/>
                <a:gd name="connsiteY25" fmla="*/ 43200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8000 w 9358054"/>
                <a:gd name="connsiteY6" fmla="*/ 3240000 h 3312000"/>
                <a:gd name="connsiteX7" fmla="*/ 3527351 w 9358054"/>
                <a:gd name="connsiteY7" fmla="*/ 3240000 h 3312000"/>
                <a:gd name="connsiteX8" fmla="*/ 3527351 w 9358054"/>
                <a:gd name="connsiteY8" fmla="*/ 3312000 h 3312000"/>
                <a:gd name="connsiteX9" fmla="*/ 2448001 w 9358054"/>
                <a:gd name="connsiteY9" fmla="*/ 3312000 h 3312000"/>
                <a:gd name="connsiteX10" fmla="*/ 1728001 w 9358054"/>
                <a:gd name="connsiteY10" fmla="*/ 3312000 h 3312000"/>
                <a:gd name="connsiteX11" fmla="*/ 1440000 w 9358054"/>
                <a:gd name="connsiteY11" fmla="*/ 3312000 h 3312000"/>
                <a:gd name="connsiteX12" fmla="*/ 1224000 w 9358054"/>
                <a:gd name="connsiteY12" fmla="*/ 3312000 h 3312000"/>
                <a:gd name="connsiteX13" fmla="*/ 0 w 9358054"/>
                <a:gd name="connsiteY13" fmla="*/ 3312000 h 3312000"/>
                <a:gd name="connsiteX14" fmla="*/ 0 w 9358054"/>
                <a:gd name="connsiteY14" fmla="*/ 2952000 h 3312000"/>
                <a:gd name="connsiteX15" fmla="*/ 1440000 w 9358054"/>
                <a:gd name="connsiteY15" fmla="*/ 2952000 h 3312000"/>
                <a:gd name="connsiteX16" fmla="*/ 1440000 w 9358054"/>
                <a:gd name="connsiteY16" fmla="*/ 2376000 h 3312000"/>
                <a:gd name="connsiteX17" fmla="*/ 2448001 w 9358054"/>
                <a:gd name="connsiteY17" fmla="*/ 2376000 h 3312000"/>
                <a:gd name="connsiteX18" fmla="*/ 2448001 w 9358054"/>
                <a:gd name="connsiteY18" fmla="*/ 1944000 h 3312000"/>
                <a:gd name="connsiteX19" fmla="*/ 3527351 w 9358054"/>
                <a:gd name="connsiteY19" fmla="*/ 1944000 h 3312000"/>
                <a:gd name="connsiteX20" fmla="*/ 3527351 w 9358054"/>
                <a:gd name="connsiteY20" fmla="*/ 2016000 h 3312000"/>
                <a:gd name="connsiteX21" fmla="*/ 3528000 w 9358054"/>
                <a:gd name="connsiteY21" fmla="*/ 1224000 h 3312000"/>
                <a:gd name="connsiteX22" fmla="*/ 4752000 w 9358054"/>
                <a:gd name="connsiteY22" fmla="*/ 1224000 h 3312000"/>
                <a:gd name="connsiteX23" fmla="*/ 4752000 w 9358054"/>
                <a:gd name="connsiteY23" fmla="*/ 432000 h 3312000"/>
                <a:gd name="connsiteX24" fmla="*/ 6120000 w 9358054"/>
                <a:gd name="connsiteY24" fmla="*/ 432000 h 3312000"/>
                <a:gd name="connsiteX25" fmla="*/ 6120000 w 9358054"/>
                <a:gd name="connsiteY25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8000 w 9358054"/>
                <a:gd name="connsiteY6" fmla="*/ 3240000 h 3312000"/>
                <a:gd name="connsiteX7" fmla="*/ 3527351 w 9358054"/>
                <a:gd name="connsiteY7" fmla="*/ 3240000 h 3312000"/>
                <a:gd name="connsiteX8" fmla="*/ 3527351 w 9358054"/>
                <a:gd name="connsiteY8" fmla="*/ 3312000 h 3312000"/>
                <a:gd name="connsiteX9" fmla="*/ 2448001 w 9358054"/>
                <a:gd name="connsiteY9" fmla="*/ 3312000 h 3312000"/>
                <a:gd name="connsiteX10" fmla="*/ 1728001 w 9358054"/>
                <a:gd name="connsiteY10" fmla="*/ 3312000 h 3312000"/>
                <a:gd name="connsiteX11" fmla="*/ 1440000 w 9358054"/>
                <a:gd name="connsiteY11" fmla="*/ 3312000 h 3312000"/>
                <a:gd name="connsiteX12" fmla="*/ 1224000 w 9358054"/>
                <a:gd name="connsiteY12" fmla="*/ 3312000 h 3312000"/>
                <a:gd name="connsiteX13" fmla="*/ 0 w 9358054"/>
                <a:gd name="connsiteY13" fmla="*/ 3312000 h 3312000"/>
                <a:gd name="connsiteX14" fmla="*/ 0 w 9358054"/>
                <a:gd name="connsiteY14" fmla="*/ 2952000 h 3312000"/>
                <a:gd name="connsiteX15" fmla="*/ 1440000 w 9358054"/>
                <a:gd name="connsiteY15" fmla="*/ 2952000 h 3312000"/>
                <a:gd name="connsiteX16" fmla="*/ 1440000 w 9358054"/>
                <a:gd name="connsiteY16" fmla="*/ 2376000 h 3312000"/>
                <a:gd name="connsiteX17" fmla="*/ 2448001 w 9358054"/>
                <a:gd name="connsiteY17" fmla="*/ 2376000 h 3312000"/>
                <a:gd name="connsiteX18" fmla="*/ 2448001 w 9358054"/>
                <a:gd name="connsiteY18" fmla="*/ 1944000 h 3312000"/>
                <a:gd name="connsiteX19" fmla="*/ 3527351 w 9358054"/>
                <a:gd name="connsiteY19" fmla="*/ 1944000 h 3312000"/>
                <a:gd name="connsiteX20" fmla="*/ 3528000 w 9358054"/>
                <a:gd name="connsiteY20" fmla="*/ 1224000 h 3312000"/>
                <a:gd name="connsiteX21" fmla="*/ 4752000 w 9358054"/>
                <a:gd name="connsiteY21" fmla="*/ 1224000 h 3312000"/>
                <a:gd name="connsiteX22" fmla="*/ 4752000 w 9358054"/>
                <a:gd name="connsiteY22" fmla="*/ 432000 h 3312000"/>
                <a:gd name="connsiteX23" fmla="*/ 6120000 w 9358054"/>
                <a:gd name="connsiteY23" fmla="*/ 432000 h 3312000"/>
                <a:gd name="connsiteX24" fmla="*/ 6120000 w 9358054"/>
                <a:gd name="connsiteY24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8000 w 9358054"/>
                <a:gd name="connsiteY6" fmla="*/ 3240000 h 3312000"/>
                <a:gd name="connsiteX7" fmla="*/ 3527351 w 9358054"/>
                <a:gd name="connsiteY7" fmla="*/ 3312000 h 3312000"/>
                <a:gd name="connsiteX8" fmla="*/ 2448001 w 9358054"/>
                <a:gd name="connsiteY8" fmla="*/ 3312000 h 3312000"/>
                <a:gd name="connsiteX9" fmla="*/ 1728001 w 9358054"/>
                <a:gd name="connsiteY9" fmla="*/ 3312000 h 3312000"/>
                <a:gd name="connsiteX10" fmla="*/ 1440000 w 9358054"/>
                <a:gd name="connsiteY10" fmla="*/ 3312000 h 3312000"/>
                <a:gd name="connsiteX11" fmla="*/ 1224000 w 9358054"/>
                <a:gd name="connsiteY11" fmla="*/ 3312000 h 3312000"/>
                <a:gd name="connsiteX12" fmla="*/ 0 w 9358054"/>
                <a:gd name="connsiteY12" fmla="*/ 3312000 h 3312000"/>
                <a:gd name="connsiteX13" fmla="*/ 0 w 9358054"/>
                <a:gd name="connsiteY13" fmla="*/ 2952000 h 3312000"/>
                <a:gd name="connsiteX14" fmla="*/ 1440000 w 9358054"/>
                <a:gd name="connsiteY14" fmla="*/ 2952000 h 3312000"/>
                <a:gd name="connsiteX15" fmla="*/ 1440000 w 9358054"/>
                <a:gd name="connsiteY15" fmla="*/ 2376000 h 3312000"/>
                <a:gd name="connsiteX16" fmla="*/ 2448001 w 9358054"/>
                <a:gd name="connsiteY16" fmla="*/ 2376000 h 3312000"/>
                <a:gd name="connsiteX17" fmla="*/ 2448001 w 9358054"/>
                <a:gd name="connsiteY17" fmla="*/ 1944000 h 3312000"/>
                <a:gd name="connsiteX18" fmla="*/ 3527351 w 9358054"/>
                <a:gd name="connsiteY18" fmla="*/ 1944000 h 3312000"/>
                <a:gd name="connsiteX19" fmla="*/ 3528000 w 9358054"/>
                <a:gd name="connsiteY19" fmla="*/ 1224000 h 3312000"/>
                <a:gd name="connsiteX20" fmla="*/ 4752000 w 9358054"/>
                <a:gd name="connsiteY20" fmla="*/ 1224000 h 3312000"/>
                <a:gd name="connsiteX21" fmla="*/ 4752000 w 9358054"/>
                <a:gd name="connsiteY21" fmla="*/ 432000 h 3312000"/>
                <a:gd name="connsiteX22" fmla="*/ 6120000 w 9358054"/>
                <a:gd name="connsiteY22" fmla="*/ 432000 h 3312000"/>
                <a:gd name="connsiteX23" fmla="*/ 6120000 w 9358054"/>
                <a:gd name="connsiteY23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7351 w 9358054"/>
                <a:gd name="connsiteY6" fmla="*/ 3312000 h 3312000"/>
                <a:gd name="connsiteX7" fmla="*/ 2448001 w 9358054"/>
                <a:gd name="connsiteY7" fmla="*/ 3312000 h 3312000"/>
                <a:gd name="connsiteX8" fmla="*/ 1728001 w 9358054"/>
                <a:gd name="connsiteY8" fmla="*/ 3312000 h 3312000"/>
                <a:gd name="connsiteX9" fmla="*/ 1440000 w 9358054"/>
                <a:gd name="connsiteY9" fmla="*/ 3312000 h 3312000"/>
                <a:gd name="connsiteX10" fmla="*/ 1224000 w 9358054"/>
                <a:gd name="connsiteY10" fmla="*/ 3312000 h 3312000"/>
                <a:gd name="connsiteX11" fmla="*/ 0 w 9358054"/>
                <a:gd name="connsiteY11" fmla="*/ 3312000 h 3312000"/>
                <a:gd name="connsiteX12" fmla="*/ 0 w 9358054"/>
                <a:gd name="connsiteY12" fmla="*/ 2952000 h 3312000"/>
                <a:gd name="connsiteX13" fmla="*/ 1440000 w 9358054"/>
                <a:gd name="connsiteY13" fmla="*/ 2952000 h 3312000"/>
                <a:gd name="connsiteX14" fmla="*/ 1440000 w 9358054"/>
                <a:gd name="connsiteY14" fmla="*/ 2376000 h 3312000"/>
                <a:gd name="connsiteX15" fmla="*/ 2448001 w 9358054"/>
                <a:gd name="connsiteY15" fmla="*/ 2376000 h 3312000"/>
                <a:gd name="connsiteX16" fmla="*/ 2448001 w 9358054"/>
                <a:gd name="connsiteY16" fmla="*/ 1944000 h 3312000"/>
                <a:gd name="connsiteX17" fmla="*/ 3527351 w 9358054"/>
                <a:gd name="connsiteY17" fmla="*/ 1944000 h 3312000"/>
                <a:gd name="connsiteX18" fmla="*/ 3528000 w 9358054"/>
                <a:gd name="connsiteY18" fmla="*/ 1224000 h 3312000"/>
                <a:gd name="connsiteX19" fmla="*/ 4752000 w 9358054"/>
                <a:gd name="connsiteY19" fmla="*/ 1224000 h 3312000"/>
                <a:gd name="connsiteX20" fmla="*/ 4752000 w 9358054"/>
                <a:gd name="connsiteY20" fmla="*/ 432000 h 3312000"/>
                <a:gd name="connsiteX21" fmla="*/ 6120000 w 9358054"/>
                <a:gd name="connsiteY21" fmla="*/ 432000 h 3312000"/>
                <a:gd name="connsiteX22" fmla="*/ 6120000 w 9358054"/>
                <a:gd name="connsiteY22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7351 w 9358054"/>
                <a:gd name="connsiteY6" fmla="*/ 3312000 h 3312000"/>
                <a:gd name="connsiteX7" fmla="*/ 2448001 w 9358054"/>
                <a:gd name="connsiteY7" fmla="*/ 3312000 h 3312000"/>
                <a:gd name="connsiteX8" fmla="*/ 1728001 w 9358054"/>
                <a:gd name="connsiteY8" fmla="*/ 3312000 h 3312000"/>
                <a:gd name="connsiteX9" fmla="*/ 1224000 w 9358054"/>
                <a:gd name="connsiteY9" fmla="*/ 3312000 h 3312000"/>
                <a:gd name="connsiteX10" fmla="*/ 0 w 9358054"/>
                <a:gd name="connsiteY10" fmla="*/ 3312000 h 3312000"/>
                <a:gd name="connsiteX11" fmla="*/ 0 w 9358054"/>
                <a:gd name="connsiteY11" fmla="*/ 2952000 h 3312000"/>
                <a:gd name="connsiteX12" fmla="*/ 1440000 w 9358054"/>
                <a:gd name="connsiteY12" fmla="*/ 2952000 h 3312000"/>
                <a:gd name="connsiteX13" fmla="*/ 1440000 w 9358054"/>
                <a:gd name="connsiteY13" fmla="*/ 2376000 h 3312000"/>
                <a:gd name="connsiteX14" fmla="*/ 2448001 w 9358054"/>
                <a:gd name="connsiteY14" fmla="*/ 2376000 h 3312000"/>
                <a:gd name="connsiteX15" fmla="*/ 2448001 w 9358054"/>
                <a:gd name="connsiteY15" fmla="*/ 1944000 h 3312000"/>
                <a:gd name="connsiteX16" fmla="*/ 3527351 w 9358054"/>
                <a:gd name="connsiteY16" fmla="*/ 1944000 h 3312000"/>
                <a:gd name="connsiteX17" fmla="*/ 3528000 w 9358054"/>
                <a:gd name="connsiteY17" fmla="*/ 1224000 h 3312000"/>
                <a:gd name="connsiteX18" fmla="*/ 4752000 w 9358054"/>
                <a:gd name="connsiteY18" fmla="*/ 1224000 h 3312000"/>
                <a:gd name="connsiteX19" fmla="*/ 4752000 w 9358054"/>
                <a:gd name="connsiteY19" fmla="*/ 432000 h 3312000"/>
                <a:gd name="connsiteX20" fmla="*/ 6120000 w 9358054"/>
                <a:gd name="connsiteY20" fmla="*/ 432000 h 3312000"/>
                <a:gd name="connsiteX21" fmla="*/ 6120000 w 9358054"/>
                <a:gd name="connsiteY21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7351 w 9358054"/>
                <a:gd name="connsiteY6" fmla="*/ 3312000 h 3312000"/>
                <a:gd name="connsiteX7" fmla="*/ 2448001 w 9358054"/>
                <a:gd name="connsiteY7" fmla="*/ 3312000 h 3312000"/>
                <a:gd name="connsiteX8" fmla="*/ 1224000 w 9358054"/>
                <a:gd name="connsiteY8" fmla="*/ 3312000 h 3312000"/>
                <a:gd name="connsiteX9" fmla="*/ 0 w 9358054"/>
                <a:gd name="connsiteY9" fmla="*/ 3312000 h 3312000"/>
                <a:gd name="connsiteX10" fmla="*/ 0 w 9358054"/>
                <a:gd name="connsiteY10" fmla="*/ 2952000 h 3312000"/>
                <a:gd name="connsiteX11" fmla="*/ 1440000 w 9358054"/>
                <a:gd name="connsiteY11" fmla="*/ 2952000 h 3312000"/>
                <a:gd name="connsiteX12" fmla="*/ 1440000 w 9358054"/>
                <a:gd name="connsiteY12" fmla="*/ 2376000 h 3312000"/>
                <a:gd name="connsiteX13" fmla="*/ 2448001 w 9358054"/>
                <a:gd name="connsiteY13" fmla="*/ 2376000 h 3312000"/>
                <a:gd name="connsiteX14" fmla="*/ 2448001 w 9358054"/>
                <a:gd name="connsiteY14" fmla="*/ 1944000 h 3312000"/>
                <a:gd name="connsiteX15" fmla="*/ 3527351 w 9358054"/>
                <a:gd name="connsiteY15" fmla="*/ 1944000 h 3312000"/>
                <a:gd name="connsiteX16" fmla="*/ 3528000 w 9358054"/>
                <a:gd name="connsiteY16" fmla="*/ 1224000 h 3312000"/>
                <a:gd name="connsiteX17" fmla="*/ 4752000 w 9358054"/>
                <a:gd name="connsiteY17" fmla="*/ 1224000 h 3312000"/>
                <a:gd name="connsiteX18" fmla="*/ 4752000 w 9358054"/>
                <a:gd name="connsiteY18" fmla="*/ 432000 h 3312000"/>
                <a:gd name="connsiteX19" fmla="*/ 6120000 w 9358054"/>
                <a:gd name="connsiteY19" fmla="*/ 432000 h 3312000"/>
                <a:gd name="connsiteX20" fmla="*/ 6120000 w 9358054"/>
                <a:gd name="connsiteY20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7351 w 9358054"/>
                <a:gd name="connsiteY6" fmla="*/ 3312000 h 3312000"/>
                <a:gd name="connsiteX7" fmla="*/ 2448001 w 9358054"/>
                <a:gd name="connsiteY7" fmla="*/ 3312000 h 3312000"/>
                <a:gd name="connsiteX8" fmla="*/ 0 w 9358054"/>
                <a:gd name="connsiteY8" fmla="*/ 3312000 h 3312000"/>
                <a:gd name="connsiteX9" fmla="*/ 0 w 9358054"/>
                <a:gd name="connsiteY9" fmla="*/ 2952000 h 3312000"/>
                <a:gd name="connsiteX10" fmla="*/ 1440000 w 9358054"/>
                <a:gd name="connsiteY10" fmla="*/ 2952000 h 3312000"/>
                <a:gd name="connsiteX11" fmla="*/ 1440000 w 9358054"/>
                <a:gd name="connsiteY11" fmla="*/ 2376000 h 3312000"/>
                <a:gd name="connsiteX12" fmla="*/ 2448001 w 9358054"/>
                <a:gd name="connsiteY12" fmla="*/ 2376000 h 3312000"/>
                <a:gd name="connsiteX13" fmla="*/ 2448001 w 9358054"/>
                <a:gd name="connsiteY13" fmla="*/ 1944000 h 3312000"/>
                <a:gd name="connsiteX14" fmla="*/ 3527351 w 9358054"/>
                <a:gd name="connsiteY14" fmla="*/ 1944000 h 3312000"/>
                <a:gd name="connsiteX15" fmla="*/ 3528000 w 9358054"/>
                <a:gd name="connsiteY15" fmla="*/ 1224000 h 3312000"/>
                <a:gd name="connsiteX16" fmla="*/ 4752000 w 9358054"/>
                <a:gd name="connsiteY16" fmla="*/ 1224000 h 3312000"/>
                <a:gd name="connsiteX17" fmla="*/ 4752000 w 9358054"/>
                <a:gd name="connsiteY17" fmla="*/ 432000 h 3312000"/>
                <a:gd name="connsiteX18" fmla="*/ 6120000 w 9358054"/>
                <a:gd name="connsiteY18" fmla="*/ 432000 h 3312000"/>
                <a:gd name="connsiteX19" fmla="*/ 6120000 w 9358054"/>
                <a:gd name="connsiteY19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3527351 w 9358054"/>
                <a:gd name="connsiteY6" fmla="*/ 3312000 h 3312000"/>
                <a:gd name="connsiteX7" fmla="*/ 0 w 9358054"/>
                <a:gd name="connsiteY7" fmla="*/ 3312000 h 3312000"/>
                <a:gd name="connsiteX8" fmla="*/ 0 w 9358054"/>
                <a:gd name="connsiteY8" fmla="*/ 2952000 h 3312000"/>
                <a:gd name="connsiteX9" fmla="*/ 1440000 w 9358054"/>
                <a:gd name="connsiteY9" fmla="*/ 2952000 h 3312000"/>
                <a:gd name="connsiteX10" fmla="*/ 1440000 w 9358054"/>
                <a:gd name="connsiteY10" fmla="*/ 2376000 h 3312000"/>
                <a:gd name="connsiteX11" fmla="*/ 2448001 w 9358054"/>
                <a:gd name="connsiteY11" fmla="*/ 2376000 h 3312000"/>
                <a:gd name="connsiteX12" fmla="*/ 2448001 w 9358054"/>
                <a:gd name="connsiteY12" fmla="*/ 1944000 h 3312000"/>
                <a:gd name="connsiteX13" fmla="*/ 3527351 w 9358054"/>
                <a:gd name="connsiteY13" fmla="*/ 1944000 h 3312000"/>
                <a:gd name="connsiteX14" fmla="*/ 3528000 w 9358054"/>
                <a:gd name="connsiteY14" fmla="*/ 1224000 h 3312000"/>
                <a:gd name="connsiteX15" fmla="*/ 4752000 w 9358054"/>
                <a:gd name="connsiteY15" fmla="*/ 1224000 h 3312000"/>
                <a:gd name="connsiteX16" fmla="*/ 4752000 w 9358054"/>
                <a:gd name="connsiteY16" fmla="*/ 432000 h 3312000"/>
                <a:gd name="connsiteX17" fmla="*/ 6120000 w 9358054"/>
                <a:gd name="connsiteY17" fmla="*/ 432000 h 3312000"/>
                <a:gd name="connsiteX18" fmla="*/ 6120000 w 9358054"/>
                <a:gd name="connsiteY18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3528000 w 9358054"/>
                <a:gd name="connsiteY5" fmla="*/ 3312000 h 3312000"/>
                <a:gd name="connsiteX6" fmla="*/ 0 w 9358054"/>
                <a:gd name="connsiteY6" fmla="*/ 3312000 h 3312000"/>
                <a:gd name="connsiteX7" fmla="*/ 0 w 9358054"/>
                <a:gd name="connsiteY7" fmla="*/ 2952000 h 3312000"/>
                <a:gd name="connsiteX8" fmla="*/ 1440000 w 9358054"/>
                <a:gd name="connsiteY8" fmla="*/ 2952000 h 3312000"/>
                <a:gd name="connsiteX9" fmla="*/ 1440000 w 9358054"/>
                <a:gd name="connsiteY9" fmla="*/ 2376000 h 3312000"/>
                <a:gd name="connsiteX10" fmla="*/ 2448001 w 9358054"/>
                <a:gd name="connsiteY10" fmla="*/ 2376000 h 3312000"/>
                <a:gd name="connsiteX11" fmla="*/ 2448001 w 9358054"/>
                <a:gd name="connsiteY11" fmla="*/ 1944000 h 3312000"/>
                <a:gd name="connsiteX12" fmla="*/ 3527351 w 9358054"/>
                <a:gd name="connsiteY12" fmla="*/ 1944000 h 3312000"/>
                <a:gd name="connsiteX13" fmla="*/ 3528000 w 9358054"/>
                <a:gd name="connsiteY13" fmla="*/ 1224000 h 3312000"/>
                <a:gd name="connsiteX14" fmla="*/ 4752000 w 9358054"/>
                <a:gd name="connsiteY14" fmla="*/ 1224000 h 3312000"/>
                <a:gd name="connsiteX15" fmla="*/ 4752000 w 9358054"/>
                <a:gd name="connsiteY15" fmla="*/ 432000 h 3312000"/>
                <a:gd name="connsiteX16" fmla="*/ 6120000 w 9358054"/>
                <a:gd name="connsiteY16" fmla="*/ 432000 h 3312000"/>
                <a:gd name="connsiteX17" fmla="*/ 6120000 w 9358054"/>
                <a:gd name="connsiteY17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4752000 w 9358054"/>
                <a:gd name="connsiteY4" fmla="*/ 3312000 h 3312000"/>
                <a:gd name="connsiteX5" fmla="*/ 0 w 9358054"/>
                <a:gd name="connsiteY5" fmla="*/ 3312000 h 3312000"/>
                <a:gd name="connsiteX6" fmla="*/ 0 w 9358054"/>
                <a:gd name="connsiteY6" fmla="*/ 2952000 h 3312000"/>
                <a:gd name="connsiteX7" fmla="*/ 1440000 w 9358054"/>
                <a:gd name="connsiteY7" fmla="*/ 2952000 h 3312000"/>
                <a:gd name="connsiteX8" fmla="*/ 1440000 w 9358054"/>
                <a:gd name="connsiteY8" fmla="*/ 2376000 h 3312000"/>
                <a:gd name="connsiteX9" fmla="*/ 2448001 w 9358054"/>
                <a:gd name="connsiteY9" fmla="*/ 2376000 h 3312000"/>
                <a:gd name="connsiteX10" fmla="*/ 2448001 w 9358054"/>
                <a:gd name="connsiteY10" fmla="*/ 1944000 h 3312000"/>
                <a:gd name="connsiteX11" fmla="*/ 3527351 w 9358054"/>
                <a:gd name="connsiteY11" fmla="*/ 1944000 h 3312000"/>
                <a:gd name="connsiteX12" fmla="*/ 3528000 w 9358054"/>
                <a:gd name="connsiteY12" fmla="*/ 1224000 h 3312000"/>
                <a:gd name="connsiteX13" fmla="*/ 4752000 w 9358054"/>
                <a:gd name="connsiteY13" fmla="*/ 1224000 h 3312000"/>
                <a:gd name="connsiteX14" fmla="*/ 4752000 w 9358054"/>
                <a:gd name="connsiteY14" fmla="*/ 432000 h 3312000"/>
                <a:gd name="connsiteX15" fmla="*/ 6120000 w 9358054"/>
                <a:gd name="connsiteY15" fmla="*/ 432000 h 3312000"/>
                <a:gd name="connsiteX16" fmla="*/ 6120000 w 9358054"/>
                <a:gd name="connsiteY16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6120000 w 9358054"/>
                <a:gd name="connsiteY3" fmla="*/ 3312000 h 3312000"/>
                <a:gd name="connsiteX4" fmla="*/ 0 w 9358054"/>
                <a:gd name="connsiteY4" fmla="*/ 3312000 h 3312000"/>
                <a:gd name="connsiteX5" fmla="*/ 0 w 9358054"/>
                <a:gd name="connsiteY5" fmla="*/ 2952000 h 3312000"/>
                <a:gd name="connsiteX6" fmla="*/ 1440000 w 9358054"/>
                <a:gd name="connsiteY6" fmla="*/ 2952000 h 3312000"/>
                <a:gd name="connsiteX7" fmla="*/ 1440000 w 9358054"/>
                <a:gd name="connsiteY7" fmla="*/ 2376000 h 3312000"/>
                <a:gd name="connsiteX8" fmla="*/ 2448001 w 9358054"/>
                <a:gd name="connsiteY8" fmla="*/ 2376000 h 3312000"/>
                <a:gd name="connsiteX9" fmla="*/ 2448001 w 9358054"/>
                <a:gd name="connsiteY9" fmla="*/ 1944000 h 3312000"/>
                <a:gd name="connsiteX10" fmla="*/ 3527351 w 9358054"/>
                <a:gd name="connsiteY10" fmla="*/ 1944000 h 3312000"/>
                <a:gd name="connsiteX11" fmla="*/ 3528000 w 9358054"/>
                <a:gd name="connsiteY11" fmla="*/ 1224000 h 3312000"/>
                <a:gd name="connsiteX12" fmla="*/ 4752000 w 9358054"/>
                <a:gd name="connsiteY12" fmla="*/ 1224000 h 3312000"/>
                <a:gd name="connsiteX13" fmla="*/ 4752000 w 9358054"/>
                <a:gd name="connsiteY13" fmla="*/ 432000 h 3312000"/>
                <a:gd name="connsiteX14" fmla="*/ 6120000 w 9358054"/>
                <a:gd name="connsiteY14" fmla="*/ 432000 h 3312000"/>
                <a:gd name="connsiteX15" fmla="*/ 6120000 w 9358054"/>
                <a:gd name="connsiteY15" fmla="*/ 0 h 3312000"/>
                <a:gd name="connsiteX0" fmla="*/ 6120000 w 9358054"/>
                <a:gd name="connsiteY0" fmla="*/ 0 h 3312000"/>
                <a:gd name="connsiteX1" fmla="*/ 9358054 w 9358054"/>
                <a:gd name="connsiteY1" fmla="*/ 0 h 3312000"/>
                <a:gd name="connsiteX2" fmla="*/ 9358054 w 9358054"/>
                <a:gd name="connsiteY2" fmla="*/ 3312000 h 3312000"/>
                <a:gd name="connsiteX3" fmla="*/ 0 w 9358054"/>
                <a:gd name="connsiteY3" fmla="*/ 3312000 h 3312000"/>
                <a:gd name="connsiteX4" fmla="*/ 0 w 9358054"/>
                <a:gd name="connsiteY4" fmla="*/ 2952000 h 3312000"/>
                <a:gd name="connsiteX5" fmla="*/ 1440000 w 9358054"/>
                <a:gd name="connsiteY5" fmla="*/ 2952000 h 3312000"/>
                <a:gd name="connsiteX6" fmla="*/ 1440000 w 9358054"/>
                <a:gd name="connsiteY6" fmla="*/ 2376000 h 3312000"/>
                <a:gd name="connsiteX7" fmla="*/ 2448001 w 9358054"/>
                <a:gd name="connsiteY7" fmla="*/ 2376000 h 3312000"/>
                <a:gd name="connsiteX8" fmla="*/ 2448001 w 9358054"/>
                <a:gd name="connsiteY8" fmla="*/ 1944000 h 3312000"/>
                <a:gd name="connsiteX9" fmla="*/ 3527351 w 9358054"/>
                <a:gd name="connsiteY9" fmla="*/ 1944000 h 3312000"/>
                <a:gd name="connsiteX10" fmla="*/ 3528000 w 9358054"/>
                <a:gd name="connsiteY10" fmla="*/ 1224000 h 3312000"/>
                <a:gd name="connsiteX11" fmla="*/ 4752000 w 9358054"/>
                <a:gd name="connsiteY11" fmla="*/ 1224000 h 3312000"/>
                <a:gd name="connsiteX12" fmla="*/ 4752000 w 9358054"/>
                <a:gd name="connsiteY12" fmla="*/ 432000 h 3312000"/>
                <a:gd name="connsiteX13" fmla="*/ 6120000 w 9358054"/>
                <a:gd name="connsiteY13" fmla="*/ 432000 h 3312000"/>
                <a:gd name="connsiteX14" fmla="*/ 6120000 w 9358054"/>
                <a:gd name="connsiteY14" fmla="*/ 0 h 331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358054" h="3312000">
                  <a:moveTo>
                    <a:pt x="6120000" y="0"/>
                  </a:moveTo>
                  <a:lnTo>
                    <a:pt x="9358054" y="0"/>
                  </a:lnTo>
                  <a:lnTo>
                    <a:pt x="9358054" y="3312000"/>
                  </a:lnTo>
                  <a:lnTo>
                    <a:pt x="0" y="3312000"/>
                  </a:lnTo>
                  <a:lnTo>
                    <a:pt x="0" y="2952000"/>
                  </a:lnTo>
                  <a:lnTo>
                    <a:pt x="1440000" y="2952000"/>
                  </a:lnTo>
                  <a:lnTo>
                    <a:pt x="1440000" y="2376000"/>
                  </a:lnTo>
                  <a:lnTo>
                    <a:pt x="2448001" y="2376000"/>
                  </a:lnTo>
                  <a:lnTo>
                    <a:pt x="2448001" y="1944000"/>
                  </a:lnTo>
                  <a:lnTo>
                    <a:pt x="3527351" y="1944000"/>
                  </a:lnTo>
                  <a:cubicBezTo>
                    <a:pt x="3527567" y="1704000"/>
                    <a:pt x="3527784" y="1464000"/>
                    <a:pt x="3528000" y="1224000"/>
                  </a:cubicBezTo>
                  <a:lnTo>
                    <a:pt x="4752000" y="1224000"/>
                  </a:lnTo>
                  <a:lnTo>
                    <a:pt x="4752000" y="432000"/>
                  </a:lnTo>
                  <a:lnTo>
                    <a:pt x="6120000" y="432000"/>
                  </a:lnTo>
                  <a:lnTo>
                    <a:pt x="6120000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449B120D-071D-41B5-8513-90D1A06A47A0}"/>
              </a:ext>
            </a:extLst>
          </p:cNvPr>
          <p:cNvSpPr/>
          <p:nvPr/>
        </p:nvSpPr>
        <p:spPr>
          <a:xfrm>
            <a:off x="634007" y="2301063"/>
            <a:ext cx="458459" cy="215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r>
              <a:rPr kumimoji="1" lang="en-US" altLang="ja-JP" sz="1400" b="1" dirty="0">
                <a:solidFill>
                  <a:schemeClr val="tx1"/>
                </a:solidFill>
              </a:rPr>
              <a:t>100%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3A33EB3-F066-411F-AAB2-1C277A978F51}"/>
              </a:ext>
            </a:extLst>
          </p:cNvPr>
          <p:cNvSpPr/>
          <p:nvPr/>
        </p:nvSpPr>
        <p:spPr>
          <a:xfrm>
            <a:off x="5060792" y="6204670"/>
            <a:ext cx="2521460" cy="215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ja-JP" sz="1400" b="1" dirty="0">
                <a:solidFill>
                  <a:schemeClr val="accent4"/>
                </a:solidFill>
              </a:rPr>
              <a:t>e.g. </a:t>
            </a:r>
            <a:r>
              <a:rPr lang="ja-JP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ja-JP" sz="1400" b="1" dirty="0">
                <a:solidFill>
                  <a:schemeClr val="accent4"/>
                </a:solidFill>
              </a:rPr>
              <a:t>MD1 West-bound (Domi)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0DB0979-B107-4D4F-88FF-7E4C87319C96}"/>
              </a:ext>
            </a:extLst>
          </p:cNvPr>
          <p:cNvSpPr/>
          <p:nvPr/>
        </p:nvSpPr>
        <p:spPr>
          <a:xfrm>
            <a:off x="2224602" y="3626026"/>
            <a:ext cx="2558136" cy="43088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ja-JP" altLang="en-US" sz="1400" b="1" dirty="0">
                <a:solidFill>
                  <a:schemeClr val="tx1"/>
                </a:solidFill>
              </a:rPr>
              <a:t>余剰スペースを全社（</a:t>
            </a:r>
            <a:r>
              <a:rPr kumimoji="1" lang="en-US" altLang="ja-JP" sz="1400" b="1" dirty="0">
                <a:solidFill>
                  <a:schemeClr val="tx1"/>
                </a:solidFill>
              </a:rPr>
              <a:t>Trade</a:t>
            </a:r>
            <a:r>
              <a:rPr kumimoji="1" lang="ja-JP" altLang="en-US" sz="1400" b="1" dirty="0">
                <a:solidFill>
                  <a:schemeClr val="tx1"/>
                </a:solidFill>
              </a:rPr>
              <a:t>横断）</a:t>
            </a:r>
            <a:br>
              <a:rPr kumimoji="1" lang="en-US" altLang="ja-JP" sz="1400" b="1" dirty="0">
                <a:solidFill>
                  <a:schemeClr val="tx1"/>
                </a:solidFill>
              </a:rPr>
            </a:br>
            <a:r>
              <a:rPr kumimoji="1" lang="ja-JP" altLang="en-US" sz="1400" b="1" dirty="0">
                <a:solidFill>
                  <a:schemeClr val="tx1"/>
                </a:solidFill>
              </a:rPr>
              <a:t>で有効活用</a:t>
            </a:r>
            <a:endParaRPr kumimoji="1" lang="en-US" altLang="ja-JP" sz="1400" b="1" dirty="0">
              <a:solidFill>
                <a:schemeClr val="tx1"/>
              </a:solidFill>
            </a:endParaRPr>
          </a:p>
        </p:txBody>
      </p:sp>
      <p:sp>
        <p:nvSpPr>
          <p:cNvPr id="62" name="矢印: 下 61">
            <a:extLst>
              <a:ext uri="{FF2B5EF4-FFF2-40B4-BE49-F238E27FC236}">
                <a16:creationId xmlns:a16="http://schemas.microsoft.com/office/drawing/2014/main" id="{F95C6176-6003-4BF4-AAE6-872CAB1FD411}"/>
              </a:ext>
            </a:extLst>
          </p:cNvPr>
          <p:cNvSpPr/>
          <p:nvPr/>
        </p:nvSpPr>
        <p:spPr>
          <a:xfrm>
            <a:off x="3118939" y="3362127"/>
            <a:ext cx="769463" cy="159213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E516ABBA-8096-466B-88DF-1CD18D044652}"/>
              </a:ext>
            </a:extLst>
          </p:cNvPr>
          <p:cNvSpPr/>
          <p:nvPr/>
        </p:nvSpPr>
        <p:spPr>
          <a:xfrm>
            <a:off x="850007" y="1869063"/>
            <a:ext cx="538609" cy="215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lang="ja-JP" altLang="en-US" sz="1400" b="1" dirty="0">
                <a:solidFill>
                  <a:schemeClr val="tx1"/>
                </a:solidFill>
              </a:rPr>
              <a:t>消席率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65" name="矢印: 上 64">
            <a:extLst>
              <a:ext uri="{FF2B5EF4-FFF2-40B4-BE49-F238E27FC236}">
                <a16:creationId xmlns:a16="http://schemas.microsoft.com/office/drawing/2014/main" id="{44BFBFDD-0357-40BB-9BCB-A912280220CF}"/>
              </a:ext>
            </a:extLst>
          </p:cNvPr>
          <p:cNvSpPr/>
          <p:nvPr/>
        </p:nvSpPr>
        <p:spPr>
          <a:xfrm>
            <a:off x="2518249" y="1917816"/>
            <a:ext cx="335517" cy="421410"/>
          </a:xfrm>
          <a:prstGeom prst="upArrow">
            <a:avLst>
              <a:gd name="adj1" fmla="val 60383"/>
              <a:gd name="adj2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矢印: 上 65">
            <a:extLst>
              <a:ext uri="{FF2B5EF4-FFF2-40B4-BE49-F238E27FC236}">
                <a16:creationId xmlns:a16="http://schemas.microsoft.com/office/drawing/2014/main" id="{F3F333CE-1A2D-43E1-93DC-5E2122AA00B4}"/>
              </a:ext>
            </a:extLst>
          </p:cNvPr>
          <p:cNvSpPr/>
          <p:nvPr/>
        </p:nvSpPr>
        <p:spPr>
          <a:xfrm>
            <a:off x="4546490" y="1917816"/>
            <a:ext cx="335517" cy="421410"/>
          </a:xfrm>
          <a:prstGeom prst="upArrow">
            <a:avLst>
              <a:gd name="adj1" fmla="val 60383"/>
              <a:gd name="adj2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矢印: 上 66">
            <a:extLst>
              <a:ext uri="{FF2B5EF4-FFF2-40B4-BE49-F238E27FC236}">
                <a16:creationId xmlns:a16="http://schemas.microsoft.com/office/drawing/2014/main" id="{74D8CC79-5171-4315-B475-C64F8545D8D9}"/>
              </a:ext>
            </a:extLst>
          </p:cNvPr>
          <p:cNvSpPr/>
          <p:nvPr/>
        </p:nvSpPr>
        <p:spPr>
          <a:xfrm>
            <a:off x="6550249" y="1917816"/>
            <a:ext cx="335517" cy="421410"/>
          </a:xfrm>
          <a:prstGeom prst="upArrow">
            <a:avLst>
              <a:gd name="adj1" fmla="val 60383"/>
              <a:gd name="adj2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D8FCF3A-BCEA-4337-9DF4-CAD6952654A7}"/>
              </a:ext>
            </a:extLst>
          </p:cNvPr>
          <p:cNvSpPr/>
          <p:nvPr/>
        </p:nvSpPr>
        <p:spPr>
          <a:xfrm>
            <a:off x="3401171" y="2061816"/>
            <a:ext cx="2601673" cy="184666"/>
          </a:xfrm>
          <a:prstGeom prst="rect">
            <a:avLst/>
          </a:prstGeom>
          <a:noFill/>
          <a:ln w="952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(</a:t>
            </a:r>
            <a:r>
              <a:rPr kumimoji="1" lang="ja-JP" altLang="en-US" sz="1200" dirty="0">
                <a:solidFill>
                  <a:schemeClr val="tx1"/>
                </a:solidFill>
              </a:rPr>
              <a:t>他社スペース</a:t>
            </a:r>
            <a:r>
              <a:rPr lang="ja-JP" altLang="en-US" sz="1200" dirty="0">
                <a:solidFill>
                  <a:schemeClr val="tx1"/>
                </a:solidFill>
              </a:rPr>
              <a:t>も</a:t>
            </a:r>
            <a:r>
              <a:rPr kumimoji="1" lang="en-US" altLang="ja-JP" sz="1200" dirty="0">
                <a:solidFill>
                  <a:schemeClr val="tx1"/>
                </a:solidFill>
              </a:rPr>
              <a:t>No Charge</a:t>
            </a:r>
            <a:r>
              <a:rPr kumimoji="1" lang="ja-JP" altLang="en-US" sz="1200" dirty="0">
                <a:solidFill>
                  <a:schemeClr val="tx1"/>
                </a:solidFill>
              </a:rPr>
              <a:t>で</a:t>
            </a:r>
            <a:r>
              <a:rPr lang="ja-JP" altLang="en-US" sz="1200" dirty="0">
                <a:solidFill>
                  <a:schemeClr val="tx1"/>
                </a:solidFill>
              </a:rPr>
              <a:t>利用</a:t>
            </a:r>
            <a:r>
              <a:rPr kumimoji="1" lang="ja-JP" altLang="en-US" sz="1200" dirty="0">
                <a:solidFill>
                  <a:schemeClr val="tx1"/>
                </a:solidFill>
              </a:rPr>
              <a:t>可能</a:t>
            </a:r>
            <a:r>
              <a:rPr kumimoji="1" lang="en-US" altLang="ja-JP" sz="1200" dirty="0">
                <a:solidFill>
                  <a:schemeClr val="tx1"/>
                </a:solidFill>
              </a:rPr>
              <a:t>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フリーフォーム 49">
            <a:extLst>
              <a:ext uri="{FF2B5EF4-FFF2-40B4-BE49-F238E27FC236}">
                <a16:creationId xmlns:a16="http://schemas.microsoft.com/office/drawing/2014/main" id="{FDF403A7-4FD4-49F4-8B96-C9AB3F712CA0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844396" y="2342674"/>
            <a:ext cx="191222" cy="108000"/>
          </a:xfrm>
          <a:custGeom>
            <a:avLst/>
            <a:gdLst>
              <a:gd name="connsiteX0" fmla="*/ 361125 w 1325863"/>
              <a:gd name="connsiteY0" fmla="*/ 360722 h 748834"/>
              <a:gd name="connsiteX1" fmla="*/ 708353 w 1325863"/>
              <a:gd name="connsiteY1" fmla="*/ 558328 h 748834"/>
              <a:gd name="connsiteX2" fmla="*/ 1292844 w 1325863"/>
              <a:gd name="connsiteY2" fmla="*/ 400199 h 748834"/>
              <a:gd name="connsiteX3" fmla="*/ 1325863 w 1325863"/>
              <a:gd name="connsiteY3" fmla="*/ 449492 h 748834"/>
              <a:gd name="connsiteX4" fmla="*/ 669058 w 1325863"/>
              <a:gd name="connsiteY4" fmla="*/ 622566 h 748834"/>
              <a:gd name="connsiteX5" fmla="*/ 38100 w 1325863"/>
              <a:gd name="connsiteY5" fmla="*/ 676987 h 748834"/>
              <a:gd name="connsiteX6" fmla="*/ 0 w 1325863"/>
              <a:gd name="connsiteY6" fmla="*/ 620113 h 748834"/>
              <a:gd name="connsiteX7" fmla="*/ 361125 w 1325863"/>
              <a:gd name="connsiteY7" fmla="*/ 360722 h 748834"/>
              <a:gd name="connsiteX8" fmla="*/ 361125 w 1325863"/>
              <a:gd name="connsiteY8" fmla="*/ 682 h 748834"/>
              <a:gd name="connsiteX9" fmla="*/ 708353 w 1325863"/>
              <a:gd name="connsiteY9" fmla="*/ 198288 h 748834"/>
              <a:gd name="connsiteX10" fmla="*/ 1292844 w 1325863"/>
              <a:gd name="connsiteY10" fmla="*/ 40159 h 748834"/>
              <a:gd name="connsiteX11" fmla="*/ 1325863 w 1325863"/>
              <a:gd name="connsiteY11" fmla="*/ 89452 h 748834"/>
              <a:gd name="connsiteX12" fmla="*/ 669058 w 1325863"/>
              <a:gd name="connsiteY12" fmla="*/ 262526 h 748834"/>
              <a:gd name="connsiteX13" fmla="*/ 38100 w 1325863"/>
              <a:gd name="connsiteY13" fmla="*/ 316947 h 748834"/>
              <a:gd name="connsiteX14" fmla="*/ 0 w 1325863"/>
              <a:gd name="connsiteY14" fmla="*/ 260073 h 748834"/>
              <a:gd name="connsiteX15" fmla="*/ 361125 w 1325863"/>
              <a:gd name="connsiteY15" fmla="*/ 682 h 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25863" h="748834">
                <a:moveTo>
                  <a:pt x="361125" y="360722"/>
                </a:moveTo>
                <a:cubicBezTo>
                  <a:pt x="525335" y="348529"/>
                  <a:pt x="633440" y="503030"/>
                  <a:pt x="708353" y="558328"/>
                </a:cubicBezTo>
                <a:cubicBezTo>
                  <a:pt x="1029975" y="795747"/>
                  <a:pt x="1181933" y="546807"/>
                  <a:pt x="1292844" y="400199"/>
                </a:cubicBezTo>
                <a:lnTo>
                  <a:pt x="1325863" y="449492"/>
                </a:lnTo>
                <a:cubicBezTo>
                  <a:pt x="1095474" y="834116"/>
                  <a:pt x="865906" y="796981"/>
                  <a:pt x="669058" y="622566"/>
                </a:cubicBezTo>
                <a:cubicBezTo>
                  <a:pt x="483206" y="457895"/>
                  <a:pt x="311570" y="336374"/>
                  <a:pt x="38100" y="676987"/>
                </a:cubicBezTo>
                <a:lnTo>
                  <a:pt x="0" y="620113"/>
                </a:lnTo>
                <a:cubicBezTo>
                  <a:pt x="143873" y="435355"/>
                  <a:pt x="262597" y="368034"/>
                  <a:pt x="361125" y="360722"/>
                </a:cubicBezTo>
                <a:close/>
                <a:moveTo>
                  <a:pt x="361125" y="682"/>
                </a:moveTo>
                <a:cubicBezTo>
                  <a:pt x="525335" y="-11511"/>
                  <a:pt x="633440" y="142990"/>
                  <a:pt x="708353" y="198288"/>
                </a:cubicBezTo>
                <a:cubicBezTo>
                  <a:pt x="1029975" y="435707"/>
                  <a:pt x="1181933" y="186767"/>
                  <a:pt x="1292844" y="40159"/>
                </a:cubicBezTo>
                <a:lnTo>
                  <a:pt x="1325863" y="89452"/>
                </a:lnTo>
                <a:cubicBezTo>
                  <a:pt x="1095474" y="474076"/>
                  <a:pt x="865906" y="436941"/>
                  <a:pt x="669058" y="262526"/>
                </a:cubicBezTo>
                <a:cubicBezTo>
                  <a:pt x="483206" y="97855"/>
                  <a:pt x="311570" y="-23666"/>
                  <a:pt x="38100" y="316947"/>
                </a:cubicBezTo>
                <a:lnTo>
                  <a:pt x="0" y="260073"/>
                </a:lnTo>
                <a:cubicBezTo>
                  <a:pt x="143873" y="75315"/>
                  <a:pt x="262597" y="7994"/>
                  <a:pt x="361125" y="682"/>
                </a:cubicBez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54000" rIns="90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ＭＳ Ｐ明朝" pitchFamily="18" charset="-128"/>
              <a:ea typeface="ＭＳ Ｐ明朝" pitchFamily="18" charset="-128"/>
              <a:cs typeface="Arial" charset="0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486BD507-73A2-4C3A-9A90-EEACA9DC583D}"/>
              </a:ext>
            </a:extLst>
          </p:cNvPr>
          <p:cNvSpPr/>
          <p:nvPr/>
        </p:nvSpPr>
        <p:spPr>
          <a:xfrm>
            <a:off x="6298322" y="4510563"/>
            <a:ext cx="3935373" cy="215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ja-JP" altLang="en-US" sz="1400" b="1" dirty="0">
                <a:solidFill>
                  <a:schemeClr val="tx1"/>
                </a:solidFill>
              </a:rPr>
              <a:t>消席率≧</a:t>
            </a:r>
            <a:r>
              <a:rPr kumimoji="1" lang="en-US" altLang="ja-JP" sz="1400" b="1" dirty="0">
                <a:solidFill>
                  <a:schemeClr val="tx1"/>
                </a:solidFill>
              </a:rPr>
              <a:t>100% (</a:t>
            </a:r>
            <a:r>
              <a:rPr kumimoji="1" lang="ja-JP" altLang="en-US" sz="1400" b="1" dirty="0">
                <a:solidFill>
                  <a:schemeClr val="tx1"/>
                </a:solidFill>
              </a:rPr>
              <a:t>最終仕向港ベース</a:t>
            </a:r>
            <a:r>
              <a:rPr lang="ja-JP" altLang="en-US" sz="1400" b="1" dirty="0">
                <a:solidFill>
                  <a:schemeClr val="tx1"/>
                </a:solidFill>
              </a:rPr>
              <a:t>での必達目標</a:t>
            </a:r>
            <a:r>
              <a:rPr kumimoji="1" lang="en-US" altLang="ja-JP" sz="14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3" name="矢印: 下 72">
            <a:extLst>
              <a:ext uri="{FF2B5EF4-FFF2-40B4-BE49-F238E27FC236}">
                <a16:creationId xmlns:a16="http://schemas.microsoft.com/office/drawing/2014/main" id="{C8E9467C-4745-4BE6-A090-8FA74A5E851B}"/>
              </a:ext>
            </a:extLst>
          </p:cNvPr>
          <p:cNvSpPr/>
          <p:nvPr/>
        </p:nvSpPr>
        <p:spPr>
          <a:xfrm>
            <a:off x="7881276" y="4237225"/>
            <a:ext cx="769463" cy="159213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4" name="フリーフォーム: 図形 73">
            <a:extLst>
              <a:ext uri="{FF2B5EF4-FFF2-40B4-BE49-F238E27FC236}">
                <a16:creationId xmlns:a16="http://schemas.microsoft.com/office/drawing/2014/main" id="{250CEC21-C237-4007-8941-87FA5ECE8857}"/>
              </a:ext>
            </a:extLst>
          </p:cNvPr>
          <p:cNvSpPr/>
          <p:nvPr/>
        </p:nvSpPr>
        <p:spPr>
          <a:xfrm>
            <a:off x="1138008" y="2157063"/>
            <a:ext cx="10330428" cy="3528000"/>
          </a:xfrm>
          <a:custGeom>
            <a:avLst/>
            <a:gdLst>
              <a:gd name="connsiteX0" fmla="*/ 0 w 9696450"/>
              <a:gd name="connsiteY0" fmla="*/ 0 h 3514725"/>
              <a:gd name="connsiteX1" fmla="*/ 0 w 9696450"/>
              <a:gd name="connsiteY1" fmla="*/ 3514725 h 3514725"/>
              <a:gd name="connsiteX2" fmla="*/ 9696450 w 9696450"/>
              <a:gd name="connsiteY2" fmla="*/ 3514725 h 351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96450" h="3514725">
                <a:moveTo>
                  <a:pt x="0" y="0"/>
                </a:moveTo>
                <a:lnTo>
                  <a:pt x="0" y="3514725"/>
                </a:lnTo>
                <a:lnTo>
                  <a:pt x="9696450" y="3514725"/>
                </a:lnTo>
              </a:path>
            </a:pathLst>
          </a:custGeom>
          <a:noFill/>
          <a:ln w="28575">
            <a:solidFill>
              <a:schemeClr val="bg2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フリーフォーム 49">
            <a:extLst>
              <a:ext uri="{FF2B5EF4-FFF2-40B4-BE49-F238E27FC236}">
                <a16:creationId xmlns:a16="http://schemas.microsoft.com/office/drawing/2014/main" id="{69255674-C30D-45B9-846B-40A2DEBF3245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844396" y="5631064"/>
            <a:ext cx="191222" cy="108000"/>
          </a:xfrm>
          <a:custGeom>
            <a:avLst/>
            <a:gdLst>
              <a:gd name="connsiteX0" fmla="*/ 361125 w 1325863"/>
              <a:gd name="connsiteY0" fmla="*/ 360722 h 748834"/>
              <a:gd name="connsiteX1" fmla="*/ 708353 w 1325863"/>
              <a:gd name="connsiteY1" fmla="*/ 558328 h 748834"/>
              <a:gd name="connsiteX2" fmla="*/ 1292844 w 1325863"/>
              <a:gd name="connsiteY2" fmla="*/ 400199 h 748834"/>
              <a:gd name="connsiteX3" fmla="*/ 1325863 w 1325863"/>
              <a:gd name="connsiteY3" fmla="*/ 449492 h 748834"/>
              <a:gd name="connsiteX4" fmla="*/ 669058 w 1325863"/>
              <a:gd name="connsiteY4" fmla="*/ 622566 h 748834"/>
              <a:gd name="connsiteX5" fmla="*/ 38100 w 1325863"/>
              <a:gd name="connsiteY5" fmla="*/ 676987 h 748834"/>
              <a:gd name="connsiteX6" fmla="*/ 0 w 1325863"/>
              <a:gd name="connsiteY6" fmla="*/ 620113 h 748834"/>
              <a:gd name="connsiteX7" fmla="*/ 361125 w 1325863"/>
              <a:gd name="connsiteY7" fmla="*/ 360722 h 748834"/>
              <a:gd name="connsiteX8" fmla="*/ 361125 w 1325863"/>
              <a:gd name="connsiteY8" fmla="*/ 682 h 748834"/>
              <a:gd name="connsiteX9" fmla="*/ 708353 w 1325863"/>
              <a:gd name="connsiteY9" fmla="*/ 198288 h 748834"/>
              <a:gd name="connsiteX10" fmla="*/ 1292844 w 1325863"/>
              <a:gd name="connsiteY10" fmla="*/ 40159 h 748834"/>
              <a:gd name="connsiteX11" fmla="*/ 1325863 w 1325863"/>
              <a:gd name="connsiteY11" fmla="*/ 89452 h 748834"/>
              <a:gd name="connsiteX12" fmla="*/ 669058 w 1325863"/>
              <a:gd name="connsiteY12" fmla="*/ 262526 h 748834"/>
              <a:gd name="connsiteX13" fmla="*/ 38100 w 1325863"/>
              <a:gd name="connsiteY13" fmla="*/ 316947 h 748834"/>
              <a:gd name="connsiteX14" fmla="*/ 0 w 1325863"/>
              <a:gd name="connsiteY14" fmla="*/ 260073 h 748834"/>
              <a:gd name="connsiteX15" fmla="*/ 361125 w 1325863"/>
              <a:gd name="connsiteY15" fmla="*/ 682 h 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25863" h="748834">
                <a:moveTo>
                  <a:pt x="361125" y="360722"/>
                </a:moveTo>
                <a:cubicBezTo>
                  <a:pt x="525335" y="348529"/>
                  <a:pt x="633440" y="503030"/>
                  <a:pt x="708353" y="558328"/>
                </a:cubicBezTo>
                <a:cubicBezTo>
                  <a:pt x="1029975" y="795747"/>
                  <a:pt x="1181933" y="546807"/>
                  <a:pt x="1292844" y="400199"/>
                </a:cubicBezTo>
                <a:lnTo>
                  <a:pt x="1325863" y="449492"/>
                </a:lnTo>
                <a:cubicBezTo>
                  <a:pt x="1095474" y="834116"/>
                  <a:pt x="865906" y="796981"/>
                  <a:pt x="669058" y="622566"/>
                </a:cubicBezTo>
                <a:cubicBezTo>
                  <a:pt x="483206" y="457895"/>
                  <a:pt x="311570" y="336374"/>
                  <a:pt x="38100" y="676987"/>
                </a:cubicBezTo>
                <a:lnTo>
                  <a:pt x="0" y="620113"/>
                </a:lnTo>
                <a:cubicBezTo>
                  <a:pt x="143873" y="435355"/>
                  <a:pt x="262597" y="368034"/>
                  <a:pt x="361125" y="360722"/>
                </a:cubicBezTo>
                <a:close/>
                <a:moveTo>
                  <a:pt x="361125" y="682"/>
                </a:moveTo>
                <a:cubicBezTo>
                  <a:pt x="525335" y="-11511"/>
                  <a:pt x="633440" y="142990"/>
                  <a:pt x="708353" y="198288"/>
                </a:cubicBezTo>
                <a:cubicBezTo>
                  <a:pt x="1029975" y="435707"/>
                  <a:pt x="1181933" y="186767"/>
                  <a:pt x="1292844" y="40159"/>
                </a:cubicBezTo>
                <a:lnTo>
                  <a:pt x="1325863" y="89452"/>
                </a:lnTo>
                <a:cubicBezTo>
                  <a:pt x="1095474" y="474076"/>
                  <a:pt x="865906" y="436941"/>
                  <a:pt x="669058" y="262526"/>
                </a:cubicBezTo>
                <a:cubicBezTo>
                  <a:pt x="483206" y="97855"/>
                  <a:pt x="311570" y="-23666"/>
                  <a:pt x="38100" y="316947"/>
                </a:cubicBezTo>
                <a:lnTo>
                  <a:pt x="0" y="260073"/>
                </a:lnTo>
                <a:cubicBezTo>
                  <a:pt x="143873" y="75315"/>
                  <a:pt x="262597" y="7994"/>
                  <a:pt x="361125" y="682"/>
                </a:cubicBez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54000" rIns="90000" bIns="54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ＭＳ Ｐ明朝" pitchFamily="18" charset="-128"/>
              <a:ea typeface="ＭＳ Ｐ明朝" pitchFamily="18" charset="-128"/>
              <a:cs typeface="Arial" charset="0"/>
            </a:endParaRPr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47625805-C9FC-4EA4-BF28-56996F78E602}"/>
              </a:ext>
            </a:extLst>
          </p:cNvPr>
          <p:cNvSpPr/>
          <p:nvPr/>
        </p:nvSpPr>
        <p:spPr>
          <a:xfrm>
            <a:off x="2974007" y="5577063"/>
            <a:ext cx="216000" cy="216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88000" rtlCol="0" anchor="t" anchorCtr="0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Pusan</a:t>
            </a:r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21164C24-A58C-469B-937B-C277955670AD}"/>
              </a:ext>
            </a:extLst>
          </p:cNvPr>
          <p:cNvSpPr/>
          <p:nvPr/>
        </p:nvSpPr>
        <p:spPr>
          <a:xfrm>
            <a:off x="3982007" y="5577063"/>
            <a:ext cx="216000" cy="216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88000" rtlCol="0" anchor="t" anchorCtr="0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Shanghai</a:t>
            </a:r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E12F362A-1226-4F9D-BA63-3B235BE7BDE9}"/>
              </a:ext>
            </a:extLst>
          </p:cNvPr>
          <p:cNvSpPr/>
          <p:nvPr/>
        </p:nvSpPr>
        <p:spPr>
          <a:xfrm>
            <a:off x="5062007" y="5577063"/>
            <a:ext cx="216000" cy="216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88000" rtlCol="0" anchor="t" anchorCtr="0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Ningbo</a:t>
            </a: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1967811F-EAB3-40B3-ABB5-EA19700B8D44}"/>
              </a:ext>
            </a:extLst>
          </p:cNvPr>
          <p:cNvSpPr/>
          <p:nvPr/>
        </p:nvSpPr>
        <p:spPr>
          <a:xfrm>
            <a:off x="6286007" y="5577063"/>
            <a:ext cx="216000" cy="216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88000" rtlCol="0" anchor="t" anchorCtr="0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Shekou</a:t>
            </a: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2B74EB75-9AE5-46A8-B54D-38D1405CC897}"/>
              </a:ext>
            </a:extLst>
          </p:cNvPr>
          <p:cNvSpPr/>
          <p:nvPr/>
        </p:nvSpPr>
        <p:spPr>
          <a:xfrm>
            <a:off x="7654007" y="5577063"/>
            <a:ext cx="216000" cy="216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88000" rtlCol="0" anchor="t" anchorCtr="0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Singapore</a:t>
            </a:r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8E2D0C11-9DFF-4FCC-86D2-C85E7D2D1088}"/>
              </a:ext>
            </a:extLst>
          </p:cNvPr>
          <p:cNvSpPr/>
          <p:nvPr/>
        </p:nvSpPr>
        <p:spPr>
          <a:xfrm>
            <a:off x="10893034" y="5577063"/>
            <a:ext cx="216000" cy="216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88000" rtlCol="0" anchor="t" anchorCtr="0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Genoa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9EF91AAD-97B3-4B75-85CD-7079FE000EDA}"/>
              </a:ext>
            </a:extLst>
          </p:cNvPr>
          <p:cNvCxnSpPr/>
          <p:nvPr/>
        </p:nvCxnSpPr>
        <p:spPr>
          <a:xfrm>
            <a:off x="9274007" y="5901063"/>
            <a:ext cx="324000" cy="0"/>
          </a:xfrm>
          <a:prstGeom prst="line">
            <a:avLst/>
          </a:prstGeom>
          <a:ln w="5715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楕円 82">
            <a:extLst>
              <a:ext uri="{FF2B5EF4-FFF2-40B4-BE49-F238E27FC236}">
                <a16:creationId xmlns:a16="http://schemas.microsoft.com/office/drawing/2014/main" id="{E1C46F3F-6256-496E-92E8-5F82B78EA16B}"/>
              </a:ext>
            </a:extLst>
          </p:cNvPr>
          <p:cNvSpPr/>
          <p:nvPr/>
        </p:nvSpPr>
        <p:spPr>
          <a:xfrm>
            <a:off x="1534007" y="5577063"/>
            <a:ext cx="216000" cy="2160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88000" rtlCol="0" anchor="t" anchorCtr="0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Qingdao</a:t>
            </a: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39778C99-25DA-4A6A-B487-64FE4910381C}"/>
              </a:ext>
            </a:extLst>
          </p:cNvPr>
          <p:cNvCxnSpPr/>
          <p:nvPr/>
        </p:nvCxnSpPr>
        <p:spPr>
          <a:xfrm flipH="1">
            <a:off x="1138007" y="2373063"/>
            <a:ext cx="50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C550CCED-8070-49AB-9C70-E70DEA5DDC72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F80C1C5-907D-44D7-A6D5-650E80855FE7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A246B30-24B4-4D25-9F12-9FC6E3344572}"/>
              </a:ext>
            </a:extLst>
          </p:cNvPr>
          <p:cNvSpPr/>
          <p:nvPr/>
        </p:nvSpPr>
        <p:spPr>
          <a:xfrm>
            <a:off x="7750565" y="3858898"/>
            <a:ext cx="1030884" cy="26420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OCN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02D8F952-F42B-4F54-A855-42FC5D5277F1}"/>
              </a:ext>
            </a:extLst>
          </p:cNvPr>
          <p:cNvSpPr/>
          <p:nvPr/>
        </p:nvSpPr>
        <p:spPr>
          <a:xfrm>
            <a:off x="1863494" y="2993239"/>
            <a:ext cx="1030884" cy="26420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IPC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11D7A03-1068-456F-A424-F0FD39C952E2}"/>
              </a:ext>
            </a:extLst>
          </p:cNvPr>
          <p:cNvSpPr/>
          <p:nvPr/>
        </p:nvSpPr>
        <p:spPr>
          <a:xfrm>
            <a:off x="2988228" y="2993239"/>
            <a:ext cx="1030884" cy="26420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T/S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91BB8144-8B70-4210-8080-FBCFDAA8FB26}"/>
              </a:ext>
            </a:extLst>
          </p:cNvPr>
          <p:cNvSpPr/>
          <p:nvPr/>
        </p:nvSpPr>
        <p:spPr>
          <a:xfrm>
            <a:off x="4112962" y="2993239"/>
            <a:ext cx="1030884" cy="26420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MT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ACF858E-F3E1-4960-AEF8-07E7B4758074}"/>
              </a:ext>
            </a:extLst>
          </p:cNvPr>
          <p:cNvSpPr/>
          <p:nvPr/>
        </p:nvSpPr>
        <p:spPr>
          <a:xfrm>
            <a:off x="11164965" y="2925464"/>
            <a:ext cx="324036" cy="22071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600" dirty="0">
                <a:solidFill>
                  <a:schemeClr val="accent4"/>
                </a:solidFill>
              </a:rPr>
              <a:t>公共財（全社経営資源）</a:t>
            </a:r>
            <a:endParaRPr lang="en-US" altLang="ja-JP" sz="1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02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6A42F445-DC56-4B77-8FAC-D4F62011064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28058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594" name="think-cell スライド" r:id="rId5" imgW="473" imgH="473" progId="TCLayout.ActiveDocument.1">
                  <p:embed/>
                </p:oleObj>
              </mc:Choice>
              <mc:Fallback>
                <p:oleObj name="think-cell スライド" r:id="rId5" imgW="473" imgH="47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6A42F445-DC56-4B77-8FAC-D4F6201106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81DC8AE3-7435-4558-A48A-517965CD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ja-JP" dirty="0"/>
              <a:t>Key Success Factor (KSF) for OCN</a:t>
            </a:r>
            <a:endParaRPr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84A40E-1098-4556-A417-84C767BB0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正確な</a:t>
            </a:r>
            <a:r>
              <a:rPr lang="en-US" altLang="ja-JP" dirty="0"/>
              <a:t>AP</a:t>
            </a:r>
            <a:r>
              <a:rPr lang="ja-JP" altLang="en-US" dirty="0"/>
              <a:t>策定、及び</a:t>
            </a:r>
            <a:r>
              <a:rPr lang="en-US" altLang="ja-JP" dirty="0"/>
              <a:t>BKG Acceptance Rule</a:t>
            </a:r>
            <a:r>
              <a:rPr lang="ja-JP" altLang="en-US" dirty="0"/>
              <a:t>の遵守が、消席率≧</a:t>
            </a:r>
            <a:r>
              <a:rPr lang="en-US" altLang="ja-JP" dirty="0"/>
              <a:t>100%</a:t>
            </a:r>
            <a:r>
              <a:rPr lang="ja-JP" altLang="en-US" dirty="0"/>
              <a:t>の達成と最適貨物選択にあたっての重要成功要因</a:t>
            </a:r>
            <a:endParaRPr lang="en-US" altLang="ja-JP" dirty="0"/>
          </a:p>
        </p:txBody>
      </p:sp>
      <p:sp>
        <p:nvSpPr>
          <p:cNvPr id="93" name="四角形: 角を丸くする 92">
            <a:extLst>
              <a:ext uri="{FF2B5EF4-FFF2-40B4-BE49-F238E27FC236}">
                <a16:creationId xmlns:a16="http://schemas.microsoft.com/office/drawing/2014/main" id="{92609654-A373-4BA7-B875-481D8D04F7CF}"/>
              </a:ext>
            </a:extLst>
          </p:cNvPr>
          <p:cNvSpPr/>
          <p:nvPr/>
        </p:nvSpPr>
        <p:spPr>
          <a:xfrm>
            <a:off x="1959807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40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Introduction</a:t>
            </a:r>
          </a:p>
        </p:txBody>
      </p:sp>
      <p:sp>
        <p:nvSpPr>
          <p:cNvPr id="54" name="矢印: 五方向 53">
            <a:extLst>
              <a:ext uri="{FF2B5EF4-FFF2-40B4-BE49-F238E27FC236}">
                <a16:creationId xmlns:a16="http://schemas.microsoft.com/office/drawing/2014/main" id="{57E15C4B-24A0-4C04-AF81-E9C1C6C4EAC2}"/>
              </a:ext>
            </a:extLst>
          </p:cNvPr>
          <p:cNvSpPr/>
          <p:nvPr/>
        </p:nvSpPr>
        <p:spPr>
          <a:xfrm>
            <a:off x="8452964" y="1910561"/>
            <a:ext cx="3179620" cy="229521"/>
          </a:xfrm>
          <a:prstGeom prst="homePlate">
            <a:avLst>
              <a:gd name="adj" fmla="val 39908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スペースの最終調整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90DBC58-6B5C-4EB8-BD7F-F51A49461268}"/>
              </a:ext>
            </a:extLst>
          </p:cNvPr>
          <p:cNvSpPr/>
          <p:nvPr/>
        </p:nvSpPr>
        <p:spPr>
          <a:xfrm>
            <a:off x="11351404" y="1542911"/>
            <a:ext cx="620327" cy="438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spcBef>
                <a:spcPts val="300"/>
              </a:spcBef>
            </a:pPr>
            <a:r>
              <a:rPr kumimoji="1" lang="en-US" altLang="ja-JP" sz="1200" dirty="0">
                <a:solidFill>
                  <a:schemeClr val="tx1"/>
                </a:solidFill>
              </a:rPr>
              <a:t>ETA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0E7FA5A-62D4-4ED9-B38E-2F4538E69B87}"/>
              </a:ext>
            </a:extLst>
          </p:cNvPr>
          <p:cNvSpPr/>
          <p:nvPr/>
        </p:nvSpPr>
        <p:spPr>
          <a:xfrm>
            <a:off x="8096849" y="1542911"/>
            <a:ext cx="620327" cy="438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>
              <a:spcBef>
                <a:spcPts val="3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 Expiry Date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AF1A8764-F5A6-4D61-905F-78AF6356F0E0}"/>
              </a:ext>
            </a:extLst>
          </p:cNvPr>
          <p:cNvSpPr/>
          <p:nvPr/>
        </p:nvSpPr>
        <p:spPr>
          <a:xfrm>
            <a:off x="4820879" y="1564122"/>
            <a:ext cx="620327" cy="438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>
              <a:spcBef>
                <a:spcPts val="300"/>
              </a:spcBef>
            </a:pPr>
            <a:r>
              <a:rPr lang="ja-JP" altLang="en-US" sz="1200" dirty="0">
                <a:solidFill>
                  <a:schemeClr val="tx1"/>
                </a:solidFill>
              </a:rPr>
              <a:t>概ね</a:t>
            </a:r>
            <a:r>
              <a:rPr lang="en-US" altLang="ja-JP" sz="1200" dirty="0">
                <a:solidFill>
                  <a:schemeClr val="tx1"/>
                </a:solidFill>
              </a:rPr>
              <a:t>1</a:t>
            </a:r>
            <a:r>
              <a:rPr lang="ja-JP" altLang="en-US" sz="1200" dirty="0">
                <a:solidFill>
                  <a:schemeClr val="tx1"/>
                </a:solidFill>
              </a:rPr>
              <a:t>か月前</a:t>
            </a:r>
            <a:r>
              <a:rPr lang="en-US" altLang="ja-JP" sz="1200" dirty="0">
                <a:solidFill>
                  <a:schemeClr val="tx1"/>
                </a:solidFill>
              </a:rPr>
              <a:t> 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71" name="矢印: 五方向 70">
            <a:extLst>
              <a:ext uri="{FF2B5EF4-FFF2-40B4-BE49-F238E27FC236}">
                <a16:creationId xmlns:a16="http://schemas.microsoft.com/office/drawing/2014/main" id="{D42E098F-239C-49C3-9BAC-BFED2EC35BED}"/>
              </a:ext>
            </a:extLst>
          </p:cNvPr>
          <p:cNvSpPr/>
          <p:nvPr/>
        </p:nvSpPr>
        <p:spPr>
          <a:xfrm>
            <a:off x="1909919" y="1910561"/>
            <a:ext cx="3179620" cy="229521"/>
          </a:xfrm>
          <a:prstGeom prst="homePlate">
            <a:avLst>
              <a:gd name="adj" fmla="val 39908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顧客交渉～</a:t>
            </a:r>
            <a:r>
              <a:rPr lang="en-US" altLang="ja-JP" sz="1400" dirty="0">
                <a:solidFill>
                  <a:schemeClr val="tx1"/>
                </a:solidFill>
              </a:rPr>
              <a:t>AP</a:t>
            </a:r>
            <a:r>
              <a:rPr lang="ja-JP" altLang="en-US" sz="1400" dirty="0">
                <a:solidFill>
                  <a:schemeClr val="tx1"/>
                </a:solidFill>
              </a:rPr>
              <a:t>策定</a:t>
            </a:r>
          </a:p>
        </p:txBody>
      </p:sp>
      <p:sp>
        <p:nvSpPr>
          <p:cNvPr id="117" name="矢印: 五方向 116">
            <a:extLst>
              <a:ext uri="{FF2B5EF4-FFF2-40B4-BE49-F238E27FC236}">
                <a16:creationId xmlns:a16="http://schemas.microsoft.com/office/drawing/2014/main" id="{7637AF27-9F41-4FF6-991B-474181248D44}"/>
              </a:ext>
            </a:extLst>
          </p:cNvPr>
          <p:cNvSpPr/>
          <p:nvPr/>
        </p:nvSpPr>
        <p:spPr>
          <a:xfrm>
            <a:off x="2088188" y="6260963"/>
            <a:ext cx="9902148" cy="389227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r>
              <a:rPr lang="ja-JP" altLang="en-US" sz="1100" dirty="0">
                <a:solidFill>
                  <a:schemeClr val="tx1"/>
                </a:solidFill>
              </a:rPr>
              <a:t>一定期間に亘って消席率を下支えする</a:t>
            </a:r>
            <a:r>
              <a:rPr lang="en-US" altLang="ja-JP" sz="1100" b="1" u="sng" dirty="0">
                <a:solidFill>
                  <a:schemeClr val="tx1"/>
                </a:solidFill>
              </a:rPr>
              <a:t>LT/MT</a:t>
            </a:r>
            <a:r>
              <a:rPr lang="ja-JP" altLang="en-US" sz="1100" b="1" u="sng" dirty="0">
                <a:solidFill>
                  <a:schemeClr val="tx1"/>
                </a:solidFill>
              </a:rPr>
              <a:t>顧客は、事業安定化の観点から重要</a:t>
            </a:r>
            <a:r>
              <a:rPr lang="ja-JP" altLang="en-US" sz="1100" dirty="0">
                <a:solidFill>
                  <a:schemeClr val="tx1"/>
                </a:solidFill>
              </a:rPr>
              <a:t>なため、契約に基づき事前にスペースを確約し、優先的に</a:t>
            </a:r>
            <a:r>
              <a:rPr lang="en-US" altLang="ja-JP" sz="1100" dirty="0">
                <a:solidFill>
                  <a:schemeClr val="tx1"/>
                </a:solidFill>
              </a:rPr>
              <a:t>BKG</a:t>
            </a:r>
            <a:r>
              <a:rPr lang="ja-JP" altLang="en-US" sz="1100" dirty="0">
                <a:solidFill>
                  <a:schemeClr val="tx1"/>
                </a:solidFill>
              </a:rPr>
              <a:t>を受入。</a:t>
            </a:r>
            <a:br>
              <a:rPr lang="en-US" altLang="ja-JP" sz="1100" dirty="0">
                <a:solidFill>
                  <a:schemeClr val="tx1"/>
                </a:solidFill>
              </a:rPr>
            </a:br>
            <a:r>
              <a:rPr lang="ja-JP" altLang="en-US" sz="1100" dirty="0">
                <a:solidFill>
                  <a:schemeClr val="tx1"/>
                </a:solidFill>
              </a:rPr>
              <a:t>一方で、</a:t>
            </a:r>
            <a:r>
              <a:rPr lang="ja-JP" altLang="en-US" sz="1100" b="1" u="sng" dirty="0">
                <a:solidFill>
                  <a:schemeClr val="tx1"/>
                </a:solidFill>
              </a:rPr>
              <a:t>実際に</a:t>
            </a:r>
            <a:r>
              <a:rPr lang="en-US" altLang="ja-JP" sz="1100" b="1" u="sng" dirty="0">
                <a:solidFill>
                  <a:schemeClr val="tx1"/>
                </a:solidFill>
              </a:rPr>
              <a:t>Booking/Lifting</a:t>
            </a:r>
            <a:r>
              <a:rPr lang="ja-JP" altLang="en-US" sz="1100" b="1" u="sng" dirty="0">
                <a:solidFill>
                  <a:schemeClr val="tx1"/>
                </a:solidFill>
              </a:rPr>
              <a:t>されるか分からない貨物でスペースを確保</a:t>
            </a:r>
            <a:r>
              <a:rPr lang="ja-JP" altLang="en-US" sz="1100" dirty="0">
                <a:solidFill>
                  <a:schemeClr val="tx1"/>
                </a:solidFill>
              </a:rPr>
              <a:t>し続けることは、結果として</a:t>
            </a:r>
            <a:r>
              <a:rPr lang="ja-JP" altLang="en-US" sz="1100" b="1" u="sng" dirty="0">
                <a:solidFill>
                  <a:schemeClr val="tx1"/>
                </a:solidFill>
              </a:rPr>
              <a:t>消席率低下を招き、事業安定化にとっても逆効果</a:t>
            </a:r>
            <a:endParaRPr lang="ja-JP" altLang="en-US" sz="1100" u="sng" dirty="0">
              <a:solidFill>
                <a:schemeClr val="tx1"/>
              </a:solidFill>
            </a:endParaRPr>
          </a:p>
        </p:txBody>
      </p:sp>
      <p:sp>
        <p:nvSpPr>
          <p:cNvPr id="118" name="矢印: 五方向 117">
            <a:extLst>
              <a:ext uri="{FF2B5EF4-FFF2-40B4-BE49-F238E27FC236}">
                <a16:creationId xmlns:a16="http://schemas.microsoft.com/office/drawing/2014/main" id="{04A08670-5EB5-47FA-BDF9-CFD07CF13D80}"/>
              </a:ext>
            </a:extLst>
          </p:cNvPr>
          <p:cNvSpPr/>
          <p:nvPr/>
        </p:nvSpPr>
        <p:spPr>
          <a:xfrm>
            <a:off x="1909919" y="2140082"/>
            <a:ext cx="3179620" cy="400492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/>
          <a:lstStyle/>
          <a:p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顧客を対象に、</a:t>
            </a:r>
            <a:r>
              <a:rPr lang="en-US" altLang="ja-JP" sz="1200" dirty="0">
                <a:solidFill>
                  <a:schemeClr val="tx1"/>
                </a:solidFill>
              </a:rPr>
              <a:t>1</a:t>
            </a:r>
            <a:r>
              <a:rPr lang="ja-JP" altLang="en-US" sz="1200" dirty="0">
                <a:solidFill>
                  <a:schemeClr val="tx1"/>
                </a:solidFill>
              </a:rPr>
              <a:t>か月先の受注見込みを策定</a:t>
            </a:r>
          </a:p>
        </p:txBody>
      </p:sp>
      <p:sp>
        <p:nvSpPr>
          <p:cNvPr id="121" name="矢印: 五方向 120">
            <a:extLst>
              <a:ext uri="{FF2B5EF4-FFF2-40B4-BE49-F238E27FC236}">
                <a16:creationId xmlns:a16="http://schemas.microsoft.com/office/drawing/2014/main" id="{3DFAB2CA-D580-40E6-959D-1A83AD02AF86}"/>
              </a:ext>
            </a:extLst>
          </p:cNvPr>
          <p:cNvSpPr/>
          <p:nvPr/>
        </p:nvSpPr>
        <p:spPr>
          <a:xfrm>
            <a:off x="8452964" y="2140082"/>
            <a:ext cx="3179620" cy="400492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/>
          <a:lstStyle/>
          <a:p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受付期間の経過後、なお生じている余剰スペースを、</a:t>
            </a:r>
            <a:r>
              <a:rPr lang="en-US" altLang="ja-JP" sz="1200" dirty="0">
                <a:solidFill>
                  <a:schemeClr val="tx1"/>
                </a:solidFill>
              </a:rPr>
              <a:t>Waiting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BKG(GD4)</a:t>
            </a:r>
            <a:r>
              <a:rPr lang="ja-JP" altLang="en-US" sz="1200" dirty="0">
                <a:solidFill>
                  <a:schemeClr val="tx1"/>
                </a:solidFill>
              </a:rPr>
              <a:t>等で穴埋め</a:t>
            </a:r>
          </a:p>
        </p:txBody>
      </p:sp>
      <p:sp>
        <p:nvSpPr>
          <p:cNvPr id="111" name="矢印: 五方向 110">
            <a:extLst>
              <a:ext uri="{FF2B5EF4-FFF2-40B4-BE49-F238E27FC236}">
                <a16:creationId xmlns:a16="http://schemas.microsoft.com/office/drawing/2014/main" id="{2E8B4FAB-EC78-48E4-94C1-EABD4E7EF80C}"/>
              </a:ext>
            </a:extLst>
          </p:cNvPr>
          <p:cNvSpPr/>
          <p:nvPr/>
        </p:nvSpPr>
        <p:spPr>
          <a:xfrm>
            <a:off x="822879" y="2955281"/>
            <a:ext cx="1590434" cy="318501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r"/>
            <a:r>
              <a:rPr lang="en-US" altLang="ja-JP" sz="1200" dirty="0">
                <a:solidFill>
                  <a:schemeClr val="tx1"/>
                </a:solidFill>
              </a:rPr>
              <a:t>BSA +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Rollover at reasonable level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7E737940-7404-4080-9F4C-3D3F7A299757}"/>
              </a:ext>
            </a:extLst>
          </p:cNvPr>
          <p:cNvSpPr/>
          <p:nvPr/>
        </p:nvSpPr>
        <p:spPr>
          <a:xfrm>
            <a:off x="2633687" y="3273189"/>
            <a:ext cx="1732083" cy="1144107"/>
          </a:xfrm>
          <a:prstGeom prst="rect">
            <a:avLst/>
          </a:prstGeom>
          <a:pattFill prst="ltUpDiag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AP*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（</a:t>
            </a:r>
            <a:r>
              <a:rPr lang="en-US" altLang="ja-JP" sz="1200" dirty="0">
                <a:solidFill>
                  <a:schemeClr val="tx1"/>
                </a:solidFill>
              </a:rPr>
              <a:t>LT/MT/ST)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EF2F5CE-D0D2-490E-A492-D32BB69F4313}"/>
              </a:ext>
            </a:extLst>
          </p:cNvPr>
          <p:cNvSpPr/>
          <p:nvPr/>
        </p:nvSpPr>
        <p:spPr>
          <a:xfrm>
            <a:off x="5905210" y="3422476"/>
            <a:ext cx="1732083" cy="99481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AP*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(LT/MT/ST)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D5504FD7-811F-44AB-8410-6D85BE41997E}"/>
              </a:ext>
            </a:extLst>
          </p:cNvPr>
          <p:cNvSpPr/>
          <p:nvPr/>
        </p:nvSpPr>
        <p:spPr>
          <a:xfrm>
            <a:off x="2633687" y="2728011"/>
            <a:ext cx="1732083" cy="545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Space to Fill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153FC1C-1494-47E8-95B0-C2AFA6B80F61}"/>
              </a:ext>
            </a:extLst>
          </p:cNvPr>
          <p:cNvCxnSpPr>
            <a:cxnSpLocks/>
          </p:cNvCxnSpPr>
          <p:nvPr/>
        </p:nvCxnSpPr>
        <p:spPr>
          <a:xfrm flipV="1">
            <a:off x="4392012" y="3145924"/>
            <a:ext cx="1486956" cy="127266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3453C5CE-6F52-4739-A541-12A0ADDE84AD}"/>
              </a:ext>
            </a:extLst>
          </p:cNvPr>
          <p:cNvCxnSpPr>
            <a:cxnSpLocks/>
          </p:cNvCxnSpPr>
          <p:nvPr/>
        </p:nvCxnSpPr>
        <p:spPr>
          <a:xfrm>
            <a:off x="4392012" y="3273189"/>
            <a:ext cx="1486956" cy="149287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27B91BFC-AAC3-41FF-983C-FD88FF9E1D6D}"/>
              </a:ext>
            </a:extLst>
          </p:cNvPr>
          <p:cNvSpPr/>
          <p:nvPr/>
        </p:nvSpPr>
        <p:spPr>
          <a:xfrm>
            <a:off x="9176733" y="3422476"/>
            <a:ext cx="1732083" cy="99481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(LT/MT/ST)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D8DB04EB-AA4C-4C59-9AEB-9A37E28F8AFE}"/>
              </a:ext>
            </a:extLst>
          </p:cNvPr>
          <p:cNvSpPr/>
          <p:nvPr/>
        </p:nvSpPr>
        <p:spPr>
          <a:xfrm>
            <a:off x="9176733" y="2728011"/>
            <a:ext cx="1732083" cy="4226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Non AP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(Prioritized Cargoes)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EF704F93-0595-417C-A290-5DBB12474F79}"/>
              </a:ext>
            </a:extLst>
          </p:cNvPr>
          <p:cNvSpPr/>
          <p:nvPr/>
        </p:nvSpPr>
        <p:spPr>
          <a:xfrm>
            <a:off x="9176733" y="3150699"/>
            <a:ext cx="1732083" cy="271778"/>
          </a:xfrm>
          <a:prstGeom prst="rect">
            <a:avLst/>
          </a:prstGeom>
          <a:pattFill prst="ltUpDiag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Additional BKG*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504438D9-2D6E-4E33-8370-43C73B47C0F0}"/>
              </a:ext>
            </a:extLst>
          </p:cNvPr>
          <p:cNvCxnSpPr>
            <a:cxnSpLocks/>
          </p:cNvCxnSpPr>
          <p:nvPr/>
        </p:nvCxnSpPr>
        <p:spPr>
          <a:xfrm>
            <a:off x="7663535" y="3150699"/>
            <a:ext cx="1486956" cy="0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AF3E3296-ED58-443D-84FA-6AC7228CD95F}"/>
              </a:ext>
            </a:extLst>
          </p:cNvPr>
          <p:cNvCxnSpPr>
            <a:cxnSpLocks/>
          </p:cNvCxnSpPr>
          <p:nvPr/>
        </p:nvCxnSpPr>
        <p:spPr>
          <a:xfrm>
            <a:off x="7663535" y="3420264"/>
            <a:ext cx="1486956" cy="0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0F88B333-D4D1-465D-B0E8-9B697CC3E50C}"/>
              </a:ext>
            </a:extLst>
          </p:cNvPr>
          <p:cNvCxnSpPr>
            <a:cxnSpLocks/>
          </p:cNvCxnSpPr>
          <p:nvPr/>
        </p:nvCxnSpPr>
        <p:spPr>
          <a:xfrm>
            <a:off x="2330120" y="4417295"/>
            <a:ext cx="8882264" cy="0"/>
          </a:xfrm>
          <a:prstGeom prst="line">
            <a:avLst/>
          </a:prstGeom>
          <a:ln w="63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左中かっこ 19">
            <a:extLst>
              <a:ext uri="{FF2B5EF4-FFF2-40B4-BE49-F238E27FC236}">
                <a16:creationId xmlns:a16="http://schemas.microsoft.com/office/drawing/2014/main" id="{CC4F27D7-96DB-436B-A18A-E6938FD81353}"/>
              </a:ext>
            </a:extLst>
          </p:cNvPr>
          <p:cNvSpPr/>
          <p:nvPr/>
        </p:nvSpPr>
        <p:spPr>
          <a:xfrm>
            <a:off x="2386697" y="2760528"/>
            <a:ext cx="156574" cy="1639600"/>
          </a:xfrm>
          <a:prstGeom prst="leftBrace">
            <a:avLst>
              <a:gd name="adj1" fmla="val 50334"/>
              <a:gd name="adj2" fmla="val 20582"/>
            </a:avLst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5CFE59B-32C5-4B1B-A37E-DCA6027D5B82}"/>
              </a:ext>
            </a:extLst>
          </p:cNvPr>
          <p:cNvCxnSpPr>
            <a:cxnSpLocks/>
          </p:cNvCxnSpPr>
          <p:nvPr/>
        </p:nvCxnSpPr>
        <p:spPr>
          <a:xfrm flipV="1">
            <a:off x="1026710" y="3773481"/>
            <a:ext cx="1872837" cy="637174"/>
          </a:xfrm>
          <a:prstGeom prst="straightConnector1">
            <a:avLst/>
          </a:prstGeom>
          <a:ln>
            <a:solidFill>
              <a:schemeClr val="accent4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BD01EB8-3163-45C7-AFAD-E885BE765AF3}"/>
              </a:ext>
            </a:extLst>
          </p:cNvPr>
          <p:cNvSpPr/>
          <p:nvPr/>
        </p:nvSpPr>
        <p:spPr>
          <a:xfrm>
            <a:off x="654707" y="3722928"/>
            <a:ext cx="1539942" cy="86485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kumimoji="1" lang="ja-JP" altLang="en-US" sz="1200" b="1" dirty="0">
                <a:solidFill>
                  <a:schemeClr val="accent4"/>
                </a:solidFill>
              </a:rPr>
              <a:t>「これぐらい取りたい</a:t>
            </a:r>
            <a:r>
              <a:rPr kumimoji="1" lang="en-US" altLang="ja-JP" sz="1200" b="1" dirty="0">
                <a:solidFill>
                  <a:schemeClr val="accent4"/>
                </a:solidFill>
              </a:rPr>
              <a:t>/</a:t>
            </a:r>
            <a:r>
              <a:rPr kumimoji="1" lang="ja-JP" altLang="en-US" sz="1200" b="1" dirty="0">
                <a:solidFill>
                  <a:schemeClr val="accent4"/>
                </a:solidFill>
              </a:rPr>
              <a:t>取るべき」ではなく、「これだけ取れる」という数量</a:t>
            </a: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E3374945-1824-41D6-9EE5-ACA6B423444B}"/>
              </a:ext>
            </a:extLst>
          </p:cNvPr>
          <p:cNvSpPr/>
          <p:nvPr/>
        </p:nvSpPr>
        <p:spPr>
          <a:xfrm>
            <a:off x="10913277" y="3544676"/>
            <a:ext cx="978093" cy="87261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b"/>
          <a:lstStyle/>
          <a:p>
            <a:r>
              <a:rPr lang="en-US" altLang="ja-JP" sz="1050" dirty="0">
                <a:solidFill>
                  <a:schemeClr val="tx1"/>
                </a:solidFill>
              </a:rPr>
              <a:t>* GD4(</a:t>
            </a:r>
            <a:r>
              <a:rPr lang="ja-JP" altLang="en-US" sz="1050" dirty="0">
                <a:solidFill>
                  <a:schemeClr val="tx1"/>
                </a:solidFill>
              </a:rPr>
              <a:t>保留</a:t>
            </a:r>
            <a:r>
              <a:rPr lang="en-US" altLang="ja-JP" sz="1050" dirty="0">
                <a:solidFill>
                  <a:schemeClr val="tx1"/>
                </a:solidFill>
              </a:rPr>
              <a:t>)</a:t>
            </a:r>
            <a:r>
              <a:rPr lang="ja-JP" altLang="en-US" sz="1050" dirty="0">
                <a:solidFill>
                  <a:schemeClr val="tx1"/>
                </a:solidFill>
              </a:rPr>
              <a:t>と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ja-JP" altLang="en-US" sz="1050" dirty="0">
                <a:solidFill>
                  <a:schemeClr val="tx1"/>
                </a:solidFill>
              </a:rPr>
              <a:t>判定された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Non AP</a:t>
            </a:r>
            <a:r>
              <a:rPr lang="ja-JP" altLang="en-US" sz="1050" dirty="0">
                <a:solidFill>
                  <a:schemeClr val="tx1"/>
                </a:solidFill>
              </a:rPr>
              <a:t>及び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Over AP </a:t>
            </a:r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3E78140E-70D0-4F3A-956C-86345C2D0284}"/>
              </a:ext>
            </a:extLst>
          </p:cNvPr>
          <p:cNvSpPr/>
          <p:nvPr/>
        </p:nvSpPr>
        <p:spPr>
          <a:xfrm>
            <a:off x="6115811" y="4456388"/>
            <a:ext cx="1310882" cy="12491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Firmed BKG</a:t>
            </a:r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742800B6-C752-44DA-920B-8F6FD5127A0D}"/>
              </a:ext>
            </a:extLst>
          </p:cNvPr>
          <p:cNvSpPr/>
          <p:nvPr/>
        </p:nvSpPr>
        <p:spPr>
          <a:xfrm>
            <a:off x="9387334" y="4456388"/>
            <a:ext cx="1310882" cy="12491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Firmed BKG</a:t>
            </a:r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8A181E36-7D44-47A0-98EC-A4E7E196429F}"/>
              </a:ext>
            </a:extLst>
          </p:cNvPr>
          <p:cNvSpPr/>
          <p:nvPr/>
        </p:nvSpPr>
        <p:spPr>
          <a:xfrm>
            <a:off x="2844288" y="4456388"/>
            <a:ext cx="1310882" cy="12491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</a:rPr>
              <a:t>Before BKG Attempt</a:t>
            </a:r>
          </a:p>
        </p:txBody>
      </p:sp>
      <p:sp>
        <p:nvSpPr>
          <p:cNvPr id="107" name="矢印: 五方向 106">
            <a:extLst>
              <a:ext uri="{FF2B5EF4-FFF2-40B4-BE49-F238E27FC236}">
                <a16:creationId xmlns:a16="http://schemas.microsoft.com/office/drawing/2014/main" id="{0DEA5A76-E338-49AF-83B5-81EE12E02A32}"/>
              </a:ext>
            </a:extLst>
          </p:cNvPr>
          <p:cNvSpPr/>
          <p:nvPr/>
        </p:nvSpPr>
        <p:spPr>
          <a:xfrm>
            <a:off x="486581" y="4900390"/>
            <a:ext cx="1423338" cy="572281"/>
          </a:xfrm>
          <a:prstGeom prst="homePlat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b="1" i="1" dirty="0">
                <a:solidFill>
                  <a:schemeClr val="bg1"/>
                </a:solidFill>
              </a:rPr>
              <a:t>Quantity</a:t>
            </a:r>
            <a:br>
              <a:rPr lang="en-US" altLang="ja-JP" sz="1400" b="1" i="1" dirty="0">
                <a:solidFill>
                  <a:schemeClr val="bg1"/>
                </a:solidFill>
              </a:rPr>
            </a:br>
            <a:r>
              <a:rPr lang="ja-JP" altLang="en-US" sz="1400" b="1" i="1" dirty="0">
                <a:solidFill>
                  <a:schemeClr val="bg1"/>
                </a:solidFill>
              </a:rPr>
              <a:t>（消席率≧</a:t>
            </a:r>
            <a:r>
              <a:rPr lang="en-US" altLang="ja-JP" sz="1400" b="1" i="1" dirty="0">
                <a:solidFill>
                  <a:schemeClr val="bg1"/>
                </a:solidFill>
              </a:rPr>
              <a:t>100%)</a:t>
            </a:r>
            <a:endParaRPr lang="ja-JP" altLang="en-US" sz="1400" b="1" i="1" dirty="0">
              <a:solidFill>
                <a:schemeClr val="bg1"/>
              </a:solidFill>
            </a:endParaRPr>
          </a:p>
        </p:txBody>
      </p:sp>
      <p:sp>
        <p:nvSpPr>
          <p:cNvPr id="108" name="矢印: 五方向 107">
            <a:extLst>
              <a:ext uri="{FF2B5EF4-FFF2-40B4-BE49-F238E27FC236}">
                <a16:creationId xmlns:a16="http://schemas.microsoft.com/office/drawing/2014/main" id="{1A3B50CF-FB78-4266-88E7-645523CC2A67}"/>
              </a:ext>
            </a:extLst>
          </p:cNvPr>
          <p:cNvSpPr/>
          <p:nvPr/>
        </p:nvSpPr>
        <p:spPr>
          <a:xfrm>
            <a:off x="486581" y="5543095"/>
            <a:ext cx="1423338" cy="572281"/>
          </a:xfrm>
          <a:prstGeom prst="homePlat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b="1" i="1" dirty="0">
                <a:solidFill>
                  <a:schemeClr val="bg1"/>
                </a:solidFill>
              </a:rPr>
              <a:t>Quality</a:t>
            </a:r>
            <a:br>
              <a:rPr lang="en-US" altLang="ja-JP" sz="1400" b="1" i="1" dirty="0">
                <a:solidFill>
                  <a:schemeClr val="bg1"/>
                </a:solidFill>
              </a:rPr>
            </a:br>
            <a:r>
              <a:rPr lang="en-US" altLang="ja-JP" sz="1400" b="1" i="1" dirty="0">
                <a:solidFill>
                  <a:schemeClr val="bg1"/>
                </a:solidFill>
              </a:rPr>
              <a:t>(</a:t>
            </a:r>
            <a:r>
              <a:rPr lang="ja-JP" altLang="en-US" sz="1400" b="1" i="1" dirty="0">
                <a:solidFill>
                  <a:schemeClr val="bg1"/>
                </a:solidFill>
              </a:rPr>
              <a:t>最適貨物選択）</a:t>
            </a:r>
            <a:endParaRPr lang="en-US" altLang="ja-JP" sz="1400" b="1" i="1" dirty="0">
              <a:solidFill>
                <a:schemeClr val="bg1"/>
              </a:solidFill>
            </a:endParaRPr>
          </a:p>
        </p:txBody>
      </p:sp>
      <p:sp>
        <p:nvSpPr>
          <p:cNvPr id="114" name="矢印: 五方向 113">
            <a:extLst>
              <a:ext uri="{FF2B5EF4-FFF2-40B4-BE49-F238E27FC236}">
                <a16:creationId xmlns:a16="http://schemas.microsoft.com/office/drawing/2014/main" id="{0E722035-41A8-4AB0-9CB4-E674F36FA505}"/>
              </a:ext>
            </a:extLst>
          </p:cNvPr>
          <p:cNvSpPr/>
          <p:nvPr/>
        </p:nvSpPr>
        <p:spPr>
          <a:xfrm>
            <a:off x="1987079" y="4941734"/>
            <a:ext cx="3025299" cy="489594"/>
          </a:xfrm>
          <a:prstGeom prst="homePlate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ja-JP" altLang="en-US" sz="1200" b="1" i="1" dirty="0">
                <a:solidFill>
                  <a:schemeClr val="accent4"/>
                </a:solidFill>
              </a:rPr>
              <a:t>正確な</a:t>
            </a:r>
            <a:r>
              <a:rPr lang="en-US" altLang="ja-JP" sz="1200" b="1" i="1" dirty="0">
                <a:solidFill>
                  <a:schemeClr val="accent4"/>
                </a:solidFill>
              </a:rPr>
              <a:t>AP</a:t>
            </a:r>
            <a:r>
              <a:rPr lang="ja-JP" altLang="en-US" sz="1200" b="1" i="1" dirty="0">
                <a:solidFill>
                  <a:schemeClr val="accent4"/>
                </a:solidFill>
              </a:rPr>
              <a:t>の策定</a:t>
            </a:r>
          </a:p>
        </p:txBody>
      </p:sp>
      <p:sp>
        <p:nvSpPr>
          <p:cNvPr id="115" name="矢印: 五方向 114">
            <a:extLst>
              <a:ext uri="{FF2B5EF4-FFF2-40B4-BE49-F238E27FC236}">
                <a16:creationId xmlns:a16="http://schemas.microsoft.com/office/drawing/2014/main" id="{A606E1C8-51C0-4807-BFE3-3C30B6DF057A}"/>
              </a:ext>
            </a:extLst>
          </p:cNvPr>
          <p:cNvSpPr/>
          <p:nvPr/>
        </p:nvSpPr>
        <p:spPr>
          <a:xfrm>
            <a:off x="5337994" y="4941733"/>
            <a:ext cx="6138039" cy="489594"/>
          </a:xfrm>
          <a:prstGeom prst="homePlate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179388" indent="-179388">
              <a:buFont typeface="Wingdings" panose="05000000000000000000" pitchFamily="2" charset="2"/>
              <a:buChar char="ü"/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策定を通じて把握された余剰スペースに対する、有効かつ効率的な営業活動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50" name="矢印: 五方向 149">
            <a:extLst>
              <a:ext uri="{FF2B5EF4-FFF2-40B4-BE49-F238E27FC236}">
                <a16:creationId xmlns:a16="http://schemas.microsoft.com/office/drawing/2014/main" id="{2BDE6F0C-675A-406D-B306-35532C71CC6A}"/>
              </a:ext>
            </a:extLst>
          </p:cNvPr>
          <p:cNvSpPr/>
          <p:nvPr/>
        </p:nvSpPr>
        <p:spPr>
          <a:xfrm>
            <a:off x="1987079" y="5584439"/>
            <a:ext cx="3025299" cy="489594"/>
          </a:xfrm>
          <a:prstGeom prst="homePlate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N.A</a:t>
            </a:r>
            <a:br>
              <a:rPr lang="en-US" altLang="ja-JP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ja-JP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ja-JP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(Before BKG Attempt)</a:t>
            </a:r>
          </a:p>
        </p:txBody>
      </p:sp>
      <p:sp>
        <p:nvSpPr>
          <p:cNvPr id="113" name="矢印: 五方向 112">
            <a:extLst>
              <a:ext uri="{FF2B5EF4-FFF2-40B4-BE49-F238E27FC236}">
                <a16:creationId xmlns:a16="http://schemas.microsoft.com/office/drawing/2014/main" id="{3D80E198-C59E-4E96-87DD-F5D26B95B747}"/>
              </a:ext>
            </a:extLst>
          </p:cNvPr>
          <p:cNvSpPr/>
          <p:nvPr/>
        </p:nvSpPr>
        <p:spPr>
          <a:xfrm>
            <a:off x="5337994" y="5584439"/>
            <a:ext cx="6138039" cy="489594"/>
          </a:xfrm>
          <a:prstGeom prst="homePlate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179388" indent="-179388">
              <a:buFont typeface="Wingdings" panose="05000000000000000000" pitchFamily="2" charset="2"/>
              <a:buChar char="ü"/>
            </a:pPr>
            <a:r>
              <a:rPr lang="ja-JP" altLang="en-US" sz="1200" b="1" i="1" dirty="0">
                <a:solidFill>
                  <a:schemeClr val="accent4"/>
                </a:solidFill>
              </a:rPr>
              <a:t>明確な</a:t>
            </a:r>
            <a:r>
              <a:rPr lang="en-US" altLang="ja-JP" sz="1200" b="1" i="1" dirty="0">
                <a:solidFill>
                  <a:schemeClr val="accent4"/>
                </a:solidFill>
              </a:rPr>
              <a:t>Rule</a:t>
            </a:r>
            <a:r>
              <a:rPr lang="ja-JP" altLang="en-US" sz="1200" b="1" i="1" dirty="0">
                <a:solidFill>
                  <a:schemeClr val="accent4"/>
                </a:solidFill>
              </a:rPr>
              <a:t>に基づく</a:t>
            </a:r>
            <a:r>
              <a:rPr lang="en-US" altLang="ja-JP" sz="1200" b="1" i="1" dirty="0">
                <a:solidFill>
                  <a:schemeClr val="accent4"/>
                </a:solidFill>
              </a:rPr>
              <a:t>BKG</a:t>
            </a:r>
            <a:r>
              <a:rPr lang="ja-JP" altLang="en-US" sz="1200" b="1" i="1" dirty="0">
                <a:solidFill>
                  <a:schemeClr val="accent4"/>
                </a:solidFill>
              </a:rPr>
              <a:t>の受入</a:t>
            </a:r>
            <a:endParaRPr lang="en-US" altLang="ja-JP" sz="1200" b="1" i="1" dirty="0">
              <a:solidFill>
                <a:schemeClr val="accent4"/>
              </a:solidFill>
            </a:endParaRPr>
          </a:p>
          <a:p>
            <a:pPr marL="288000" indent="-108000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altLang="ja-JP" sz="1050" dirty="0">
                <a:solidFill>
                  <a:schemeClr val="tx1"/>
                </a:solidFill>
              </a:rPr>
              <a:t>AP</a:t>
            </a:r>
            <a:r>
              <a:rPr lang="ja-JP" altLang="en-US" sz="1050" dirty="0">
                <a:solidFill>
                  <a:schemeClr val="tx1"/>
                </a:solidFill>
              </a:rPr>
              <a:t>顧客の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r>
              <a:rPr lang="ja-JP" altLang="en-US" sz="1050" dirty="0">
                <a:solidFill>
                  <a:schemeClr val="tx1"/>
                </a:solidFill>
              </a:rPr>
              <a:t>と優先的取り扱いを認められた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r>
              <a:rPr lang="ja-JP" altLang="en-US" sz="1050" dirty="0">
                <a:solidFill>
                  <a:schemeClr val="tx1"/>
                </a:solidFill>
              </a:rPr>
              <a:t>を即座に受け入れ、</a:t>
            </a:r>
            <a:r>
              <a:rPr lang="en-US" altLang="ja-JP" sz="1050" dirty="0">
                <a:solidFill>
                  <a:schemeClr val="tx1"/>
                </a:solidFill>
              </a:rPr>
              <a:t>AP Expiry Date</a:t>
            </a:r>
            <a:r>
              <a:rPr lang="ja-JP" altLang="en-US" sz="1050" dirty="0">
                <a:solidFill>
                  <a:schemeClr val="tx1"/>
                </a:solidFill>
              </a:rPr>
              <a:t>の経過後、その他の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r>
              <a:rPr lang="ja-JP" altLang="en-US" sz="1050" dirty="0">
                <a:solidFill>
                  <a:schemeClr val="tx1"/>
                </a:solidFill>
              </a:rPr>
              <a:t>を</a:t>
            </a:r>
            <a:r>
              <a:rPr lang="en-US" altLang="ja-JP" sz="1050" dirty="0">
                <a:solidFill>
                  <a:schemeClr val="tx1"/>
                </a:solidFill>
              </a:rPr>
              <a:t>CM</a:t>
            </a:r>
            <a:r>
              <a:rPr lang="ja-JP" altLang="en-US" sz="1050" dirty="0">
                <a:solidFill>
                  <a:schemeClr val="tx1"/>
                </a:solidFill>
              </a:rPr>
              <a:t>が高いものから受入</a:t>
            </a:r>
            <a:endParaRPr lang="ja-JP" alt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55" name="矢印: 五方向 54">
            <a:extLst>
              <a:ext uri="{FF2B5EF4-FFF2-40B4-BE49-F238E27FC236}">
                <a16:creationId xmlns:a16="http://schemas.microsoft.com/office/drawing/2014/main" id="{0926C841-A559-40DB-915C-7F1F25F904AE}"/>
              </a:ext>
            </a:extLst>
          </p:cNvPr>
          <p:cNvSpPr/>
          <p:nvPr/>
        </p:nvSpPr>
        <p:spPr>
          <a:xfrm rot="16200000">
            <a:off x="-90268" y="5507884"/>
            <a:ext cx="1081665" cy="0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216000" anchor="ctr"/>
          <a:lstStyle/>
          <a:p>
            <a:pPr algn="ctr"/>
            <a:r>
              <a:rPr lang="en-US" altLang="ja-JP" sz="1400" b="1" i="1" dirty="0">
                <a:solidFill>
                  <a:schemeClr val="bg2"/>
                </a:solidFill>
              </a:rPr>
              <a:t>Success Factor</a:t>
            </a:r>
            <a:endParaRPr lang="ja-JP" altLang="en-US" sz="1400" b="1" i="1" dirty="0">
              <a:solidFill>
                <a:schemeClr val="bg2"/>
              </a:solidFill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DBC5ED9-94A1-4DF4-AD35-741DC5777A0F}"/>
              </a:ext>
            </a:extLst>
          </p:cNvPr>
          <p:cNvGrpSpPr/>
          <p:nvPr/>
        </p:nvGrpSpPr>
        <p:grpSpPr>
          <a:xfrm>
            <a:off x="1909919" y="4869523"/>
            <a:ext cx="9505451" cy="1284153"/>
            <a:chOff x="2099552" y="4917206"/>
            <a:chExt cx="9315818" cy="1246386"/>
          </a:xfrm>
        </p:grpSpPr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7596DFF8-CF07-4F3D-A3EB-164689B10A86}"/>
                </a:ext>
              </a:extLst>
            </p:cNvPr>
            <p:cNvCxnSpPr>
              <a:cxnSpLocks/>
            </p:cNvCxnSpPr>
            <p:nvPr/>
          </p:nvCxnSpPr>
          <p:spPr>
            <a:xfrm>
              <a:off x="2099552" y="5536683"/>
              <a:ext cx="9315818" cy="0"/>
            </a:xfrm>
            <a:prstGeom prst="line">
              <a:avLst/>
            </a:prstGeom>
            <a:ln w="6350">
              <a:solidFill>
                <a:schemeClr val="bg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EEF91911-2C5E-44A9-A129-01D99B9BDA17}"/>
                </a:ext>
              </a:extLst>
            </p:cNvPr>
            <p:cNvCxnSpPr>
              <a:cxnSpLocks/>
            </p:cNvCxnSpPr>
            <p:nvPr/>
          </p:nvCxnSpPr>
          <p:spPr>
            <a:xfrm>
              <a:off x="2099552" y="4917206"/>
              <a:ext cx="9315818" cy="0"/>
            </a:xfrm>
            <a:prstGeom prst="line">
              <a:avLst/>
            </a:prstGeom>
            <a:ln w="6350">
              <a:solidFill>
                <a:schemeClr val="bg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74D75B31-78F2-4E13-B3AF-3E2B786EFC31}"/>
                </a:ext>
              </a:extLst>
            </p:cNvPr>
            <p:cNvCxnSpPr>
              <a:cxnSpLocks/>
            </p:cNvCxnSpPr>
            <p:nvPr/>
          </p:nvCxnSpPr>
          <p:spPr>
            <a:xfrm>
              <a:off x="2099552" y="6163592"/>
              <a:ext cx="9315818" cy="0"/>
            </a:xfrm>
            <a:prstGeom prst="line">
              <a:avLst/>
            </a:prstGeom>
            <a:ln w="6350">
              <a:solidFill>
                <a:schemeClr val="bg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矢印: 下 9">
            <a:extLst>
              <a:ext uri="{FF2B5EF4-FFF2-40B4-BE49-F238E27FC236}">
                <a16:creationId xmlns:a16="http://schemas.microsoft.com/office/drawing/2014/main" id="{95377073-1344-4178-B74C-CE1B313D894E}"/>
              </a:ext>
            </a:extLst>
          </p:cNvPr>
          <p:cNvSpPr/>
          <p:nvPr/>
        </p:nvSpPr>
        <p:spPr>
          <a:xfrm>
            <a:off x="3141263" y="4638952"/>
            <a:ext cx="716931" cy="191495"/>
          </a:xfrm>
          <a:prstGeom prst="downArrow">
            <a:avLst>
              <a:gd name="adj1" fmla="val 63280"/>
              <a:gd name="adj2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矢印: 下 61">
            <a:extLst>
              <a:ext uri="{FF2B5EF4-FFF2-40B4-BE49-F238E27FC236}">
                <a16:creationId xmlns:a16="http://schemas.microsoft.com/office/drawing/2014/main" id="{C7E9B8BC-9F7C-4543-99E6-B4EF2786A315}"/>
              </a:ext>
            </a:extLst>
          </p:cNvPr>
          <p:cNvSpPr/>
          <p:nvPr/>
        </p:nvSpPr>
        <p:spPr>
          <a:xfrm>
            <a:off x="6412786" y="4638952"/>
            <a:ext cx="716931" cy="191495"/>
          </a:xfrm>
          <a:prstGeom prst="downArrow">
            <a:avLst>
              <a:gd name="adj1" fmla="val 63280"/>
              <a:gd name="adj2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3" name="矢印: 下 62">
            <a:extLst>
              <a:ext uri="{FF2B5EF4-FFF2-40B4-BE49-F238E27FC236}">
                <a16:creationId xmlns:a16="http://schemas.microsoft.com/office/drawing/2014/main" id="{9AD30CC4-9EBE-4907-9380-448C72AF7428}"/>
              </a:ext>
            </a:extLst>
          </p:cNvPr>
          <p:cNvSpPr/>
          <p:nvPr/>
        </p:nvSpPr>
        <p:spPr>
          <a:xfrm>
            <a:off x="9684309" y="4638952"/>
            <a:ext cx="716931" cy="191495"/>
          </a:xfrm>
          <a:prstGeom prst="downArrow">
            <a:avLst>
              <a:gd name="adj1" fmla="val 63280"/>
              <a:gd name="adj2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09D1945-A54B-45F5-AE58-B69A2279722D}"/>
              </a:ext>
            </a:extLst>
          </p:cNvPr>
          <p:cNvSpPr/>
          <p:nvPr/>
        </p:nvSpPr>
        <p:spPr>
          <a:xfrm>
            <a:off x="882703" y="2056764"/>
            <a:ext cx="1018978" cy="23565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ja-JP" sz="1400" b="1" i="1" dirty="0">
                <a:solidFill>
                  <a:schemeClr val="tx1"/>
                </a:solidFill>
              </a:rPr>
              <a:t>Business</a:t>
            </a:r>
            <a:r>
              <a:rPr lang="ja-JP" altLang="en-US" sz="1400" b="1" i="1" dirty="0">
                <a:solidFill>
                  <a:schemeClr val="tx1"/>
                </a:solidFill>
              </a:rPr>
              <a:t> </a:t>
            </a:r>
            <a:r>
              <a:rPr lang="en-US" altLang="ja-JP" sz="1400" b="1" i="1" dirty="0">
                <a:solidFill>
                  <a:schemeClr val="tx1"/>
                </a:solidFill>
              </a:rPr>
              <a:t>Flow</a:t>
            </a:r>
            <a:br>
              <a:rPr lang="en-US" altLang="ja-JP" sz="1400" b="1" i="1" dirty="0">
                <a:solidFill>
                  <a:schemeClr val="tx1"/>
                </a:solidFill>
              </a:rPr>
            </a:br>
            <a:r>
              <a:rPr lang="en-US" altLang="ja-JP" sz="1400" b="1" dirty="0">
                <a:solidFill>
                  <a:schemeClr val="tx1"/>
                </a:solidFill>
              </a:rPr>
              <a:t>(see           )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9CC6ECA9-5F5E-4870-8822-908705D11BD6}"/>
              </a:ext>
            </a:extLst>
          </p:cNvPr>
          <p:cNvSpPr/>
          <p:nvPr/>
        </p:nvSpPr>
        <p:spPr>
          <a:xfrm>
            <a:off x="4367101" y="3852847"/>
            <a:ext cx="978093" cy="56444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b"/>
          <a:lstStyle/>
          <a:p>
            <a:r>
              <a:rPr lang="en-US" altLang="ja-JP" sz="1050" dirty="0">
                <a:solidFill>
                  <a:schemeClr val="tx1"/>
                </a:solidFill>
              </a:rPr>
              <a:t>*</a:t>
            </a:r>
            <a:r>
              <a:rPr lang="ja-JP" altLang="en-US" sz="1050" dirty="0">
                <a:solidFill>
                  <a:schemeClr val="tx1"/>
                </a:solidFill>
              </a:rPr>
              <a:t> 契約を締結済みの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ja-JP" altLang="en-US" sz="1050" dirty="0">
                <a:solidFill>
                  <a:schemeClr val="tx1"/>
                </a:solidFill>
              </a:rPr>
              <a:t>顧客に対して、確約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ja-JP" altLang="en-US" sz="1050" dirty="0">
                <a:solidFill>
                  <a:schemeClr val="tx1"/>
                </a:solidFill>
              </a:rPr>
              <a:t>した数量</a:t>
            </a:r>
            <a:endParaRPr lang="en-US" altLang="ja-JP" sz="1050" dirty="0">
              <a:solidFill>
                <a:schemeClr val="tx1"/>
              </a:solidFill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0664285-E0F1-4DF8-962F-54231F36464C}"/>
              </a:ext>
            </a:extLst>
          </p:cNvPr>
          <p:cNvSpPr/>
          <p:nvPr/>
        </p:nvSpPr>
        <p:spPr>
          <a:xfrm>
            <a:off x="7637179" y="3553553"/>
            <a:ext cx="1303145" cy="86374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b"/>
          <a:lstStyle/>
          <a:p>
            <a:r>
              <a:rPr lang="en-US" altLang="ja-JP" sz="1050" dirty="0">
                <a:solidFill>
                  <a:schemeClr val="tx1"/>
                </a:solidFill>
              </a:rPr>
              <a:t>* AP</a:t>
            </a:r>
            <a:r>
              <a:rPr lang="ja-JP" altLang="en-US" sz="1050" dirty="0">
                <a:solidFill>
                  <a:schemeClr val="tx1"/>
                </a:solidFill>
              </a:rPr>
              <a:t>に基づく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r>
              <a:rPr lang="ja-JP" altLang="en-US" sz="1050" dirty="0">
                <a:solidFill>
                  <a:schemeClr val="tx1"/>
                </a:solidFill>
              </a:rPr>
              <a:t>、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ja-JP" altLang="en-US" sz="1050" dirty="0">
                <a:solidFill>
                  <a:schemeClr val="tx1"/>
                </a:solidFill>
              </a:rPr>
              <a:t>及び優先的取り扱い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ja-JP" altLang="en-US" sz="1050" dirty="0">
                <a:solidFill>
                  <a:schemeClr val="tx1"/>
                </a:solidFill>
              </a:rPr>
              <a:t>を認められた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(</a:t>
            </a:r>
            <a:r>
              <a:rPr lang="ja-JP" altLang="en-US" sz="1050" dirty="0">
                <a:solidFill>
                  <a:schemeClr val="tx1"/>
                </a:solidFill>
              </a:rPr>
              <a:t>自動的に受入</a:t>
            </a:r>
            <a:r>
              <a:rPr lang="en-US" altLang="ja-JP" sz="105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2" name="矢印: 五方向 71">
            <a:extLst>
              <a:ext uri="{FF2B5EF4-FFF2-40B4-BE49-F238E27FC236}">
                <a16:creationId xmlns:a16="http://schemas.microsoft.com/office/drawing/2014/main" id="{6EAE3AB5-B3FD-49F0-A01B-C61E4ECDC616}"/>
              </a:ext>
            </a:extLst>
          </p:cNvPr>
          <p:cNvSpPr/>
          <p:nvPr/>
        </p:nvSpPr>
        <p:spPr>
          <a:xfrm>
            <a:off x="5181442" y="1910561"/>
            <a:ext cx="3179620" cy="229521"/>
          </a:xfrm>
          <a:prstGeom prst="homePlate">
            <a:avLst>
              <a:gd name="adj" fmla="val 39908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追加営業活動の展開</a:t>
            </a:r>
          </a:p>
        </p:txBody>
      </p:sp>
      <p:sp>
        <p:nvSpPr>
          <p:cNvPr id="120" name="矢印: 五方向 119">
            <a:extLst>
              <a:ext uri="{FF2B5EF4-FFF2-40B4-BE49-F238E27FC236}">
                <a16:creationId xmlns:a16="http://schemas.microsoft.com/office/drawing/2014/main" id="{BB10D7BD-3814-42B8-B0F5-3701D3907F22}"/>
              </a:ext>
            </a:extLst>
          </p:cNvPr>
          <p:cNvSpPr/>
          <p:nvPr/>
        </p:nvSpPr>
        <p:spPr>
          <a:xfrm>
            <a:off x="5181442" y="2140082"/>
            <a:ext cx="3179620" cy="400492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/>
          <a:lstStyle/>
          <a:p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顧客のみでは埋められないスペースを埋めるべく、</a:t>
            </a:r>
            <a:r>
              <a:rPr lang="en-US" altLang="ja-JP" sz="1200" dirty="0">
                <a:solidFill>
                  <a:schemeClr val="tx1"/>
                </a:solidFill>
              </a:rPr>
              <a:t>Spot/Short</a:t>
            </a:r>
            <a:r>
              <a:rPr lang="ja-JP" altLang="en-US" sz="1200" dirty="0">
                <a:solidFill>
                  <a:schemeClr val="tx1"/>
                </a:solidFill>
              </a:rPr>
              <a:t>を中心とした営業活動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9F7E52E6-0AA0-41D1-8947-13CBB7EC2BB0}"/>
              </a:ext>
            </a:extLst>
          </p:cNvPr>
          <p:cNvSpPr/>
          <p:nvPr/>
        </p:nvSpPr>
        <p:spPr>
          <a:xfrm>
            <a:off x="5905210" y="2728011"/>
            <a:ext cx="1732083" cy="422688"/>
          </a:xfrm>
          <a:prstGeom prst="rect">
            <a:avLst/>
          </a:prstGeom>
          <a:pattFill prst="ltUpDiag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Non AP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(Prioritized Cargoes*)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242B4F66-B7F0-4243-AC9A-6D59794625DF}"/>
              </a:ext>
            </a:extLst>
          </p:cNvPr>
          <p:cNvSpPr/>
          <p:nvPr/>
        </p:nvSpPr>
        <p:spPr>
          <a:xfrm>
            <a:off x="5905210" y="3150699"/>
            <a:ext cx="1732083" cy="2717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Space to Fill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矢印: 右 134">
            <a:extLst>
              <a:ext uri="{FF2B5EF4-FFF2-40B4-BE49-F238E27FC236}">
                <a16:creationId xmlns:a16="http://schemas.microsoft.com/office/drawing/2014/main" id="{C0BE5142-9AED-48FF-B7A1-C64AE55F2A56}"/>
              </a:ext>
            </a:extLst>
          </p:cNvPr>
          <p:cNvSpPr/>
          <p:nvPr/>
        </p:nvSpPr>
        <p:spPr>
          <a:xfrm>
            <a:off x="4320002" y="2853558"/>
            <a:ext cx="1630974" cy="135245"/>
          </a:xfrm>
          <a:prstGeom prst="rightArrow">
            <a:avLst>
              <a:gd name="adj1" fmla="val 44166"/>
              <a:gd name="adj2" fmla="val 113385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4FF0B9F0-AE20-454E-B051-19238F4DDD86}"/>
              </a:ext>
            </a:extLst>
          </p:cNvPr>
          <p:cNvSpPr/>
          <p:nvPr/>
        </p:nvSpPr>
        <p:spPr>
          <a:xfrm>
            <a:off x="7591526" y="3218966"/>
            <a:ext cx="1630974" cy="135245"/>
          </a:xfrm>
          <a:prstGeom prst="rightArrow">
            <a:avLst>
              <a:gd name="adj1" fmla="val 44166"/>
              <a:gd name="adj2" fmla="val 113385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スライド番号プレースホルダー 3">
            <a:extLst>
              <a:ext uri="{FF2B5EF4-FFF2-40B4-BE49-F238E27FC236}">
                <a16:creationId xmlns:a16="http://schemas.microsoft.com/office/drawing/2014/main" id="{23FC978C-A5D6-4914-AB86-166C5CD313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57911" y="6479931"/>
            <a:ext cx="2743200" cy="2415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5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B219BC00-6C34-4A48-9B00-B82E370CA3B4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E811456-4ED3-4189-B2B2-E9FEB4E49B8B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kumimoji="1"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9" name="矢印: 五方向 68">
            <a:extLst>
              <a:ext uri="{FF2B5EF4-FFF2-40B4-BE49-F238E27FC236}">
                <a16:creationId xmlns:a16="http://schemas.microsoft.com/office/drawing/2014/main" id="{A3FD11E4-AF7E-43D7-8EEF-D6457E21D117}"/>
              </a:ext>
            </a:extLst>
          </p:cNvPr>
          <p:cNvSpPr/>
          <p:nvPr/>
        </p:nvSpPr>
        <p:spPr>
          <a:xfrm>
            <a:off x="647359" y="6260963"/>
            <a:ext cx="1438032" cy="389227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（</a:t>
            </a:r>
            <a:r>
              <a:rPr lang="en-US" altLang="ja-JP" sz="1100" dirty="0">
                <a:solidFill>
                  <a:schemeClr val="tx1"/>
                </a:solidFill>
              </a:rPr>
              <a:t>AP</a:t>
            </a:r>
            <a:r>
              <a:rPr lang="ja-JP" altLang="en-US" sz="1100" dirty="0">
                <a:solidFill>
                  <a:schemeClr val="tx1"/>
                </a:solidFill>
              </a:rPr>
              <a:t>顧客の位置付け）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endParaRPr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78" name="矢印: 五方向 77">
            <a:extLst>
              <a:ext uri="{FF2B5EF4-FFF2-40B4-BE49-F238E27FC236}">
                <a16:creationId xmlns:a16="http://schemas.microsoft.com/office/drawing/2014/main" id="{7249FEDC-4CC1-4809-AD5D-E8DF6F922C69}"/>
              </a:ext>
            </a:extLst>
          </p:cNvPr>
          <p:cNvSpPr/>
          <p:nvPr/>
        </p:nvSpPr>
        <p:spPr>
          <a:xfrm>
            <a:off x="822879" y="3309340"/>
            <a:ext cx="1590434" cy="163442"/>
          </a:xfrm>
          <a:prstGeom prst="homePlate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r"/>
            <a:r>
              <a:rPr lang="en-US" altLang="ja-JP" sz="900" dirty="0">
                <a:solidFill>
                  <a:schemeClr val="tx1"/>
                </a:solidFill>
              </a:rPr>
              <a:t>(excl. ONE QUOTE)</a:t>
            </a:r>
            <a:endParaRPr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D4D1AFE-9FB8-4903-AB06-31FF3D234DD2}"/>
              </a:ext>
            </a:extLst>
          </p:cNvPr>
          <p:cNvSpPr/>
          <p:nvPr/>
        </p:nvSpPr>
        <p:spPr>
          <a:xfrm>
            <a:off x="1250632" y="2214668"/>
            <a:ext cx="457658" cy="171104"/>
          </a:xfrm>
          <a:prstGeom prst="rect">
            <a:avLst/>
          </a:prstGeom>
          <a:pattFill prst="ltUpDiag">
            <a:fgClr>
              <a:schemeClr val="accent5">
                <a:lumMod val="60000"/>
                <a:lumOff val="40000"/>
              </a:schemeClr>
            </a:fgClr>
            <a:bgClr>
              <a:schemeClr val="bg1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21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74DE203E-F4F9-4BD9-85FA-429B0263E0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186668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337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8E93073-8CF5-4193-8DC8-8B85DCEF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将来ビジョン ～</a:t>
            </a:r>
            <a:r>
              <a:rPr kumimoji="1" lang="en-US" altLang="ja-JP" dirty="0"/>
              <a:t>Space Management</a:t>
            </a:r>
            <a:r>
              <a:rPr kumimoji="1" lang="ja-JP" altLang="en-US" dirty="0"/>
              <a:t>の追求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C91130-585D-4EB0-A256-984DB5D06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Space Management</a:t>
            </a:r>
            <a:r>
              <a:rPr kumimoji="1" lang="ja-JP" altLang="en-US" dirty="0"/>
              <a:t>の高度化を追求し、</a:t>
            </a:r>
            <a:r>
              <a:rPr kumimoji="1" lang="ja-JP" altLang="en-US" dirty="0">
                <a:solidFill>
                  <a:schemeClr val="tx1"/>
                </a:solidFill>
              </a:rPr>
              <a:t>最終的には幹線サービスと域内サービスが相互補完関係にあり、シナジーを発揮できるような、</a:t>
            </a:r>
            <a:r>
              <a:rPr kumimoji="1" lang="en-US" altLang="ja-JP" dirty="0">
                <a:solidFill>
                  <a:schemeClr val="tx1"/>
                </a:solidFill>
              </a:rPr>
              <a:t>ONE</a:t>
            </a:r>
            <a:r>
              <a:rPr kumimoji="1" lang="ja-JP" altLang="en-US" dirty="0">
                <a:solidFill>
                  <a:schemeClr val="tx1"/>
                </a:solidFill>
              </a:rPr>
              <a:t>全体としてのサービスネットワークの最適化を志向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2C53DD-BDAC-43AC-A0B1-DA7DB3B3E2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EFF1C33-FFEB-4F9D-BC12-60CB4EDAD4C4}"/>
              </a:ext>
            </a:extLst>
          </p:cNvPr>
          <p:cNvSpPr/>
          <p:nvPr/>
        </p:nvSpPr>
        <p:spPr>
          <a:xfrm>
            <a:off x="1959807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4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Introduction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13967A2A-DE80-496D-A852-C1002AA399A5}"/>
              </a:ext>
            </a:extLst>
          </p:cNvPr>
          <p:cNvSpPr/>
          <p:nvPr/>
        </p:nvSpPr>
        <p:spPr>
          <a:xfrm>
            <a:off x="4172092" y="3516727"/>
            <a:ext cx="2664296" cy="10731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lang="ja-JP" altLang="en-US" dirty="0">
                <a:solidFill>
                  <a:schemeClr val="tx1"/>
                </a:solidFill>
              </a:rPr>
              <a:t>各サービスの高度化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と相互連携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49DABB71-582E-4DE8-B544-50EEF7A15B78}"/>
              </a:ext>
            </a:extLst>
          </p:cNvPr>
          <p:cNvSpPr/>
          <p:nvPr/>
        </p:nvSpPr>
        <p:spPr>
          <a:xfrm>
            <a:off x="8574903" y="1720691"/>
            <a:ext cx="3223799" cy="128561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lang="ja-JP" altLang="en-US" dirty="0">
                <a:solidFill>
                  <a:schemeClr val="tx1"/>
                </a:solidFill>
              </a:rPr>
              <a:t>サービスネットワーク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の最適化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094E8802-10AF-4079-ACF1-6BCB1873BF4D}"/>
              </a:ext>
            </a:extLst>
          </p:cNvPr>
          <p:cNvSpPr/>
          <p:nvPr/>
        </p:nvSpPr>
        <p:spPr>
          <a:xfrm>
            <a:off x="8393409" y="3066691"/>
            <a:ext cx="3435107" cy="2285078"/>
          </a:xfrm>
          <a:prstGeom prst="homePlate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1400" b="1" u="sng" dirty="0">
                <a:solidFill>
                  <a:schemeClr val="tx1"/>
                </a:solidFill>
              </a:rPr>
              <a:t>THE Alliance</a:t>
            </a:r>
            <a:r>
              <a:rPr lang="ja-JP" altLang="en-US" sz="1400" b="1" u="sng" dirty="0">
                <a:solidFill>
                  <a:schemeClr val="tx1"/>
                </a:solidFill>
              </a:rPr>
              <a:t>のネットワーク策定</a:t>
            </a:r>
            <a:br>
              <a:rPr lang="en-US" altLang="ja-JP" sz="1400" dirty="0">
                <a:solidFill>
                  <a:schemeClr val="tx1"/>
                </a:solidFill>
              </a:rPr>
            </a:br>
            <a:r>
              <a:rPr lang="en-US" altLang="ja-JP" sz="1400" dirty="0">
                <a:solidFill>
                  <a:schemeClr val="tx1"/>
                </a:solidFill>
              </a:rPr>
              <a:t>IPC</a:t>
            </a:r>
            <a:r>
              <a:rPr lang="ja-JP" altLang="en-US" sz="1400" dirty="0">
                <a:solidFill>
                  <a:schemeClr val="tx1"/>
                </a:solidFill>
              </a:rPr>
              <a:t>や</a:t>
            </a:r>
            <a:r>
              <a:rPr lang="en-US" altLang="ja-JP" sz="1400" dirty="0">
                <a:solidFill>
                  <a:schemeClr val="tx1"/>
                </a:solidFill>
              </a:rPr>
              <a:t>T/S</a:t>
            </a:r>
            <a:r>
              <a:rPr lang="ja-JP" altLang="en-US" sz="1400" dirty="0">
                <a:solidFill>
                  <a:schemeClr val="tx1"/>
                </a:solidFill>
              </a:rPr>
              <a:t>まで含めた、より広範囲な荷動きのトレンドを捉えることで、顧客への提供価値が増した幹線サービスの構築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ja-JP" altLang="en-US" sz="1400" b="1" u="sng" dirty="0">
                <a:solidFill>
                  <a:schemeClr val="tx1"/>
                </a:solidFill>
              </a:rPr>
              <a:t>アジア域内のサービス策定</a:t>
            </a:r>
            <a:br>
              <a:rPr lang="en-US" altLang="ja-JP" sz="1400" b="1" u="sng" dirty="0">
                <a:solidFill>
                  <a:schemeClr val="tx1"/>
                </a:solidFill>
              </a:rPr>
            </a:br>
            <a:r>
              <a:rPr lang="en-US" altLang="ja-JP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Alliance</a:t>
            </a:r>
            <a:r>
              <a:rPr lang="ja-JP" alt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ではカバーできない地域・国・ポートペアなど、</a:t>
            </a:r>
            <a:r>
              <a:rPr lang="en-US" altLang="ja-JP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IPC/TS</a:t>
            </a:r>
            <a:r>
              <a:rPr lang="ja-JP" alt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に係るよりきめ細かな需要を取り込んだサービスの構築</a:t>
            </a:r>
            <a:endParaRPr lang="en-US" altLang="ja-JP" sz="1400" dirty="0">
              <a:solidFill>
                <a:schemeClr val="accent4"/>
              </a:solidFill>
            </a:endParaRP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81619655-B47D-42BD-B372-1E4EF15292C6}"/>
              </a:ext>
            </a:extLst>
          </p:cNvPr>
          <p:cNvSpPr/>
          <p:nvPr/>
        </p:nvSpPr>
        <p:spPr>
          <a:xfrm>
            <a:off x="4081669" y="4669676"/>
            <a:ext cx="3564396" cy="1319182"/>
          </a:xfrm>
          <a:prstGeom prst="homePlate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kumimoji="1" lang="en-US" altLang="ja-JP" sz="1400" b="1" u="sng" dirty="0">
                <a:solidFill>
                  <a:schemeClr val="tx1"/>
                </a:solidFill>
              </a:rPr>
              <a:t>OCN</a:t>
            </a:r>
            <a:r>
              <a:rPr kumimoji="1" lang="ja-JP" altLang="en-US" sz="1400" b="1" u="sng" dirty="0">
                <a:solidFill>
                  <a:schemeClr val="tx1"/>
                </a:solidFill>
              </a:rPr>
              <a:t>の更なる高度化</a:t>
            </a:r>
            <a:br>
              <a:rPr kumimoji="1" lang="en-US" altLang="ja-JP" sz="1400" b="1" u="sng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消席率≧</a:t>
            </a:r>
            <a:r>
              <a:rPr kumimoji="1" lang="en-US" altLang="ja-JP" sz="1400" dirty="0">
                <a:solidFill>
                  <a:schemeClr val="tx1"/>
                </a:solidFill>
              </a:rPr>
              <a:t>100%</a:t>
            </a:r>
            <a:r>
              <a:rPr kumimoji="1" lang="ja-JP" altLang="en-US" sz="1400" dirty="0">
                <a:solidFill>
                  <a:schemeClr val="tx1"/>
                </a:solidFill>
              </a:rPr>
              <a:t>の常時達成と高利益化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kumimoji="1" lang="ja-JP" altLang="en-US" sz="1400" b="1" u="sng" dirty="0">
                <a:solidFill>
                  <a:schemeClr val="tx1"/>
                </a:solidFill>
              </a:rPr>
              <a:t>余剰スペースの全社有効活用</a:t>
            </a:r>
            <a:br>
              <a:rPr kumimoji="1" lang="en-US" altLang="ja-JP" sz="1400" b="1" u="sng" dirty="0">
                <a:solidFill>
                  <a:schemeClr val="tx1"/>
                </a:solidFill>
              </a:rPr>
            </a:br>
            <a:r>
              <a:rPr kumimoji="1" lang="en-US" altLang="ja-JP" sz="1400" dirty="0">
                <a:solidFill>
                  <a:schemeClr val="tx1"/>
                </a:solidFill>
              </a:rPr>
              <a:t>IPC</a:t>
            </a:r>
            <a:r>
              <a:rPr kumimoji="1" lang="ja-JP" altLang="en-US" sz="1400" dirty="0">
                <a:solidFill>
                  <a:schemeClr val="tx1"/>
                </a:solidFill>
              </a:rPr>
              <a:t>の積み上げ、</a:t>
            </a:r>
            <a:r>
              <a:rPr kumimoji="1" lang="en-US" altLang="ja-JP" sz="1400" dirty="0">
                <a:solidFill>
                  <a:schemeClr val="tx1"/>
                </a:solidFill>
              </a:rPr>
              <a:t>T/S</a:t>
            </a:r>
            <a:r>
              <a:rPr kumimoji="1" lang="ja-JP" altLang="en-US" sz="1400" dirty="0">
                <a:solidFill>
                  <a:schemeClr val="tx1"/>
                </a:solidFill>
              </a:rPr>
              <a:t>誘致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B4095349-FD2A-4532-BAB4-95103FEE0C1E}"/>
              </a:ext>
            </a:extLst>
          </p:cNvPr>
          <p:cNvSpPr/>
          <p:nvPr/>
        </p:nvSpPr>
        <p:spPr>
          <a:xfrm>
            <a:off x="650647" y="5255905"/>
            <a:ext cx="1654318" cy="73295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As-Is</a:t>
            </a:r>
          </a:p>
        </p:txBody>
      </p:sp>
      <p:sp>
        <p:nvSpPr>
          <p:cNvPr id="25" name="図形 24">
            <a:extLst>
              <a:ext uri="{FF2B5EF4-FFF2-40B4-BE49-F238E27FC236}">
                <a16:creationId xmlns:a16="http://schemas.microsoft.com/office/drawing/2014/main" id="{C7DFB435-6FDB-40B2-BF43-4C406F324136}"/>
              </a:ext>
            </a:extLst>
          </p:cNvPr>
          <p:cNvSpPr/>
          <p:nvPr/>
        </p:nvSpPr>
        <p:spPr>
          <a:xfrm rot="21110811">
            <a:off x="1894530" y="3974635"/>
            <a:ext cx="2477567" cy="1323404"/>
          </a:xfrm>
          <a:prstGeom prst="swooshArrow">
            <a:avLst>
              <a:gd name="adj1" fmla="val 25000"/>
              <a:gd name="adj2" fmla="val 4477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10C2E0A-1B06-47CE-8D7B-8CF9D2FDC3C9}"/>
              </a:ext>
            </a:extLst>
          </p:cNvPr>
          <p:cNvSpPr/>
          <p:nvPr/>
        </p:nvSpPr>
        <p:spPr>
          <a:xfrm>
            <a:off x="445407" y="3045051"/>
            <a:ext cx="7249014" cy="3187997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4C46F65-96D7-46BC-935F-07EFB6FB6178}"/>
              </a:ext>
            </a:extLst>
          </p:cNvPr>
          <p:cNvSpPr/>
          <p:nvPr/>
        </p:nvSpPr>
        <p:spPr>
          <a:xfrm>
            <a:off x="322777" y="2851180"/>
            <a:ext cx="3431654" cy="276206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</a:rPr>
              <a:t>本</a:t>
            </a:r>
            <a:r>
              <a:rPr kumimoji="1" lang="en-US" altLang="ja-JP" sz="1400" dirty="0">
                <a:solidFill>
                  <a:schemeClr val="bg1"/>
                </a:solidFill>
              </a:rPr>
              <a:t>Grand Design</a:t>
            </a:r>
            <a:r>
              <a:rPr kumimoji="1" lang="ja-JP" altLang="en-US" sz="1400" dirty="0">
                <a:solidFill>
                  <a:schemeClr val="bg1"/>
                </a:solidFill>
              </a:rPr>
              <a:t>のテーマ</a:t>
            </a:r>
          </a:p>
        </p:txBody>
      </p:sp>
      <p:sp>
        <p:nvSpPr>
          <p:cNvPr id="22" name="図形 21">
            <a:extLst>
              <a:ext uri="{FF2B5EF4-FFF2-40B4-BE49-F238E27FC236}">
                <a16:creationId xmlns:a16="http://schemas.microsoft.com/office/drawing/2014/main" id="{2495DDF7-93BC-470F-A746-92ABCC51CE7D}"/>
              </a:ext>
            </a:extLst>
          </p:cNvPr>
          <p:cNvSpPr/>
          <p:nvPr/>
        </p:nvSpPr>
        <p:spPr>
          <a:xfrm rot="21110811">
            <a:off x="6340268" y="2359119"/>
            <a:ext cx="2477567" cy="1323404"/>
          </a:xfrm>
          <a:prstGeom prst="swooshArrow">
            <a:avLst>
              <a:gd name="adj1" fmla="val 25000"/>
              <a:gd name="adj2" fmla="val 4477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ja-JP" altLang="en-US" dirty="0"/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B0641D34-35ED-4D3E-A6C5-D9030AA6FFA6}"/>
              </a:ext>
            </a:extLst>
          </p:cNvPr>
          <p:cNvSpPr/>
          <p:nvPr/>
        </p:nvSpPr>
        <p:spPr>
          <a:xfrm>
            <a:off x="8457944" y="5661036"/>
            <a:ext cx="3370572" cy="783762"/>
          </a:xfrm>
          <a:prstGeom prst="homePlate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400" b="1" u="sng" dirty="0">
                <a:solidFill>
                  <a:srgbClr val="222222"/>
                </a:solidFill>
                <a:latin typeface="arial" panose="020B0604020202020204" pitchFamily="34" charset="0"/>
              </a:rPr>
              <a:t>幹線サービスと域内サービスの</a:t>
            </a:r>
            <a:br>
              <a:rPr lang="en-US" altLang="ja-JP" sz="1400" b="1" u="sng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ja-JP" altLang="en-US" sz="1400" b="1" u="sng" dirty="0">
                <a:solidFill>
                  <a:srgbClr val="222222"/>
                </a:solidFill>
                <a:latin typeface="arial" panose="020B0604020202020204" pitchFamily="34" charset="0"/>
              </a:rPr>
              <a:t>組み合わせによる全体ネットワークの最適化</a:t>
            </a:r>
            <a:br>
              <a:rPr lang="en-US" altLang="ja-JP" sz="1400" b="1" u="sng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ja-JP" altLang="en-US" sz="1400" b="1" u="sng" dirty="0">
                <a:solidFill>
                  <a:srgbClr val="222222"/>
                </a:solidFill>
                <a:latin typeface="arial" panose="020B0604020202020204" pitchFamily="34" charset="0"/>
              </a:rPr>
              <a:t>（相互補完関係の強化）</a:t>
            </a:r>
            <a:endParaRPr lang="en-US" altLang="ja-JP" sz="1400" b="1" u="sng" dirty="0">
              <a:solidFill>
                <a:schemeClr val="accent4"/>
              </a:solidFill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5996174B-C209-47B7-A64C-3FE2BCD97186}"/>
              </a:ext>
            </a:extLst>
          </p:cNvPr>
          <p:cNvSpPr/>
          <p:nvPr/>
        </p:nvSpPr>
        <p:spPr>
          <a:xfrm>
            <a:off x="9208337" y="5403505"/>
            <a:ext cx="1869787" cy="197363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BEDBCAF-557B-4F7B-BBDE-B8CB53F78C5F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DDFA9E8-51F9-46AE-AC4D-C0BF1D864F2F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CD7B58D3-247E-4476-B4FB-1E68825A5316}"/>
              </a:ext>
            </a:extLst>
          </p:cNvPr>
          <p:cNvSpPr/>
          <p:nvPr/>
        </p:nvSpPr>
        <p:spPr>
          <a:xfrm>
            <a:off x="4063606" y="3382902"/>
            <a:ext cx="1334677" cy="315802"/>
          </a:xfrm>
          <a:prstGeom prst="homePlate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b="1" i="1" dirty="0">
                <a:solidFill>
                  <a:schemeClr val="accent4"/>
                </a:solidFill>
              </a:rPr>
              <a:t>Next Stage</a:t>
            </a: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F5A24127-6BD9-494E-8769-7F3B41209CF5}"/>
              </a:ext>
            </a:extLst>
          </p:cNvPr>
          <p:cNvSpPr/>
          <p:nvPr/>
        </p:nvSpPr>
        <p:spPr>
          <a:xfrm>
            <a:off x="8466417" y="1608095"/>
            <a:ext cx="1334677" cy="315802"/>
          </a:xfrm>
          <a:prstGeom prst="homePlate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b="1" i="1" dirty="0">
                <a:solidFill>
                  <a:schemeClr val="accent4"/>
                </a:solidFill>
              </a:rPr>
              <a:t>Future Vision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F34AC058-A8A0-4421-8A51-A7BAFDB69503}"/>
              </a:ext>
            </a:extLst>
          </p:cNvPr>
          <p:cNvSpPr/>
          <p:nvPr/>
        </p:nvSpPr>
        <p:spPr>
          <a:xfrm>
            <a:off x="1920801" y="4312396"/>
            <a:ext cx="1213343" cy="282119"/>
          </a:xfrm>
          <a:prstGeom prst="homePlate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Next Step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883265B3-B564-40AC-BF64-35580ACFC1C1}"/>
              </a:ext>
            </a:extLst>
          </p:cNvPr>
          <p:cNvSpPr/>
          <p:nvPr/>
        </p:nvSpPr>
        <p:spPr>
          <a:xfrm>
            <a:off x="5675358" y="2249751"/>
            <a:ext cx="2600908" cy="559462"/>
          </a:xfrm>
          <a:prstGeom prst="homePlate">
            <a:avLst>
              <a:gd name="adj" fmla="val 0"/>
            </a:avLst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Further Step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(to consider</a:t>
            </a:r>
            <a:r>
              <a:rPr lang="ja-JP" altLang="en-US" sz="1400" dirty="0">
                <a:solidFill>
                  <a:schemeClr val="tx1"/>
                </a:solidFill>
              </a:rPr>
              <a:t> </a:t>
            </a:r>
            <a:r>
              <a:rPr lang="en-US" altLang="ja-JP" sz="1400" dirty="0">
                <a:solidFill>
                  <a:schemeClr val="tx1"/>
                </a:solidFill>
              </a:rPr>
              <a:t>in the future)</a:t>
            </a:r>
          </a:p>
        </p:txBody>
      </p:sp>
    </p:spTree>
    <p:extLst>
      <p:ext uri="{BB962C8B-B14F-4D97-AF65-F5344CB8AC3E}">
        <p14:creationId xmlns:p14="http://schemas.microsoft.com/office/powerpoint/2010/main" val="172948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1AE956F4-2BDA-40E9-9743-9C55A6A2F43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207151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578" name="think-cell スライド" r:id="rId7" imgW="592" imgH="595" progId="TCLayout.ActiveDocument.1">
                  <p:embed/>
                </p:oleObj>
              </mc:Choice>
              <mc:Fallback>
                <p:oleObj name="think-cell スライド" r:id="rId7" imgW="592" imgH="595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1AE956F4-2BDA-40E9-9743-9C55A6A2F4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正方形/長方形 5" hidden="1">
            <a:extLst>
              <a:ext uri="{FF2B5EF4-FFF2-40B4-BE49-F238E27FC236}">
                <a16:creationId xmlns:a16="http://schemas.microsoft.com/office/drawing/2014/main" id="{54A4672E-B373-4EEC-A8FF-5C0F9C272A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7" name="正方形/長方形 6" hidden="1">
            <a:extLst>
              <a:ext uri="{FF2B5EF4-FFF2-40B4-BE49-F238E27FC236}">
                <a16:creationId xmlns:a16="http://schemas.microsoft.com/office/drawing/2014/main" id="{B3B680C4-B193-4DAF-AF65-F59A4E6A8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01315A-4855-4D79-A285-B7B84B0A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ja-JP" dirty="0"/>
              <a:t>Space Management Grand Design</a:t>
            </a:r>
            <a:r>
              <a:rPr kumimoji="1" lang="ja-JP" altLang="en-US" dirty="0"/>
              <a:t> </a:t>
            </a:r>
            <a:r>
              <a:rPr kumimoji="1" lang="en-US" altLang="ja-JP" dirty="0"/>
              <a:t>(repost)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DB84523E-000E-4D2A-8CC0-0D6BD692D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スペースマネジメントの目的とあるべき姿、及び全ての取組みにおいて遵守すべき基本原則を定義したうえで、ターゲットを設定する。ターゲットの達成によりあるべき姿を実現していくため、戦術、実行体制</a:t>
            </a: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 dirty="0">
                <a:solidFill>
                  <a:schemeClr val="tx1"/>
                </a:solidFill>
              </a:rPr>
              <a:t>プロジェクト編成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r>
              <a:rPr kumimoji="1" lang="ja-JP" altLang="en-US" dirty="0">
                <a:solidFill>
                  <a:schemeClr val="tx1"/>
                </a:solidFill>
              </a:rPr>
              <a:t>、評価プロセスをデザインする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5AA6A5-EA00-4347-9E4C-120E4DA45A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7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C448204-3034-4BEA-8CA7-9772EEF25EBB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EE04911-3FBC-43DC-9806-C97B8162B7A2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F17CCBB-C6AF-4BD3-8704-B8880C96CD6E}"/>
              </a:ext>
            </a:extLst>
          </p:cNvPr>
          <p:cNvSpPr/>
          <p:nvPr/>
        </p:nvSpPr>
        <p:spPr>
          <a:xfrm>
            <a:off x="2131028" y="5540602"/>
            <a:ext cx="2789827" cy="44974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00FC09C-97F2-449C-B555-BADE096C856A}"/>
              </a:ext>
            </a:extLst>
          </p:cNvPr>
          <p:cNvSpPr txBox="1"/>
          <p:nvPr/>
        </p:nvSpPr>
        <p:spPr>
          <a:xfrm>
            <a:off x="299873" y="2096851"/>
            <a:ext cx="5049496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ja-JP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Contribution</a:t>
            </a:r>
            <a:r>
              <a:rPr lang="ja-JP" altLang="en-US" sz="1600" b="1" kern="0" dirty="0">
                <a:latin typeface="Arial"/>
                <a:cs typeface="Arial"/>
                <a:sym typeface="Arial"/>
              </a:rPr>
              <a:t> </a:t>
            </a:r>
            <a:r>
              <a:rPr lang="en-US" altLang="ja-JP" sz="1600" b="1" kern="0" dirty="0">
                <a:latin typeface="Arial"/>
                <a:cs typeface="Arial"/>
                <a:sym typeface="Arial"/>
              </a:rPr>
              <a:t>Margin</a:t>
            </a:r>
            <a:r>
              <a:rPr lang="ja-JP" altLang="en-US" sz="1600" b="1" kern="0" dirty="0">
                <a:latin typeface="Arial"/>
                <a:cs typeface="Arial"/>
                <a:sym typeface="Arial"/>
              </a:rPr>
              <a:t>の改善プロセス</a:t>
            </a:r>
            <a:endParaRPr kumimoji="1" lang="en-US" altLang="ja-JP" sz="16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34B17010-B355-483A-856F-9296BB456999}"/>
              </a:ext>
            </a:extLst>
          </p:cNvPr>
          <p:cNvSpPr/>
          <p:nvPr/>
        </p:nvSpPr>
        <p:spPr>
          <a:xfrm rot="5400000">
            <a:off x="-586921" y="3121188"/>
            <a:ext cx="2103474" cy="329886"/>
          </a:xfrm>
          <a:prstGeom prst="homePlate">
            <a:avLst>
              <a:gd name="adj" fmla="val 26576"/>
            </a:avLst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/>
                </a:solidFill>
              </a:rPr>
              <a:t>Portfolio Strategy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42E428BF-86A6-443E-A6B3-DC19F6009FAE}"/>
              </a:ext>
            </a:extLst>
          </p:cNvPr>
          <p:cNvSpPr/>
          <p:nvPr/>
        </p:nvSpPr>
        <p:spPr>
          <a:xfrm rot="5400000">
            <a:off x="50770" y="4746445"/>
            <a:ext cx="1951771" cy="1453566"/>
          </a:xfrm>
          <a:prstGeom prst="homePlate">
            <a:avLst>
              <a:gd name="adj" fmla="val 15727"/>
            </a:avLst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</a:rPr>
              <a:t>Execution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5D7A2F5D-A378-4E1A-B4B4-13712E85E394}"/>
              </a:ext>
            </a:extLst>
          </p:cNvPr>
          <p:cNvSpPr/>
          <p:nvPr/>
        </p:nvSpPr>
        <p:spPr>
          <a:xfrm rot="5400000">
            <a:off x="777607" y="2230562"/>
            <a:ext cx="972000" cy="979663"/>
          </a:xfrm>
          <a:prstGeom prst="homePlate">
            <a:avLst>
              <a:gd name="adj" fmla="val 26576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Trade/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en-US" altLang="ja-JP" sz="1400" dirty="0">
                <a:solidFill>
                  <a:schemeClr val="tx1"/>
                </a:solidFill>
              </a:rPr>
              <a:t>Service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Portfolio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矢印: 五方向 37">
            <a:extLst>
              <a:ext uri="{FF2B5EF4-FFF2-40B4-BE49-F238E27FC236}">
                <a16:creationId xmlns:a16="http://schemas.microsoft.com/office/drawing/2014/main" id="{7A02A92B-9472-4258-A534-651144EE2DD9}"/>
              </a:ext>
            </a:extLst>
          </p:cNvPr>
          <p:cNvSpPr/>
          <p:nvPr/>
        </p:nvSpPr>
        <p:spPr>
          <a:xfrm rot="5400000">
            <a:off x="777607" y="3362034"/>
            <a:ext cx="972000" cy="979663"/>
          </a:xfrm>
          <a:prstGeom prst="homePlate">
            <a:avLst>
              <a:gd name="adj" fmla="val 26576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Cargo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Portfolio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D8B332B-711D-4C17-AA1C-86A12C97BF47}"/>
              </a:ext>
            </a:extLst>
          </p:cNvPr>
          <p:cNvSpPr txBox="1"/>
          <p:nvPr/>
        </p:nvSpPr>
        <p:spPr>
          <a:xfrm>
            <a:off x="1915005" y="2234391"/>
            <a:ext cx="3348372" cy="9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400" dirty="0"/>
              <a:t>Determine Trade/Service Portfolio based on Long/Mid-term perspectives and invest to vessels / design service.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09C54BF-A2FC-4744-9465-F462E87A5702}"/>
              </a:ext>
            </a:extLst>
          </p:cNvPr>
          <p:cNvSpPr txBox="1"/>
          <p:nvPr/>
        </p:nvSpPr>
        <p:spPr>
          <a:xfrm>
            <a:off x="1915005" y="3365865"/>
            <a:ext cx="3348372" cy="9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400" dirty="0"/>
              <a:t>Determine ideal cargo portfolio by business segment (e.g. contract type), customer and route perspectives.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17AF0AD9-8CC1-4325-8494-F60402B112EC}"/>
              </a:ext>
            </a:extLst>
          </p:cNvPr>
          <p:cNvSpPr txBox="1"/>
          <p:nvPr/>
        </p:nvSpPr>
        <p:spPr>
          <a:xfrm>
            <a:off x="5818707" y="2096851"/>
            <a:ext cx="6073420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ja-JP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“</a:t>
            </a:r>
            <a:r>
              <a:rPr lang="en-US" altLang="ja-JP" sz="1600" b="1" kern="0" dirty="0">
                <a:latin typeface="Arial"/>
                <a:cs typeface="Arial"/>
                <a:sym typeface="Arial"/>
              </a:rPr>
              <a:t>Space</a:t>
            </a:r>
            <a:r>
              <a:rPr kumimoji="1" lang="en-US" altLang="ja-JP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 Management”</a:t>
            </a:r>
            <a:r>
              <a:rPr kumimoji="1" lang="ja-JP" altLang="en-US" sz="16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の意義</a:t>
            </a:r>
            <a:endParaRPr kumimoji="1" lang="en-US" altLang="ja-JP" sz="14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7BE7DD-E113-42B7-BE53-203EEBE19512}"/>
              </a:ext>
            </a:extLst>
          </p:cNvPr>
          <p:cNvGrpSpPr/>
          <p:nvPr/>
        </p:nvGrpSpPr>
        <p:grpSpPr>
          <a:xfrm>
            <a:off x="1915005" y="3286128"/>
            <a:ext cx="3434364" cy="1131474"/>
            <a:chOff x="1956966" y="3286128"/>
            <a:chExt cx="3240360" cy="1131474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AD702F55-0453-4296-B1E2-A852C49C0115}"/>
                </a:ext>
              </a:extLst>
            </p:cNvPr>
            <p:cNvCxnSpPr>
              <a:cxnSpLocks/>
            </p:cNvCxnSpPr>
            <p:nvPr/>
          </p:nvCxnSpPr>
          <p:spPr>
            <a:xfrm>
              <a:off x="1956966" y="3286128"/>
              <a:ext cx="32403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FCC72E54-E8CC-4D3E-82FB-1C0FF28EE32F}"/>
                </a:ext>
              </a:extLst>
            </p:cNvPr>
            <p:cNvCxnSpPr>
              <a:cxnSpLocks/>
            </p:cNvCxnSpPr>
            <p:nvPr/>
          </p:nvCxnSpPr>
          <p:spPr>
            <a:xfrm>
              <a:off x="1956966" y="4417602"/>
              <a:ext cx="324036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9C25176-0076-49A3-A3DD-122511E208B8}"/>
              </a:ext>
            </a:extLst>
          </p:cNvPr>
          <p:cNvGrpSpPr/>
          <p:nvPr/>
        </p:nvGrpSpPr>
        <p:grpSpPr>
          <a:xfrm>
            <a:off x="4920856" y="2217029"/>
            <a:ext cx="821878" cy="4314022"/>
            <a:chOff x="5037213" y="2217029"/>
            <a:chExt cx="747481" cy="4314022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8B692577-F2F1-4B39-AD73-B0F641051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7213" y="2217029"/>
              <a:ext cx="747481" cy="3259405"/>
            </a:xfrm>
            <a:prstGeom prst="line">
              <a:avLst/>
            </a:prstGeom>
            <a:ln w="28575">
              <a:solidFill>
                <a:schemeClr val="accent4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94F2F10F-A99B-49E2-9587-BE2AED1C0A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13" y="6057292"/>
              <a:ext cx="747481" cy="473759"/>
            </a:xfrm>
            <a:prstGeom prst="line">
              <a:avLst/>
            </a:prstGeom>
            <a:ln w="28575">
              <a:solidFill>
                <a:schemeClr val="accent4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4105DCC-D07E-4ED6-9580-FC13F2E1B9A0}"/>
              </a:ext>
            </a:extLst>
          </p:cNvPr>
          <p:cNvSpPr txBox="1"/>
          <p:nvPr/>
        </p:nvSpPr>
        <p:spPr>
          <a:xfrm>
            <a:off x="1915005" y="4497340"/>
            <a:ext cx="3348372" cy="19482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ja-JP" sz="1400" dirty="0"/>
              <a:t>Realize ideal goal by following activity:</a:t>
            </a:r>
          </a:p>
          <a:p>
            <a:pPr marL="447675" indent="-171450">
              <a:spcAft>
                <a:spcPts val="1200"/>
              </a:spcAft>
              <a:buFont typeface="Arial" panose="020B0604020202020204" pitchFamily="34" charset="0"/>
              <a:buChar char="-"/>
            </a:pPr>
            <a:r>
              <a:rPr lang="en-US" altLang="ja-JP" sz="1400" b="1" dirty="0"/>
              <a:t>Pricing Management</a:t>
            </a:r>
          </a:p>
          <a:p>
            <a:pPr marL="447675" indent="-171450">
              <a:spcAft>
                <a:spcPts val="1200"/>
              </a:spcAft>
              <a:buFont typeface="Arial" panose="020B0604020202020204" pitchFamily="34" charset="0"/>
              <a:buChar char="-"/>
            </a:pPr>
            <a:r>
              <a:rPr lang="en-US" altLang="ja-JP" sz="1400" b="1" dirty="0"/>
              <a:t>Space Management</a:t>
            </a:r>
          </a:p>
          <a:p>
            <a:pPr marL="447675" indent="-171450">
              <a:spcAft>
                <a:spcPts val="1200"/>
              </a:spcAft>
              <a:buFont typeface="Arial" panose="020B0604020202020204" pitchFamily="34" charset="0"/>
              <a:buChar char="-"/>
            </a:pPr>
            <a:r>
              <a:rPr lang="en-US" altLang="ja-JP" sz="1400" b="1" dirty="0"/>
              <a:t>Route Management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DFD1D1B-9E26-4743-8A0B-DAF99E87BB26}"/>
              </a:ext>
            </a:extLst>
          </p:cNvPr>
          <p:cNvSpPr txBox="1"/>
          <p:nvPr/>
        </p:nvSpPr>
        <p:spPr>
          <a:xfrm>
            <a:off x="5818707" y="3685413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Tactics</a:t>
            </a:r>
            <a:br>
              <a:rPr lang="en-US" altLang="ja-JP" sz="1400" b="1" dirty="0">
                <a:solidFill>
                  <a:schemeClr val="bg1"/>
                </a:solidFill>
              </a:rPr>
            </a:br>
            <a:r>
              <a:rPr lang="en-US" altLang="ja-JP" sz="1400" b="1" dirty="0">
                <a:solidFill>
                  <a:schemeClr val="bg1"/>
                </a:solidFill>
              </a:rPr>
              <a:t>(Solution)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DF4520D-5396-4458-8F6B-22242B9E6200}"/>
              </a:ext>
            </a:extLst>
          </p:cNvPr>
          <p:cNvSpPr txBox="1"/>
          <p:nvPr/>
        </p:nvSpPr>
        <p:spPr>
          <a:xfrm>
            <a:off x="5818707" y="4719681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Execution</a:t>
            </a:r>
          </a:p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Process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0DEF4AC-834B-4AF7-9328-B23FB14A7E38}"/>
              </a:ext>
            </a:extLst>
          </p:cNvPr>
          <p:cNvSpPr/>
          <p:nvPr/>
        </p:nvSpPr>
        <p:spPr>
          <a:xfrm>
            <a:off x="5818707" y="4719681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3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87ECAB7-D258-425D-A338-921EB4DCCF2C}"/>
              </a:ext>
            </a:extLst>
          </p:cNvPr>
          <p:cNvSpPr/>
          <p:nvPr/>
        </p:nvSpPr>
        <p:spPr>
          <a:xfrm>
            <a:off x="5818707" y="3685412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2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64DE1ABD-6452-4020-8D6B-C4D77A6A7E6A}"/>
              </a:ext>
            </a:extLst>
          </p:cNvPr>
          <p:cNvSpPr/>
          <p:nvPr/>
        </p:nvSpPr>
        <p:spPr>
          <a:xfrm>
            <a:off x="6163477" y="4390307"/>
            <a:ext cx="396020" cy="421247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2" name="テキスト ボックス 28">
            <a:extLst>
              <a:ext uri="{FF2B5EF4-FFF2-40B4-BE49-F238E27FC236}">
                <a16:creationId xmlns:a16="http://schemas.microsoft.com/office/drawing/2014/main" id="{B32759F2-6348-4CCC-81AF-C9A35E8A02D2}"/>
              </a:ext>
            </a:extLst>
          </p:cNvPr>
          <p:cNvSpPr txBox="1"/>
          <p:nvPr/>
        </p:nvSpPr>
        <p:spPr>
          <a:xfrm>
            <a:off x="5818707" y="2672918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Principles</a:t>
            </a:r>
          </a:p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and</a:t>
            </a:r>
            <a:r>
              <a:rPr lang="ja-JP" altLang="en-US" sz="1400" b="1" dirty="0">
                <a:solidFill>
                  <a:schemeClr val="bg1"/>
                </a:solidFill>
              </a:rPr>
              <a:t> </a:t>
            </a:r>
            <a:r>
              <a:rPr lang="en-US" altLang="ja-JP" sz="1400" b="1" dirty="0">
                <a:solidFill>
                  <a:schemeClr val="bg1"/>
                </a:solidFill>
              </a:rPr>
              <a:t>Targets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33" name="正方形/長方形 45">
            <a:extLst>
              <a:ext uri="{FF2B5EF4-FFF2-40B4-BE49-F238E27FC236}">
                <a16:creationId xmlns:a16="http://schemas.microsoft.com/office/drawing/2014/main" id="{50E1C711-C852-4D47-A054-5AF3237270F2}"/>
              </a:ext>
            </a:extLst>
          </p:cNvPr>
          <p:cNvSpPr/>
          <p:nvPr/>
        </p:nvSpPr>
        <p:spPr>
          <a:xfrm>
            <a:off x="5818707" y="2672916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1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矢印: 下 8">
            <a:extLst>
              <a:ext uri="{FF2B5EF4-FFF2-40B4-BE49-F238E27FC236}">
                <a16:creationId xmlns:a16="http://schemas.microsoft.com/office/drawing/2014/main" id="{7FB3F4EF-11B4-42D9-994B-470DC0BDE75F}"/>
              </a:ext>
            </a:extLst>
          </p:cNvPr>
          <p:cNvSpPr/>
          <p:nvPr/>
        </p:nvSpPr>
        <p:spPr>
          <a:xfrm>
            <a:off x="6160008" y="3430172"/>
            <a:ext cx="396020" cy="421247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40" name="テキスト ボックス 29">
            <a:extLst>
              <a:ext uri="{FF2B5EF4-FFF2-40B4-BE49-F238E27FC236}">
                <a16:creationId xmlns:a16="http://schemas.microsoft.com/office/drawing/2014/main" id="{6A7BABD8-8CE7-49B7-B451-6531687B14FD}"/>
              </a:ext>
            </a:extLst>
          </p:cNvPr>
          <p:cNvSpPr txBox="1"/>
          <p:nvPr/>
        </p:nvSpPr>
        <p:spPr>
          <a:xfrm>
            <a:off x="5818707" y="5719963"/>
            <a:ext cx="1090596" cy="84138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Evaluation</a:t>
            </a:r>
          </a:p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Process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F2874C1-00D7-4A6B-A2C7-3C8B36F92326}"/>
              </a:ext>
            </a:extLst>
          </p:cNvPr>
          <p:cNvSpPr txBox="1"/>
          <p:nvPr/>
        </p:nvSpPr>
        <p:spPr>
          <a:xfrm>
            <a:off x="6910959" y="4719681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あるべき姿の実現に向けた、</a:t>
            </a:r>
            <a:r>
              <a:rPr lang="ja-JP" altLang="en-US" sz="1600" b="1" u="sng" dirty="0"/>
              <a:t>複数プロジェクトによるプロセス改善と</a:t>
            </a:r>
            <a:r>
              <a:rPr lang="en-US" altLang="ja-JP" sz="1600" b="1" u="sng" dirty="0"/>
              <a:t>IT</a:t>
            </a:r>
            <a:r>
              <a:rPr lang="ja-JP" altLang="en-US" sz="1600" b="1" u="sng" dirty="0"/>
              <a:t>ソリューション</a:t>
            </a:r>
            <a:endParaRPr lang="en-US" altLang="ja-JP" sz="1600" b="1" u="sng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28D822C-4FF8-44ED-90B0-1AA3527A4FB1}"/>
              </a:ext>
            </a:extLst>
          </p:cNvPr>
          <p:cNvSpPr txBox="1"/>
          <p:nvPr/>
        </p:nvSpPr>
        <p:spPr>
          <a:xfrm>
            <a:off x="6910959" y="3685412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目的および</a:t>
            </a:r>
            <a:r>
              <a:rPr lang="en-US" altLang="ja-JP" sz="1600" dirty="0"/>
              <a:t>Target</a:t>
            </a:r>
            <a:r>
              <a:rPr lang="ja-JP" altLang="en-US" sz="1600" dirty="0"/>
              <a:t>達成のための</a:t>
            </a:r>
            <a:r>
              <a:rPr lang="en-US" altLang="ja-JP" sz="1600" b="1" u="sng" dirty="0"/>
              <a:t>4</a:t>
            </a:r>
            <a:r>
              <a:rPr lang="ja-JP" altLang="en-US" sz="1600" b="1" u="sng" dirty="0"/>
              <a:t>つの基本戦術（ソリューション）</a:t>
            </a:r>
            <a:endParaRPr lang="en-US" altLang="ja-JP" sz="1600" b="1" u="sng" dirty="0"/>
          </a:p>
        </p:txBody>
      </p:sp>
      <p:sp>
        <p:nvSpPr>
          <p:cNvPr id="34" name="テキスト ボックス 47">
            <a:extLst>
              <a:ext uri="{FF2B5EF4-FFF2-40B4-BE49-F238E27FC236}">
                <a16:creationId xmlns:a16="http://schemas.microsoft.com/office/drawing/2014/main" id="{53F24161-2412-4D35-8038-518048946262}"/>
              </a:ext>
            </a:extLst>
          </p:cNvPr>
          <p:cNvSpPr txBox="1"/>
          <p:nvPr/>
        </p:nvSpPr>
        <p:spPr>
          <a:xfrm>
            <a:off x="6910958" y="2672916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スペースマネジメントに係る全ての取組みにおいて遵守すべき</a:t>
            </a:r>
            <a:r>
              <a:rPr lang="en-US" altLang="ja-JP" sz="1600" b="1" u="sng" dirty="0"/>
              <a:t>6</a:t>
            </a:r>
            <a:r>
              <a:rPr lang="ja-JP" altLang="en-US" sz="1600" b="1" u="sng" dirty="0"/>
              <a:t>つの基本原則</a:t>
            </a:r>
            <a:r>
              <a:rPr lang="ja-JP" altLang="en-US" sz="1600" dirty="0"/>
              <a:t>、及び目的・基本原則を踏まえた</a:t>
            </a:r>
            <a:r>
              <a:rPr lang="en-US" altLang="ja-JP" sz="1600" b="1" u="sng" dirty="0"/>
              <a:t>7</a:t>
            </a:r>
            <a:r>
              <a:rPr lang="ja-JP" altLang="en-US" sz="1600" b="1" u="sng" dirty="0"/>
              <a:t>つのターゲット</a:t>
            </a:r>
            <a:endParaRPr lang="en-US" altLang="ja-JP" sz="1600" b="1" u="sng" dirty="0"/>
          </a:p>
        </p:txBody>
      </p:sp>
      <p:sp>
        <p:nvSpPr>
          <p:cNvPr id="49" name="テキスト ボックス 43">
            <a:extLst>
              <a:ext uri="{FF2B5EF4-FFF2-40B4-BE49-F238E27FC236}">
                <a16:creationId xmlns:a16="http://schemas.microsoft.com/office/drawing/2014/main" id="{827E8757-E98B-4CC0-A25E-D9ACA046AAC2}"/>
              </a:ext>
            </a:extLst>
          </p:cNvPr>
          <p:cNvSpPr txBox="1"/>
          <p:nvPr/>
        </p:nvSpPr>
        <p:spPr>
          <a:xfrm>
            <a:off x="6910959" y="5719963"/>
            <a:ext cx="4981169" cy="8413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180000" rIns="7200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ja-JP" altLang="en-US" sz="1600" dirty="0"/>
              <a:t>プロセスと</a:t>
            </a:r>
            <a:r>
              <a:rPr lang="en-US" altLang="ja-JP" sz="1600" dirty="0"/>
              <a:t>IT</a:t>
            </a:r>
            <a:r>
              <a:rPr lang="ja-JP" altLang="en-US" sz="1600" dirty="0"/>
              <a:t>の継続的強化・改善を図るための</a:t>
            </a:r>
            <a:r>
              <a:rPr lang="ja-JP" altLang="en-US" sz="1600" b="1" u="sng" dirty="0"/>
              <a:t>体系的評価指標</a:t>
            </a:r>
            <a:endParaRPr lang="en-US" altLang="ja-JP" sz="1600" b="1" u="sng" dirty="0"/>
          </a:p>
        </p:txBody>
      </p:sp>
      <p:sp>
        <p:nvSpPr>
          <p:cNvPr id="50" name="正方形/長方形 44">
            <a:extLst>
              <a:ext uri="{FF2B5EF4-FFF2-40B4-BE49-F238E27FC236}">
                <a16:creationId xmlns:a16="http://schemas.microsoft.com/office/drawing/2014/main" id="{AA88A6EA-71D0-49C1-BFF8-F425D7091CAA}"/>
              </a:ext>
            </a:extLst>
          </p:cNvPr>
          <p:cNvSpPr/>
          <p:nvPr/>
        </p:nvSpPr>
        <p:spPr>
          <a:xfrm>
            <a:off x="5818707" y="5719963"/>
            <a:ext cx="194400" cy="19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sz="1400" dirty="0">
                <a:solidFill>
                  <a:schemeClr val="tx1"/>
                </a:solidFill>
              </a:rPr>
              <a:t>4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矢印: 環状 16">
            <a:extLst>
              <a:ext uri="{FF2B5EF4-FFF2-40B4-BE49-F238E27FC236}">
                <a16:creationId xmlns:a16="http://schemas.microsoft.com/office/drawing/2014/main" id="{EB50C344-5C3D-4716-86E6-0EF669B99C88}"/>
              </a:ext>
            </a:extLst>
          </p:cNvPr>
          <p:cNvSpPr/>
          <p:nvPr/>
        </p:nvSpPr>
        <p:spPr>
          <a:xfrm rot="9900000">
            <a:off x="6111634" y="5403413"/>
            <a:ext cx="474203" cy="47420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34306"/>
              <a:gd name="adj5" fmla="val 12500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A79BCB90-7027-4B1D-91F8-6481B8AF011A}"/>
              </a:ext>
            </a:extLst>
          </p:cNvPr>
          <p:cNvSpPr/>
          <p:nvPr/>
        </p:nvSpPr>
        <p:spPr>
          <a:xfrm>
            <a:off x="5818707" y="2154341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4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Introduction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E957C14C-D76C-47E0-B0CB-B9C095B7CF64}"/>
              </a:ext>
            </a:extLst>
          </p:cNvPr>
          <p:cNvSpPr/>
          <p:nvPr/>
        </p:nvSpPr>
        <p:spPr>
          <a:xfrm>
            <a:off x="5818707" y="2331331"/>
            <a:ext cx="6073420" cy="26453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spcBef>
                <a:spcPts val="600"/>
              </a:spcBef>
            </a:pPr>
            <a:r>
              <a:rPr lang="ja-JP" altLang="en-US" sz="1600" dirty="0">
                <a:solidFill>
                  <a:schemeClr val="tx1"/>
                </a:solidFill>
              </a:rPr>
              <a:t>スペースマネジメントの</a:t>
            </a:r>
            <a:r>
              <a:rPr lang="ja-JP" altLang="en-US" sz="1600" b="1" u="sng" dirty="0">
                <a:solidFill>
                  <a:schemeClr val="tx1"/>
                </a:solidFill>
              </a:rPr>
              <a:t>目的とあるべき姿</a:t>
            </a:r>
            <a:r>
              <a:rPr lang="ja-JP" altLang="en-US" sz="1600" dirty="0">
                <a:solidFill>
                  <a:schemeClr val="tx1"/>
                </a:solidFill>
              </a:rPr>
              <a:t>のデザイン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957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1AE956F4-2BDA-40E9-9743-9C55A6A2F43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49228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284" name="think-cell スライド" r:id="rId7" imgW="592" imgH="595" progId="TCLayout.ActiveDocument.1">
                  <p:embed/>
                </p:oleObj>
              </mc:Choice>
              <mc:Fallback>
                <p:oleObj name="think-cell スライド" r:id="rId7" imgW="592" imgH="595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1AE956F4-2BDA-40E9-9743-9C55A6A2F4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正方形/長方形 5" hidden="1">
            <a:extLst>
              <a:ext uri="{FF2B5EF4-FFF2-40B4-BE49-F238E27FC236}">
                <a16:creationId xmlns:a16="http://schemas.microsoft.com/office/drawing/2014/main" id="{54A4672E-B373-4EEC-A8FF-5C0F9C272A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7" name="正方形/長方形 6" hidden="1">
            <a:extLst>
              <a:ext uri="{FF2B5EF4-FFF2-40B4-BE49-F238E27FC236}">
                <a16:creationId xmlns:a16="http://schemas.microsoft.com/office/drawing/2014/main" id="{B3B680C4-B193-4DAF-AF65-F59A4E6A8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01315A-4855-4D79-A285-B7B84B0A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   </a:t>
            </a:r>
            <a:r>
              <a:rPr kumimoji="1" lang="en-US" altLang="ja-JP" dirty="0"/>
              <a:t>Space Management Principles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DB84523E-000E-4D2A-8CC0-0D6BD692D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SG" altLang="ja-JP" dirty="0">
                <a:solidFill>
                  <a:schemeClr val="tx1"/>
                </a:solidFill>
              </a:rPr>
              <a:t>Space Management</a:t>
            </a:r>
            <a:r>
              <a:rPr kumimoji="1" lang="ja-JP" altLang="en-US" dirty="0">
                <a:solidFill>
                  <a:schemeClr val="tx1"/>
                </a:solidFill>
              </a:rPr>
              <a:t>に係るすべての取組み</a:t>
            </a: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 dirty="0">
                <a:solidFill>
                  <a:schemeClr val="tx1"/>
                </a:solidFill>
              </a:rPr>
              <a:t>ターゲットの設定を含む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r>
              <a:rPr kumimoji="1" lang="ja-JP" altLang="en-US" dirty="0">
                <a:solidFill>
                  <a:schemeClr val="tx1"/>
                </a:solidFill>
              </a:rPr>
              <a:t>において、遵守すべき基本原則を定義し、個々の活動</a:t>
            </a:r>
            <a:r>
              <a:rPr kumimoji="1" lang="en-US" altLang="ja-JP" dirty="0">
                <a:solidFill>
                  <a:schemeClr val="tx1"/>
                </a:solidFill>
              </a:rPr>
              <a:t>/</a:t>
            </a:r>
            <a:r>
              <a:rPr kumimoji="1" lang="ja-JP" altLang="en-US" dirty="0">
                <a:solidFill>
                  <a:schemeClr val="tx1"/>
                </a:solidFill>
              </a:rPr>
              <a:t>取組みを適正化する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5AA6A5-EA00-4347-9E4C-120E4DA45A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8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正方形/長方形 18" hidden="1">
            <a:extLst>
              <a:ext uri="{FF2B5EF4-FFF2-40B4-BE49-F238E27FC236}">
                <a16:creationId xmlns:a16="http://schemas.microsoft.com/office/drawing/2014/main" id="{AAEDC076-503A-4456-A3E0-03B0A69ECF5E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2500" kern="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CA2FCEE-2B09-4AFC-97EA-119A75552E9B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0" name="フリーフォーム: 図形 69">
            <a:extLst>
              <a:ext uri="{FF2B5EF4-FFF2-40B4-BE49-F238E27FC236}">
                <a16:creationId xmlns:a16="http://schemas.microsoft.com/office/drawing/2014/main" id="{5094C9DA-440E-4559-B29A-74FCF2057A78}"/>
              </a:ext>
            </a:extLst>
          </p:cNvPr>
          <p:cNvSpPr/>
          <p:nvPr/>
        </p:nvSpPr>
        <p:spPr>
          <a:xfrm>
            <a:off x="530400" y="2349000"/>
            <a:ext cx="4248000" cy="1044000"/>
          </a:xfrm>
          <a:custGeom>
            <a:avLst/>
            <a:gdLst>
              <a:gd name="connsiteX0" fmla="*/ 74302 w 4248000"/>
              <a:gd name="connsiteY0" fmla="*/ 1116032 h 1224032"/>
              <a:gd name="connsiteX1" fmla="*/ 4173699 w 4248000"/>
              <a:gd name="connsiteY1" fmla="*/ 1116032 h 1224032"/>
              <a:gd name="connsiteX2" fmla="*/ 4173699 w 4248000"/>
              <a:gd name="connsiteY2" fmla="*/ 1224032 h 1224032"/>
              <a:gd name="connsiteX3" fmla="*/ 74302 w 4248000"/>
              <a:gd name="connsiteY3" fmla="*/ 1224032 h 1224032"/>
              <a:gd name="connsiteX4" fmla="*/ 0 w 4248000"/>
              <a:gd name="connsiteY4" fmla="*/ 972032 h 1224032"/>
              <a:gd name="connsiteX5" fmla="*/ 4248000 w 4248000"/>
              <a:gd name="connsiteY5" fmla="*/ 972032 h 1224032"/>
              <a:gd name="connsiteX6" fmla="*/ 4248000 w 4248000"/>
              <a:gd name="connsiteY6" fmla="*/ 1080032 h 1224032"/>
              <a:gd name="connsiteX7" fmla="*/ 0 w 4248000"/>
              <a:gd name="connsiteY7" fmla="*/ 1080032 h 1224032"/>
              <a:gd name="connsiteX8" fmla="*/ 2124000 w 4248000"/>
              <a:gd name="connsiteY8" fmla="*/ 0 h 1224032"/>
              <a:gd name="connsiteX9" fmla="*/ 4248000 w 4248000"/>
              <a:gd name="connsiteY9" fmla="*/ 936032 h 1224032"/>
              <a:gd name="connsiteX10" fmla="*/ 0 w 4248000"/>
              <a:gd name="connsiteY10" fmla="*/ 936032 h 1224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48000" h="1224032">
                <a:moveTo>
                  <a:pt x="74302" y="1116032"/>
                </a:moveTo>
                <a:lnTo>
                  <a:pt x="4173699" y="1116032"/>
                </a:lnTo>
                <a:lnTo>
                  <a:pt x="4173699" y="1224032"/>
                </a:lnTo>
                <a:lnTo>
                  <a:pt x="74302" y="1224032"/>
                </a:lnTo>
                <a:close/>
                <a:moveTo>
                  <a:pt x="0" y="972032"/>
                </a:moveTo>
                <a:lnTo>
                  <a:pt x="4248000" y="972032"/>
                </a:lnTo>
                <a:lnTo>
                  <a:pt x="4248000" y="1080032"/>
                </a:lnTo>
                <a:lnTo>
                  <a:pt x="0" y="1080032"/>
                </a:lnTo>
                <a:close/>
                <a:moveTo>
                  <a:pt x="2124000" y="0"/>
                </a:moveTo>
                <a:lnTo>
                  <a:pt x="4248000" y="936032"/>
                </a:lnTo>
                <a:lnTo>
                  <a:pt x="0" y="936032"/>
                </a:lnTo>
                <a:close/>
              </a:path>
            </a:pathLst>
          </a:custGeom>
          <a:gradFill>
            <a:gsLst>
              <a:gs pos="60000">
                <a:schemeClr val="bg1">
                  <a:lumMod val="65000"/>
                </a:schemeClr>
              </a:gs>
              <a:gs pos="40000">
                <a:schemeClr val="bg1">
                  <a:lumMod val="65000"/>
                </a:schemeClr>
              </a:gs>
              <a:gs pos="1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52000" rtlCol="0" anchor="ctr">
            <a:noAutofit/>
          </a:bodyPr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Strategy</a:t>
            </a:r>
            <a:r>
              <a:rPr lang="ja-JP" altLang="en-US" sz="1200" dirty="0">
                <a:solidFill>
                  <a:schemeClr val="bg1"/>
                </a:solidFill>
              </a:rPr>
              <a:t> </a:t>
            </a:r>
            <a:r>
              <a:rPr lang="en-US" altLang="ja-JP" sz="1200" dirty="0">
                <a:solidFill>
                  <a:schemeClr val="bg1"/>
                </a:solidFill>
              </a:rPr>
              <a:t>Integration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85" name="Rectangle 105">
            <a:extLst>
              <a:ext uri="{FF2B5EF4-FFF2-40B4-BE49-F238E27FC236}">
                <a16:creationId xmlns:a16="http://schemas.microsoft.com/office/drawing/2014/main" id="{D40FD15E-4B98-4F06-82AB-85E553ED0F06}"/>
              </a:ext>
            </a:extLst>
          </p:cNvPr>
          <p:cNvSpPr/>
          <p:nvPr/>
        </p:nvSpPr>
        <p:spPr>
          <a:xfrm>
            <a:off x="7082400" y="2925000"/>
            <a:ext cx="4608000" cy="6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外的要件（マーケット</a:t>
            </a:r>
            <a:r>
              <a:rPr lang="ja-JP" altLang="en-US" sz="1100" dirty="0">
                <a:solidFill>
                  <a:schemeClr val="tx1"/>
                </a:solidFill>
              </a:rPr>
              <a:t>・顧客</a:t>
            </a:r>
            <a:r>
              <a:rPr kumimoji="1" lang="ja-JP" altLang="en-US" sz="1100" dirty="0">
                <a:solidFill>
                  <a:schemeClr val="tx1"/>
                </a:solidFill>
              </a:rPr>
              <a:t>）及び内的要件（コスト、消席状況、インベントリ状況等）を踏まえて、最も効率的なスペース提供を</a:t>
            </a:r>
            <a:r>
              <a:rPr lang="ja-JP" altLang="en-US" sz="1100" dirty="0">
                <a:solidFill>
                  <a:schemeClr val="tx1"/>
                </a:solidFill>
              </a:rPr>
              <a:t>行い</a:t>
            </a:r>
            <a:r>
              <a:rPr kumimoji="1" lang="ja-JP" altLang="en-US" sz="1100" dirty="0">
                <a:solidFill>
                  <a:schemeClr val="tx1"/>
                </a:solidFill>
              </a:rPr>
              <a:t>、顧客への提供価値を最大化する</a:t>
            </a:r>
            <a:endParaRPr kumimoji="1" lang="en-SG" sz="1100" dirty="0">
              <a:solidFill>
                <a:schemeClr val="tx1"/>
              </a:solidFill>
            </a:endParaRPr>
          </a:p>
        </p:txBody>
      </p:sp>
      <p:sp>
        <p:nvSpPr>
          <p:cNvPr id="86" name="Rectangle 103">
            <a:extLst>
              <a:ext uri="{FF2B5EF4-FFF2-40B4-BE49-F238E27FC236}">
                <a16:creationId xmlns:a16="http://schemas.microsoft.com/office/drawing/2014/main" id="{C2D9202B-F542-4A5F-A8E5-5992C51EE305}"/>
              </a:ext>
            </a:extLst>
          </p:cNvPr>
          <p:cNvSpPr/>
          <p:nvPr/>
        </p:nvSpPr>
        <p:spPr>
          <a:xfrm>
            <a:off x="5138400" y="2925000"/>
            <a:ext cx="1944000" cy="6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tx1"/>
                </a:solidFill>
              </a:rPr>
              <a:t>Competitiveness</a:t>
            </a:r>
            <a:endParaRPr kumimoji="1" lang="en-SG" sz="1200" b="1" dirty="0">
              <a:solidFill>
                <a:schemeClr val="tx1"/>
              </a:solidFill>
            </a:endParaRPr>
          </a:p>
        </p:txBody>
      </p:sp>
      <p:sp>
        <p:nvSpPr>
          <p:cNvPr id="87" name="正方形/長方形 45">
            <a:extLst>
              <a:ext uri="{FF2B5EF4-FFF2-40B4-BE49-F238E27FC236}">
                <a16:creationId xmlns:a16="http://schemas.microsoft.com/office/drawing/2014/main" id="{8386F29F-0D5B-4116-9F7A-06B7C2800507}"/>
              </a:ext>
            </a:extLst>
          </p:cNvPr>
          <p:cNvSpPr/>
          <p:nvPr/>
        </p:nvSpPr>
        <p:spPr>
          <a:xfrm>
            <a:off x="5138400" y="2925000"/>
            <a:ext cx="216000" cy="216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</a:rPr>
              <a:t>ⅱ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94" name="Rectangle 108">
            <a:extLst>
              <a:ext uri="{FF2B5EF4-FFF2-40B4-BE49-F238E27FC236}">
                <a16:creationId xmlns:a16="http://schemas.microsoft.com/office/drawing/2014/main" id="{30983EDE-DEC2-4E79-981E-AE36C3224D9B}"/>
              </a:ext>
            </a:extLst>
          </p:cNvPr>
          <p:cNvSpPr/>
          <p:nvPr/>
        </p:nvSpPr>
        <p:spPr>
          <a:xfrm>
            <a:off x="7082400" y="3645000"/>
            <a:ext cx="4608000" cy="6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200"/>
              </a:lnSpc>
            </a:pPr>
            <a:r>
              <a:rPr lang="ja-JP" altLang="en-US" sz="1100" dirty="0">
                <a:solidFill>
                  <a:schemeClr val="tx1"/>
                </a:solidFill>
              </a:rPr>
              <a:t>全ての組織、プロセス（</a:t>
            </a:r>
            <a:r>
              <a:rPr lang="en-US" altLang="ja-JP" sz="1100" dirty="0">
                <a:solidFill>
                  <a:schemeClr val="tx1"/>
                </a:solidFill>
              </a:rPr>
              <a:t>Strategy</a:t>
            </a:r>
            <a:r>
              <a:rPr lang="ja-JP" altLang="en-US" sz="1100" dirty="0">
                <a:solidFill>
                  <a:schemeClr val="tx1"/>
                </a:solidFill>
              </a:rPr>
              <a:t>との連携に始まり、</a:t>
            </a:r>
            <a:r>
              <a:rPr lang="en-US" altLang="ja-JP" sz="1100" dirty="0">
                <a:solidFill>
                  <a:schemeClr val="tx1"/>
                </a:solidFill>
              </a:rPr>
              <a:t>AP</a:t>
            </a:r>
            <a:r>
              <a:rPr lang="ja-JP" altLang="en-US" sz="1100" dirty="0">
                <a:solidFill>
                  <a:schemeClr val="tx1"/>
                </a:solidFill>
              </a:rPr>
              <a:t>策定、実行、モニタリングまで）、および全ての貨物（</a:t>
            </a:r>
            <a:r>
              <a:rPr lang="en-US" altLang="ja-JP" sz="1100" dirty="0">
                <a:solidFill>
                  <a:schemeClr val="tx1"/>
                </a:solidFill>
              </a:rPr>
              <a:t>OCN</a:t>
            </a:r>
            <a:r>
              <a:rPr lang="ja-JP" altLang="en-US" sz="1100" dirty="0">
                <a:solidFill>
                  <a:schemeClr val="tx1"/>
                </a:solidFill>
              </a:rPr>
              <a:t>、</a:t>
            </a:r>
            <a:r>
              <a:rPr lang="en-US" altLang="ja-JP" sz="1100" dirty="0">
                <a:solidFill>
                  <a:schemeClr val="tx1"/>
                </a:solidFill>
              </a:rPr>
              <a:t>IPC</a:t>
            </a:r>
            <a:r>
              <a:rPr lang="ja-JP" altLang="en-US" sz="1100" dirty="0">
                <a:solidFill>
                  <a:schemeClr val="tx1"/>
                </a:solidFill>
              </a:rPr>
              <a:t>、</a:t>
            </a:r>
            <a:r>
              <a:rPr lang="en-US" altLang="ja-JP" sz="1100" dirty="0">
                <a:solidFill>
                  <a:schemeClr val="tx1"/>
                </a:solidFill>
              </a:rPr>
              <a:t>T/S</a:t>
            </a:r>
            <a:r>
              <a:rPr lang="ja-JP" altLang="en-US" sz="1100" dirty="0">
                <a:solidFill>
                  <a:schemeClr val="tx1"/>
                </a:solidFill>
              </a:rPr>
              <a:t>、</a:t>
            </a:r>
            <a:r>
              <a:rPr lang="en-US" altLang="ja-JP" sz="1100" dirty="0">
                <a:solidFill>
                  <a:schemeClr val="tx1"/>
                </a:solidFill>
              </a:rPr>
              <a:t>MT</a:t>
            </a:r>
            <a:r>
              <a:rPr lang="ja-JP" altLang="en-US" sz="1100" dirty="0">
                <a:solidFill>
                  <a:schemeClr val="tx1"/>
                </a:solidFill>
              </a:rPr>
              <a:t>）を対象に、スペース提供の最適化を図る</a:t>
            </a:r>
            <a:endParaRPr kumimoji="1" lang="en-SG" altLang="ja-JP" sz="1100" dirty="0">
              <a:solidFill>
                <a:schemeClr val="tx1"/>
              </a:solidFill>
            </a:endParaRPr>
          </a:p>
        </p:txBody>
      </p:sp>
      <p:sp>
        <p:nvSpPr>
          <p:cNvPr id="95" name="Rectangle 106">
            <a:extLst>
              <a:ext uri="{FF2B5EF4-FFF2-40B4-BE49-F238E27FC236}">
                <a16:creationId xmlns:a16="http://schemas.microsoft.com/office/drawing/2014/main" id="{C05B0201-0EAC-4279-B080-AD2B2B9F86F0}"/>
              </a:ext>
            </a:extLst>
          </p:cNvPr>
          <p:cNvSpPr/>
          <p:nvPr/>
        </p:nvSpPr>
        <p:spPr>
          <a:xfrm>
            <a:off x="5138400" y="3645000"/>
            <a:ext cx="1944000" cy="6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tx1"/>
                </a:solidFill>
              </a:rPr>
              <a:t>Comprehensiveness</a:t>
            </a:r>
            <a:endParaRPr kumimoji="1" lang="en-SG" sz="1200" b="1" dirty="0">
              <a:solidFill>
                <a:schemeClr val="tx1"/>
              </a:solidFill>
            </a:endParaRPr>
          </a:p>
        </p:txBody>
      </p:sp>
      <p:sp>
        <p:nvSpPr>
          <p:cNvPr id="96" name="正方形/長方形 45">
            <a:extLst>
              <a:ext uri="{FF2B5EF4-FFF2-40B4-BE49-F238E27FC236}">
                <a16:creationId xmlns:a16="http://schemas.microsoft.com/office/drawing/2014/main" id="{F7746930-B339-4A23-A084-0CA2AE17674C}"/>
              </a:ext>
            </a:extLst>
          </p:cNvPr>
          <p:cNvSpPr/>
          <p:nvPr/>
        </p:nvSpPr>
        <p:spPr>
          <a:xfrm>
            <a:off x="5138400" y="3645000"/>
            <a:ext cx="216000" cy="216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</a:rPr>
              <a:t>ⅲ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97" name="Rectangle 111">
            <a:extLst>
              <a:ext uri="{FF2B5EF4-FFF2-40B4-BE49-F238E27FC236}">
                <a16:creationId xmlns:a16="http://schemas.microsoft.com/office/drawing/2014/main" id="{C2AFED9C-05BD-4DC0-99A6-606F73BA38BF}"/>
              </a:ext>
            </a:extLst>
          </p:cNvPr>
          <p:cNvSpPr/>
          <p:nvPr/>
        </p:nvSpPr>
        <p:spPr>
          <a:xfrm>
            <a:off x="7082400" y="5085000"/>
            <a:ext cx="4608000" cy="6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各</a:t>
            </a:r>
            <a:r>
              <a:rPr lang="ja-JP" altLang="en-US" sz="1100" dirty="0">
                <a:solidFill>
                  <a:schemeClr val="tx1"/>
                </a:solidFill>
              </a:rPr>
              <a:t>局面</a:t>
            </a:r>
            <a:r>
              <a:rPr kumimoji="1" lang="ja-JP" altLang="en-US" sz="1100" dirty="0">
                <a:solidFill>
                  <a:schemeClr val="tx1"/>
                </a:solidFill>
              </a:rPr>
              <a:t>（</a:t>
            </a:r>
            <a:r>
              <a:rPr kumimoji="1" lang="en-US" altLang="ja-JP" sz="1100" dirty="0">
                <a:solidFill>
                  <a:schemeClr val="tx1"/>
                </a:solidFill>
              </a:rPr>
              <a:t>AP Preparation/Creation</a:t>
            </a:r>
            <a:r>
              <a:rPr kumimoji="1" lang="ja-JP" altLang="en-US" sz="1100" dirty="0">
                <a:solidFill>
                  <a:schemeClr val="tx1"/>
                </a:solidFill>
              </a:rPr>
              <a:t>～</a:t>
            </a:r>
            <a:r>
              <a:rPr kumimoji="1" lang="en-US" altLang="ja-JP" sz="1100" dirty="0">
                <a:solidFill>
                  <a:schemeClr val="tx1"/>
                </a:solidFill>
              </a:rPr>
              <a:t>Execution</a:t>
            </a:r>
            <a:r>
              <a:rPr kumimoji="1" lang="ja-JP" altLang="en-US" sz="1100" dirty="0">
                <a:solidFill>
                  <a:schemeClr val="tx1"/>
                </a:solidFill>
              </a:rPr>
              <a:t>）で必要となる最新情報を</a:t>
            </a:r>
            <a:r>
              <a:rPr lang="ja-JP" altLang="en-US" sz="1100" dirty="0">
                <a:solidFill>
                  <a:schemeClr val="tx1"/>
                </a:solidFill>
              </a:rPr>
              <a:t>適時に入手・考慮し、最適な</a:t>
            </a:r>
            <a:r>
              <a:rPr kumimoji="1" lang="ja-JP" altLang="en-US" sz="1100" dirty="0">
                <a:solidFill>
                  <a:schemeClr val="tx1"/>
                </a:solidFill>
              </a:rPr>
              <a:t>オペレーション</a:t>
            </a:r>
            <a:r>
              <a:rPr kumimoji="1" lang="en-US" altLang="ja-JP" sz="1100" dirty="0">
                <a:solidFill>
                  <a:schemeClr val="tx1"/>
                </a:solidFill>
              </a:rPr>
              <a:t>/</a:t>
            </a:r>
            <a:r>
              <a:rPr kumimoji="1" lang="ja-JP" altLang="en-US" sz="1100" dirty="0">
                <a:solidFill>
                  <a:schemeClr val="tx1"/>
                </a:solidFill>
              </a:rPr>
              <a:t>アクションを実行できる環境を整備する</a:t>
            </a:r>
            <a:endParaRPr kumimoji="1" lang="en-SG" altLang="ja-JP" sz="1100" dirty="0">
              <a:solidFill>
                <a:schemeClr val="tx1"/>
              </a:solidFill>
            </a:endParaRPr>
          </a:p>
        </p:txBody>
      </p:sp>
      <p:sp>
        <p:nvSpPr>
          <p:cNvPr id="98" name="Rectangle 109">
            <a:extLst>
              <a:ext uri="{FF2B5EF4-FFF2-40B4-BE49-F238E27FC236}">
                <a16:creationId xmlns:a16="http://schemas.microsoft.com/office/drawing/2014/main" id="{E28BD848-DB3A-47EA-A5F6-F5602CD28CE6}"/>
              </a:ext>
            </a:extLst>
          </p:cNvPr>
          <p:cNvSpPr/>
          <p:nvPr/>
        </p:nvSpPr>
        <p:spPr>
          <a:xfrm>
            <a:off x="5138400" y="5085000"/>
            <a:ext cx="1944000" cy="6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tx1"/>
                </a:solidFill>
              </a:rPr>
              <a:t>Timeliness</a:t>
            </a:r>
            <a:endParaRPr kumimoji="1" lang="en-SG" sz="1200" b="1" dirty="0">
              <a:solidFill>
                <a:schemeClr val="tx1"/>
              </a:solidFill>
            </a:endParaRPr>
          </a:p>
        </p:txBody>
      </p:sp>
      <p:sp>
        <p:nvSpPr>
          <p:cNvPr id="100" name="正方形/長方形 45">
            <a:extLst>
              <a:ext uri="{FF2B5EF4-FFF2-40B4-BE49-F238E27FC236}">
                <a16:creationId xmlns:a16="http://schemas.microsoft.com/office/drawing/2014/main" id="{E6CC88D6-4EDE-4E04-ADAE-3BFCD3572636}"/>
              </a:ext>
            </a:extLst>
          </p:cNvPr>
          <p:cNvSpPr/>
          <p:nvPr/>
        </p:nvSpPr>
        <p:spPr>
          <a:xfrm>
            <a:off x="5138400" y="5085000"/>
            <a:ext cx="216000" cy="216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</a:rPr>
              <a:t>ⅴ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02" name="Rectangle 117">
            <a:extLst>
              <a:ext uri="{FF2B5EF4-FFF2-40B4-BE49-F238E27FC236}">
                <a16:creationId xmlns:a16="http://schemas.microsoft.com/office/drawing/2014/main" id="{EB0DDEFE-F005-4075-B0E8-18E265A4BBD3}"/>
              </a:ext>
            </a:extLst>
          </p:cNvPr>
          <p:cNvSpPr/>
          <p:nvPr/>
        </p:nvSpPr>
        <p:spPr>
          <a:xfrm>
            <a:off x="7082400" y="4365000"/>
            <a:ext cx="4608000" cy="6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正確なデータに基づく、正確な意思決定</a:t>
            </a:r>
            <a:r>
              <a:rPr lang="en-US" altLang="ja-JP" sz="1100" dirty="0">
                <a:solidFill>
                  <a:schemeClr val="tx1"/>
                </a:solidFill>
              </a:rPr>
              <a:t>/</a:t>
            </a:r>
            <a:r>
              <a:rPr lang="ja-JP" altLang="en-US" sz="1100" dirty="0">
                <a:solidFill>
                  <a:schemeClr val="tx1"/>
                </a:solidFill>
              </a:rPr>
              <a:t>アクション、更に事後においてその振り返りが実行できる環境を整備する</a:t>
            </a:r>
            <a:endParaRPr kumimoji="1" lang="en-SG" altLang="ja-JP" sz="1100" dirty="0">
              <a:solidFill>
                <a:schemeClr val="tx1"/>
              </a:solidFill>
            </a:endParaRPr>
          </a:p>
        </p:txBody>
      </p:sp>
      <p:sp>
        <p:nvSpPr>
          <p:cNvPr id="110" name="Rectangle 115">
            <a:extLst>
              <a:ext uri="{FF2B5EF4-FFF2-40B4-BE49-F238E27FC236}">
                <a16:creationId xmlns:a16="http://schemas.microsoft.com/office/drawing/2014/main" id="{611FBAD9-6B85-4C40-BDB9-9253B1862985}"/>
              </a:ext>
            </a:extLst>
          </p:cNvPr>
          <p:cNvSpPr/>
          <p:nvPr/>
        </p:nvSpPr>
        <p:spPr>
          <a:xfrm>
            <a:off x="5138400" y="4365000"/>
            <a:ext cx="1944000" cy="6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SG" sz="1200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111" name="正方形/長方形 45">
            <a:extLst>
              <a:ext uri="{FF2B5EF4-FFF2-40B4-BE49-F238E27FC236}">
                <a16:creationId xmlns:a16="http://schemas.microsoft.com/office/drawing/2014/main" id="{72D322F2-4250-44CF-8682-1C34A0DA4ECE}"/>
              </a:ext>
            </a:extLst>
          </p:cNvPr>
          <p:cNvSpPr/>
          <p:nvPr/>
        </p:nvSpPr>
        <p:spPr>
          <a:xfrm>
            <a:off x="5138400" y="4365000"/>
            <a:ext cx="216000" cy="216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</a:rPr>
              <a:t>ⅳ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13" name="Rectangle 120">
            <a:extLst>
              <a:ext uri="{FF2B5EF4-FFF2-40B4-BE49-F238E27FC236}">
                <a16:creationId xmlns:a16="http://schemas.microsoft.com/office/drawing/2014/main" id="{A0765F19-A2CC-4CE4-AFF5-6C99E6D4A451}"/>
              </a:ext>
            </a:extLst>
          </p:cNvPr>
          <p:cNvSpPr/>
          <p:nvPr/>
        </p:nvSpPr>
        <p:spPr>
          <a:xfrm>
            <a:off x="7082400" y="5805000"/>
            <a:ext cx="4608000" cy="6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dirty="0">
                <a:solidFill>
                  <a:schemeClr val="tx1"/>
                </a:solidFill>
              </a:rPr>
              <a:t>上記</a:t>
            </a:r>
            <a:r>
              <a:rPr lang="en-US" altLang="ja-JP" sz="1100" dirty="0">
                <a:solidFill>
                  <a:schemeClr val="tx1"/>
                </a:solidFill>
              </a:rPr>
              <a:t>a</a:t>
            </a:r>
            <a:r>
              <a:rPr lang="ja-JP" altLang="en-US" sz="1100" dirty="0">
                <a:solidFill>
                  <a:schemeClr val="tx1"/>
                </a:solidFill>
              </a:rPr>
              <a:t>～</a:t>
            </a:r>
            <a:r>
              <a:rPr lang="en-US" altLang="ja-JP" sz="1100" dirty="0">
                <a:solidFill>
                  <a:schemeClr val="tx1"/>
                </a:solidFill>
              </a:rPr>
              <a:t>e</a:t>
            </a:r>
            <a:r>
              <a:rPr lang="ja-JP" altLang="en-US" sz="1100" dirty="0">
                <a:solidFill>
                  <a:schemeClr val="tx1"/>
                </a:solidFill>
              </a:rPr>
              <a:t>を実現するためのルール・プロセス・</a:t>
            </a:r>
            <a:r>
              <a:rPr lang="en-US" altLang="ja-JP" sz="1100" dirty="0">
                <a:solidFill>
                  <a:schemeClr val="tx1"/>
                </a:solidFill>
              </a:rPr>
              <a:t>IT</a:t>
            </a:r>
            <a:r>
              <a:rPr lang="ja-JP" altLang="en-US" sz="1100" dirty="0">
                <a:solidFill>
                  <a:schemeClr val="tx1"/>
                </a:solidFill>
              </a:rPr>
              <a:t>を構築するとともに、その遵守状況をモニタリングする仕組みを整備する</a:t>
            </a:r>
            <a:endParaRPr kumimoji="1" lang="en-SG" altLang="ja-JP" sz="1100" dirty="0">
              <a:solidFill>
                <a:schemeClr val="tx1"/>
              </a:solidFill>
            </a:endParaRPr>
          </a:p>
        </p:txBody>
      </p:sp>
      <p:sp>
        <p:nvSpPr>
          <p:cNvPr id="114" name="Rectangle 118">
            <a:extLst>
              <a:ext uri="{FF2B5EF4-FFF2-40B4-BE49-F238E27FC236}">
                <a16:creationId xmlns:a16="http://schemas.microsoft.com/office/drawing/2014/main" id="{3B29CBB3-0EC1-4EB8-9FAE-4995E0E4D080}"/>
              </a:ext>
            </a:extLst>
          </p:cNvPr>
          <p:cNvSpPr/>
          <p:nvPr/>
        </p:nvSpPr>
        <p:spPr>
          <a:xfrm>
            <a:off x="5138400" y="5805000"/>
            <a:ext cx="1944000" cy="6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tx1"/>
                </a:solidFill>
              </a:rPr>
              <a:t>Governance</a:t>
            </a:r>
            <a:endParaRPr kumimoji="1" lang="en-SG" sz="1200" b="1" dirty="0">
              <a:solidFill>
                <a:schemeClr val="tx1"/>
              </a:solidFill>
            </a:endParaRPr>
          </a:p>
        </p:txBody>
      </p:sp>
      <p:sp>
        <p:nvSpPr>
          <p:cNvPr id="115" name="正方形/長方形 45">
            <a:extLst>
              <a:ext uri="{FF2B5EF4-FFF2-40B4-BE49-F238E27FC236}">
                <a16:creationId xmlns:a16="http://schemas.microsoft.com/office/drawing/2014/main" id="{144A9B99-27E1-40F5-9553-BEB429829BFA}"/>
              </a:ext>
            </a:extLst>
          </p:cNvPr>
          <p:cNvSpPr/>
          <p:nvPr/>
        </p:nvSpPr>
        <p:spPr>
          <a:xfrm>
            <a:off x="5138400" y="5805000"/>
            <a:ext cx="216000" cy="216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ⅵ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16" name="Rectangle 123">
            <a:extLst>
              <a:ext uri="{FF2B5EF4-FFF2-40B4-BE49-F238E27FC236}">
                <a16:creationId xmlns:a16="http://schemas.microsoft.com/office/drawing/2014/main" id="{D8A5BD65-05B6-4B0A-B9F9-254BEF3A888E}"/>
              </a:ext>
            </a:extLst>
          </p:cNvPr>
          <p:cNvSpPr/>
          <p:nvPr/>
        </p:nvSpPr>
        <p:spPr>
          <a:xfrm>
            <a:off x="7082400" y="2205000"/>
            <a:ext cx="4608000" cy="64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プロセス</a:t>
            </a:r>
            <a:r>
              <a:rPr lang="ja-JP" altLang="en-US" sz="1100" dirty="0">
                <a:solidFill>
                  <a:schemeClr val="tx1"/>
                </a:solidFill>
              </a:rPr>
              <a:t>と</a:t>
            </a:r>
            <a:r>
              <a:rPr kumimoji="1" lang="ja-JP" altLang="en-US" sz="1100" dirty="0">
                <a:solidFill>
                  <a:schemeClr val="tx1"/>
                </a:solidFill>
              </a:rPr>
              <a:t>データの両面から</a:t>
            </a:r>
            <a:r>
              <a:rPr kumimoji="1" lang="en-US" altLang="ja-JP" sz="1100" dirty="0">
                <a:solidFill>
                  <a:schemeClr val="tx1"/>
                </a:solidFill>
              </a:rPr>
              <a:t>Portfolio</a:t>
            </a:r>
            <a:r>
              <a:rPr lang="ja-JP" altLang="en-US" sz="1100" dirty="0">
                <a:solidFill>
                  <a:schemeClr val="tx1"/>
                </a:solidFill>
              </a:rPr>
              <a:t> </a:t>
            </a:r>
            <a:r>
              <a:rPr lang="en-US" altLang="ja-JP" sz="1100" dirty="0">
                <a:solidFill>
                  <a:schemeClr val="tx1"/>
                </a:solidFill>
              </a:rPr>
              <a:t>/</a:t>
            </a:r>
            <a:r>
              <a:rPr lang="ja-JP" altLang="en-US" sz="1100" dirty="0">
                <a:solidFill>
                  <a:schemeClr val="tx1"/>
                </a:solidFill>
              </a:rPr>
              <a:t> </a:t>
            </a:r>
            <a:r>
              <a:rPr kumimoji="1" lang="en-US" altLang="ja-JP" sz="1100" dirty="0">
                <a:solidFill>
                  <a:schemeClr val="tx1"/>
                </a:solidFill>
              </a:rPr>
              <a:t>Trade Strategy </a:t>
            </a:r>
            <a:r>
              <a:rPr kumimoji="1" lang="ja-JP" altLang="en-US" sz="1100" dirty="0">
                <a:solidFill>
                  <a:schemeClr val="tx1"/>
                </a:solidFill>
              </a:rPr>
              <a:t>との連携を強化し、</a:t>
            </a:r>
            <a:r>
              <a:rPr lang="en-US" altLang="ja-JP" sz="1100" dirty="0">
                <a:solidFill>
                  <a:schemeClr val="tx1"/>
                </a:solidFill>
              </a:rPr>
              <a:t>Strategy</a:t>
            </a:r>
            <a:r>
              <a:rPr lang="ja-JP" altLang="en-US" sz="1100" dirty="0">
                <a:solidFill>
                  <a:schemeClr val="tx1"/>
                </a:solidFill>
              </a:rPr>
              <a:t>の忠実な実行を担保する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7" name="Rectangle 121">
            <a:extLst>
              <a:ext uri="{FF2B5EF4-FFF2-40B4-BE49-F238E27FC236}">
                <a16:creationId xmlns:a16="http://schemas.microsoft.com/office/drawing/2014/main" id="{F21232FA-6E76-4035-9512-0081E5E54FD8}"/>
              </a:ext>
            </a:extLst>
          </p:cNvPr>
          <p:cNvSpPr/>
          <p:nvPr/>
        </p:nvSpPr>
        <p:spPr>
          <a:xfrm>
            <a:off x="5138400" y="2205000"/>
            <a:ext cx="1944000" cy="6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SG" sz="1200" b="1" dirty="0">
                <a:solidFill>
                  <a:schemeClr val="tx1"/>
                </a:solidFill>
              </a:rPr>
              <a:t>Strategy Integration</a:t>
            </a:r>
          </a:p>
        </p:txBody>
      </p:sp>
      <p:sp>
        <p:nvSpPr>
          <p:cNvPr id="119" name="正方形/長方形 45">
            <a:extLst>
              <a:ext uri="{FF2B5EF4-FFF2-40B4-BE49-F238E27FC236}">
                <a16:creationId xmlns:a16="http://schemas.microsoft.com/office/drawing/2014/main" id="{74F93CD3-5BF1-4B04-AF63-70C6D820592C}"/>
              </a:ext>
            </a:extLst>
          </p:cNvPr>
          <p:cNvSpPr/>
          <p:nvPr/>
        </p:nvSpPr>
        <p:spPr>
          <a:xfrm>
            <a:off x="5138400" y="2205000"/>
            <a:ext cx="216000" cy="216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ⅰ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80A23098-EDB4-4BE8-9A5E-8388747DCFAD}"/>
              </a:ext>
            </a:extLst>
          </p:cNvPr>
          <p:cNvSpPr txBox="1"/>
          <p:nvPr/>
        </p:nvSpPr>
        <p:spPr>
          <a:xfrm>
            <a:off x="336000" y="1916832"/>
            <a:ext cx="11520000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ja-JP" sz="1600" b="1" kern="0" dirty="0">
                <a:solidFill>
                  <a:srgbClr val="000000"/>
                </a:solidFill>
                <a:latin typeface="Arial"/>
                <a:ea typeface="ＭＳ Ｐゴシック" panose="020B0600070205080204" pitchFamily="50" charset="-128"/>
                <a:cs typeface="Arial"/>
                <a:sym typeface="Arial"/>
              </a:rPr>
              <a:t>Space Management</a:t>
            </a:r>
            <a:r>
              <a:rPr kumimoji="1" lang="en-US" altLang="ja-JP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Arial"/>
                <a:sym typeface="Arial"/>
              </a:rPr>
              <a:t> Principles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313354A2-8077-4E23-8C9B-DAEA9322EC6E}"/>
              </a:ext>
            </a:extLst>
          </p:cNvPr>
          <p:cNvSpPr/>
          <p:nvPr/>
        </p:nvSpPr>
        <p:spPr>
          <a:xfrm>
            <a:off x="4355080" y="1664911"/>
            <a:ext cx="216000" cy="21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sz="1600" dirty="0">
                <a:solidFill>
                  <a:schemeClr val="tx1"/>
                </a:solidFill>
              </a:rPr>
              <a:t>1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23" name="フリーフォーム: 図形 122">
            <a:extLst>
              <a:ext uri="{FF2B5EF4-FFF2-40B4-BE49-F238E27FC236}">
                <a16:creationId xmlns:a16="http://schemas.microsoft.com/office/drawing/2014/main" id="{5E849C57-A8B8-43F6-AB40-80A191418929}"/>
              </a:ext>
            </a:extLst>
          </p:cNvPr>
          <p:cNvSpPr/>
          <p:nvPr/>
        </p:nvSpPr>
        <p:spPr>
          <a:xfrm>
            <a:off x="530400" y="5697000"/>
            <a:ext cx="4320000" cy="612000"/>
          </a:xfrm>
          <a:custGeom>
            <a:avLst/>
            <a:gdLst>
              <a:gd name="connsiteX0" fmla="*/ 0 w 4320000"/>
              <a:gd name="connsiteY0" fmla="*/ 576000 h 828000"/>
              <a:gd name="connsiteX1" fmla="*/ 4320000 w 4320000"/>
              <a:gd name="connsiteY1" fmla="*/ 576000 h 828000"/>
              <a:gd name="connsiteX2" fmla="*/ 4320000 w 4320000"/>
              <a:gd name="connsiteY2" fmla="*/ 828000 h 828000"/>
              <a:gd name="connsiteX3" fmla="*/ 0 w 4320000"/>
              <a:gd name="connsiteY3" fmla="*/ 828000 h 828000"/>
              <a:gd name="connsiteX4" fmla="*/ 72000 w 4320000"/>
              <a:gd name="connsiteY4" fmla="*/ 288000 h 828000"/>
              <a:gd name="connsiteX5" fmla="*/ 4248000 w 4320000"/>
              <a:gd name="connsiteY5" fmla="*/ 288000 h 828000"/>
              <a:gd name="connsiteX6" fmla="*/ 4248000 w 4320000"/>
              <a:gd name="connsiteY6" fmla="*/ 540000 h 828000"/>
              <a:gd name="connsiteX7" fmla="*/ 72000 w 4320000"/>
              <a:gd name="connsiteY7" fmla="*/ 540000 h 828000"/>
              <a:gd name="connsiteX8" fmla="*/ 144000 w 4320000"/>
              <a:gd name="connsiteY8" fmla="*/ 0 h 828000"/>
              <a:gd name="connsiteX9" fmla="*/ 4176000 w 4320000"/>
              <a:gd name="connsiteY9" fmla="*/ 0 h 828000"/>
              <a:gd name="connsiteX10" fmla="*/ 4176000 w 4320000"/>
              <a:gd name="connsiteY10" fmla="*/ 252000 h 828000"/>
              <a:gd name="connsiteX11" fmla="*/ 144000 w 4320000"/>
              <a:gd name="connsiteY11" fmla="*/ 252000 h 8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20000" h="828000">
                <a:moveTo>
                  <a:pt x="0" y="576000"/>
                </a:moveTo>
                <a:lnTo>
                  <a:pt x="4320000" y="576000"/>
                </a:lnTo>
                <a:lnTo>
                  <a:pt x="4320000" y="828000"/>
                </a:lnTo>
                <a:lnTo>
                  <a:pt x="0" y="828000"/>
                </a:lnTo>
                <a:close/>
                <a:moveTo>
                  <a:pt x="72000" y="288000"/>
                </a:moveTo>
                <a:lnTo>
                  <a:pt x="4248000" y="288000"/>
                </a:lnTo>
                <a:lnTo>
                  <a:pt x="4248000" y="540000"/>
                </a:lnTo>
                <a:lnTo>
                  <a:pt x="72000" y="540000"/>
                </a:lnTo>
                <a:close/>
                <a:moveTo>
                  <a:pt x="144000" y="0"/>
                </a:moveTo>
                <a:lnTo>
                  <a:pt x="4176000" y="0"/>
                </a:lnTo>
                <a:lnTo>
                  <a:pt x="4176000" y="252000"/>
                </a:lnTo>
                <a:lnTo>
                  <a:pt x="144000" y="25200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Governance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25" name="フリーフォーム: 図形 124">
            <a:extLst>
              <a:ext uri="{FF2B5EF4-FFF2-40B4-BE49-F238E27FC236}">
                <a16:creationId xmlns:a16="http://schemas.microsoft.com/office/drawing/2014/main" id="{59A277C5-7D5F-41B0-8901-5311EFD13A01}"/>
              </a:ext>
            </a:extLst>
          </p:cNvPr>
          <p:cNvSpPr/>
          <p:nvPr/>
        </p:nvSpPr>
        <p:spPr>
          <a:xfrm>
            <a:off x="861600" y="3429000"/>
            <a:ext cx="633600" cy="2232000"/>
          </a:xfrm>
          <a:custGeom>
            <a:avLst/>
            <a:gdLst>
              <a:gd name="connsiteX0" fmla="*/ 0 w 633600"/>
              <a:gd name="connsiteY0" fmla="*/ 2124000 h 2232000"/>
              <a:gd name="connsiteX1" fmla="*/ 633600 w 633600"/>
              <a:gd name="connsiteY1" fmla="*/ 2124000 h 2232000"/>
              <a:gd name="connsiteX2" fmla="*/ 633600 w 633600"/>
              <a:gd name="connsiteY2" fmla="*/ 2232000 h 2232000"/>
              <a:gd name="connsiteX3" fmla="*/ 0 w 633600"/>
              <a:gd name="connsiteY3" fmla="*/ 2232000 h 2232000"/>
              <a:gd name="connsiteX4" fmla="*/ 28800 w 633600"/>
              <a:gd name="connsiteY4" fmla="*/ 144000 h 2232000"/>
              <a:gd name="connsiteX5" fmla="*/ 604800 w 633600"/>
              <a:gd name="connsiteY5" fmla="*/ 144000 h 2232000"/>
              <a:gd name="connsiteX6" fmla="*/ 604800 w 633600"/>
              <a:gd name="connsiteY6" fmla="*/ 2088000 h 2232000"/>
              <a:gd name="connsiteX7" fmla="*/ 28800 w 633600"/>
              <a:gd name="connsiteY7" fmla="*/ 2088000 h 2232000"/>
              <a:gd name="connsiteX8" fmla="*/ 0 w 633600"/>
              <a:gd name="connsiteY8" fmla="*/ 0 h 2232000"/>
              <a:gd name="connsiteX9" fmla="*/ 633600 w 633600"/>
              <a:gd name="connsiteY9" fmla="*/ 0 h 2232000"/>
              <a:gd name="connsiteX10" fmla="*/ 633600 w 633600"/>
              <a:gd name="connsiteY10" fmla="*/ 108000 h 2232000"/>
              <a:gd name="connsiteX11" fmla="*/ 0 w 633600"/>
              <a:gd name="connsiteY11" fmla="*/ 10800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3600" h="2232000">
                <a:moveTo>
                  <a:pt x="0" y="2124000"/>
                </a:moveTo>
                <a:lnTo>
                  <a:pt x="633600" y="2124000"/>
                </a:lnTo>
                <a:lnTo>
                  <a:pt x="633600" y="2232000"/>
                </a:lnTo>
                <a:lnTo>
                  <a:pt x="0" y="2232000"/>
                </a:lnTo>
                <a:close/>
                <a:moveTo>
                  <a:pt x="28800" y="144000"/>
                </a:moveTo>
                <a:lnTo>
                  <a:pt x="604800" y="144000"/>
                </a:lnTo>
                <a:lnTo>
                  <a:pt x="604800" y="2088000"/>
                </a:lnTo>
                <a:lnTo>
                  <a:pt x="28800" y="2088000"/>
                </a:lnTo>
                <a:close/>
                <a:moveTo>
                  <a:pt x="0" y="0"/>
                </a:moveTo>
                <a:lnTo>
                  <a:pt x="633600" y="0"/>
                </a:lnTo>
                <a:lnTo>
                  <a:pt x="633600" y="108000"/>
                </a:lnTo>
                <a:lnTo>
                  <a:pt x="0" y="108000"/>
                </a:lnTo>
                <a:close/>
              </a:path>
            </a:pathLst>
          </a:custGeom>
          <a:gradFill flip="none" rotWithShape="1">
            <a:gsLst>
              <a:gs pos="60000">
                <a:schemeClr val="accent5">
                  <a:lumMod val="20000"/>
                  <a:lumOff val="80000"/>
                </a:schemeClr>
              </a:gs>
              <a:gs pos="40000">
                <a:schemeClr val="accent5">
                  <a:lumMod val="20000"/>
                  <a:lumOff val="80000"/>
                </a:schemeClr>
              </a:gs>
              <a:gs pos="1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tIns="216000" rtlCol="0" anchor="ctr">
            <a:noAutofit/>
          </a:bodyPr>
          <a:lstStyle/>
          <a:p>
            <a:pPr algn="ctr"/>
            <a:r>
              <a:rPr lang="en-US" altLang="ja-JP" sz="1200" dirty="0">
                <a:solidFill>
                  <a:schemeClr val="accent4"/>
                </a:solidFill>
              </a:rPr>
              <a:t>Competitiveness</a:t>
            </a:r>
            <a:endParaRPr lang="ja-JP" altLang="en-US" sz="1200" dirty="0">
              <a:solidFill>
                <a:schemeClr val="accent4"/>
              </a:solidFill>
            </a:endParaRPr>
          </a:p>
        </p:txBody>
      </p:sp>
      <p:sp>
        <p:nvSpPr>
          <p:cNvPr id="126" name="フリーフォーム: 図形 125">
            <a:extLst>
              <a:ext uri="{FF2B5EF4-FFF2-40B4-BE49-F238E27FC236}">
                <a16:creationId xmlns:a16="http://schemas.microsoft.com/office/drawing/2014/main" id="{2FA93CAC-1557-466F-B545-60526DB98A8B}"/>
              </a:ext>
            </a:extLst>
          </p:cNvPr>
          <p:cNvSpPr/>
          <p:nvPr/>
        </p:nvSpPr>
        <p:spPr>
          <a:xfrm>
            <a:off x="1869600" y="3429000"/>
            <a:ext cx="633600" cy="2232000"/>
          </a:xfrm>
          <a:custGeom>
            <a:avLst/>
            <a:gdLst>
              <a:gd name="connsiteX0" fmla="*/ 0 w 633600"/>
              <a:gd name="connsiteY0" fmla="*/ 2124000 h 2232000"/>
              <a:gd name="connsiteX1" fmla="*/ 633600 w 633600"/>
              <a:gd name="connsiteY1" fmla="*/ 2124000 h 2232000"/>
              <a:gd name="connsiteX2" fmla="*/ 633600 w 633600"/>
              <a:gd name="connsiteY2" fmla="*/ 2232000 h 2232000"/>
              <a:gd name="connsiteX3" fmla="*/ 0 w 633600"/>
              <a:gd name="connsiteY3" fmla="*/ 2232000 h 2232000"/>
              <a:gd name="connsiteX4" fmla="*/ 28800 w 633600"/>
              <a:gd name="connsiteY4" fmla="*/ 144000 h 2232000"/>
              <a:gd name="connsiteX5" fmla="*/ 604800 w 633600"/>
              <a:gd name="connsiteY5" fmla="*/ 144000 h 2232000"/>
              <a:gd name="connsiteX6" fmla="*/ 604800 w 633600"/>
              <a:gd name="connsiteY6" fmla="*/ 2088000 h 2232000"/>
              <a:gd name="connsiteX7" fmla="*/ 28800 w 633600"/>
              <a:gd name="connsiteY7" fmla="*/ 2088000 h 2232000"/>
              <a:gd name="connsiteX8" fmla="*/ 0 w 633600"/>
              <a:gd name="connsiteY8" fmla="*/ 0 h 2232000"/>
              <a:gd name="connsiteX9" fmla="*/ 633600 w 633600"/>
              <a:gd name="connsiteY9" fmla="*/ 0 h 2232000"/>
              <a:gd name="connsiteX10" fmla="*/ 633600 w 633600"/>
              <a:gd name="connsiteY10" fmla="*/ 108000 h 2232000"/>
              <a:gd name="connsiteX11" fmla="*/ 0 w 633600"/>
              <a:gd name="connsiteY11" fmla="*/ 10800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3600" h="2232000">
                <a:moveTo>
                  <a:pt x="0" y="2124000"/>
                </a:moveTo>
                <a:lnTo>
                  <a:pt x="633600" y="2124000"/>
                </a:lnTo>
                <a:lnTo>
                  <a:pt x="633600" y="2232000"/>
                </a:lnTo>
                <a:lnTo>
                  <a:pt x="0" y="2232000"/>
                </a:lnTo>
                <a:close/>
                <a:moveTo>
                  <a:pt x="28800" y="144000"/>
                </a:moveTo>
                <a:lnTo>
                  <a:pt x="604800" y="144000"/>
                </a:lnTo>
                <a:lnTo>
                  <a:pt x="604800" y="2088000"/>
                </a:lnTo>
                <a:lnTo>
                  <a:pt x="28800" y="2088000"/>
                </a:lnTo>
                <a:close/>
                <a:moveTo>
                  <a:pt x="0" y="0"/>
                </a:moveTo>
                <a:lnTo>
                  <a:pt x="633600" y="0"/>
                </a:lnTo>
                <a:lnTo>
                  <a:pt x="633600" y="108000"/>
                </a:lnTo>
                <a:lnTo>
                  <a:pt x="0" y="108000"/>
                </a:lnTo>
                <a:close/>
              </a:path>
            </a:pathLst>
          </a:custGeom>
          <a:gradFill flip="none" rotWithShape="1">
            <a:gsLst>
              <a:gs pos="60000">
                <a:schemeClr val="accent5">
                  <a:lumMod val="20000"/>
                  <a:lumOff val="80000"/>
                </a:schemeClr>
              </a:gs>
              <a:gs pos="40000">
                <a:schemeClr val="accent5">
                  <a:lumMod val="20000"/>
                  <a:lumOff val="80000"/>
                </a:schemeClr>
              </a:gs>
              <a:gs pos="1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tIns="216000" rtlCol="0" anchor="ctr">
            <a:noAutofit/>
          </a:bodyPr>
          <a:lstStyle/>
          <a:p>
            <a:pPr algn="ctr"/>
            <a:r>
              <a:rPr lang="en-US" altLang="ja-JP" sz="1200" dirty="0">
                <a:solidFill>
                  <a:schemeClr val="accent4"/>
                </a:solidFill>
              </a:rPr>
              <a:t>Comprehensiveness</a:t>
            </a:r>
            <a:endParaRPr lang="ja-JP" altLang="en-US" sz="1200" dirty="0">
              <a:solidFill>
                <a:schemeClr val="accent4"/>
              </a:solidFill>
            </a:endParaRPr>
          </a:p>
        </p:txBody>
      </p:sp>
      <p:sp>
        <p:nvSpPr>
          <p:cNvPr id="127" name="フリーフォーム: 図形 126">
            <a:extLst>
              <a:ext uri="{FF2B5EF4-FFF2-40B4-BE49-F238E27FC236}">
                <a16:creationId xmlns:a16="http://schemas.microsoft.com/office/drawing/2014/main" id="{19F34B70-E193-4BE8-AEEC-3B7A5D788B29}"/>
              </a:ext>
            </a:extLst>
          </p:cNvPr>
          <p:cNvSpPr/>
          <p:nvPr/>
        </p:nvSpPr>
        <p:spPr>
          <a:xfrm>
            <a:off x="2877600" y="3429000"/>
            <a:ext cx="633600" cy="2232000"/>
          </a:xfrm>
          <a:custGeom>
            <a:avLst/>
            <a:gdLst>
              <a:gd name="connsiteX0" fmla="*/ 0 w 633600"/>
              <a:gd name="connsiteY0" fmla="*/ 2124000 h 2232000"/>
              <a:gd name="connsiteX1" fmla="*/ 633600 w 633600"/>
              <a:gd name="connsiteY1" fmla="*/ 2124000 h 2232000"/>
              <a:gd name="connsiteX2" fmla="*/ 633600 w 633600"/>
              <a:gd name="connsiteY2" fmla="*/ 2232000 h 2232000"/>
              <a:gd name="connsiteX3" fmla="*/ 0 w 633600"/>
              <a:gd name="connsiteY3" fmla="*/ 2232000 h 2232000"/>
              <a:gd name="connsiteX4" fmla="*/ 28800 w 633600"/>
              <a:gd name="connsiteY4" fmla="*/ 144000 h 2232000"/>
              <a:gd name="connsiteX5" fmla="*/ 604800 w 633600"/>
              <a:gd name="connsiteY5" fmla="*/ 144000 h 2232000"/>
              <a:gd name="connsiteX6" fmla="*/ 604800 w 633600"/>
              <a:gd name="connsiteY6" fmla="*/ 2088000 h 2232000"/>
              <a:gd name="connsiteX7" fmla="*/ 28800 w 633600"/>
              <a:gd name="connsiteY7" fmla="*/ 2088000 h 2232000"/>
              <a:gd name="connsiteX8" fmla="*/ 0 w 633600"/>
              <a:gd name="connsiteY8" fmla="*/ 0 h 2232000"/>
              <a:gd name="connsiteX9" fmla="*/ 633600 w 633600"/>
              <a:gd name="connsiteY9" fmla="*/ 0 h 2232000"/>
              <a:gd name="connsiteX10" fmla="*/ 633600 w 633600"/>
              <a:gd name="connsiteY10" fmla="*/ 108000 h 2232000"/>
              <a:gd name="connsiteX11" fmla="*/ 0 w 633600"/>
              <a:gd name="connsiteY11" fmla="*/ 10800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3600" h="2232000">
                <a:moveTo>
                  <a:pt x="0" y="2124000"/>
                </a:moveTo>
                <a:lnTo>
                  <a:pt x="633600" y="2124000"/>
                </a:lnTo>
                <a:lnTo>
                  <a:pt x="633600" y="2232000"/>
                </a:lnTo>
                <a:lnTo>
                  <a:pt x="0" y="2232000"/>
                </a:lnTo>
                <a:close/>
                <a:moveTo>
                  <a:pt x="28800" y="144000"/>
                </a:moveTo>
                <a:lnTo>
                  <a:pt x="604800" y="144000"/>
                </a:lnTo>
                <a:lnTo>
                  <a:pt x="604800" y="2088000"/>
                </a:lnTo>
                <a:lnTo>
                  <a:pt x="28800" y="2088000"/>
                </a:lnTo>
                <a:close/>
                <a:moveTo>
                  <a:pt x="0" y="0"/>
                </a:moveTo>
                <a:lnTo>
                  <a:pt x="633600" y="0"/>
                </a:lnTo>
                <a:lnTo>
                  <a:pt x="633600" y="108000"/>
                </a:lnTo>
                <a:lnTo>
                  <a:pt x="0" y="108000"/>
                </a:lnTo>
                <a:close/>
              </a:path>
            </a:pathLst>
          </a:custGeom>
          <a:gradFill flip="none" rotWithShape="1">
            <a:gsLst>
              <a:gs pos="60000">
                <a:schemeClr val="accent5">
                  <a:lumMod val="20000"/>
                  <a:lumOff val="80000"/>
                </a:schemeClr>
              </a:gs>
              <a:gs pos="40000">
                <a:schemeClr val="accent5">
                  <a:lumMod val="20000"/>
                  <a:lumOff val="80000"/>
                </a:schemeClr>
              </a:gs>
              <a:gs pos="1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tIns="216000" rtlCol="0" anchor="ctr">
            <a:noAutofit/>
          </a:bodyPr>
          <a:lstStyle/>
          <a:p>
            <a:pPr algn="ctr"/>
            <a:r>
              <a:rPr lang="en-US" altLang="ja-JP" sz="1200" dirty="0">
                <a:solidFill>
                  <a:schemeClr val="accent4"/>
                </a:solidFill>
              </a:rPr>
              <a:t>Accuracy</a:t>
            </a:r>
            <a:endParaRPr lang="ja-JP" altLang="en-US" sz="1200" dirty="0">
              <a:solidFill>
                <a:schemeClr val="accent4"/>
              </a:solidFill>
            </a:endParaRPr>
          </a:p>
        </p:txBody>
      </p:sp>
      <p:sp>
        <p:nvSpPr>
          <p:cNvPr id="128" name="フリーフォーム: 図形 127">
            <a:extLst>
              <a:ext uri="{FF2B5EF4-FFF2-40B4-BE49-F238E27FC236}">
                <a16:creationId xmlns:a16="http://schemas.microsoft.com/office/drawing/2014/main" id="{2DF31528-894D-4F61-A487-2D64568CECFE}"/>
              </a:ext>
            </a:extLst>
          </p:cNvPr>
          <p:cNvSpPr/>
          <p:nvPr/>
        </p:nvSpPr>
        <p:spPr>
          <a:xfrm>
            <a:off x="3885600" y="3429000"/>
            <a:ext cx="633600" cy="2232000"/>
          </a:xfrm>
          <a:custGeom>
            <a:avLst/>
            <a:gdLst>
              <a:gd name="connsiteX0" fmla="*/ 0 w 633600"/>
              <a:gd name="connsiteY0" fmla="*/ 2124000 h 2232000"/>
              <a:gd name="connsiteX1" fmla="*/ 633600 w 633600"/>
              <a:gd name="connsiteY1" fmla="*/ 2124000 h 2232000"/>
              <a:gd name="connsiteX2" fmla="*/ 633600 w 633600"/>
              <a:gd name="connsiteY2" fmla="*/ 2232000 h 2232000"/>
              <a:gd name="connsiteX3" fmla="*/ 0 w 633600"/>
              <a:gd name="connsiteY3" fmla="*/ 2232000 h 2232000"/>
              <a:gd name="connsiteX4" fmla="*/ 28800 w 633600"/>
              <a:gd name="connsiteY4" fmla="*/ 144000 h 2232000"/>
              <a:gd name="connsiteX5" fmla="*/ 604800 w 633600"/>
              <a:gd name="connsiteY5" fmla="*/ 144000 h 2232000"/>
              <a:gd name="connsiteX6" fmla="*/ 604800 w 633600"/>
              <a:gd name="connsiteY6" fmla="*/ 2088000 h 2232000"/>
              <a:gd name="connsiteX7" fmla="*/ 28800 w 633600"/>
              <a:gd name="connsiteY7" fmla="*/ 2088000 h 2232000"/>
              <a:gd name="connsiteX8" fmla="*/ 0 w 633600"/>
              <a:gd name="connsiteY8" fmla="*/ 0 h 2232000"/>
              <a:gd name="connsiteX9" fmla="*/ 633600 w 633600"/>
              <a:gd name="connsiteY9" fmla="*/ 0 h 2232000"/>
              <a:gd name="connsiteX10" fmla="*/ 633600 w 633600"/>
              <a:gd name="connsiteY10" fmla="*/ 108000 h 2232000"/>
              <a:gd name="connsiteX11" fmla="*/ 0 w 633600"/>
              <a:gd name="connsiteY11" fmla="*/ 10800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3600" h="2232000">
                <a:moveTo>
                  <a:pt x="0" y="2124000"/>
                </a:moveTo>
                <a:lnTo>
                  <a:pt x="633600" y="2124000"/>
                </a:lnTo>
                <a:lnTo>
                  <a:pt x="633600" y="2232000"/>
                </a:lnTo>
                <a:lnTo>
                  <a:pt x="0" y="2232000"/>
                </a:lnTo>
                <a:close/>
                <a:moveTo>
                  <a:pt x="28800" y="144000"/>
                </a:moveTo>
                <a:lnTo>
                  <a:pt x="604800" y="144000"/>
                </a:lnTo>
                <a:lnTo>
                  <a:pt x="604800" y="2088000"/>
                </a:lnTo>
                <a:lnTo>
                  <a:pt x="28800" y="2088000"/>
                </a:lnTo>
                <a:close/>
                <a:moveTo>
                  <a:pt x="0" y="0"/>
                </a:moveTo>
                <a:lnTo>
                  <a:pt x="633600" y="0"/>
                </a:lnTo>
                <a:lnTo>
                  <a:pt x="633600" y="108000"/>
                </a:lnTo>
                <a:lnTo>
                  <a:pt x="0" y="108000"/>
                </a:lnTo>
                <a:close/>
              </a:path>
            </a:pathLst>
          </a:custGeom>
          <a:gradFill flip="none" rotWithShape="1">
            <a:gsLst>
              <a:gs pos="60000">
                <a:schemeClr val="accent5">
                  <a:lumMod val="20000"/>
                  <a:lumOff val="80000"/>
                </a:schemeClr>
              </a:gs>
              <a:gs pos="40000">
                <a:schemeClr val="accent5">
                  <a:lumMod val="20000"/>
                  <a:lumOff val="80000"/>
                </a:schemeClr>
              </a:gs>
              <a:gs pos="1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square" tIns="216000" rtlCol="0" anchor="ctr">
            <a:noAutofit/>
          </a:bodyPr>
          <a:lstStyle/>
          <a:p>
            <a:pPr algn="ctr"/>
            <a:r>
              <a:rPr lang="en-US" altLang="ja-JP" sz="1200" dirty="0">
                <a:solidFill>
                  <a:schemeClr val="accent4"/>
                </a:solidFill>
              </a:rPr>
              <a:t>Timeliness</a:t>
            </a:r>
            <a:endParaRPr lang="ja-JP" altLang="en-US" sz="1200" dirty="0">
              <a:solidFill>
                <a:schemeClr val="accent4"/>
              </a:solidFill>
            </a:endParaRPr>
          </a:p>
        </p:txBody>
      </p:sp>
      <p:sp>
        <p:nvSpPr>
          <p:cNvPr id="129" name="正方形/長方形 45">
            <a:extLst>
              <a:ext uri="{FF2B5EF4-FFF2-40B4-BE49-F238E27FC236}">
                <a16:creationId xmlns:a16="http://schemas.microsoft.com/office/drawing/2014/main" id="{396B847F-94E6-452E-BE5E-13E07EAD53A8}"/>
              </a:ext>
            </a:extLst>
          </p:cNvPr>
          <p:cNvSpPr/>
          <p:nvPr/>
        </p:nvSpPr>
        <p:spPr>
          <a:xfrm>
            <a:off x="926400" y="3645000"/>
            <a:ext cx="252000" cy="252000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ⅱ</a:t>
            </a:r>
            <a:endParaRPr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30" name="正方形/長方形 45">
            <a:extLst>
              <a:ext uri="{FF2B5EF4-FFF2-40B4-BE49-F238E27FC236}">
                <a16:creationId xmlns:a16="http://schemas.microsoft.com/office/drawing/2014/main" id="{611E4199-215D-45E3-9D1A-A435A3B83393}"/>
              </a:ext>
            </a:extLst>
          </p:cNvPr>
          <p:cNvSpPr/>
          <p:nvPr/>
        </p:nvSpPr>
        <p:spPr>
          <a:xfrm>
            <a:off x="1934400" y="3645000"/>
            <a:ext cx="252000" cy="252000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ⅲ</a:t>
            </a:r>
            <a:endParaRPr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31" name="正方形/長方形 45">
            <a:extLst>
              <a:ext uri="{FF2B5EF4-FFF2-40B4-BE49-F238E27FC236}">
                <a16:creationId xmlns:a16="http://schemas.microsoft.com/office/drawing/2014/main" id="{3CEB77B9-4EE5-4E38-A796-E1A1314892C9}"/>
              </a:ext>
            </a:extLst>
          </p:cNvPr>
          <p:cNvSpPr/>
          <p:nvPr/>
        </p:nvSpPr>
        <p:spPr>
          <a:xfrm>
            <a:off x="2942400" y="3645000"/>
            <a:ext cx="252000" cy="252000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ⅳ</a:t>
            </a:r>
            <a:endParaRPr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32" name="正方形/長方形 45">
            <a:extLst>
              <a:ext uri="{FF2B5EF4-FFF2-40B4-BE49-F238E27FC236}">
                <a16:creationId xmlns:a16="http://schemas.microsoft.com/office/drawing/2014/main" id="{7B2DF308-E8DC-414D-AE4A-74AA9C906A25}"/>
              </a:ext>
            </a:extLst>
          </p:cNvPr>
          <p:cNvSpPr/>
          <p:nvPr/>
        </p:nvSpPr>
        <p:spPr>
          <a:xfrm>
            <a:off x="3950400" y="3645000"/>
            <a:ext cx="252000" cy="252000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ⅴ</a:t>
            </a:r>
            <a:endParaRPr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33" name="正方形/長方形 45">
            <a:extLst>
              <a:ext uri="{FF2B5EF4-FFF2-40B4-BE49-F238E27FC236}">
                <a16:creationId xmlns:a16="http://schemas.microsoft.com/office/drawing/2014/main" id="{C0F23DBA-4A6E-42E8-822B-CC6507BB3DB8}"/>
              </a:ext>
            </a:extLst>
          </p:cNvPr>
          <p:cNvSpPr/>
          <p:nvPr/>
        </p:nvSpPr>
        <p:spPr>
          <a:xfrm>
            <a:off x="1898400" y="5805000"/>
            <a:ext cx="252000" cy="252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ⅵ</a:t>
            </a:r>
            <a:endParaRPr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134" name="正方形/長方形 45">
            <a:extLst>
              <a:ext uri="{FF2B5EF4-FFF2-40B4-BE49-F238E27FC236}">
                <a16:creationId xmlns:a16="http://schemas.microsoft.com/office/drawing/2014/main" id="{6B92C127-41B5-406E-9CDD-BFDCA41C6C3A}"/>
              </a:ext>
            </a:extLst>
          </p:cNvPr>
          <p:cNvSpPr/>
          <p:nvPr/>
        </p:nvSpPr>
        <p:spPr>
          <a:xfrm>
            <a:off x="1713366" y="2608968"/>
            <a:ext cx="252000" cy="252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ⅰ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837341D-A656-4E1F-8256-0A3EEFE09512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8669A96-71D2-4E8A-9A26-4F508B5A70E9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10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BE3CDB4B-FA7D-45C2-A6E6-D8D5B5770E5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85214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20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BE3CDB4B-FA7D-45C2-A6E6-D8D5B5770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01140505-F415-4F3C-B6BC-879544D6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   </a:t>
            </a:r>
            <a:r>
              <a:rPr kumimoji="1" lang="en-US" altLang="ja-JP" dirty="0"/>
              <a:t>Identification and Organization of Targets</a:t>
            </a:r>
            <a:endParaRPr kumimoji="1" lang="ja-JP" altLang="en-US" dirty="0"/>
          </a:p>
        </p:txBody>
      </p:sp>
      <p:sp>
        <p:nvSpPr>
          <p:cNvPr id="171" name="テキスト プレースホルダー 170">
            <a:extLst>
              <a:ext uri="{FF2B5EF4-FFF2-40B4-BE49-F238E27FC236}">
                <a16:creationId xmlns:a16="http://schemas.microsoft.com/office/drawing/2014/main" id="{A7CD8085-1106-4EE4-8A6E-EFEF5D4D5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Space Management</a:t>
            </a:r>
            <a:r>
              <a:rPr lang="ja-JP" altLang="en-US" dirty="0"/>
              <a:t>の目的及び目指すべき姿から、</a:t>
            </a:r>
            <a:r>
              <a:rPr lang="en-US" altLang="ja-JP" dirty="0"/>
              <a:t>A</a:t>
            </a:r>
            <a:r>
              <a:rPr lang="ja-JP" altLang="en-US" dirty="0"/>
              <a:t>～</a:t>
            </a:r>
            <a:r>
              <a:rPr lang="en-US" altLang="ja-JP" dirty="0"/>
              <a:t>G</a:t>
            </a:r>
            <a:r>
              <a:rPr lang="ja-JP" altLang="en-US" dirty="0"/>
              <a:t>の</a:t>
            </a:r>
            <a:r>
              <a:rPr lang="en-US" altLang="ja-JP" dirty="0"/>
              <a:t>Target</a:t>
            </a:r>
            <a:r>
              <a:rPr lang="ja-JP" altLang="en-US" dirty="0"/>
              <a:t>を抽出・整理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02662E-AE6F-41BE-AC15-9050DF9490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F62CC74-99FB-41DE-9161-2937B6530478}"/>
              </a:ext>
            </a:extLst>
          </p:cNvPr>
          <p:cNvSpPr txBox="1"/>
          <p:nvPr/>
        </p:nvSpPr>
        <p:spPr>
          <a:xfrm>
            <a:off x="318820" y="1564307"/>
            <a:ext cx="1096946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ja-JP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Objectives</a:t>
            </a:r>
            <a:endParaRPr kumimoji="1" lang="en-US" altLang="ja-JP" sz="140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4" name="矢印: 右 173">
            <a:extLst>
              <a:ext uri="{FF2B5EF4-FFF2-40B4-BE49-F238E27FC236}">
                <a16:creationId xmlns:a16="http://schemas.microsoft.com/office/drawing/2014/main" id="{0F3A7DFA-A790-4F7D-8CE1-2FA45A10F518}"/>
              </a:ext>
            </a:extLst>
          </p:cNvPr>
          <p:cNvSpPr/>
          <p:nvPr/>
        </p:nvSpPr>
        <p:spPr>
          <a:xfrm>
            <a:off x="1580703" y="1775558"/>
            <a:ext cx="259693" cy="4400031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EC5105D-D0E3-41C1-AC69-F370D4731021}"/>
              </a:ext>
            </a:extLst>
          </p:cNvPr>
          <p:cNvSpPr/>
          <p:nvPr/>
        </p:nvSpPr>
        <p:spPr>
          <a:xfrm>
            <a:off x="1828045" y="6403029"/>
            <a:ext cx="3987220" cy="252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144000" tIns="0" bIns="0" rtlCol="0" anchor="ctr">
            <a:noAutofit/>
          </a:bodyPr>
          <a:lstStyle/>
          <a:p>
            <a:pPr marR="0" lvl="0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* A</a:t>
            </a:r>
            <a:r>
              <a:rPr lang="ja-JP" altLang="en-US" sz="1100" dirty="0"/>
              <a:t>から</a:t>
            </a:r>
            <a:r>
              <a:rPr lang="en-US" altLang="ja-JP" sz="1100" dirty="0"/>
              <a:t>G</a:t>
            </a:r>
            <a:r>
              <a:rPr lang="ja-JP" altLang="en-US" sz="1100" dirty="0"/>
              <a:t>の</a:t>
            </a:r>
            <a:r>
              <a:rPr lang="en-US" altLang="ja-JP" sz="1100" dirty="0"/>
              <a:t>Target</a:t>
            </a:r>
            <a:r>
              <a:rPr lang="ja-JP" altLang="en-US" sz="1100" dirty="0"/>
              <a:t>の網羅性により、</a:t>
            </a:r>
            <a:r>
              <a:rPr lang="en-US" altLang="ja-JP" sz="1100" dirty="0"/>
              <a:t>                            </a:t>
            </a:r>
            <a:r>
              <a:rPr lang="ja-JP" altLang="en-US" sz="1100" dirty="0"/>
              <a:t>を充足</a:t>
            </a:r>
            <a:endParaRPr lang="en-US" altLang="ja-JP" sz="1100" dirty="0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4EBC3128-00F9-4DC8-8ACF-230BBB2CD76B}"/>
              </a:ext>
            </a:extLst>
          </p:cNvPr>
          <p:cNvSpPr/>
          <p:nvPr/>
        </p:nvSpPr>
        <p:spPr>
          <a:xfrm>
            <a:off x="4715411" y="1967525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B-1.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全体最適な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を策定するため、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GHQ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主導型の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プロセスの構築と実行（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FO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への全体最適な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Allocation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を含む）</a:t>
            </a:r>
            <a:endParaRPr kumimoji="1" lang="en-US" altLang="ja-JP" sz="1100" i="0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1C122B45-8477-4BC6-AD7E-A397BFEEF09A}"/>
              </a:ext>
            </a:extLst>
          </p:cNvPr>
          <p:cNvSpPr/>
          <p:nvPr/>
        </p:nvSpPr>
        <p:spPr>
          <a:xfrm>
            <a:off x="4715411" y="230908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評価項目の統一や算出ロジックの標準化など、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策定に係る全社共通ルールの策定</a:t>
            </a:r>
            <a:endParaRPr kumimoji="1" lang="en-US" altLang="ja-JP" sz="1100" i="0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976D48D8-9BBD-4DDB-B927-25FCB2FF7819}"/>
              </a:ext>
            </a:extLst>
          </p:cNvPr>
          <p:cNvSpPr/>
          <p:nvPr/>
        </p:nvSpPr>
        <p:spPr>
          <a:xfrm>
            <a:off x="4715411" y="5383105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E-3.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モニタリングを通じガバナンスを強化するための、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結果分析ツールの導入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0508E79-05FC-4715-8E20-019BDF762573}"/>
              </a:ext>
            </a:extLst>
          </p:cNvPr>
          <p:cNvSpPr/>
          <p:nvPr/>
        </p:nvSpPr>
        <p:spPr>
          <a:xfrm>
            <a:off x="4715411" y="4699989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E-1.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いずれの地域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/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オフィス等にも偏らない、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全体最適かつ公平な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受入のためのルール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明確化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EE089B5A-1939-44E4-9314-5D75DB54F43E}"/>
              </a:ext>
            </a:extLst>
          </p:cNvPr>
          <p:cNvSpPr/>
          <p:nvPr/>
        </p:nvSpPr>
        <p:spPr>
          <a:xfrm>
            <a:off x="4715411" y="5041547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E-2.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ルールに準拠した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受入を促進すべく、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 Data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 管理システムの導入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46058596-BAF4-45B6-A54B-3069ED230449}"/>
              </a:ext>
            </a:extLst>
          </p:cNvPr>
          <p:cNvSpPr/>
          <p:nvPr/>
        </p:nvSpPr>
        <p:spPr>
          <a:xfrm>
            <a:off x="4715411" y="401687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有効かつ効率的に消席率を高めるため、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SPC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と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Loading Office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のコミュニケーション促進と連携強化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D273D385-7C1E-4C36-92C1-A9928517E9B9}"/>
              </a:ext>
            </a:extLst>
          </p:cNvPr>
          <p:cNvSpPr/>
          <p:nvPr/>
        </p:nvSpPr>
        <p:spPr>
          <a:xfrm>
            <a:off x="4715411" y="3675315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D-1.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消席率を最大化するため、各種データに基づく将来の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予測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31BBE8E8-1C20-4949-A476-4905299B6235}"/>
              </a:ext>
            </a:extLst>
          </p:cNvPr>
          <p:cNvSpPr/>
          <p:nvPr/>
        </p:nvSpPr>
        <p:spPr>
          <a:xfrm>
            <a:off x="4715411" y="4358431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D-3.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適切な追加営業活動を適時に判断するため、最新消席率の可視化（余剰スペースのタイムリーな把握）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D6470734-A283-4631-97C7-15DB7FB3F76A}"/>
              </a:ext>
            </a:extLst>
          </p:cNvPr>
          <p:cNvSpPr/>
          <p:nvPr/>
        </p:nvSpPr>
        <p:spPr>
          <a:xfrm>
            <a:off x="4715411" y="572466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F-1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契約条件（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Award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）の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連携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による、戦略から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に至る、一気通貫のプロセス構築とデータ連携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C4D398E4-972E-4057-B1E0-63ECBEE1619B}"/>
              </a:ext>
            </a:extLst>
          </p:cNvPr>
          <p:cNvSpPr/>
          <p:nvPr/>
        </p:nvSpPr>
        <p:spPr>
          <a:xfrm>
            <a:off x="4715411" y="3333757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altLang="ja-JP" sz="1100" dirty="0">
                <a:latin typeface="Arial"/>
                <a:ea typeface="ＭＳ Ｐゴシック" panose="020B0600070205080204" pitchFamily="50" charset="-128"/>
              </a:rPr>
              <a:t>C-3</a:t>
            </a:r>
            <a:r>
              <a:rPr kumimoji="1" lang="fr-FR" altLang="ja-JP" sz="11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業務の品質向上と効率化のため、マニュアル作業の多い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策定業務の自動化</a:t>
            </a:r>
            <a:endParaRPr kumimoji="1" lang="fr-FR" altLang="ja-JP" sz="11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1643B78D-1F44-4292-9EDB-EB6AA14E6FB2}"/>
              </a:ext>
            </a:extLst>
          </p:cNvPr>
          <p:cNvSpPr/>
          <p:nvPr/>
        </p:nvSpPr>
        <p:spPr>
          <a:xfrm>
            <a:off x="4715411" y="2650641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C-1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 正確な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を策定すべく、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網羅的なデータの収集と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当該データの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への反映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6676CB6-60FE-4166-BD9A-73763A83501D}"/>
              </a:ext>
            </a:extLst>
          </p:cNvPr>
          <p:cNvSpPr/>
          <p:nvPr/>
        </p:nvSpPr>
        <p:spPr>
          <a:xfrm>
            <a:off x="4715411" y="2992199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C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-2.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正確な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を策定するため、顧客情報をタイムリーかつ正確に把握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し、当該情報を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に反映するプロセスの徹底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2239C430-93B4-4A19-8490-049128CDA677}"/>
              </a:ext>
            </a:extLst>
          </p:cNvPr>
          <p:cNvSpPr/>
          <p:nvPr/>
        </p:nvSpPr>
        <p:spPr>
          <a:xfrm>
            <a:off x="4715411" y="1625967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A-1. CM</a:t>
            </a:r>
            <a:r>
              <a:rPr lang="ja-JP" altLang="en-US" sz="1100" dirty="0"/>
              <a:t>最大化のため、市場環境に応じた</a:t>
            </a:r>
            <a:r>
              <a:rPr lang="en-US" altLang="ja-JP" sz="1100" dirty="0"/>
              <a:t>AP(LT/MT etc.)</a:t>
            </a:r>
            <a:r>
              <a:rPr lang="ja-JP" altLang="en-US" sz="1100" dirty="0"/>
              <a:t>と</a:t>
            </a:r>
            <a:r>
              <a:rPr lang="en-US" altLang="ja-JP" sz="1100" dirty="0"/>
              <a:t>Non-AP(SPOT/ST etc.)</a:t>
            </a:r>
            <a:r>
              <a:rPr lang="ja-JP" altLang="en-US" sz="1100" dirty="0"/>
              <a:t>の</a:t>
            </a:r>
            <a:r>
              <a:rPr lang="en-US" altLang="ja-JP" sz="1100" dirty="0"/>
              <a:t>Portfolio</a:t>
            </a:r>
            <a:r>
              <a:rPr lang="ja-JP" altLang="en-US" sz="1100" dirty="0"/>
              <a:t>調整</a:t>
            </a:r>
            <a:endParaRPr lang="en-US" altLang="ja-JP" sz="1100" dirty="0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C95E9E78-2C39-4026-809E-BD99E0B882A1}"/>
              </a:ext>
            </a:extLst>
          </p:cNvPr>
          <p:cNvSpPr/>
          <p:nvPr/>
        </p:nvSpPr>
        <p:spPr>
          <a:xfrm>
            <a:off x="4715411" y="606622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marL="182563" indent="-182563" algn="l">
              <a:lnSpc>
                <a:spcPts val="1400"/>
              </a:lnSpc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G-1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OCN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以外（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IPC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T/S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）の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獲得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による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公共財の最大活用推進（組織起ち上げ、インセンティブ付与を含む）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D275BD6B-784B-4FE4-BC72-08741423C963}"/>
              </a:ext>
            </a:extLst>
          </p:cNvPr>
          <p:cNvSpPr txBox="1"/>
          <p:nvPr/>
        </p:nvSpPr>
        <p:spPr>
          <a:xfrm>
            <a:off x="2019467" y="1564307"/>
            <a:ext cx="9822395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ja-JP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Targets</a:t>
            </a:r>
            <a:r>
              <a:rPr lang="ja-JP" alt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altLang="ja-JP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×</a:t>
            </a:r>
            <a:r>
              <a:rPr lang="ja-JP" altLang="en-US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US" altLang="ja-JP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Principles</a:t>
            </a:r>
            <a:endParaRPr kumimoji="1" lang="en-US" altLang="ja-JP" sz="140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EEF45826-E3E2-4C75-813F-99A1A5A1FAE8}"/>
              </a:ext>
            </a:extLst>
          </p:cNvPr>
          <p:cNvCxnSpPr>
            <a:cxnSpLocks/>
            <a:stCxn id="72" idx="3"/>
            <a:endCxn id="99" idx="1"/>
          </p:cNvCxnSpPr>
          <p:nvPr/>
        </p:nvCxnSpPr>
        <p:spPr>
          <a:xfrm flipV="1">
            <a:off x="4407468" y="1755445"/>
            <a:ext cx="307943" cy="1717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2DCAE678-A84E-4F5C-9C5B-891E9DED4318}"/>
              </a:ext>
            </a:extLst>
          </p:cNvPr>
          <p:cNvCxnSpPr>
            <a:cxnSpLocks/>
            <a:stCxn id="75" idx="3"/>
            <a:endCxn id="100" idx="1"/>
          </p:cNvCxnSpPr>
          <p:nvPr/>
        </p:nvCxnSpPr>
        <p:spPr>
          <a:xfrm flipV="1">
            <a:off x="4407468" y="2097003"/>
            <a:ext cx="307943" cy="512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コネクタ 129">
            <a:extLst>
              <a:ext uri="{FF2B5EF4-FFF2-40B4-BE49-F238E27FC236}">
                <a16:creationId xmlns:a16="http://schemas.microsoft.com/office/drawing/2014/main" id="{33A50369-B3BD-4BC3-B04C-39FBE745FABA}"/>
              </a:ext>
            </a:extLst>
          </p:cNvPr>
          <p:cNvCxnSpPr>
            <a:cxnSpLocks/>
            <a:stCxn id="75" idx="3"/>
            <a:endCxn id="102" idx="1"/>
          </p:cNvCxnSpPr>
          <p:nvPr/>
        </p:nvCxnSpPr>
        <p:spPr>
          <a:xfrm flipV="1">
            <a:off x="4407468" y="2438561"/>
            <a:ext cx="307943" cy="1713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131">
            <a:extLst>
              <a:ext uri="{FF2B5EF4-FFF2-40B4-BE49-F238E27FC236}">
                <a16:creationId xmlns:a16="http://schemas.microsoft.com/office/drawing/2014/main" id="{78C97B78-6E42-49B6-B451-214457308710}"/>
              </a:ext>
            </a:extLst>
          </p:cNvPr>
          <p:cNvCxnSpPr>
            <a:cxnSpLocks/>
            <a:stCxn id="78" idx="3"/>
            <a:endCxn id="110" idx="1"/>
          </p:cNvCxnSpPr>
          <p:nvPr/>
        </p:nvCxnSpPr>
        <p:spPr>
          <a:xfrm flipV="1">
            <a:off x="4407468" y="3804793"/>
            <a:ext cx="307943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BC97AB04-2009-4255-9135-62D3A892F075}"/>
              </a:ext>
            </a:extLst>
          </p:cNvPr>
          <p:cNvCxnSpPr>
            <a:cxnSpLocks/>
            <a:stCxn id="78" idx="3"/>
            <a:endCxn id="108" idx="1"/>
          </p:cNvCxnSpPr>
          <p:nvPr/>
        </p:nvCxnSpPr>
        <p:spPr>
          <a:xfrm>
            <a:off x="4407468" y="3975572"/>
            <a:ext cx="307943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5CEA3738-6BD7-4CCD-9A47-21FE2E7EEF1E}"/>
              </a:ext>
            </a:extLst>
          </p:cNvPr>
          <p:cNvCxnSpPr>
            <a:cxnSpLocks/>
            <a:stCxn id="78" idx="3"/>
            <a:endCxn id="111" idx="1"/>
          </p:cNvCxnSpPr>
          <p:nvPr/>
        </p:nvCxnSpPr>
        <p:spPr>
          <a:xfrm>
            <a:off x="4407468" y="3975572"/>
            <a:ext cx="307943" cy="5123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E9C08B5B-9A0B-45FE-9845-F524F4E8F4B4}"/>
              </a:ext>
            </a:extLst>
          </p:cNvPr>
          <p:cNvCxnSpPr>
            <a:cxnSpLocks/>
            <a:stCxn id="79" idx="3"/>
            <a:endCxn id="122" idx="1"/>
          </p:cNvCxnSpPr>
          <p:nvPr/>
        </p:nvCxnSpPr>
        <p:spPr>
          <a:xfrm flipV="1">
            <a:off x="4407468" y="2780119"/>
            <a:ext cx="307943" cy="5126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95F2ED5B-F598-47E6-8D3C-CBAC67744562}"/>
              </a:ext>
            </a:extLst>
          </p:cNvPr>
          <p:cNvCxnSpPr>
            <a:cxnSpLocks/>
            <a:stCxn id="79" idx="3"/>
            <a:endCxn id="125" idx="1"/>
          </p:cNvCxnSpPr>
          <p:nvPr/>
        </p:nvCxnSpPr>
        <p:spPr>
          <a:xfrm flipV="1">
            <a:off x="4407468" y="3121677"/>
            <a:ext cx="307943" cy="1710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B502AD2F-5706-448F-933C-DBF17249615E}"/>
              </a:ext>
            </a:extLst>
          </p:cNvPr>
          <p:cNvCxnSpPr>
            <a:cxnSpLocks/>
            <a:stCxn id="79" idx="3"/>
            <a:endCxn id="121" idx="1"/>
          </p:cNvCxnSpPr>
          <p:nvPr/>
        </p:nvCxnSpPr>
        <p:spPr>
          <a:xfrm>
            <a:off x="4407468" y="3292764"/>
            <a:ext cx="307943" cy="17047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9707C315-27B1-4A78-8327-52070765C3D7}"/>
              </a:ext>
            </a:extLst>
          </p:cNvPr>
          <p:cNvCxnSpPr>
            <a:cxnSpLocks/>
            <a:stCxn id="81" idx="3"/>
            <a:endCxn id="105" idx="1"/>
          </p:cNvCxnSpPr>
          <p:nvPr/>
        </p:nvCxnSpPr>
        <p:spPr>
          <a:xfrm>
            <a:off x="4407468" y="4658380"/>
            <a:ext cx="307943" cy="1710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18EB68A8-0A31-41F0-B16B-8A55DCB4E4D5}"/>
              </a:ext>
            </a:extLst>
          </p:cNvPr>
          <p:cNvCxnSpPr>
            <a:cxnSpLocks/>
            <a:stCxn id="81" idx="3"/>
            <a:endCxn id="106" idx="1"/>
          </p:cNvCxnSpPr>
          <p:nvPr/>
        </p:nvCxnSpPr>
        <p:spPr>
          <a:xfrm>
            <a:off x="4407468" y="4658380"/>
            <a:ext cx="307943" cy="5126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7AFCD0E4-E3AF-4085-BF15-35BD1BF15F81}"/>
              </a:ext>
            </a:extLst>
          </p:cNvPr>
          <p:cNvCxnSpPr>
            <a:cxnSpLocks/>
            <a:stCxn id="86" idx="3"/>
            <a:endCxn id="123" idx="1"/>
          </p:cNvCxnSpPr>
          <p:nvPr/>
        </p:nvCxnSpPr>
        <p:spPr>
          <a:xfrm>
            <a:off x="4407468" y="5341188"/>
            <a:ext cx="307943" cy="512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コネクタ 157">
            <a:extLst>
              <a:ext uri="{FF2B5EF4-FFF2-40B4-BE49-F238E27FC236}">
                <a16:creationId xmlns:a16="http://schemas.microsoft.com/office/drawing/2014/main" id="{BF73E296-D086-4135-B6BC-11B9EB654991}"/>
              </a:ext>
            </a:extLst>
          </p:cNvPr>
          <p:cNvCxnSpPr>
            <a:cxnSpLocks/>
            <a:stCxn id="87" idx="3"/>
            <a:endCxn id="126" idx="1"/>
          </p:cNvCxnSpPr>
          <p:nvPr/>
        </p:nvCxnSpPr>
        <p:spPr>
          <a:xfrm>
            <a:off x="4407468" y="6023998"/>
            <a:ext cx="307943" cy="1717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9FB77DA3-561E-46E9-844C-8087CD24E433}"/>
              </a:ext>
            </a:extLst>
          </p:cNvPr>
          <p:cNvCxnSpPr>
            <a:cxnSpLocks/>
            <a:stCxn id="81" idx="3"/>
            <a:endCxn id="103" idx="1"/>
          </p:cNvCxnSpPr>
          <p:nvPr/>
        </p:nvCxnSpPr>
        <p:spPr>
          <a:xfrm>
            <a:off x="4407468" y="4658380"/>
            <a:ext cx="307943" cy="8542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4B27C80F-227C-4CA1-B39E-3373FC0E2643}"/>
              </a:ext>
            </a:extLst>
          </p:cNvPr>
          <p:cNvSpPr/>
          <p:nvPr/>
        </p:nvSpPr>
        <p:spPr>
          <a:xfrm>
            <a:off x="1948360" y="2308775"/>
            <a:ext cx="2459108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200" dirty="0"/>
          </a:p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200" dirty="0">
                <a:solidFill>
                  <a:schemeClr val="tx1"/>
                </a:solidFill>
              </a:rPr>
              <a:t>GHQ</a:t>
            </a:r>
            <a:r>
              <a:rPr kumimoji="1" lang="ja-JP" altLang="en-US" sz="1200" dirty="0">
                <a:solidFill>
                  <a:schemeClr val="tx1"/>
                </a:solidFill>
              </a:rPr>
              <a:t>主導型の全体最適な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ルール・プロセスの確立</a:t>
            </a:r>
            <a:endParaRPr lang="ja-JP" altLang="en-US" sz="1200" dirty="0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E354BF86-7AE1-492F-95EF-1718072ADD84}"/>
              </a:ext>
            </a:extLst>
          </p:cNvPr>
          <p:cNvSpPr/>
          <p:nvPr/>
        </p:nvSpPr>
        <p:spPr>
          <a:xfrm>
            <a:off x="1948360" y="4357199"/>
            <a:ext cx="2459108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>
              <a:lnSpc>
                <a:spcPts val="1400"/>
              </a:lnSpc>
              <a:defRPr/>
            </a:pP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ts val="1400"/>
              </a:lnSpc>
              <a:defRPr/>
            </a:pPr>
            <a:r>
              <a:rPr kumimoji="1" lang="en-US" altLang="ja-JP" sz="1200" dirty="0">
                <a:solidFill>
                  <a:schemeClr val="tx1"/>
                </a:solidFill>
              </a:rPr>
              <a:t>BKG Acceptance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Rule</a:t>
            </a:r>
            <a:r>
              <a:rPr lang="ja-JP" altLang="en-US" sz="1200" dirty="0">
                <a:solidFill>
                  <a:schemeClr val="tx1"/>
                </a:solidFill>
              </a:rPr>
              <a:t>の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ja-JP" altLang="en-US" sz="1200" dirty="0">
                <a:solidFill>
                  <a:schemeClr val="tx1"/>
                </a:solidFill>
              </a:rPr>
              <a:t>確立とモニタリング</a:t>
            </a:r>
            <a:endParaRPr lang="ja-JP" altLang="en-US" sz="1200" dirty="0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5397045-9BD5-4F75-85A6-A70493EDEC6A}"/>
              </a:ext>
            </a:extLst>
          </p:cNvPr>
          <p:cNvSpPr/>
          <p:nvPr/>
        </p:nvSpPr>
        <p:spPr>
          <a:xfrm>
            <a:off x="1948360" y="5040007"/>
            <a:ext cx="2459108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/>
            <a:endParaRPr lang="en-US" altLang="ja-JP" sz="1200" dirty="0"/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戦略の落とし込み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C77044FF-CCE9-40B8-A5B8-99837DC2CDF5}"/>
              </a:ext>
            </a:extLst>
          </p:cNvPr>
          <p:cNvSpPr/>
          <p:nvPr/>
        </p:nvSpPr>
        <p:spPr>
          <a:xfrm>
            <a:off x="1948360" y="5722817"/>
            <a:ext cx="2459108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200" dirty="0"/>
          </a:p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200" dirty="0"/>
              <a:t>公共財の最大活用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AB2F5734-F2C6-489B-836F-E9112FB798A0}"/>
              </a:ext>
            </a:extLst>
          </p:cNvPr>
          <p:cNvSpPr/>
          <p:nvPr/>
        </p:nvSpPr>
        <p:spPr>
          <a:xfrm>
            <a:off x="1948360" y="1625967"/>
            <a:ext cx="2459108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>
              <a:lnSpc>
                <a:spcPts val="1400"/>
              </a:lnSpc>
              <a:defRPr/>
            </a:pP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ts val="1400"/>
              </a:lnSpc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マーケットを踏まえた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en-US" altLang="ja-JP" sz="1200" dirty="0">
                <a:solidFill>
                  <a:schemeClr val="tx1"/>
                </a:solidFill>
              </a:rPr>
              <a:t>Portfolio</a:t>
            </a:r>
            <a:r>
              <a:rPr lang="ja-JP" altLang="en-US" sz="1200" dirty="0"/>
              <a:t>調整</a:t>
            </a:r>
          </a:p>
        </p:txBody>
      </p:sp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42B2DE06-3839-4847-AF0D-08FB1CF2BF63}"/>
              </a:ext>
            </a:extLst>
          </p:cNvPr>
          <p:cNvSpPr/>
          <p:nvPr/>
        </p:nvSpPr>
        <p:spPr>
          <a:xfrm>
            <a:off x="3506486" y="2348894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 Competitive</a:t>
            </a:r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D402DE12-7FF0-40B8-A8D2-2D7EBF22838D}"/>
              </a:ext>
            </a:extLst>
          </p:cNvPr>
          <p:cNvSpPr/>
          <p:nvPr/>
        </p:nvSpPr>
        <p:spPr>
          <a:xfrm>
            <a:off x="3506486" y="4397318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Governance</a:t>
            </a:r>
          </a:p>
        </p:txBody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9AC0411A-D8C9-4CF4-91FB-640B4BAD7195}"/>
              </a:ext>
            </a:extLst>
          </p:cNvPr>
          <p:cNvSpPr/>
          <p:nvPr/>
        </p:nvSpPr>
        <p:spPr>
          <a:xfrm>
            <a:off x="3506486" y="5080127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Strategy</a:t>
            </a:r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8CC99D99-F74D-4772-898A-12104648E6DB}"/>
              </a:ext>
            </a:extLst>
          </p:cNvPr>
          <p:cNvSpPr/>
          <p:nvPr/>
        </p:nvSpPr>
        <p:spPr>
          <a:xfrm>
            <a:off x="3506486" y="1666086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Competitive</a:t>
            </a:r>
          </a:p>
        </p:txBody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1EE48E53-EC4A-41B2-9C36-2959961F20AF}"/>
              </a:ext>
            </a:extLst>
          </p:cNvPr>
          <p:cNvSpPr/>
          <p:nvPr/>
        </p:nvSpPr>
        <p:spPr>
          <a:xfrm>
            <a:off x="2601686" y="5762937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Strategy</a:t>
            </a: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DE44BFB9-5719-4FE6-9914-BF8BFCF16B1D}"/>
              </a:ext>
            </a:extLst>
          </p:cNvPr>
          <p:cNvSpPr/>
          <p:nvPr/>
        </p:nvSpPr>
        <p:spPr>
          <a:xfrm>
            <a:off x="4033503" y="6448063"/>
            <a:ext cx="1046628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Comprehensive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7D4304B1-A44B-4CFB-BF71-141D80D05906}"/>
              </a:ext>
            </a:extLst>
          </p:cNvPr>
          <p:cNvSpPr/>
          <p:nvPr/>
        </p:nvSpPr>
        <p:spPr>
          <a:xfrm>
            <a:off x="1977160" y="1654767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2E1D65A-C69D-4196-885E-3EC0713B0B67}"/>
              </a:ext>
            </a:extLst>
          </p:cNvPr>
          <p:cNvSpPr/>
          <p:nvPr/>
        </p:nvSpPr>
        <p:spPr>
          <a:xfrm>
            <a:off x="1977160" y="2337575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646F698F-3679-4C5E-B557-87F89ADDF744}"/>
              </a:ext>
            </a:extLst>
          </p:cNvPr>
          <p:cNvSpPr/>
          <p:nvPr/>
        </p:nvSpPr>
        <p:spPr>
          <a:xfrm>
            <a:off x="1948360" y="2991583"/>
            <a:ext cx="2459108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200" dirty="0"/>
          </a:p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200" dirty="0"/>
              <a:t>正確な</a:t>
            </a:r>
            <a:r>
              <a:rPr lang="en-US" altLang="ja-JP" sz="1200" dirty="0"/>
              <a:t>AP</a:t>
            </a:r>
            <a:r>
              <a:rPr lang="ja-JP" altLang="en-US" sz="1200" dirty="0"/>
              <a:t>の策定</a:t>
            </a:r>
          </a:p>
        </p:txBody>
      </p:sp>
      <p:sp>
        <p:nvSpPr>
          <p:cNvPr id="93" name="四角形: 角を丸くする 92">
            <a:extLst>
              <a:ext uri="{FF2B5EF4-FFF2-40B4-BE49-F238E27FC236}">
                <a16:creationId xmlns:a16="http://schemas.microsoft.com/office/drawing/2014/main" id="{546C55A5-068C-4460-9361-8A842892768E}"/>
              </a:ext>
            </a:extLst>
          </p:cNvPr>
          <p:cNvSpPr/>
          <p:nvPr/>
        </p:nvSpPr>
        <p:spPr>
          <a:xfrm>
            <a:off x="3506486" y="3031702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Accuracy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28233244-22CD-4D85-A038-09FEAC95E947}"/>
              </a:ext>
            </a:extLst>
          </p:cNvPr>
          <p:cNvSpPr/>
          <p:nvPr/>
        </p:nvSpPr>
        <p:spPr>
          <a:xfrm>
            <a:off x="1977160" y="3020383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7F3201C9-75F3-4ECD-8AB8-4AE26C99E473}"/>
              </a:ext>
            </a:extLst>
          </p:cNvPr>
          <p:cNvSpPr/>
          <p:nvPr/>
        </p:nvSpPr>
        <p:spPr>
          <a:xfrm>
            <a:off x="1977160" y="4385999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17F2829C-99F8-491D-81FB-2ACE84EAF166}"/>
              </a:ext>
            </a:extLst>
          </p:cNvPr>
          <p:cNvSpPr/>
          <p:nvPr/>
        </p:nvSpPr>
        <p:spPr>
          <a:xfrm>
            <a:off x="1977160" y="5068807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0951AA46-C5C6-40B7-B81F-76E4ECD8AEB9}"/>
              </a:ext>
            </a:extLst>
          </p:cNvPr>
          <p:cNvSpPr/>
          <p:nvPr/>
        </p:nvSpPr>
        <p:spPr>
          <a:xfrm>
            <a:off x="1977160" y="5751617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260E9127-C9C7-4827-BAE2-23E08471B2F1}"/>
              </a:ext>
            </a:extLst>
          </p:cNvPr>
          <p:cNvSpPr/>
          <p:nvPr/>
        </p:nvSpPr>
        <p:spPr>
          <a:xfrm>
            <a:off x="1948360" y="3674391"/>
            <a:ext cx="2459108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>
              <a:lnSpc>
                <a:spcPts val="1400"/>
              </a:lnSpc>
              <a:defRPr/>
            </a:pP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ts val="1400"/>
              </a:lnSpc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消席率のタイムリーな把握と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適時・適切なアクション実行</a:t>
            </a:r>
            <a:endParaRPr lang="ja-JP" altLang="en-US" sz="1200" dirty="0"/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653FA2B2-30E2-4D28-B0A9-0862C4B22F10}"/>
              </a:ext>
            </a:extLst>
          </p:cNvPr>
          <p:cNvSpPr/>
          <p:nvPr/>
        </p:nvSpPr>
        <p:spPr>
          <a:xfrm>
            <a:off x="3506486" y="3714510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Timeliness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1A02D817-35C9-48D2-9AFB-9EB325185D11}"/>
              </a:ext>
            </a:extLst>
          </p:cNvPr>
          <p:cNvSpPr/>
          <p:nvPr/>
        </p:nvSpPr>
        <p:spPr>
          <a:xfrm>
            <a:off x="1977160" y="3703191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3C6765B-A7BD-40B4-B8A0-7C2D672B7D46}"/>
              </a:ext>
            </a:extLst>
          </p:cNvPr>
          <p:cNvSpPr/>
          <p:nvPr/>
        </p:nvSpPr>
        <p:spPr>
          <a:xfrm>
            <a:off x="261848" y="4840595"/>
            <a:ext cx="201600" cy="148458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200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2363FEF-214D-4257-AE82-64C77E7E8A05}"/>
              </a:ext>
            </a:extLst>
          </p:cNvPr>
          <p:cNvSpPr/>
          <p:nvPr/>
        </p:nvSpPr>
        <p:spPr>
          <a:xfrm>
            <a:off x="261848" y="1732818"/>
            <a:ext cx="201600" cy="2879569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200" dirty="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D8943894-0A3A-4BCA-8947-82CE0FF31C33}"/>
              </a:ext>
            </a:extLst>
          </p:cNvPr>
          <p:cNvSpPr/>
          <p:nvPr/>
        </p:nvSpPr>
        <p:spPr>
          <a:xfrm>
            <a:off x="513389" y="1888306"/>
            <a:ext cx="959350" cy="13328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200" dirty="0"/>
              <a:t>消席率≧</a:t>
            </a:r>
            <a:r>
              <a:rPr lang="en-US" altLang="ja-JP" sz="1200" dirty="0"/>
              <a:t>100%</a:t>
            </a:r>
            <a:endParaRPr lang="ja-JP" altLang="en-US" sz="12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3E71D105-372C-492E-A559-07BCB433DCC3}"/>
              </a:ext>
            </a:extLst>
          </p:cNvPr>
          <p:cNvSpPr/>
          <p:nvPr/>
        </p:nvSpPr>
        <p:spPr>
          <a:xfrm>
            <a:off x="513389" y="3279532"/>
            <a:ext cx="959350" cy="13328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200" dirty="0"/>
              <a:t>最適貨物</a:t>
            </a:r>
            <a:br>
              <a:rPr lang="en-US" altLang="ja-JP" sz="1200" dirty="0"/>
            </a:br>
            <a:r>
              <a:rPr lang="ja-JP" altLang="en-US" sz="1200" dirty="0"/>
              <a:t>選択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D221802A-AD9D-42B3-969C-9E99293106A8}"/>
              </a:ext>
            </a:extLst>
          </p:cNvPr>
          <p:cNvSpPr/>
          <p:nvPr/>
        </p:nvSpPr>
        <p:spPr>
          <a:xfrm>
            <a:off x="513389" y="4992322"/>
            <a:ext cx="959350" cy="13328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200" dirty="0"/>
              <a:t>余剰</a:t>
            </a:r>
            <a:br>
              <a:rPr lang="en-US" altLang="ja-JP" sz="1200" dirty="0"/>
            </a:br>
            <a:r>
              <a:rPr lang="ja-JP" altLang="en-US" sz="1200" dirty="0"/>
              <a:t>スペースの有効活用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638425B-97D1-4131-98C5-3A1DBFA75887}"/>
              </a:ext>
            </a:extLst>
          </p:cNvPr>
          <p:cNvSpPr/>
          <p:nvPr/>
        </p:nvSpPr>
        <p:spPr>
          <a:xfrm>
            <a:off x="261848" y="1625965"/>
            <a:ext cx="1210891" cy="2016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non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b="1" dirty="0">
                <a:solidFill>
                  <a:schemeClr val="bg1"/>
                </a:solidFill>
              </a:rPr>
              <a:t>OCN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2C0141-003A-4DA3-B79B-DE09526BCF10}"/>
              </a:ext>
            </a:extLst>
          </p:cNvPr>
          <p:cNvSpPr/>
          <p:nvPr/>
        </p:nvSpPr>
        <p:spPr>
          <a:xfrm>
            <a:off x="261848" y="4734234"/>
            <a:ext cx="1210891" cy="2016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non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b="1" dirty="0">
                <a:solidFill>
                  <a:schemeClr val="bg1"/>
                </a:solidFill>
              </a:rPr>
              <a:t>IPC,T/S, MT</a:t>
            </a:r>
          </a:p>
        </p:txBody>
      </p: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230374F4-8ACB-4533-BAB1-FA46A0FCD670}"/>
              </a:ext>
            </a:extLst>
          </p:cNvPr>
          <p:cNvSpPr/>
          <p:nvPr/>
        </p:nvSpPr>
        <p:spPr>
          <a:xfrm>
            <a:off x="3506486" y="5762937"/>
            <a:ext cx="864982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Competitive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F127834-C0A4-449E-9163-E2E7D6E232C2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9283EE6A-66E0-41B6-9BF9-2595DA73A0A0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A50D6D0E-4298-48EF-BB7C-55A40CB792C5}"/>
              </a:ext>
            </a:extLst>
          </p:cNvPr>
          <p:cNvSpPr/>
          <p:nvPr/>
        </p:nvSpPr>
        <p:spPr>
          <a:xfrm>
            <a:off x="10502245" y="1321702"/>
            <a:ext cx="651942" cy="189446"/>
          </a:xfrm>
          <a:prstGeom prst="rect">
            <a:avLst/>
          </a:prstGeom>
          <a:noFill/>
          <a:ln>
            <a:noFill/>
          </a:ln>
        </p:spPr>
        <p:txBody>
          <a:bodyPr wrap="non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(Legend)</a:t>
            </a:r>
          </a:p>
        </p:txBody>
      </p: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A2DF129A-BE70-47E6-B231-62E0573904DF}"/>
              </a:ext>
            </a:extLst>
          </p:cNvPr>
          <p:cNvSpPr/>
          <p:nvPr/>
        </p:nvSpPr>
        <p:spPr>
          <a:xfrm>
            <a:off x="11182660" y="1335383"/>
            <a:ext cx="649874" cy="162084"/>
          </a:xfrm>
          <a:prstGeom prst="roundRect">
            <a:avLst/>
          </a:prstGeom>
          <a:solidFill>
            <a:srgbClr val="F6DAEA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Principle</a:t>
            </a: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4AA6ECE5-E9B6-44D7-9740-0330AF3B5426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173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BE3CDB4B-FA7D-45C2-A6E6-D8D5B5770E5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89037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10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BE3CDB4B-FA7D-45C2-A6E6-D8D5B5770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01140505-F415-4F3C-B6BC-879544D6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ja-JP" dirty="0"/>
              <a:t>   /     Targets linked with Tactics and Projects</a:t>
            </a:r>
            <a:endParaRPr kumimoji="1" lang="ja-JP" altLang="en-US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A269D0E5-A129-495D-A696-464AABD37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ターゲット達成のため、各プロジェクトで</a:t>
            </a:r>
            <a:r>
              <a:rPr lang="en-US" altLang="ja-JP" dirty="0"/>
              <a:t>Process Enhancement </a:t>
            </a:r>
            <a:r>
              <a:rPr lang="ja-JP" altLang="en-US" dirty="0"/>
              <a:t>と</a:t>
            </a:r>
            <a:r>
              <a:rPr lang="en-US" altLang="ja-JP" dirty="0"/>
              <a:t>IT Solutions</a:t>
            </a:r>
            <a:r>
              <a:rPr lang="ja-JP" altLang="en-US" dirty="0"/>
              <a:t>に取り組む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02662E-AE6F-41BE-AC15-9050DF9490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D275BD6B-784B-4FE4-BC72-08741423C963}"/>
              </a:ext>
            </a:extLst>
          </p:cNvPr>
          <p:cNvSpPr txBox="1"/>
          <p:nvPr/>
        </p:nvSpPr>
        <p:spPr>
          <a:xfrm>
            <a:off x="559521" y="1653898"/>
            <a:ext cx="7021541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ja-JP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Targets</a:t>
            </a:r>
            <a:endParaRPr kumimoji="1" lang="en-US" altLang="ja-JP" sz="140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0340AF8-2ADF-4612-A55C-6CB39816EE73}"/>
              </a:ext>
            </a:extLst>
          </p:cNvPr>
          <p:cNvSpPr/>
          <p:nvPr/>
        </p:nvSpPr>
        <p:spPr>
          <a:xfrm>
            <a:off x="10004497" y="1695708"/>
            <a:ext cx="1764000" cy="1966746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AP Optimization</a:t>
            </a:r>
            <a:br>
              <a:rPr lang="en-US" altLang="ja-JP" sz="1400" b="1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(Preparation/Creation)</a:t>
            </a:r>
            <a:endParaRPr lang="en-SG" altLang="ja-JP" sz="1200" dirty="0">
              <a:solidFill>
                <a:schemeClr val="tx1"/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A2B599B2-A844-4B01-80CB-2F5DD8551C84}"/>
              </a:ext>
            </a:extLst>
          </p:cNvPr>
          <p:cNvSpPr txBox="1"/>
          <p:nvPr/>
        </p:nvSpPr>
        <p:spPr>
          <a:xfrm>
            <a:off x="10004497" y="1653898"/>
            <a:ext cx="1745720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en-US" altLang="ja-JP" sz="140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Projects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61831CA-8AE4-4180-92D6-C84567339900}"/>
              </a:ext>
            </a:extLst>
          </p:cNvPr>
          <p:cNvSpPr/>
          <p:nvPr/>
        </p:nvSpPr>
        <p:spPr>
          <a:xfrm>
            <a:off x="10004497" y="4769730"/>
            <a:ext cx="1764000" cy="258956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00"/>
              </a:lnSpc>
            </a:pPr>
            <a:r>
              <a:rPr lang="en-US" altLang="ja-JP" sz="1400" b="1" dirty="0">
                <a:solidFill>
                  <a:schemeClr val="tx1"/>
                </a:solidFill>
              </a:rPr>
              <a:t>AP Optimization</a:t>
            </a:r>
            <a:br>
              <a:rPr lang="en-US" altLang="ja-JP" sz="1400" b="1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(Execution)</a:t>
            </a:r>
            <a:endParaRPr lang="en-SG" altLang="ja-JP" sz="1200" dirty="0">
              <a:solidFill>
                <a:schemeClr val="tx1"/>
              </a:solidFill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5B42D635-55A4-4341-93B0-192CCB9C1757}"/>
              </a:ext>
            </a:extLst>
          </p:cNvPr>
          <p:cNvSpPr txBox="1"/>
          <p:nvPr/>
        </p:nvSpPr>
        <p:spPr>
          <a:xfrm>
            <a:off x="10004497" y="6135964"/>
            <a:ext cx="1764000" cy="258956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ja-JP"/>
            </a:defPPr>
            <a:lvl1pPr algn="ctr">
              <a:defRPr sz="14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1200" dirty="0">
                <a:solidFill>
                  <a:schemeClr val="tx1"/>
                </a:solidFill>
              </a:rPr>
              <a:t>公共財の全社活用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850B9F-2C00-4E86-A1D6-87EFECFA1703}"/>
              </a:ext>
            </a:extLst>
          </p:cNvPr>
          <p:cNvSpPr txBox="1"/>
          <p:nvPr/>
        </p:nvSpPr>
        <p:spPr>
          <a:xfrm>
            <a:off x="10004497" y="5111288"/>
            <a:ext cx="1764000" cy="258956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ja-JP"/>
            </a:defPPr>
            <a:lvl1pPr algn="ctr">
              <a:defRPr sz="14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dirty="0"/>
              <a:t>BOMS</a:t>
            </a: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4847E1AB-CA9D-453D-A410-675991A6773C}"/>
              </a:ext>
            </a:extLst>
          </p:cNvPr>
          <p:cNvSpPr/>
          <p:nvPr/>
        </p:nvSpPr>
        <p:spPr>
          <a:xfrm>
            <a:off x="10004497" y="5794404"/>
            <a:ext cx="1764000" cy="258956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00"/>
              </a:lnSpc>
            </a:pPr>
            <a:r>
              <a:rPr lang="en-US" altLang="ja-JP" sz="1400" b="1" dirty="0">
                <a:solidFill>
                  <a:schemeClr val="tx1"/>
                </a:solidFill>
              </a:rPr>
              <a:t>AP Optimization</a:t>
            </a:r>
            <a:br>
              <a:rPr lang="en-US" altLang="ja-JP" sz="1400" b="1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(Preparation/Creation)</a:t>
            </a:r>
            <a:endParaRPr lang="en-SG" altLang="ja-JP" sz="1200" dirty="0">
              <a:solidFill>
                <a:schemeClr val="tx1"/>
              </a:solidFill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DF922175-CBCE-4AEA-8753-7BFC60C47358}"/>
              </a:ext>
            </a:extLst>
          </p:cNvPr>
          <p:cNvSpPr/>
          <p:nvPr/>
        </p:nvSpPr>
        <p:spPr>
          <a:xfrm>
            <a:off x="9824497" y="6349641"/>
            <a:ext cx="360000" cy="144000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</a:rPr>
              <a:t>NEW</a:t>
            </a:r>
            <a:endParaRPr kumimoji="1" lang="ja-JP" altLang="en-US" sz="1050" b="1" dirty="0">
              <a:solidFill>
                <a:schemeClr val="bg1"/>
              </a:solidFill>
            </a:endParaRP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FEE04CCD-875F-4579-A09D-FBA1BE5184F2}"/>
              </a:ext>
            </a:extLst>
          </p:cNvPr>
          <p:cNvCxnSpPr>
            <a:cxnSpLocks/>
            <a:stCxn id="193" idx="3"/>
            <a:endCxn id="73" idx="1"/>
          </p:cNvCxnSpPr>
          <p:nvPr/>
        </p:nvCxnSpPr>
        <p:spPr>
          <a:xfrm>
            <a:off x="9650870" y="1825186"/>
            <a:ext cx="353627" cy="853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F2FAE86F-113E-4791-B6F3-00B492EEE0C8}"/>
              </a:ext>
            </a:extLst>
          </p:cNvPr>
          <p:cNvCxnSpPr>
            <a:cxnSpLocks/>
            <a:stCxn id="197" idx="3"/>
            <a:endCxn id="73" idx="1"/>
          </p:cNvCxnSpPr>
          <p:nvPr/>
        </p:nvCxnSpPr>
        <p:spPr>
          <a:xfrm>
            <a:off x="9650870" y="2166744"/>
            <a:ext cx="353627" cy="5123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1742CCC5-FDF3-49E1-970A-3D1645C5933F}"/>
              </a:ext>
            </a:extLst>
          </p:cNvPr>
          <p:cNvCxnSpPr>
            <a:cxnSpLocks/>
            <a:stCxn id="201" idx="3"/>
            <a:endCxn id="73" idx="1"/>
          </p:cNvCxnSpPr>
          <p:nvPr/>
        </p:nvCxnSpPr>
        <p:spPr>
          <a:xfrm>
            <a:off x="9650870" y="2508302"/>
            <a:ext cx="353627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D1551028-2B7E-40DA-BACA-3C565F943F89}"/>
              </a:ext>
            </a:extLst>
          </p:cNvPr>
          <p:cNvCxnSpPr>
            <a:cxnSpLocks/>
            <a:stCxn id="239" idx="3"/>
            <a:endCxn id="85" idx="1"/>
          </p:cNvCxnSpPr>
          <p:nvPr/>
        </p:nvCxnSpPr>
        <p:spPr>
          <a:xfrm>
            <a:off x="9650870" y="4899208"/>
            <a:ext cx="3536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5747C621-8B0D-45C5-847E-184E71109660}"/>
              </a:ext>
            </a:extLst>
          </p:cNvPr>
          <p:cNvCxnSpPr>
            <a:cxnSpLocks/>
            <a:stCxn id="249" idx="3"/>
            <a:endCxn id="94" idx="1"/>
          </p:cNvCxnSpPr>
          <p:nvPr/>
        </p:nvCxnSpPr>
        <p:spPr>
          <a:xfrm>
            <a:off x="9650870" y="5240766"/>
            <a:ext cx="3536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647C8311-E3E1-4E14-A363-4A0BC06ACFDD}"/>
              </a:ext>
            </a:extLst>
          </p:cNvPr>
          <p:cNvCxnSpPr>
            <a:cxnSpLocks/>
            <a:stCxn id="264" idx="3"/>
            <a:endCxn id="98" idx="1"/>
          </p:cNvCxnSpPr>
          <p:nvPr/>
        </p:nvCxnSpPr>
        <p:spPr>
          <a:xfrm>
            <a:off x="9650870" y="5923882"/>
            <a:ext cx="3536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91BC8C69-8DDB-43D5-946B-E9023CB61915}"/>
              </a:ext>
            </a:extLst>
          </p:cNvPr>
          <p:cNvCxnSpPr>
            <a:cxnSpLocks/>
            <a:stCxn id="269" idx="3"/>
            <a:endCxn id="91" idx="1"/>
          </p:cNvCxnSpPr>
          <p:nvPr/>
        </p:nvCxnSpPr>
        <p:spPr>
          <a:xfrm>
            <a:off x="9650870" y="6265442"/>
            <a:ext cx="3536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テキスト ボックス 187">
            <a:extLst>
              <a:ext uri="{FF2B5EF4-FFF2-40B4-BE49-F238E27FC236}">
                <a16:creationId xmlns:a16="http://schemas.microsoft.com/office/drawing/2014/main" id="{F5097BA1-3411-4FB6-8D48-F056D0B5EADE}"/>
              </a:ext>
            </a:extLst>
          </p:cNvPr>
          <p:cNvSpPr txBox="1"/>
          <p:nvPr/>
        </p:nvSpPr>
        <p:spPr>
          <a:xfrm>
            <a:off x="7845628" y="1436497"/>
            <a:ext cx="1745720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ja-JP" sz="1400" kern="0" dirty="0">
                <a:latin typeface="Arial"/>
                <a:cs typeface="Arial"/>
                <a:sym typeface="Arial"/>
              </a:rPr>
              <a:t>Tactics(Solution)</a:t>
            </a:r>
            <a:endParaRPr kumimoji="1" lang="en-US" altLang="ja-JP" sz="1400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6958DD1C-DA9F-4BBD-AE82-18E271B01601}"/>
              </a:ext>
            </a:extLst>
          </p:cNvPr>
          <p:cNvSpPr/>
          <p:nvPr/>
        </p:nvSpPr>
        <p:spPr>
          <a:xfrm>
            <a:off x="7786107" y="169570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37A9595D-724E-4092-9D63-84929CAB9835}"/>
              </a:ext>
            </a:extLst>
          </p:cNvPr>
          <p:cNvSpPr/>
          <p:nvPr/>
        </p:nvSpPr>
        <p:spPr>
          <a:xfrm>
            <a:off x="8275095" y="169570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90697283-D320-4BF9-A82B-C30CBD89E08A}"/>
              </a:ext>
            </a:extLst>
          </p:cNvPr>
          <p:cNvSpPr/>
          <p:nvPr/>
        </p:nvSpPr>
        <p:spPr>
          <a:xfrm>
            <a:off x="8764083" y="169570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68A885C0-E098-43FA-B147-51AA84462D88}"/>
              </a:ext>
            </a:extLst>
          </p:cNvPr>
          <p:cNvSpPr/>
          <p:nvPr/>
        </p:nvSpPr>
        <p:spPr>
          <a:xfrm>
            <a:off x="7786107" y="203726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37EFDFE5-21A3-4033-8747-7987075938BD}"/>
              </a:ext>
            </a:extLst>
          </p:cNvPr>
          <p:cNvSpPr/>
          <p:nvPr/>
        </p:nvSpPr>
        <p:spPr>
          <a:xfrm>
            <a:off x="8275095" y="203726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21A8F500-A91D-4D70-970D-094B7DD22D3B}"/>
              </a:ext>
            </a:extLst>
          </p:cNvPr>
          <p:cNvSpPr/>
          <p:nvPr/>
        </p:nvSpPr>
        <p:spPr>
          <a:xfrm>
            <a:off x="8764083" y="203726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EAD65BC4-715C-4596-BD68-A1E0763564C9}"/>
              </a:ext>
            </a:extLst>
          </p:cNvPr>
          <p:cNvSpPr/>
          <p:nvPr/>
        </p:nvSpPr>
        <p:spPr>
          <a:xfrm>
            <a:off x="9253070" y="203726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44239E75-571F-4EE9-B8EA-96FF8AB0BBE6}"/>
              </a:ext>
            </a:extLst>
          </p:cNvPr>
          <p:cNvSpPr/>
          <p:nvPr/>
        </p:nvSpPr>
        <p:spPr>
          <a:xfrm>
            <a:off x="7786107" y="237882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926F1806-F724-441D-9F49-838DFAB2D82F}"/>
              </a:ext>
            </a:extLst>
          </p:cNvPr>
          <p:cNvSpPr/>
          <p:nvPr/>
        </p:nvSpPr>
        <p:spPr>
          <a:xfrm>
            <a:off x="8275095" y="237882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F73719C0-7728-449C-B72C-9C443A08FCC1}"/>
              </a:ext>
            </a:extLst>
          </p:cNvPr>
          <p:cNvSpPr/>
          <p:nvPr/>
        </p:nvSpPr>
        <p:spPr>
          <a:xfrm>
            <a:off x="8764083" y="237882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B2BC558B-19AB-4BB0-ABBF-100ADC0A40ED}"/>
              </a:ext>
            </a:extLst>
          </p:cNvPr>
          <p:cNvSpPr/>
          <p:nvPr/>
        </p:nvSpPr>
        <p:spPr>
          <a:xfrm>
            <a:off x="9253070" y="237882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73A07623-08D2-494C-8E1A-34ACD2C43C0F}"/>
              </a:ext>
            </a:extLst>
          </p:cNvPr>
          <p:cNvSpPr/>
          <p:nvPr/>
        </p:nvSpPr>
        <p:spPr>
          <a:xfrm>
            <a:off x="10004497" y="4086614"/>
            <a:ext cx="1764000" cy="600514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Decision</a:t>
            </a:r>
            <a:r>
              <a:rPr lang="ja-JP" altLang="en-US" sz="1400" b="1" dirty="0">
                <a:solidFill>
                  <a:schemeClr val="tx1"/>
                </a:solidFill>
              </a:rPr>
              <a:t> </a:t>
            </a:r>
            <a:r>
              <a:rPr lang="en-US" altLang="ja-JP" sz="1400" b="1" dirty="0">
                <a:solidFill>
                  <a:schemeClr val="tx1"/>
                </a:solidFill>
              </a:rPr>
              <a:t>Making</a:t>
            </a:r>
            <a:br>
              <a:rPr lang="en-US" altLang="ja-JP" sz="1400" b="1" dirty="0">
                <a:solidFill>
                  <a:schemeClr val="tx1"/>
                </a:solidFill>
              </a:rPr>
            </a:br>
            <a:r>
              <a:rPr lang="en-US" altLang="ja-JP" sz="1400" b="1" dirty="0">
                <a:solidFill>
                  <a:schemeClr val="tx1"/>
                </a:solidFill>
              </a:rPr>
              <a:t>Support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5563705F-8F2C-4EAE-AD5A-F08999D60997}"/>
              </a:ext>
            </a:extLst>
          </p:cNvPr>
          <p:cNvSpPr/>
          <p:nvPr/>
        </p:nvSpPr>
        <p:spPr>
          <a:xfrm>
            <a:off x="10004497" y="3745056"/>
            <a:ext cx="1764000" cy="258956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BKG Forecast</a:t>
            </a:r>
            <a:br>
              <a:rPr lang="en-US" altLang="ja-JP" sz="1200" b="1" dirty="0">
                <a:solidFill>
                  <a:schemeClr val="tx1"/>
                </a:solidFill>
              </a:rPr>
            </a:br>
            <a:r>
              <a:rPr lang="en-US" altLang="ja-JP" sz="1200" b="1" dirty="0">
                <a:solidFill>
                  <a:schemeClr val="tx1"/>
                </a:solidFill>
              </a:rPr>
              <a:t>Dynamic Pricing</a:t>
            </a:r>
          </a:p>
        </p:txBody>
      </p: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279B03D9-AE6C-4D3C-92BC-01FC011FA928}"/>
              </a:ext>
            </a:extLst>
          </p:cNvPr>
          <p:cNvCxnSpPr>
            <a:cxnSpLocks/>
            <a:stCxn id="205" idx="3"/>
            <a:endCxn id="82" idx="1"/>
          </p:cNvCxnSpPr>
          <p:nvPr/>
        </p:nvCxnSpPr>
        <p:spPr>
          <a:xfrm>
            <a:off x="9650870" y="3874534"/>
            <a:ext cx="3536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9EA6CDE4-1979-4D17-9079-7CDADFD677BB}"/>
              </a:ext>
            </a:extLst>
          </p:cNvPr>
          <p:cNvCxnSpPr>
            <a:cxnSpLocks/>
            <a:stCxn id="214" idx="3"/>
            <a:endCxn id="74" idx="1"/>
          </p:cNvCxnSpPr>
          <p:nvPr/>
        </p:nvCxnSpPr>
        <p:spPr>
          <a:xfrm>
            <a:off x="9650870" y="4216092"/>
            <a:ext cx="353627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62C48823-C712-44B5-AED5-9FE5EDE27AC0}"/>
              </a:ext>
            </a:extLst>
          </p:cNvPr>
          <p:cNvCxnSpPr>
            <a:cxnSpLocks/>
            <a:stCxn id="219" idx="3"/>
            <a:endCxn id="74" idx="1"/>
          </p:cNvCxnSpPr>
          <p:nvPr/>
        </p:nvCxnSpPr>
        <p:spPr>
          <a:xfrm flipV="1">
            <a:off x="9650870" y="4386871"/>
            <a:ext cx="353627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C996BA0C-D442-4EA0-A369-31D577F282EE}"/>
              </a:ext>
            </a:extLst>
          </p:cNvPr>
          <p:cNvSpPr/>
          <p:nvPr/>
        </p:nvSpPr>
        <p:spPr>
          <a:xfrm>
            <a:off x="7786107" y="374505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BCA8A486-D374-4C7C-B4D9-06FE30BB6FC7}"/>
              </a:ext>
            </a:extLst>
          </p:cNvPr>
          <p:cNvSpPr/>
          <p:nvPr/>
        </p:nvSpPr>
        <p:spPr>
          <a:xfrm>
            <a:off x="8275095" y="374505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73B5497E-2988-4355-8E9A-122577D282E1}"/>
              </a:ext>
            </a:extLst>
          </p:cNvPr>
          <p:cNvSpPr/>
          <p:nvPr/>
        </p:nvSpPr>
        <p:spPr>
          <a:xfrm>
            <a:off x="8764083" y="374505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71DE6591-FD55-453E-B899-B39B7D2693EB}"/>
              </a:ext>
            </a:extLst>
          </p:cNvPr>
          <p:cNvSpPr/>
          <p:nvPr/>
        </p:nvSpPr>
        <p:spPr>
          <a:xfrm>
            <a:off x="9253070" y="374505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CBCDB93D-98AE-4AF3-943C-32987303DEFA}"/>
              </a:ext>
            </a:extLst>
          </p:cNvPr>
          <p:cNvSpPr/>
          <p:nvPr/>
        </p:nvSpPr>
        <p:spPr>
          <a:xfrm>
            <a:off x="7786107" y="408661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161D2E1F-C55A-4439-9E8F-414EB6FE9BDC}"/>
              </a:ext>
            </a:extLst>
          </p:cNvPr>
          <p:cNvSpPr/>
          <p:nvPr/>
        </p:nvSpPr>
        <p:spPr>
          <a:xfrm>
            <a:off x="8275095" y="408661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05F982CF-008E-44AE-942C-318F142B7460}"/>
              </a:ext>
            </a:extLst>
          </p:cNvPr>
          <p:cNvSpPr/>
          <p:nvPr/>
        </p:nvSpPr>
        <p:spPr>
          <a:xfrm>
            <a:off x="8764083" y="408661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EC5693FF-5DED-4AEA-B4B6-78A29C15EB8C}"/>
              </a:ext>
            </a:extLst>
          </p:cNvPr>
          <p:cNvSpPr/>
          <p:nvPr/>
        </p:nvSpPr>
        <p:spPr>
          <a:xfrm>
            <a:off x="7786107" y="442817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EF31F954-D0A9-42F0-896B-6AFD2844E305}"/>
              </a:ext>
            </a:extLst>
          </p:cNvPr>
          <p:cNvSpPr/>
          <p:nvPr/>
        </p:nvSpPr>
        <p:spPr>
          <a:xfrm>
            <a:off x="8275095" y="442817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F0E3E2A9-3590-4034-BB61-AE7CACDCCC65}"/>
              </a:ext>
            </a:extLst>
          </p:cNvPr>
          <p:cNvSpPr/>
          <p:nvPr/>
        </p:nvSpPr>
        <p:spPr>
          <a:xfrm>
            <a:off x="8764083" y="442817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21514ED8-709B-437C-97E3-53AAB6F065AB}"/>
              </a:ext>
            </a:extLst>
          </p:cNvPr>
          <p:cNvSpPr/>
          <p:nvPr/>
        </p:nvSpPr>
        <p:spPr>
          <a:xfrm>
            <a:off x="9253070" y="408661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F42F8FCD-C49A-4AD1-9AE8-48A1B05597EE}"/>
              </a:ext>
            </a:extLst>
          </p:cNvPr>
          <p:cNvCxnSpPr>
            <a:cxnSpLocks/>
            <a:stCxn id="224" idx="3"/>
            <a:endCxn id="73" idx="1"/>
          </p:cNvCxnSpPr>
          <p:nvPr/>
        </p:nvCxnSpPr>
        <p:spPr>
          <a:xfrm flipV="1">
            <a:off x="9650870" y="2679081"/>
            <a:ext cx="353627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A079366F-BD0E-44EA-BBD5-3DD76FC2B6CD}"/>
              </a:ext>
            </a:extLst>
          </p:cNvPr>
          <p:cNvCxnSpPr>
            <a:cxnSpLocks/>
            <a:stCxn id="229" idx="3"/>
            <a:endCxn id="73" idx="1"/>
          </p:cNvCxnSpPr>
          <p:nvPr/>
        </p:nvCxnSpPr>
        <p:spPr>
          <a:xfrm flipV="1">
            <a:off x="9650870" y="2679081"/>
            <a:ext cx="353627" cy="5123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AAFF342-68A5-4EBF-BBA7-6AE417F2EDE7}"/>
              </a:ext>
            </a:extLst>
          </p:cNvPr>
          <p:cNvCxnSpPr>
            <a:cxnSpLocks/>
            <a:stCxn id="234" idx="3"/>
            <a:endCxn id="73" idx="1"/>
          </p:cNvCxnSpPr>
          <p:nvPr/>
        </p:nvCxnSpPr>
        <p:spPr>
          <a:xfrm flipV="1">
            <a:off x="9650870" y="2679081"/>
            <a:ext cx="353627" cy="8538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5FAA718-01E9-46DC-8637-42E006D9EF78}"/>
              </a:ext>
            </a:extLst>
          </p:cNvPr>
          <p:cNvSpPr/>
          <p:nvPr/>
        </p:nvSpPr>
        <p:spPr>
          <a:xfrm>
            <a:off x="7786107" y="272038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EB61387B-9E94-4B85-A84E-95408E6B327C}"/>
              </a:ext>
            </a:extLst>
          </p:cNvPr>
          <p:cNvSpPr/>
          <p:nvPr/>
        </p:nvSpPr>
        <p:spPr>
          <a:xfrm>
            <a:off x="8275095" y="272038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9B18CACD-7C98-44CC-A857-EF25CC03166C}"/>
              </a:ext>
            </a:extLst>
          </p:cNvPr>
          <p:cNvSpPr/>
          <p:nvPr/>
        </p:nvSpPr>
        <p:spPr>
          <a:xfrm>
            <a:off x="8764083" y="272038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96A60B74-7C3D-4EE2-8EF1-DA14893E1449}"/>
              </a:ext>
            </a:extLst>
          </p:cNvPr>
          <p:cNvSpPr/>
          <p:nvPr/>
        </p:nvSpPr>
        <p:spPr>
          <a:xfrm>
            <a:off x="9253070" y="272038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35A4C8F7-CC4E-4ADB-9ED6-413C28305746}"/>
              </a:ext>
            </a:extLst>
          </p:cNvPr>
          <p:cNvSpPr/>
          <p:nvPr/>
        </p:nvSpPr>
        <p:spPr>
          <a:xfrm>
            <a:off x="7786107" y="306194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29C7851F-F2FE-4F01-B045-41FE124CB6C7}"/>
              </a:ext>
            </a:extLst>
          </p:cNvPr>
          <p:cNvSpPr/>
          <p:nvPr/>
        </p:nvSpPr>
        <p:spPr>
          <a:xfrm>
            <a:off x="8275095" y="306194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A708066D-17F1-4488-B60C-E08E0E0CDF2E}"/>
              </a:ext>
            </a:extLst>
          </p:cNvPr>
          <p:cNvSpPr/>
          <p:nvPr/>
        </p:nvSpPr>
        <p:spPr>
          <a:xfrm>
            <a:off x="8764083" y="306194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6B8BEB2F-193A-45EF-B988-80B6FD44903D}"/>
              </a:ext>
            </a:extLst>
          </p:cNvPr>
          <p:cNvSpPr/>
          <p:nvPr/>
        </p:nvSpPr>
        <p:spPr>
          <a:xfrm>
            <a:off x="9253070" y="306194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2E94C60D-1D46-4FA7-BF31-3116ACBCA63C}"/>
              </a:ext>
            </a:extLst>
          </p:cNvPr>
          <p:cNvSpPr/>
          <p:nvPr/>
        </p:nvSpPr>
        <p:spPr>
          <a:xfrm>
            <a:off x="7786107" y="340349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F1F4F2F1-864E-49F1-A5C6-56E298D1F027}"/>
              </a:ext>
            </a:extLst>
          </p:cNvPr>
          <p:cNvSpPr/>
          <p:nvPr/>
        </p:nvSpPr>
        <p:spPr>
          <a:xfrm>
            <a:off x="8275095" y="340349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380539EC-DEBC-49ED-8432-8A154E842FB7}"/>
              </a:ext>
            </a:extLst>
          </p:cNvPr>
          <p:cNvSpPr/>
          <p:nvPr/>
        </p:nvSpPr>
        <p:spPr>
          <a:xfrm>
            <a:off x="8764083" y="340349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330F40E3-E842-4CF3-9BF7-8F3FCB419806}"/>
              </a:ext>
            </a:extLst>
          </p:cNvPr>
          <p:cNvSpPr/>
          <p:nvPr/>
        </p:nvSpPr>
        <p:spPr>
          <a:xfrm>
            <a:off x="9253070" y="169570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CB259F6D-28DB-4108-810C-B411E8C4C835}"/>
              </a:ext>
            </a:extLst>
          </p:cNvPr>
          <p:cNvSpPr/>
          <p:nvPr/>
        </p:nvSpPr>
        <p:spPr>
          <a:xfrm>
            <a:off x="9253070" y="340349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ADA8ED49-6F9C-481B-9E34-7AB9B2B2FD5E}"/>
              </a:ext>
            </a:extLst>
          </p:cNvPr>
          <p:cNvSpPr/>
          <p:nvPr/>
        </p:nvSpPr>
        <p:spPr>
          <a:xfrm>
            <a:off x="7786107" y="476973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ECEC973B-A8B4-42F1-8058-3C01C68DD6D9}"/>
              </a:ext>
            </a:extLst>
          </p:cNvPr>
          <p:cNvSpPr/>
          <p:nvPr/>
        </p:nvSpPr>
        <p:spPr>
          <a:xfrm>
            <a:off x="8275095" y="476973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F54772BE-3564-4680-8FF6-8F1556A21779}"/>
              </a:ext>
            </a:extLst>
          </p:cNvPr>
          <p:cNvSpPr/>
          <p:nvPr/>
        </p:nvSpPr>
        <p:spPr>
          <a:xfrm>
            <a:off x="8764083" y="476973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46" name="正方形/長方形 245">
            <a:extLst>
              <a:ext uri="{FF2B5EF4-FFF2-40B4-BE49-F238E27FC236}">
                <a16:creationId xmlns:a16="http://schemas.microsoft.com/office/drawing/2014/main" id="{BD08CACE-C7C6-46AD-BF6A-2309A56FB6B6}"/>
              </a:ext>
            </a:extLst>
          </p:cNvPr>
          <p:cNvSpPr/>
          <p:nvPr/>
        </p:nvSpPr>
        <p:spPr>
          <a:xfrm>
            <a:off x="7786107" y="511128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4F7FE602-D411-4256-91D6-AD0376CE5F66}"/>
              </a:ext>
            </a:extLst>
          </p:cNvPr>
          <p:cNvSpPr/>
          <p:nvPr/>
        </p:nvSpPr>
        <p:spPr>
          <a:xfrm>
            <a:off x="8275095" y="511128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48" name="正方形/長方形 247">
            <a:extLst>
              <a:ext uri="{FF2B5EF4-FFF2-40B4-BE49-F238E27FC236}">
                <a16:creationId xmlns:a16="http://schemas.microsoft.com/office/drawing/2014/main" id="{72A1DD20-3CEA-4E00-941D-D14872FB216E}"/>
              </a:ext>
            </a:extLst>
          </p:cNvPr>
          <p:cNvSpPr/>
          <p:nvPr/>
        </p:nvSpPr>
        <p:spPr>
          <a:xfrm>
            <a:off x="8764083" y="511128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D2373778-FF0E-451A-ACDA-EC126897E273}"/>
              </a:ext>
            </a:extLst>
          </p:cNvPr>
          <p:cNvSpPr/>
          <p:nvPr/>
        </p:nvSpPr>
        <p:spPr>
          <a:xfrm>
            <a:off x="9253070" y="4428172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5432CB70-030C-40BD-A667-C67AC9EAE7E4}"/>
              </a:ext>
            </a:extLst>
          </p:cNvPr>
          <p:cNvSpPr/>
          <p:nvPr/>
        </p:nvSpPr>
        <p:spPr>
          <a:xfrm>
            <a:off x="9253070" y="4769730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49" name="正方形/長方形 248">
            <a:extLst>
              <a:ext uri="{FF2B5EF4-FFF2-40B4-BE49-F238E27FC236}">
                <a16:creationId xmlns:a16="http://schemas.microsoft.com/office/drawing/2014/main" id="{EE8284A4-C660-4AF4-B692-9646D07ADF29}"/>
              </a:ext>
            </a:extLst>
          </p:cNvPr>
          <p:cNvSpPr/>
          <p:nvPr/>
        </p:nvSpPr>
        <p:spPr>
          <a:xfrm>
            <a:off x="9253070" y="5111288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F4532D49-7813-4D98-A462-4860CAD8CD98}"/>
              </a:ext>
            </a:extLst>
          </p:cNvPr>
          <p:cNvSpPr/>
          <p:nvPr/>
        </p:nvSpPr>
        <p:spPr>
          <a:xfrm>
            <a:off x="7786107" y="545284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1C594841-1668-4F09-8776-3B3C9C12230C}"/>
              </a:ext>
            </a:extLst>
          </p:cNvPr>
          <p:cNvSpPr/>
          <p:nvPr/>
        </p:nvSpPr>
        <p:spPr>
          <a:xfrm>
            <a:off x="8275095" y="545284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56E9A7B0-4F90-4434-839F-F447A388726A}"/>
              </a:ext>
            </a:extLst>
          </p:cNvPr>
          <p:cNvSpPr/>
          <p:nvPr/>
        </p:nvSpPr>
        <p:spPr>
          <a:xfrm>
            <a:off x="8764083" y="545284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7A5FF170-608A-45C3-939D-597F1375F448}"/>
              </a:ext>
            </a:extLst>
          </p:cNvPr>
          <p:cNvSpPr/>
          <p:nvPr/>
        </p:nvSpPr>
        <p:spPr>
          <a:xfrm>
            <a:off x="9253070" y="5452846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91BB8C38-6DAA-47E0-A046-BD1F22FB3644}"/>
              </a:ext>
            </a:extLst>
          </p:cNvPr>
          <p:cNvSpPr/>
          <p:nvPr/>
        </p:nvSpPr>
        <p:spPr>
          <a:xfrm>
            <a:off x="7786107" y="579440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B4FD1627-8698-406C-9289-AE1E1A8440EF}"/>
              </a:ext>
            </a:extLst>
          </p:cNvPr>
          <p:cNvSpPr/>
          <p:nvPr/>
        </p:nvSpPr>
        <p:spPr>
          <a:xfrm>
            <a:off x="8275095" y="579440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411A3032-7B04-483F-BDC0-44550C9B3680}"/>
              </a:ext>
            </a:extLst>
          </p:cNvPr>
          <p:cNvSpPr/>
          <p:nvPr/>
        </p:nvSpPr>
        <p:spPr>
          <a:xfrm>
            <a:off x="8764083" y="579440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ACFF8BC0-C3A8-40D5-B828-0826F7266B6B}"/>
              </a:ext>
            </a:extLst>
          </p:cNvPr>
          <p:cNvSpPr/>
          <p:nvPr/>
        </p:nvSpPr>
        <p:spPr>
          <a:xfrm>
            <a:off x="9253070" y="579440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1F0A7A57-EEF3-4C2C-848A-2B0C48ED93C6}"/>
              </a:ext>
            </a:extLst>
          </p:cNvPr>
          <p:cNvSpPr/>
          <p:nvPr/>
        </p:nvSpPr>
        <p:spPr>
          <a:xfrm>
            <a:off x="7786107" y="613596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C280FBC3-BBF6-47F8-8838-9736740ECB24}"/>
              </a:ext>
            </a:extLst>
          </p:cNvPr>
          <p:cNvSpPr/>
          <p:nvPr/>
        </p:nvSpPr>
        <p:spPr>
          <a:xfrm>
            <a:off x="8275095" y="613596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4712F348-F7ED-4547-8B07-9AD4F24DB9A2}"/>
              </a:ext>
            </a:extLst>
          </p:cNvPr>
          <p:cNvSpPr/>
          <p:nvPr/>
        </p:nvSpPr>
        <p:spPr>
          <a:xfrm>
            <a:off x="8764083" y="613596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9CCE6FFD-1CF8-4201-B065-C851308716A2}"/>
              </a:ext>
            </a:extLst>
          </p:cNvPr>
          <p:cNvSpPr/>
          <p:nvPr/>
        </p:nvSpPr>
        <p:spPr>
          <a:xfrm>
            <a:off x="9253070" y="6135964"/>
            <a:ext cx="397800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100" dirty="0"/>
              <a:t>✓</a:t>
            </a:r>
            <a:endParaRPr lang="en-US" altLang="ja-JP" sz="1100" dirty="0"/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D478DB06-B476-4ACE-80AE-F0C5E8121548}"/>
              </a:ext>
            </a:extLst>
          </p:cNvPr>
          <p:cNvSpPr/>
          <p:nvPr/>
        </p:nvSpPr>
        <p:spPr>
          <a:xfrm>
            <a:off x="8270620" y="1475497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A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EDB3DC56-39C4-430C-BB64-4D78FBF9F176}"/>
              </a:ext>
            </a:extLst>
          </p:cNvPr>
          <p:cNvSpPr/>
          <p:nvPr/>
        </p:nvSpPr>
        <p:spPr>
          <a:xfrm>
            <a:off x="8759608" y="1475497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O&amp;P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3EAB6D9B-FA5C-4FE5-BD6A-D137D00AA82C}"/>
              </a:ext>
            </a:extLst>
          </p:cNvPr>
          <p:cNvSpPr/>
          <p:nvPr/>
        </p:nvSpPr>
        <p:spPr>
          <a:xfrm>
            <a:off x="7781632" y="1475497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D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1B88F0CE-3105-470B-82B1-45B53B0A87AF}"/>
              </a:ext>
            </a:extLst>
          </p:cNvPr>
          <p:cNvSpPr/>
          <p:nvPr/>
        </p:nvSpPr>
        <p:spPr>
          <a:xfrm>
            <a:off x="9248595" y="1475497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S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B92DDCE5-276F-42C1-BD51-F4C37C75E15C}"/>
              </a:ext>
            </a:extLst>
          </p:cNvPr>
          <p:cNvSpPr/>
          <p:nvPr/>
        </p:nvSpPr>
        <p:spPr>
          <a:xfrm>
            <a:off x="746473" y="6513182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D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A82E9EAF-7FD3-47B3-BEBA-A40FD1BD2E54}"/>
              </a:ext>
            </a:extLst>
          </p:cNvPr>
          <p:cNvSpPr/>
          <p:nvPr/>
        </p:nvSpPr>
        <p:spPr>
          <a:xfrm>
            <a:off x="3346983" y="6513182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A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988C1EBD-54C5-44D3-BE92-EB5CB1BCA4DF}"/>
              </a:ext>
            </a:extLst>
          </p:cNvPr>
          <p:cNvSpPr/>
          <p:nvPr/>
        </p:nvSpPr>
        <p:spPr>
          <a:xfrm>
            <a:off x="4807406" y="6513182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O&amp;P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7" name="正方形/長方形 306">
            <a:extLst>
              <a:ext uri="{FF2B5EF4-FFF2-40B4-BE49-F238E27FC236}">
                <a16:creationId xmlns:a16="http://schemas.microsoft.com/office/drawing/2014/main" id="{C3CD0E96-D5A6-4E10-AC6A-81BA8972E853}"/>
              </a:ext>
            </a:extLst>
          </p:cNvPr>
          <p:cNvSpPr/>
          <p:nvPr/>
        </p:nvSpPr>
        <p:spPr>
          <a:xfrm>
            <a:off x="7670430" y="6513182"/>
            <a:ext cx="406750" cy="17840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</a:rPr>
              <a:t>S</a:t>
            </a:r>
            <a:endParaRPr lang="en-SG" altLang="ja-JP" sz="1200" b="1" dirty="0">
              <a:solidFill>
                <a:schemeClr val="bg1"/>
              </a:solidFill>
            </a:endParaRPr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BDE408FB-4C24-4CEE-9E3B-B9D99D339D27}"/>
              </a:ext>
            </a:extLst>
          </p:cNvPr>
          <p:cNvSpPr/>
          <p:nvPr/>
        </p:nvSpPr>
        <p:spPr>
          <a:xfrm>
            <a:off x="1153223" y="6513182"/>
            <a:ext cx="406750" cy="17840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SG" altLang="ja-JP" sz="1200" dirty="0">
                <a:solidFill>
                  <a:schemeClr val="tx1"/>
                </a:solidFill>
              </a:rPr>
              <a:t>Data Quality Enhancement</a:t>
            </a:r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8D7ABCE1-5CC9-4A1E-B61B-D18E8D131B9B}"/>
              </a:ext>
            </a:extLst>
          </p:cNvPr>
          <p:cNvSpPr/>
          <p:nvPr/>
        </p:nvSpPr>
        <p:spPr>
          <a:xfrm>
            <a:off x="3753733" y="6513182"/>
            <a:ext cx="406750" cy="17840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Automation</a:t>
            </a:r>
            <a:endParaRPr lang="en-SG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448EBCB1-FA53-4C8D-B675-F05E98ABBFAE}"/>
              </a:ext>
            </a:extLst>
          </p:cNvPr>
          <p:cNvSpPr/>
          <p:nvPr/>
        </p:nvSpPr>
        <p:spPr>
          <a:xfrm>
            <a:off x="5214156" y="6513182"/>
            <a:ext cx="406750" cy="17840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Organization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and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Process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Rule</a:t>
            </a:r>
            <a:endParaRPr lang="en-SG" altLang="ja-JP" sz="1200" dirty="0">
              <a:solidFill>
                <a:schemeClr val="tx1"/>
              </a:solidFill>
            </a:endParaRP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E4E2E2FB-8288-4BB0-A6E1-1C8B756F19C1}"/>
              </a:ext>
            </a:extLst>
          </p:cNvPr>
          <p:cNvSpPr/>
          <p:nvPr/>
        </p:nvSpPr>
        <p:spPr>
          <a:xfrm>
            <a:off x="8077180" y="6513182"/>
            <a:ext cx="406750" cy="17840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Strategy Integration</a:t>
            </a:r>
            <a:endParaRPr lang="en-SG" altLang="ja-JP" sz="1200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EF790CDB-FF12-4DD3-B98E-0BC3F6295EAB}"/>
              </a:ext>
            </a:extLst>
          </p:cNvPr>
          <p:cNvSpPr/>
          <p:nvPr/>
        </p:nvSpPr>
        <p:spPr>
          <a:xfrm>
            <a:off x="471513" y="2037266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B-1.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全体最適な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を策定するため、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GHQ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主導型の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プロセスの構築と実行（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FO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への全体最適な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Allocation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を含む）</a:t>
            </a:r>
            <a:endParaRPr kumimoji="1" lang="en-US" altLang="ja-JP" sz="1100" i="0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7AE725B6-8A31-4284-B4BD-1A1589A08F61}"/>
              </a:ext>
            </a:extLst>
          </p:cNvPr>
          <p:cNvSpPr/>
          <p:nvPr/>
        </p:nvSpPr>
        <p:spPr>
          <a:xfrm>
            <a:off x="471513" y="2378824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評価項目の統一や算出ロジックの標準化など、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策定に係る全社共通ルールの策定</a:t>
            </a:r>
            <a:endParaRPr kumimoji="1" lang="en-US" altLang="ja-JP" sz="1100" i="0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C04217B1-5F8C-45FD-8FB7-D2739056CAA2}"/>
              </a:ext>
            </a:extLst>
          </p:cNvPr>
          <p:cNvSpPr/>
          <p:nvPr/>
        </p:nvSpPr>
        <p:spPr>
          <a:xfrm>
            <a:off x="471513" y="5452846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E-3.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モニタリングを通じガバナンスを強化するための、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結果分析ツールの導入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A307CF33-F56E-4373-A757-05DEA606AD4E}"/>
              </a:ext>
            </a:extLst>
          </p:cNvPr>
          <p:cNvSpPr/>
          <p:nvPr/>
        </p:nvSpPr>
        <p:spPr>
          <a:xfrm>
            <a:off x="471513" y="4769730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E-1.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いずれの地域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/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オフィス等にも偏らない、全体最適かつ公平な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BKG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受入のためのルール明確化</a:t>
            </a: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87DA11D1-829C-4187-8303-79A2883B102E}"/>
              </a:ext>
            </a:extLst>
          </p:cNvPr>
          <p:cNvSpPr/>
          <p:nvPr/>
        </p:nvSpPr>
        <p:spPr>
          <a:xfrm>
            <a:off x="471513" y="5111288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E-2.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ルールに準拠した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受入を促進すべく、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 Data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 管理システムの導入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FC057646-3232-4CB8-9E99-0BCB2F1CC52F}"/>
              </a:ext>
            </a:extLst>
          </p:cNvPr>
          <p:cNvSpPr/>
          <p:nvPr/>
        </p:nvSpPr>
        <p:spPr>
          <a:xfrm>
            <a:off x="471513" y="3745056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D-1.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消席率を最大化するため、各種データに基づく将来の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予測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FCEC4D92-ED8E-471F-AB99-8E5BDF255F80}"/>
              </a:ext>
            </a:extLst>
          </p:cNvPr>
          <p:cNvSpPr/>
          <p:nvPr/>
        </p:nvSpPr>
        <p:spPr>
          <a:xfrm>
            <a:off x="471513" y="4086614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有効かつ効率的に消席率を高めるため、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SPC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と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Loading Office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のコミュニケーション促進と連携強化</a:t>
            </a: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3360BE5F-ADC5-401A-9B2C-909481C841CB}"/>
              </a:ext>
            </a:extLst>
          </p:cNvPr>
          <p:cNvSpPr/>
          <p:nvPr/>
        </p:nvSpPr>
        <p:spPr>
          <a:xfrm>
            <a:off x="471513" y="4428172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D-3.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適切な追加営業活動を適時に判断するため、最新消席率の可視化（余剰スペースのタイムリーな把握）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D617B0EB-28BD-4845-9D1F-413EE7BA0104}"/>
              </a:ext>
            </a:extLst>
          </p:cNvPr>
          <p:cNvSpPr/>
          <p:nvPr/>
        </p:nvSpPr>
        <p:spPr>
          <a:xfrm>
            <a:off x="471513" y="5794404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F-1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契約条件（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Award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）の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連携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による、戦略から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に至る、一気通貫のプロセス構築とデータ連携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F038AD7A-8B9C-4834-A81A-85667BC41FFC}"/>
              </a:ext>
            </a:extLst>
          </p:cNvPr>
          <p:cNvSpPr/>
          <p:nvPr/>
        </p:nvSpPr>
        <p:spPr>
          <a:xfrm>
            <a:off x="471513" y="3403498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altLang="ja-JP" sz="1100" dirty="0">
                <a:latin typeface="Arial"/>
                <a:ea typeface="ＭＳ Ｐゴシック" panose="020B0600070205080204" pitchFamily="50" charset="-128"/>
              </a:rPr>
              <a:t>C-3</a:t>
            </a:r>
            <a:r>
              <a:rPr kumimoji="1" lang="fr-FR" altLang="ja-JP" sz="11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業務の品質向上と効率化のため、マニュアル作業の多い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策定業務の自動化</a:t>
            </a:r>
            <a:endParaRPr kumimoji="1" lang="fr-FR" altLang="ja-JP" sz="11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72F7E179-8D7C-46B3-A8DB-A732866929B2}"/>
              </a:ext>
            </a:extLst>
          </p:cNvPr>
          <p:cNvSpPr/>
          <p:nvPr/>
        </p:nvSpPr>
        <p:spPr>
          <a:xfrm>
            <a:off x="471513" y="2720382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C-1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 正確な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を策定すべく、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網羅的なデータの収集と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当該データの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への反映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08881419-74B0-4A76-B17C-7B4D63C51A5D}"/>
              </a:ext>
            </a:extLst>
          </p:cNvPr>
          <p:cNvSpPr/>
          <p:nvPr/>
        </p:nvSpPr>
        <p:spPr>
          <a:xfrm>
            <a:off x="471513" y="3061940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C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-2.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正確な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を策定するため、顧客情報をタイムリーかつ正確に把握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し、当該情報を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に反映するプロセスの徹底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27FEAE3A-3198-4D3E-AF33-5B7025585323}"/>
              </a:ext>
            </a:extLst>
          </p:cNvPr>
          <p:cNvSpPr/>
          <p:nvPr/>
        </p:nvSpPr>
        <p:spPr>
          <a:xfrm>
            <a:off x="471513" y="1695708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A-1. CM</a:t>
            </a:r>
            <a:r>
              <a:rPr lang="ja-JP" altLang="en-US" sz="1100" dirty="0"/>
              <a:t>最大化のため、市場環境に応じた</a:t>
            </a:r>
            <a:r>
              <a:rPr lang="en-US" altLang="ja-JP" sz="1100" dirty="0"/>
              <a:t>AP(LT/MT etc.)</a:t>
            </a:r>
            <a:r>
              <a:rPr lang="ja-JP" altLang="en-US" sz="1100" dirty="0"/>
              <a:t>と</a:t>
            </a:r>
            <a:r>
              <a:rPr lang="en-US" altLang="ja-JP" sz="1100" dirty="0"/>
              <a:t>Non-AP(SPOT/ST etc.)</a:t>
            </a:r>
            <a:r>
              <a:rPr lang="ja-JP" altLang="en-US" sz="1100" dirty="0"/>
              <a:t>の</a:t>
            </a:r>
            <a:r>
              <a:rPr lang="en-US" altLang="ja-JP" sz="1100" dirty="0"/>
              <a:t>Portfolio</a:t>
            </a:r>
            <a:r>
              <a:rPr lang="ja-JP" altLang="en-US" sz="1100" dirty="0"/>
              <a:t>調整</a:t>
            </a:r>
            <a:endParaRPr lang="en-US" altLang="ja-JP" sz="1100" dirty="0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51362D5C-14B4-4DCA-B484-A498E9FA3D83}"/>
              </a:ext>
            </a:extLst>
          </p:cNvPr>
          <p:cNvSpPr/>
          <p:nvPr/>
        </p:nvSpPr>
        <p:spPr>
          <a:xfrm>
            <a:off x="471513" y="6135964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marL="182563" indent="-182563" algn="l">
              <a:lnSpc>
                <a:spcPts val="1400"/>
              </a:lnSpc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G-1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OCN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以外（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IPC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T/S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）の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獲得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による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公共財の最大活用推進（組織起ち上げ、インセンティブ付与を含む）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48E3926F-DCF1-492A-B8FD-1F30E8FE715A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dirty="0">
                <a:solidFill>
                  <a:schemeClr val="tx1"/>
                </a:solidFill>
              </a:rPr>
              <a:t>2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4AF4F28F-33E2-4914-BA55-F97C9AFED3B0}"/>
              </a:ext>
            </a:extLst>
          </p:cNvPr>
          <p:cNvSpPr/>
          <p:nvPr/>
        </p:nvSpPr>
        <p:spPr>
          <a:xfrm>
            <a:off x="2495600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2EAC8730-FB05-4D4E-A449-F6B15BF912F1}"/>
              </a:ext>
            </a:extLst>
          </p:cNvPr>
          <p:cNvSpPr/>
          <p:nvPr/>
        </p:nvSpPr>
        <p:spPr>
          <a:xfrm>
            <a:off x="10004497" y="5452846"/>
            <a:ext cx="1764000" cy="258956"/>
          </a:xfrm>
          <a:prstGeom prst="rect">
            <a:avLst/>
          </a:prstGeom>
          <a:solidFill>
            <a:srgbClr val="F6DAE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00"/>
              </a:lnSpc>
            </a:pPr>
            <a:r>
              <a:rPr lang="en-US" altLang="ja-JP" sz="1400" b="1" dirty="0">
                <a:solidFill>
                  <a:schemeClr val="tx1"/>
                </a:solidFill>
              </a:rPr>
              <a:t>AP Optimization</a:t>
            </a:r>
            <a:br>
              <a:rPr lang="en-US" altLang="ja-JP" sz="1400" b="1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(Execution)</a:t>
            </a:r>
            <a:endParaRPr lang="en-SG" altLang="ja-JP" sz="1200" dirty="0">
              <a:solidFill>
                <a:schemeClr val="tx1"/>
              </a:solidFill>
            </a:endParaRPr>
          </a:p>
        </p:txBody>
      </p: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28A380EE-8B9C-402D-97B1-2E488C3F8D62}"/>
              </a:ext>
            </a:extLst>
          </p:cNvPr>
          <p:cNvCxnSpPr>
            <a:cxnSpLocks/>
            <a:stCxn id="259" idx="3"/>
            <a:endCxn id="130" idx="1"/>
          </p:cNvCxnSpPr>
          <p:nvPr/>
        </p:nvCxnSpPr>
        <p:spPr>
          <a:xfrm>
            <a:off x="9650870" y="5582324"/>
            <a:ext cx="3536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5F19A441-D2DB-4CAD-AE5E-EC8C0A9A917B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E8A1B071-B0DD-4D48-8A87-D8E121C506FF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35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1AE956F4-2BDA-40E9-9743-9C55A6A2F43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18971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31" name="think-cell スライド" r:id="rId7" imgW="592" imgH="595" progId="TCLayout.ActiveDocument.1">
                  <p:embed/>
                </p:oleObj>
              </mc:Choice>
              <mc:Fallback>
                <p:oleObj name="think-cell スライド" r:id="rId7" imgW="592" imgH="595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1AE956F4-2BDA-40E9-9743-9C55A6A2F4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8" name="直線コネクタ 197">
            <a:extLst>
              <a:ext uri="{FF2B5EF4-FFF2-40B4-BE49-F238E27FC236}">
                <a16:creationId xmlns:a16="http://schemas.microsoft.com/office/drawing/2014/main" id="{0A3F05A3-6330-4590-B4FA-11ED42E5C1E8}"/>
              </a:ext>
            </a:extLst>
          </p:cNvPr>
          <p:cNvCxnSpPr>
            <a:cxnSpLocks/>
          </p:cNvCxnSpPr>
          <p:nvPr/>
        </p:nvCxnSpPr>
        <p:spPr>
          <a:xfrm>
            <a:off x="179416" y="5187529"/>
            <a:ext cx="118202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2D82B559-E230-430A-9EF8-04334C52A6CE}"/>
              </a:ext>
            </a:extLst>
          </p:cNvPr>
          <p:cNvCxnSpPr>
            <a:cxnSpLocks/>
            <a:stCxn id="35" idx="3"/>
            <a:endCxn id="55" idx="1"/>
          </p:cNvCxnSpPr>
          <p:nvPr/>
        </p:nvCxnSpPr>
        <p:spPr>
          <a:xfrm flipV="1">
            <a:off x="4493025" y="3281721"/>
            <a:ext cx="517177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 hidden="1">
            <a:extLst>
              <a:ext uri="{FF2B5EF4-FFF2-40B4-BE49-F238E27FC236}">
                <a16:creationId xmlns:a16="http://schemas.microsoft.com/office/drawing/2014/main" id="{54A4672E-B373-4EEC-A8FF-5C0F9C272A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7" name="正方形/長方形 6" hidden="1">
            <a:extLst>
              <a:ext uri="{FF2B5EF4-FFF2-40B4-BE49-F238E27FC236}">
                <a16:creationId xmlns:a16="http://schemas.microsoft.com/office/drawing/2014/main" id="{B3B680C4-B193-4DAF-AF65-F59A4E6A8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01315A-4855-4D79-A285-B7B84B0A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ja-JP" dirty="0"/>
              <a:t>   OCN</a:t>
            </a:r>
            <a:r>
              <a:rPr kumimoji="1" lang="ja-JP" altLang="en-US" dirty="0"/>
              <a:t> </a:t>
            </a:r>
            <a:r>
              <a:rPr kumimoji="1" lang="en-US" altLang="ja-JP" dirty="0"/>
              <a:t>Process Flow (To-Be)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5AA6A5-EA00-4347-9E4C-120E4DA45A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4779" y="6449109"/>
            <a:ext cx="2743200" cy="2415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11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95478C84-3FD9-47C2-99EA-93F933C82BB9}"/>
              </a:ext>
            </a:extLst>
          </p:cNvPr>
          <p:cNvSpPr/>
          <p:nvPr/>
        </p:nvSpPr>
        <p:spPr>
          <a:xfrm>
            <a:off x="3009730" y="1220665"/>
            <a:ext cx="3662217" cy="396000"/>
          </a:xfrm>
          <a:prstGeom prst="homePlate">
            <a:avLst>
              <a:gd name="adj" fmla="val 21977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AP Preparation / Creation</a:t>
            </a:r>
          </a:p>
        </p:txBody>
      </p:sp>
      <p:sp>
        <p:nvSpPr>
          <p:cNvPr id="49" name="矢印: 五方向 48">
            <a:extLst>
              <a:ext uri="{FF2B5EF4-FFF2-40B4-BE49-F238E27FC236}">
                <a16:creationId xmlns:a16="http://schemas.microsoft.com/office/drawing/2014/main" id="{314EA250-73D8-449D-9D7D-771CA31F4701}"/>
              </a:ext>
            </a:extLst>
          </p:cNvPr>
          <p:cNvSpPr/>
          <p:nvPr/>
        </p:nvSpPr>
        <p:spPr>
          <a:xfrm>
            <a:off x="179417" y="5229276"/>
            <a:ext cx="324000" cy="6840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vert="eaVert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dirty="0"/>
              <a:t>Pricing</a:t>
            </a:r>
            <a:endParaRPr lang="ja-JP" altLang="en-US" sz="1400" dirty="0"/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41EAFBE2-02E8-4C1E-A0A2-76FBCD5952A9}"/>
              </a:ext>
            </a:extLst>
          </p:cNvPr>
          <p:cNvSpPr/>
          <p:nvPr/>
        </p:nvSpPr>
        <p:spPr>
          <a:xfrm>
            <a:off x="179417" y="2210400"/>
            <a:ext cx="324000" cy="2930070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vert="eaVert" wrap="non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b="1" dirty="0">
                <a:solidFill>
                  <a:schemeClr val="bg1"/>
                </a:solidFill>
              </a:rPr>
              <a:t>Space Management</a:t>
            </a:r>
            <a:endParaRPr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99" name="矢印: 五方向 98">
            <a:extLst>
              <a:ext uri="{FF2B5EF4-FFF2-40B4-BE49-F238E27FC236}">
                <a16:creationId xmlns:a16="http://schemas.microsoft.com/office/drawing/2014/main" id="{9EDB5CB0-0BD8-430F-9002-635790C3CB6E}"/>
              </a:ext>
            </a:extLst>
          </p:cNvPr>
          <p:cNvSpPr/>
          <p:nvPr/>
        </p:nvSpPr>
        <p:spPr>
          <a:xfrm>
            <a:off x="586753" y="2208017"/>
            <a:ext cx="453567" cy="684000"/>
          </a:xfrm>
          <a:prstGeom prst="homePlate">
            <a:avLst>
              <a:gd name="adj" fmla="val 0"/>
            </a:avLst>
          </a:prstGeom>
          <a:solidFill>
            <a:srgbClr val="FDE9F4"/>
          </a:solidFill>
          <a:ln w="3175">
            <a:solidFill>
              <a:schemeClr val="accent4"/>
            </a:solidFill>
          </a:ln>
        </p:spPr>
        <p:txBody>
          <a:bodyPr vert="eaVert" wrap="non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dirty="0"/>
              <a:t>Trade</a:t>
            </a:r>
            <a:endParaRPr lang="ja-JP" altLang="en-US" sz="1400" dirty="0"/>
          </a:p>
        </p:txBody>
      </p:sp>
      <p:sp>
        <p:nvSpPr>
          <p:cNvPr id="101" name="矢印: 五方向 100">
            <a:extLst>
              <a:ext uri="{FF2B5EF4-FFF2-40B4-BE49-F238E27FC236}">
                <a16:creationId xmlns:a16="http://schemas.microsoft.com/office/drawing/2014/main" id="{5A04E5CF-B47B-4595-8006-2440A9DF4B1E}"/>
              </a:ext>
            </a:extLst>
          </p:cNvPr>
          <p:cNvSpPr/>
          <p:nvPr/>
        </p:nvSpPr>
        <p:spPr>
          <a:xfrm>
            <a:off x="586753" y="2961024"/>
            <a:ext cx="453567" cy="684000"/>
          </a:xfrm>
          <a:prstGeom prst="homePlate">
            <a:avLst>
              <a:gd name="adj" fmla="val 0"/>
            </a:avLst>
          </a:prstGeom>
          <a:solidFill>
            <a:srgbClr val="FDE9F4"/>
          </a:solidFill>
          <a:ln w="3175">
            <a:solidFill>
              <a:schemeClr val="accent4"/>
            </a:solidFill>
          </a:ln>
        </p:spPr>
        <p:txBody>
          <a:bodyPr vert="eaVert" wrap="non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dirty="0"/>
              <a:t>Marketing</a:t>
            </a:r>
            <a:endParaRPr lang="ja-JP" altLang="en-US" sz="1400" dirty="0"/>
          </a:p>
        </p:txBody>
      </p:sp>
      <p:sp>
        <p:nvSpPr>
          <p:cNvPr id="102" name="矢印: 五方向 101">
            <a:extLst>
              <a:ext uri="{FF2B5EF4-FFF2-40B4-BE49-F238E27FC236}">
                <a16:creationId xmlns:a16="http://schemas.microsoft.com/office/drawing/2014/main" id="{D2113BC4-BC85-4AA2-B42C-DC93A86FD4C9}"/>
              </a:ext>
            </a:extLst>
          </p:cNvPr>
          <p:cNvSpPr/>
          <p:nvPr/>
        </p:nvSpPr>
        <p:spPr>
          <a:xfrm>
            <a:off x="586117" y="5229276"/>
            <a:ext cx="453567" cy="684000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vert="eaVert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dirty="0"/>
              <a:t>T&amp;C</a:t>
            </a:r>
            <a:endParaRPr lang="ja-JP" altLang="en-US" sz="1400" dirty="0"/>
          </a:p>
        </p:txBody>
      </p:sp>
      <p:cxnSp>
        <p:nvCxnSpPr>
          <p:cNvPr id="186" name="直線コネクタ 185">
            <a:extLst>
              <a:ext uri="{FF2B5EF4-FFF2-40B4-BE49-F238E27FC236}">
                <a16:creationId xmlns:a16="http://schemas.microsoft.com/office/drawing/2014/main" id="{46521CDA-F8DB-4B4D-9B75-8B941D260E0B}"/>
              </a:ext>
            </a:extLst>
          </p:cNvPr>
          <p:cNvCxnSpPr>
            <a:cxnSpLocks/>
          </p:cNvCxnSpPr>
          <p:nvPr/>
        </p:nvCxnSpPr>
        <p:spPr>
          <a:xfrm>
            <a:off x="179416" y="5942450"/>
            <a:ext cx="118202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矢印: 五方向 183">
            <a:extLst>
              <a:ext uri="{FF2B5EF4-FFF2-40B4-BE49-F238E27FC236}">
                <a16:creationId xmlns:a16="http://schemas.microsoft.com/office/drawing/2014/main" id="{41FA636F-396D-4C7E-A2FD-26E82B733FA1}"/>
              </a:ext>
            </a:extLst>
          </p:cNvPr>
          <p:cNvSpPr/>
          <p:nvPr/>
        </p:nvSpPr>
        <p:spPr>
          <a:xfrm>
            <a:off x="179416" y="5971623"/>
            <a:ext cx="860268" cy="759599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dirty="0"/>
              <a:t>Input</a:t>
            </a:r>
            <a:endParaRPr lang="ja-JP" altLang="en-US" sz="1400" dirty="0"/>
          </a:p>
        </p:txBody>
      </p:sp>
      <p:sp>
        <p:nvSpPr>
          <p:cNvPr id="38" name="矢印: 五方向 37">
            <a:extLst>
              <a:ext uri="{FF2B5EF4-FFF2-40B4-BE49-F238E27FC236}">
                <a16:creationId xmlns:a16="http://schemas.microsoft.com/office/drawing/2014/main" id="{376592BF-A627-4D74-B44E-FC5535289F8F}"/>
              </a:ext>
            </a:extLst>
          </p:cNvPr>
          <p:cNvSpPr/>
          <p:nvPr/>
        </p:nvSpPr>
        <p:spPr>
          <a:xfrm>
            <a:off x="6762906" y="1445579"/>
            <a:ext cx="3509557" cy="178441"/>
          </a:xfrm>
          <a:prstGeom prst="homePlate">
            <a:avLst>
              <a:gd name="adj" fmla="val 42152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Space Control Activity</a:t>
            </a:r>
          </a:p>
        </p:txBody>
      </p:sp>
      <p:sp>
        <p:nvSpPr>
          <p:cNvPr id="104" name="矢印: 五方向 103">
            <a:extLst>
              <a:ext uri="{FF2B5EF4-FFF2-40B4-BE49-F238E27FC236}">
                <a16:creationId xmlns:a16="http://schemas.microsoft.com/office/drawing/2014/main" id="{E9D67558-1F5F-495D-BFA8-925F319F93C4}"/>
              </a:ext>
            </a:extLst>
          </p:cNvPr>
          <p:cNvSpPr/>
          <p:nvPr/>
        </p:nvSpPr>
        <p:spPr>
          <a:xfrm>
            <a:off x="1154770" y="1222395"/>
            <a:ext cx="1764000" cy="396000"/>
          </a:xfrm>
          <a:prstGeom prst="homePlate">
            <a:avLst>
              <a:gd name="adj" fmla="val 21977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Award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矢印: 五方向 74">
            <a:extLst>
              <a:ext uri="{FF2B5EF4-FFF2-40B4-BE49-F238E27FC236}">
                <a16:creationId xmlns:a16="http://schemas.microsoft.com/office/drawing/2014/main" id="{FEC9D4F3-8333-491C-A426-D9358157B8AE}"/>
              </a:ext>
            </a:extLst>
          </p:cNvPr>
          <p:cNvSpPr/>
          <p:nvPr/>
        </p:nvSpPr>
        <p:spPr>
          <a:xfrm>
            <a:off x="10380627" y="1444054"/>
            <a:ext cx="1662957" cy="185572"/>
          </a:xfrm>
          <a:prstGeom prst="homePlate">
            <a:avLst>
              <a:gd name="adj" fmla="val 30428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Last Minute Adjustment</a:t>
            </a:r>
          </a:p>
        </p:txBody>
      </p:sp>
      <p:sp>
        <p:nvSpPr>
          <p:cNvPr id="59" name="矢印: 五方向 58">
            <a:extLst>
              <a:ext uri="{FF2B5EF4-FFF2-40B4-BE49-F238E27FC236}">
                <a16:creationId xmlns:a16="http://schemas.microsoft.com/office/drawing/2014/main" id="{DC25C553-8DA0-4C53-8B10-8C1A7F3901F6}"/>
              </a:ext>
            </a:extLst>
          </p:cNvPr>
          <p:cNvSpPr/>
          <p:nvPr/>
        </p:nvSpPr>
        <p:spPr>
          <a:xfrm>
            <a:off x="6762908" y="1220666"/>
            <a:ext cx="5280678" cy="181642"/>
          </a:xfrm>
          <a:prstGeom prst="homePlate">
            <a:avLst>
              <a:gd name="adj" fmla="val 21977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BKG Execution</a:t>
            </a:r>
          </a:p>
        </p:txBody>
      </p: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52D54972-3298-4C0C-BE52-4B3DFFBA5861}"/>
              </a:ext>
            </a:extLst>
          </p:cNvPr>
          <p:cNvCxnSpPr>
            <a:cxnSpLocks/>
            <a:stCxn id="53" idx="3"/>
            <a:endCxn id="35" idx="1"/>
          </p:cNvCxnSpPr>
          <p:nvPr/>
        </p:nvCxnSpPr>
        <p:spPr>
          <a:xfrm>
            <a:off x="2615573" y="3281722"/>
            <a:ext cx="50945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7BE0B0DF-AFF6-49A0-8FF6-684140C26078}"/>
              </a:ext>
            </a:extLst>
          </p:cNvPr>
          <p:cNvSpPr/>
          <p:nvPr/>
        </p:nvSpPr>
        <p:spPr>
          <a:xfrm>
            <a:off x="5010202" y="2183721"/>
            <a:ext cx="1368000" cy="2196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bIns="2376000" rtlCol="0" anchor="b"/>
          <a:lstStyle/>
          <a:p>
            <a:pPr algn="ctr">
              <a:lnSpc>
                <a:spcPts val="1400"/>
              </a:lnSpc>
            </a:pP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ts val="1400"/>
              </a:lnSpc>
            </a:pP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Creation</a:t>
            </a:r>
          </a:p>
          <a:p>
            <a:pPr algn="ctr">
              <a:lnSpc>
                <a:spcPts val="1200"/>
              </a:lnSpc>
            </a:pPr>
            <a:r>
              <a:rPr lang="en-US" altLang="ja-JP" sz="1050" dirty="0">
                <a:solidFill>
                  <a:schemeClr val="tx1"/>
                </a:solidFill>
              </a:rPr>
              <a:t>(incl. Act/AP Analysis)</a:t>
            </a: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43A82F52-0BB1-47B5-82B0-600FC81A837C}"/>
              </a:ext>
            </a:extLst>
          </p:cNvPr>
          <p:cNvSpPr/>
          <p:nvPr/>
        </p:nvSpPr>
        <p:spPr>
          <a:xfrm>
            <a:off x="1247573" y="2183722"/>
            <a:ext cx="1368000" cy="2196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bIns="2304000" rtlCol="0" anchor="b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Award updates </a:t>
            </a:r>
          </a:p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&amp; sign-off</a:t>
            </a:r>
            <a:r>
              <a:rPr kumimoji="1" lang="en-US" altLang="ja-JP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D05677CD-AFE8-4226-9BAA-2433A23F004A}"/>
              </a:ext>
            </a:extLst>
          </p:cNvPr>
          <p:cNvSpPr/>
          <p:nvPr/>
        </p:nvSpPr>
        <p:spPr>
          <a:xfrm>
            <a:off x="3125025" y="2183722"/>
            <a:ext cx="1368000" cy="2196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bIns="2304000" rtlCol="0" anchor="b"/>
          <a:lstStyle/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AP Preparation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256694D5-BC64-4528-8922-FA1F77EF9D3A}"/>
              </a:ext>
            </a:extLst>
          </p:cNvPr>
          <p:cNvSpPr/>
          <p:nvPr/>
        </p:nvSpPr>
        <p:spPr>
          <a:xfrm>
            <a:off x="1138338" y="981251"/>
            <a:ext cx="1764000" cy="1844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期初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9071A92D-B1F3-432C-AE41-76CC1F9F48AF}"/>
              </a:ext>
            </a:extLst>
          </p:cNvPr>
          <p:cNvSpPr/>
          <p:nvPr/>
        </p:nvSpPr>
        <p:spPr>
          <a:xfrm>
            <a:off x="3019155" y="981251"/>
            <a:ext cx="3661474" cy="1844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出航</a:t>
            </a:r>
            <a:r>
              <a:rPr lang="en-SG" sz="1200" dirty="0">
                <a:solidFill>
                  <a:schemeClr val="tx1"/>
                </a:solidFill>
              </a:rPr>
              <a:t> 1</a:t>
            </a:r>
            <a:r>
              <a:rPr lang="ja-JP" altLang="en-US" sz="1200" dirty="0">
                <a:solidFill>
                  <a:schemeClr val="tx1"/>
                </a:solidFill>
              </a:rPr>
              <a:t>ヶ月前前後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6B0EB65E-4874-456C-BD95-07DA79D94DAC}"/>
              </a:ext>
            </a:extLst>
          </p:cNvPr>
          <p:cNvSpPr/>
          <p:nvPr/>
        </p:nvSpPr>
        <p:spPr>
          <a:xfrm>
            <a:off x="6762906" y="981251"/>
            <a:ext cx="3509557" cy="1844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出航</a:t>
            </a:r>
            <a:r>
              <a:rPr lang="en-SG" sz="1200" dirty="0">
                <a:solidFill>
                  <a:schemeClr val="tx1"/>
                </a:solidFill>
              </a:rPr>
              <a:t> 1</a:t>
            </a:r>
            <a:r>
              <a:rPr lang="ja-JP" altLang="en-US" sz="1200" dirty="0">
                <a:solidFill>
                  <a:schemeClr val="tx1"/>
                </a:solidFill>
              </a:rPr>
              <a:t>ヶ月前 </a:t>
            </a:r>
            <a:r>
              <a:rPr lang="en-US" altLang="ja-JP" sz="1200" dirty="0">
                <a:solidFill>
                  <a:schemeClr val="tx1"/>
                </a:solidFill>
              </a:rPr>
              <a:t>– 10</a:t>
            </a:r>
            <a:r>
              <a:rPr lang="ja-JP" altLang="en-US" sz="1200" dirty="0">
                <a:solidFill>
                  <a:schemeClr val="tx1"/>
                </a:solidFill>
              </a:rPr>
              <a:t>日前前後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8558D02B-02F9-437C-AB3F-BF23A3A1F13E}"/>
              </a:ext>
            </a:extLst>
          </p:cNvPr>
          <p:cNvSpPr/>
          <p:nvPr/>
        </p:nvSpPr>
        <p:spPr>
          <a:xfrm>
            <a:off x="10380627" y="981251"/>
            <a:ext cx="1654414" cy="1844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出航</a:t>
            </a:r>
            <a:r>
              <a:rPr lang="en-SG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10</a:t>
            </a:r>
            <a:r>
              <a:rPr lang="ja-JP" altLang="en-US" sz="1200" dirty="0">
                <a:solidFill>
                  <a:schemeClr val="tx1"/>
                </a:solidFill>
              </a:rPr>
              <a:t>日前</a:t>
            </a:r>
            <a:r>
              <a:rPr lang="en-US" altLang="ja-JP" sz="1200" dirty="0">
                <a:solidFill>
                  <a:schemeClr val="tx1"/>
                </a:solidFill>
              </a:rPr>
              <a:t> </a:t>
            </a:r>
            <a:r>
              <a:rPr lang="ja-JP" altLang="en-US" sz="1200" dirty="0">
                <a:solidFill>
                  <a:schemeClr val="tx1"/>
                </a:solidFill>
              </a:rPr>
              <a:t>－ 直前</a:t>
            </a:r>
            <a:endParaRPr lang="en-SG" sz="1200" dirty="0">
              <a:solidFill>
                <a:schemeClr val="tx1"/>
              </a:solidFill>
            </a:endParaRPr>
          </a:p>
        </p:txBody>
      </p: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375A07AE-E0DA-4196-8192-E0FBB3363478}"/>
              </a:ext>
            </a:extLst>
          </p:cNvPr>
          <p:cNvCxnSpPr>
            <a:cxnSpLocks/>
            <a:endCxn id="66" idx="1"/>
          </p:cNvCxnSpPr>
          <p:nvPr/>
        </p:nvCxnSpPr>
        <p:spPr>
          <a:xfrm flipH="1">
            <a:off x="6846158" y="3266686"/>
            <a:ext cx="1409587" cy="1503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C92735DD-8534-4617-90EA-B939996BD6AC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>
            <a:off x="6378202" y="3281721"/>
            <a:ext cx="46795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四角形: 角を丸くする 173">
            <a:extLst>
              <a:ext uri="{FF2B5EF4-FFF2-40B4-BE49-F238E27FC236}">
                <a16:creationId xmlns:a16="http://schemas.microsoft.com/office/drawing/2014/main" id="{97C5C645-30BA-4496-8FAA-816F341EC83D}"/>
              </a:ext>
            </a:extLst>
          </p:cNvPr>
          <p:cNvSpPr/>
          <p:nvPr/>
        </p:nvSpPr>
        <p:spPr>
          <a:xfrm>
            <a:off x="1247974" y="5323581"/>
            <a:ext cx="1368000" cy="49539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Contract filing</a:t>
            </a: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60482C64-03C9-4262-9539-386E554D568E}"/>
              </a:ext>
            </a:extLst>
          </p:cNvPr>
          <p:cNvCxnSpPr>
            <a:cxnSpLocks/>
            <a:stCxn id="80" idx="3"/>
            <a:endCxn id="53" idx="1"/>
          </p:cNvCxnSpPr>
          <p:nvPr/>
        </p:nvCxnSpPr>
        <p:spPr>
          <a:xfrm flipH="1" flipV="1">
            <a:off x="1247573" y="3281722"/>
            <a:ext cx="1368401" cy="2289555"/>
          </a:xfrm>
          <a:prstGeom prst="bentConnector5">
            <a:avLst>
              <a:gd name="adj1" fmla="val -16706"/>
              <a:gd name="adj2" fmla="val 31431"/>
              <a:gd name="adj3" fmla="val 109217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04A51C5C-7994-403C-BD7F-100B81AAC670}"/>
              </a:ext>
            </a:extLst>
          </p:cNvPr>
          <p:cNvSpPr/>
          <p:nvPr/>
        </p:nvSpPr>
        <p:spPr>
          <a:xfrm>
            <a:off x="6846158" y="2183721"/>
            <a:ext cx="3320743" cy="2196000"/>
          </a:xfrm>
          <a:prstGeom prst="roundRect">
            <a:avLst>
              <a:gd name="adj" fmla="val 9782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bIns="2556000" rtlCol="0" anchor="b"/>
          <a:lstStyle/>
          <a:p>
            <a:pPr algn="ctr">
              <a:lnSpc>
                <a:spcPts val="1400"/>
              </a:lnSpc>
            </a:pP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9E6D7C43-62F2-4A1D-9F47-EFAB251DC9D0}"/>
              </a:ext>
            </a:extLst>
          </p:cNvPr>
          <p:cNvSpPr/>
          <p:nvPr/>
        </p:nvSpPr>
        <p:spPr>
          <a:xfrm>
            <a:off x="6930674" y="5323581"/>
            <a:ext cx="1368000" cy="49539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Pricing</a:t>
            </a:r>
            <a:r>
              <a:rPr lang="en-US" altLang="ja-JP" sz="1200" dirty="0">
                <a:solidFill>
                  <a:schemeClr val="tx1"/>
                </a:solidFill>
              </a:rPr>
              <a:t> &amp; Offering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09F4B2C5-8C5D-4FC4-8ECB-7C8AF57617E1}"/>
              </a:ext>
            </a:extLst>
          </p:cNvPr>
          <p:cNvGrpSpPr/>
          <p:nvPr/>
        </p:nvGrpSpPr>
        <p:grpSpPr>
          <a:xfrm>
            <a:off x="8101285" y="5713326"/>
            <a:ext cx="345242" cy="267348"/>
            <a:chOff x="-1514063" y="4269359"/>
            <a:chExt cx="1274659" cy="906978"/>
          </a:xfrm>
        </p:grpSpPr>
        <p:sp>
          <p:nvSpPr>
            <p:cNvPr id="90" name="フリーフォーム: 図形 89">
              <a:extLst>
                <a:ext uri="{FF2B5EF4-FFF2-40B4-BE49-F238E27FC236}">
                  <a16:creationId xmlns:a16="http://schemas.microsoft.com/office/drawing/2014/main" id="{59BF29FC-8FCE-457C-809E-1FF8C71D2A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1514063" y="4269359"/>
              <a:ext cx="1274659" cy="906978"/>
            </a:xfrm>
            <a:custGeom>
              <a:avLst/>
              <a:gdLst>
                <a:gd name="connsiteX0" fmla="*/ 610469 w 1537478"/>
                <a:gd name="connsiteY0" fmla="*/ 949619 h 1093986"/>
                <a:gd name="connsiteX1" fmla="*/ 610469 w 1537478"/>
                <a:gd name="connsiteY1" fmla="*/ 1040059 h 1093986"/>
                <a:gd name="connsiteX2" fmla="*/ 927009 w 1537478"/>
                <a:gd name="connsiteY2" fmla="*/ 1040059 h 1093986"/>
                <a:gd name="connsiteX3" fmla="*/ 927009 w 1537478"/>
                <a:gd name="connsiteY3" fmla="*/ 949619 h 1093986"/>
                <a:gd name="connsiteX4" fmla="*/ 886872 w 1537478"/>
                <a:gd name="connsiteY4" fmla="*/ 306726 h 1093986"/>
                <a:gd name="connsiteX5" fmla="*/ 916400 w 1537478"/>
                <a:gd name="connsiteY5" fmla="*/ 333434 h 1093986"/>
                <a:gd name="connsiteX6" fmla="*/ 886872 w 1537478"/>
                <a:gd name="connsiteY6" fmla="*/ 360142 h 1093986"/>
                <a:gd name="connsiteX7" fmla="*/ 857343 w 1537478"/>
                <a:gd name="connsiteY7" fmla="*/ 333434 h 1093986"/>
                <a:gd name="connsiteX8" fmla="*/ 886872 w 1537478"/>
                <a:gd name="connsiteY8" fmla="*/ 306726 h 1093986"/>
                <a:gd name="connsiteX9" fmla="*/ 773316 w 1537478"/>
                <a:gd name="connsiteY9" fmla="*/ 306726 h 1093986"/>
                <a:gd name="connsiteX10" fmla="*/ 802845 w 1537478"/>
                <a:gd name="connsiteY10" fmla="*/ 333434 h 1093986"/>
                <a:gd name="connsiteX11" fmla="*/ 773316 w 1537478"/>
                <a:gd name="connsiteY11" fmla="*/ 360142 h 1093986"/>
                <a:gd name="connsiteX12" fmla="*/ 743789 w 1537478"/>
                <a:gd name="connsiteY12" fmla="*/ 333434 h 1093986"/>
                <a:gd name="connsiteX13" fmla="*/ 773316 w 1537478"/>
                <a:gd name="connsiteY13" fmla="*/ 306726 h 1093986"/>
                <a:gd name="connsiteX14" fmla="*/ 659760 w 1537478"/>
                <a:gd name="connsiteY14" fmla="*/ 306726 h 1093986"/>
                <a:gd name="connsiteX15" fmla="*/ 689289 w 1537478"/>
                <a:gd name="connsiteY15" fmla="*/ 333434 h 1093986"/>
                <a:gd name="connsiteX16" fmla="*/ 659760 w 1537478"/>
                <a:gd name="connsiteY16" fmla="*/ 360142 h 1093986"/>
                <a:gd name="connsiteX17" fmla="*/ 630233 w 1537478"/>
                <a:gd name="connsiteY17" fmla="*/ 333434 h 1093986"/>
                <a:gd name="connsiteX18" fmla="*/ 659760 w 1537478"/>
                <a:gd name="connsiteY18" fmla="*/ 306726 h 1093986"/>
                <a:gd name="connsiteX19" fmla="*/ 782977 w 1537478"/>
                <a:gd name="connsiteY19" fmla="*/ 175819 h 1093986"/>
                <a:gd name="connsiteX20" fmla="*/ 663196 w 1537478"/>
                <a:gd name="connsiteY20" fmla="*/ 469048 h 1093986"/>
                <a:gd name="connsiteX21" fmla="*/ 631949 w 1537478"/>
                <a:gd name="connsiteY21" fmla="*/ 531462 h 1093986"/>
                <a:gd name="connsiteX22" fmla="*/ 863699 w 1537478"/>
                <a:gd name="connsiteY22" fmla="*/ 470225 h 1093986"/>
                <a:gd name="connsiteX23" fmla="*/ 782977 w 1537478"/>
                <a:gd name="connsiteY23" fmla="*/ 175819 h 1093986"/>
                <a:gd name="connsiteX24" fmla="*/ 784278 w 1537478"/>
                <a:gd name="connsiteY24" fmla="*/ 144023 h 1093986"/>
                <a:gd name="connsiteX25" fmla="*/ 905360 w 1537478"/>
                <a:gd name="connsiteY25" fmla="*/ 489066 h 1093986"/>
                <a:gd name="connsiteX26" fmla="*/ 572058 w 1537478"/>
                <a:gd name="connsiteY26" fmla="*/ 570322 h 1093986"/>
                <a:gd name="connsiteX27" fmla="*/ 615023 w 1537478"/>
                <a:gd name="connsiteY27" fmla="*/ 483179 h 1093986"/>
                <a:gd name="connsiteX28" fmla="*/ 784278 w 1537478"/>
                <a:gd name="connsiteY28" fmla="*/ 144023 h 1093986"/>
                <a:gd name="connsiteX29" fmla="*/ 226100 w 1537478"/>
                <a:gd name="connsiteY29" fmla="*/ 90440 h 1093986"/>
                <a:gd name="connsiteX30" fmla="*/ 226100 w 1537478"/>
                <a:gd name="connsiteY30" fmla="*/ 694172 h 1093986"/>
                <a:gd name="connsiteX31" fmla="*/ 1311378 w 1537478"/>
                <a:gd name="connsiteY31" fmla="*/ 694172 h 1093986"/>
                <a:gd name="connsiteX32" fmla="*/ 1311378 w 1537478"/>
                <a:gd name="connsiteY32" fmla="*/ 90440 h 1093986"/>
                <a:gd name="connsiteX33" fmla="*/ 185263 w 1537478"/>
                <a:gd name="connsiteY33" fmla="*/ 0 h 1093986"/>
                <a:gd name="connsiteX34" fmla="*/ 1356203 w 1537478"/>
                <a:gd name="connsiteY34" fmla="*/ 0 h 1093986"/>
                <a:gd name="connsiteX35" fmla="*/ 1394809 w 1537478"/>
                <a:gd name="connsiteY35" fmla="*/ 38606 h 1093986"/>
                <a:gd name="connsiteX36" fmla="*/ 1394809 w 1537478"/>
                <a:gd name="connsiteY36" fmla="*/ 799268 h 1093986"/>
                <a:gd name="connsiteX37" fmla="*/ 1537393 w 1537478"/>
                <a:gd name="connsiteY37" fmla="*/ 957361 h 1093986"/>
                <a:gd name="connsiteX38" fmla="*/ 1537478 w 1537478"/>
                <a:gd name="connsiteY38" fmla="*/ 957361 h 1093986"/>
                <a:gd name="connsiteX39" fmla="*/ 1537478 w 1537478"/>
                <a:gd name="connsiteY39" fmla="*/ 1025673 h 1093986"/>
                <a:gd name="connsiteX40" fmla="*/ 1469165 w 1537478"/>
                <a:gd name="connsiteY40" fmla="*/ 1093986 h 1093986"/>
                <a:gd name="connsiteX41" fmla="*/ 68313 w 1537478"/>
                <a:gd name="connsiteY41" fmla="*/ 1093986 h 1093986"/>
                <a:gd name="connsiteX42" fmla="*/ 0 w 1537478"/>
                <a:gd name="connsiteY42" fmla="*/ 1025673 h 1093986"/>
                <a:gd name="connsiteX43" fmla="*/ 0 w 1537478"/>
                <a:gd name="connsiteY43" fmla="*/ 957361 h 1093986"/>
                <a:gd name="connsiteX44" fmla="*/ 85 w 1537478"/>
                <a:gd name="connsiteY44" fmla="*/ 957361 h 1093986"/>
                <a:gd name="connsiteX45" fmla="*/ 146657 w 1537478"/>
                <a:gd name="connsiteY45" fmla="*/ 794846 h 1093986"/>
                <a:gd name="connsiteX46" fmla="*/ 146657 w 1537478"/>
                <a:gd name="connsiteY46" fmla="*/ 38606 h 1093986"/>
                <a:gd name="connsiteX47" fmla="*/ 185263 w 1537478"/>
                <a:gd name="connsiteY47" fmla="*/ 0 h 1093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537478" h="1093986">
                  <a:moveTo>
                    <a:pt x="610469" y="949619"/>
                  </a:moveTo>
                  <a:lnTo>
                    <a:pt x="610469" y="1040059"/>
                  </a:lnTo>
                  <a:lnTo>
                    <a:pt x="927009" y="1040059"/>
                  </a:lnTo>
                  <a:lnTo>
                    <a:pt x="927009" y="949619"/>
                  </a:lnTo>
                  <a:close/>
                  <a:moveTo>
                    <a:pt x="886872" y="306726"/>
                  </a:moveTo>
                  <a:cubicBezTo>
                    <a:pt x="903180" y="306726"/>
                    <a:pt x="916400" y="318684"/>
                    <a:pt x="916400" y="333434"/>
                  </a:cubicBezTo>
                  <a:cubicBezTo>
                    <a:pt x="916400" y="348185"/>
                    <a:pt x="903180" y="360142"/>
                    <a:pt x="886872" y="360142"/>
                  </a:cubicBezTo>
                  <a:cubicBezTo>
                    <a:pt x="870564" y="360142"/>
                    <a:pt x="857343" y="348185"/>
                    <a:pt x="857343" y="333434"/>
                  </a:cubicBezTo>
                  <a:cubicBezTo>
                    <a:pt x="857343" y="318684"/>
                    <a:pt x="870564" y="306726"/>
                    <a:pt x="886872" y="306726"/>
                  </a:cubicBezTo>
                  <a:close/>
                  <a:moveTo>
                    <a:pt x="773316" y="306726"/>
                  </a:moveTo>
                  <a:cubicBezTo>
                    <a:pt x="789624" y="306726"/>
                    <a:pt x="802845" y="318684"/>
                    <a:pt x="802845" y="333434"/>
                  </a:cubicBezTo>
                  <a:cubicBezTo>
                    <a:pt x="802845" y="348185"/>
                    <a:pt x="789624" y="360142"/>
                    <a:pt x="773316" y="360142"/>
                  </a:cubicBezTo>
                  <a:cubicBezTo>
                    <a:pt x="757009" y="360142"/>
                    <a:pt x="743789" y="348185"/>
                    <a:pt x="743789" y="333434"/>
                  </a:cubicBezTo>
                  <a:cubicBezTo>
                    <a:pt x="743789" y="318684"/>
                    <a:pt x="757009" y="306726"/>
                    <a:pt x="773316" y="306726"/>
                  </a:cubicBezTo>
                  <a:close/>
                  <a:moveTo>
                    <a:pt x="659760" y="306726"/>
                  </a:moveTo>
                  <a:cubicBezTo>
                    <a:pt x="676069" y="306726"/>
                    <a:pt x="689289" y="318684"/>
                    <a:pt x="689289" y="333434"/>
                  </a:cubicBezTo>
                  <a:cubicBezTo>
                    <a:pt x="689289" y="348185"/>
                    <a:pt x="676069" y="360142"/>
                    <a:pt x="659760" y="360142"/>
                  </a:cubicBezTo>
                  <a:cubicBezTo>
                    <a:pt x="643453" y="360142"/>
                    <a:pt x="630233" y="348185"/>
                    <a:pt x="630233" y="333434"/>
                  </a:cubicBezTo>
                  <a:cubicBezTo>
                    <a:pt x="630233" y="318684"/>
                    <a:pt x="643453" y="306726"/>
                    <a:pt x="659760" y="306726"/>
                  </a:cubicBezTo>
                  <a:close/>
                  <a:moveTo>
                    <a:pt x="782977" y="175819"/>
                  </a:moveTo>
                  <a:cubicBezTo>
                    <a:pt x="594626" y="166398"/>
                    <a:pt x="423201" y="355995"/>
                    <a:pt x="663196" y="469048"/>
                  </a:cubicBezTo>
                  <a:lnTo>
                    <a:pt x="631949" y="531462"/>
                  </a:lnTo>
                  <a:cubicBezTo>
                    <a:pt x="713105" y="516938"/>
                    <a:pt x="785146" y="496525"/>
                    <a:pt x="863699" y="470225"/>
                  </a:cubicBezTo>
                  <a:cubicBezTo>
                    <a:pt x="1039896" y="410952"/>
                    <a:pt x="1037727" y="189165"/>
                    <a:pt x="782977" y="175819"/>
                  </a:cubicBezTo>
                  <a:close/>
                  <a:moveTo>
                    <a:pt x="784278" y="144023"/>
                  </a:moveTo>
                  <a:cubicBezTo>
                    <a:pt x="935523" y="142649"/>
                    <a:pt x="1177687" y="327536"/>
                    <a:pt x="905360" y="489066"/>
                  </a:cubicBezTo>
                  <a:cubicBezTo>
                    <a:pt x="798165" y="538528"/>
                    <a:pt x="684462" y="556191"/>
                    <a:pt x="572058" y="570322"/>
                  </a:cubicBezTo>
                  <a:lnTo>
                    <a:pt x="615023" y="483179"/>
                  </a:lnTo>
                  <a:cubicBezTo>
                    <a:pt x="390000" y="339117"/>
                    <a:pt x="559038" y="146377"/>
                    <a:pt x="784278" y="144023"/>
                  </a:cubicBezTo>
                  <a:close/>
                  <a:moveTo>
                    <a:pt x="226100" y="90440"/>
                  </a:moveTo>
                  <a:lnTo>
                    <a:pt x="226100" y="694172"/>
                  </a:lnTo>
                  <a:lnTo>
                    <a:pt x="1311378" y="694172"/>
                  </a:lnTo>
                  <a:lnTo>
                    <a:pt x="1311378" y="90440"/>
                  </a:lnTo>
                  <a:close/>
                  <a:moveTo>
                    <a:pt x="185263" y="0"/>
                  </a:moveTo>
                  <a:lnTo>
                    <a:pt x="1356203" y="0"/>
                  </a:lnTo>
                  <a:cubicBezTo>
                    <a:pt x="1377524" y="0"/>
                    <a:pt x="1394809" y="17285"/>
                    <a:pt x="1394809" y="38606"/>
                  </a:cubicBezTo>
                  <a:lnTo>
                    <a:pt x="1394809" y="799268"/>
                  </a:lnTo>
                  <a:lnTo>
                    <a:pt x="1537393" y="957361"/>
                  </a:lnTo>
                  <a:lnTo>
                    <a:pt x="1537478" y="957361"/>
                  </a:lnTo>
                  <a:lnTo>
                    <a:pt x="1537478" y="1025673"/>
                  </a:lnTo>
                  <a:cubicBezTo>
                    <a:pt x="1537478" y="1063401"/>
                    <a:pt x="1506893" y="1093986"/>
                    <a:pt x="1469165" y="1093986"/>
                  </a:cubicBezTo>
                  <a:lnTo>
                    <a:pt x="68313" y="1093986"/>
                  </a:lnTo>
                  <a:cubicBezTo>
                    <a:pt x="30585" y="1093986"/>
                    <a:pt x="0" y="1063401"/>
                    <a:pt x="0" y="1025673"/>
                  </a:cubicBezTo>
                  <a:lnTo>
                    <a:pt x="0" y="957361"/>
                  </a:lnTo>
                  <a:lnTo>
                    <a:pt x="85" y="957361"/>
                  </a:lnTo>
                  <a:lnTo>
                    <a:pt x="146657" y="794846"/>
                  </a:lnTo>
                  <a:lnTo>
                    <a:pt x="146657" y="38606"/>
                  </a:lnTo>
                  <a:cubicBezTo>
                    <a:pt x="146657" y="17285"/>
                    <a:pt x="163942" y="0"/>
                    <a:pt x="185263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54000" rIns="90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 hangingPunct="0">
                <a:spcBef>
                  <a:spcPct val="0"/>
                </a:spcBef>
                <a:spcAft>
                  <a:spcPct val="0"/>
                </a:spcAft>
                <a:buSzPct val="100000"/>
              </a:pPr>
              <a:endParaRPr kumimoji="0" lang="en-GB" sz="1100" dirty="0">
                <a:latin typeface="ＭＳ Ｐ明朝" pitchFamily="18" charset="-128"/>
                <a:ea typeface="ＭＳ Ｐ明朝" pitchFamily="18" charset="-128"/>
                <a:cs typeface="Arial" charset="0"/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3B7CC1DE-02DB-4EDC-9E7C-AF5A3A202070}"/>
                </a:ext>
              </a:extLst>
            </p:cNvPr>
            <p:cNvSpPr/>
            <p:nvPr/>
          </p:nvSpPr>
          <p:spPr>
            <a:xfrm>
              <a:off x="-1288424" y="4357651"/>
              <a:ext cx="836881" cy="44729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SG" sz="1200" dirty="0">
                  <a:solidFill>
                    <a:schemeClr val="tx1"/>
                  </a:solidFill>
                </a:rPr>
                <a:t>$</a:t>
              </a:r>
            </a:p>
          </p:txBody>
        </p:sp>
      </p:grp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E7A5E47A-8008-4387-91AD-0E2F05D3BEBB}"/>
              </a:ext>
            </a:extLst>
          </p:cNvPr>
          <p:cNvSpPr>
            <a:spLocks noChangeAspect="1"/>
          </p:cNvSpPr>
          <p:nvPr/>
        </p:nvSpPr>
        <p:spPr bwMode="auto">
          <a:xfrm>
            <a:off x="6418467" y="5883142"/>
            <a:ext cx="296541" cy="176236"/>
          </a:xfrm>
          <a:custGeom>
            <a:avLst/>
            <a:gdLst>
              <a:gd name="connsiteX0" fmla="*/ 438027 w 2558952"/>
              <a:gd name="connsiteY0" fmla="*/ 839529 h 1520800"/>
              <a:gd name="connsiteX1" fmla="*/ 539266 w 2558952"/>
              <a:gd name="connsiteY1" fmla="*/ 940768 h 1520800"/>
              <a:gd name="connsiteX2" fmla="*/ 438027 w 2558952"/>
              <a:gd name="connsiteY2" fmla="*/ 1042007 h 1520800"/>
              <a:gd name="connsiteX3" fmla="*/ 336789 w 2558952"/>
              <a:gd name="connsiteY3" fmla="*/ 940768 h 1520800"/>
              <a:gd name="connsiteX4" fmla="*/ 438027 w 2558952"/>
              <a:gd name="connsiteY4" fmla="*/ 839529 h 1520800"/>
              <a:gd name="connsiteX5" fmla="*/ 1072159 w 2558952"/>
              <a:gd name="connsiteY5" fmla="*/ 703004 h 1520800"/>
              <a:gd name="connsiteX6" fmla="*/ 1173398 w 2558952"/>
              <a:gd name="connsiteY6" fmla="*/ 804243 h 1520800"/>
              <a:gd name="connsiteX7" fmla="*/ 1072159 w 2558952"/>
              <a:gd name="connsiteY7" fmla="*/ 905482 h 1520800"/>
              <a:gd name="connsiteX8" fmla="*/ 970920 w 2558952"/>
              <a:gd name="connsiteY8" fmla="*/ 804243 h 1520800"/>
              <a:gd name="connsiteX9" fmla="*/ 1072159 w 2558952"/>
              <a:gd name="connsiteY9" fmla="*/ 703004 h 1520800"/>
              <a:gd name="connsiteX10" fmla="*/ 2061097 w 2558952"/>
              <a:gd name="connsiteY10" fmla="*/ 682044 h 1520800"/>
              <a:gd name="connsiteX11" fmla="*/ 2162336 w 2558952"/>
              <a:gd name="connsiteY11" fmla="*/ 783283 h 1520800"/>
              <a:gd name="connsiteX12" fmla="*/ 2061097 w 2558952"/>
              <a:gd name="connsiteY12" fmla="*/ 884522 h 1520800"/>
              <a:gd name="connsiteX13" fmla="*/ 1959858 w 2558952"/>
              <a:gd name="connsiteY13" fmla="*/ 783283 h 1520800"/>
              <a:gd name="connsiteX14" fmla="*/ 2061097 w 2558952"/>
              <a:gd name="connsiteY14" fmla="*/ 682044 h 1520800"/>
              <a:gd name="connsiteX15" fmla="*/ 1300759 w 2558952"/>
              <a:gd name="connsiteY15" fmla="*/ 312479 h 1520800"/>
              <a:gd name="connsiteX16" fmla="*/ 1401998 w 2558952"/>
              <a:gd name="connsiteY16" fmla="*/ 413718 h 1520800"/>
              <a:gd name="connsiteX17" fmla="*/ 1300759 w 2558952"/>
              <a:gd name="connsiteY17" fmla="*/ 514957 h 1520800"/>
              <a:gd name="connsiteX18" fmla="*/ 1199520 w 2558952"/>
              <a:gd name="connsiteY18" fmla="*/ 413718 h 1520800"/>
              <a:gd name="connsiteX19" fmla="*/ 1300759 w 2558952"/>
              <a:gd name="connsiteY19" fmla="*/ 312479 h 1520800"/>
              <a:gd name="connsiteX20" fmla="*/ 1518035 w 2558952"/>
              <a:gd name="connsiteY20" fmla="*/ 0 h 1520800"/>
              <a:gd name="connsiteX21" fmla="*/ 1743087 w 2558952"/>
              <a:gd name="connsiteY21" fmla="*/ 79978 h 1520800"/>
              <a:gd name="connsiteX22" fmla="*/ 1796912 w 2558952"/>
              <a:gd name="connsiteY22" fmla="*/ 131646 h 1520800"/>
              <a:gd name="connsiteX23" fmla="*/ 1836527 w 2558952"/>
              <a:gd name="connsiteY23" fmla="*/ 127000 h 1520800"/>
              <a:gd name="connsiteX24" fmla="*/ 2207413 w 2558952"/>
              <a:gd name="connsiteY24" fmla="*/ 413016 h 1520800"/>
              <a:gd name="connsiteX25" fmla="*/ 2223867 w 2558952"/>
              <a:gd name="connsiteY25" fmla="*/ 474684 h 1520800"/>
              <a:gd name="connsiteX26" fmla="*/ 2238454 w 2558952"/>
              <a:gd name="connsiteY26" fmla="*/ 480688 h 1520800"/>
              <a:gd name="connsiteX27" fmla="*/ 2541977 w 2558952"/>
              <a:gd name="connsiteY27" fmla="*/ 1037063 h 1520800"/>
              <a:gd name="connsiteX28" fmla="*/ 2081048 w 2558952"/>
              <a:gd name="connsiteY28" fmla="*/ 1319020 h 1520800"/>
              <a:gd name="connsiteX29" fmla="*/ 2020633 w 2558952"/>
              <a:gd name="connsiteY29" fmla="*/ 1314338 h 1520800"/>
              <a:gd name="connsiteX30" fmla="*/ 2005983 w 2558952"/>
              <a:gd name="connsiteY30" fmla="*/ 1334996 h 1520800"/>
              <a:gd name="connsiteX31" fmla="*/ 1721359 w 2558952"/>
              <a:gd name="connsiteY31" fmla="*/ 1472158 h 1520800"/>
              <a:gd name="connsiteX32" fmla="*/ 1712268 w 2558952"/>
              <a:gd name="connsiteY32" fmla="*/ 1471092 h 1520800"/>
              <a:gd name="connsiteX33" fmla="*/ 1712268 w 2558952"/>
              <a:gd name="connsiteY33" fmla="*/ 1185275 h 1520800"/>
              <a:gd name="connsiteX34" fmla="*/ 2003985 w 2558952"/>
              <a:gd name="connsiteY34" fmla="*/ 1185275 h 1520800"/>
              <a:gd name="connsiteX35" fmla="*/ 2099998 w 2558952"/>
              <a:gd name="connsiteY35" fmla="*/ 1089262 h 1520800"/>
              <a:gd name="connsiteX36" fmla="*/ 2099998 w 2558952"/>
              <a:gd name="connsiteY36" fmla="*/ 937429 h 1520800"/>
              <a:gd name="connsiteX37" fmla="*/ 2124155 w 2558952"/>
              <a:gd name="connsiteY37" fmla="*/ 932552 h 1520800"/>
              <a:gd name="connsiteX38" fmla="*/ 2223097 w 2558952"/>
              <a:gd name="connsiteY38" fmla="*/ 783283 h 1520800"/>
              <a:gd name="connsiteX39" fmla="*/ 2061097 w 2558952"/>
              <a:gd name="connsiteY39" fmla="*/ 621283 h 1520800"/>
              <a:gd name="connsiteX40" fmla="*/ 1899097 w 2558952"/>
              <a:gd name="connsiteY40" fmla="*/ 783283 h 1520800"/>
              <a:gd name="connsiteX41" fmla="*/ 1998039 w 2558952"/>
              <a:gd name="connsiteY41" fmla="*/ 932552 h 1520800"/>
              <a:gd name="connsiteX42" fmla="*/ 2027990 w 2558952"/>
              <a:gd name="connsiteY42" fmla="*/ 938599 h 1520800"/>
              <a:gd name="connsiteX43" fmla="*/ 2027990 w 2558952"/>
              <a:gd name="connsiteY43" fmla="*/ 1080754 h 1520800"/>
              <a:gd name="connsiteX44" fmla="*/ 1995477 w 2558952"/>
              <a:gd name="connsiteY44" fmla="*/ 1113267 h 1520800"/>
              <a:gd name="connsiteX45" fmla="*/ 1712268 w 2558952"/>
              <a:gd name="connsiteY45" fmla="*/ 1113267 h 1520800"/>
              <a:gd name="connsiteX46" fmla="*/ 1712268 w 2558952"/>
              <a:gd name="connsiteY46" fmla="*/ 477658 h 1520800"/>
              <a:gd name="connsiteX47" fmla="*/ 1616255 w 2558952"/>
              <a:gd name="connsiteY47" fmla="*/ 381645 h 1520800"/>
              <a:gd name="connsiteX48" fmla="*/ 1456284 w 2558952"/>
              <a:gd name="connsiteY48" fmla="*/ 381645 h 1520800"/>
              <a:gd name="connsiteX49" fmla="*/ 1450028 w 2558952"/>
              <a:gd name="connsiteY49" fmla="*/ 350660 h 1520800"/>
              <a:gd name="connsiteX50" fmla="*/ 1300759 w 2558952"/>
              <a:gd name="connsiteY50" fmla="*/ 251718 h 1520800"/>
              <a:gd name="connsiteX51" fmla="*/ 1138759 w 2558952"/>
              <a:gd name="connsiteY51" fmla="*/ 413718 h 1520800"/>
              <a:gd name="connsiteX52" fmla="*/ 1300759 w 2558952"/>
              <a:gd name="connsiteY52" fmla="*/ 575718 h 1520800"/>
              <a:gd name="connsiteX53" fmla="*/ 1450028 w 2558952"/>
              <a:gd name="connsiteY53" fmla="*/ 476776 h 1520800"/>
              <a:gd name="connsiteX54" fmla="*/ 1454697 w 2558952"/>
              <a:gd name="connsiteY54" fmla="*/ 453653 h 1520800"/>
              <a:gd name="connsiteX55" fmla="*/ 1607747 w 2558952"/>
              <a:gd name="connsiteY55" fmla="*/ 453653 h 1520800"/>
              <a:gd name="connsiteX56" fmla="*/ 1640260 w 2558952"/>
              <a:gd name="connsiteY56" fmla="*/ 486166 h 1520800"/>
              <a:gd name="connsiteX57" fmla="*/ 1640260 w 2558952"/>
              <a:gd name="connsiteY57" fmla="*/ 1462647 h 1520800"/>
              <a:gd name="connsiteX58" fmla="*/ 1640238 w 2558952"/>
              <a:gd name="connsiteY58" fmla="*/ 1462644 h 1520800"/>
              <a:gd name="connsiteX59" fmla="*/ 1564681 w 2558952"/>
              <a:gd name="connsiteY59" fmla="*/ 1435357 h 1520800"/>
              <a:gd name="connsiteX60" fmla="*/ 1552821 w 2558952"/>
              <a:gd name="connsiteY60" fmla="*/ 1427867 h 1520800"/>
              <a:gd name="connsiteX61" fmla="*/ 1536672 w 2558952"/>
              <a:gd name="connsiteY61" fmla="*/ 1439922 h 1520800"/>
              <a:gd name="connsiteX62" fmla="*/ 1257970 w 2558952"/>
              <a:gd name="connsiteY62" fmla="*/ 1520800 h 1520800"/>
              <a:gd name="connsiteX63" fmla="*/ 1020367 w 2558952"/>
              <a:gd name="connsiteY63" fmla="*/ 1463643 h 1520800"/>
              <a:gd name="connsiteX64" fmla="*/ 956718 w 2558952"/>
              <a:gd name="connsiteY64" fmla="*/ 1420670 h 1520800"/>
              <a:gd name="connsiteX65" fmla="*/ 910827 w 2558952"/>
              <a:gd name="connsiteY65" fmla="*/ 1437244 h 1520800"/>
              <a:gd name="connsiteX66" fmla="*/ 829705 w 2558952"/>
              <a:gd name="connsiteY66" fmla="*/ 1446758 h 1520800"/>
              <a:gd name="connsiteX67" fmla="*/ 825600 w 2558952"/>
              <a:gd name="connsiteY67" fmla="*/ 1446397 h 1520800"/>
              <a:gd name="connsiteX68" fmla="*/ 825600 w 2558952"/>
              <a:gd name="connsiteY68" fmla="*/ 997961 h 1520800"/>
              <a:gd name="connsiteX69" fmla="*/ 729587 w 2558952"/>
              <a:gd name="connsiteY69" fmla="*/ 901948 h 1520800"/>
              <a:gd name="connsiteX70" fmla="*/ 592190 w 2558952"/>
              <a:gd name="connsiteY70" fmla="*/ 901948 h 1520800"/>
              <a:gd name="connsiteX71" fmla="*/ 587296 w 2558952"/>
              <a:gd name="connsiteY71" fmla="*/ 877710 h 1520800"/>
              <a:gd name="connsiteX72" fmla="*/ 438027 w 2558952"/>
              <a:gd name="connsiteY72" fmla="*/ 778768 h 1520800"/>
              <a:gd name="connsiteX73" fmla="*/ 276027 w 2558952"/>
              <a:gd name="connsiteY73" fmla="*/ 940768 h 1520800"/>
              <a:gd name="connsiteX74" fmla="*/ 438027 w 2558952"/>
              <a:gd name="connsiteY74" fmla="*/ 1102768 h 1520800"/>
              <a:gd name="connsiteX75" fmla="*/ 587296 w 2558952"/>
              <a:gd name="connsiteY75" fmla="*/ 1003826 h 1520800"/>
              <a:gd name="connsiteX76" fmla="*/ 593327 w 2558952"/>
              <a:gd name="connsiteY76" fmla="*/ 973956 h 1520800"/>
              <a:gd name="connsiteX77" fmla="*/ 721079 w 2558952"/>
              <a:gd name="connsiteY77" fmla="*/ 973956 h 1520800"/>
              <a:gd name="connsiteX78" fmla="*/ 753592 w 2558952"/>
              <a:gd name="connsiteY78" fmla="*/ 1006469 h 1520800"/>
              <a:gd name="connsiteX79" fmla="*/ 753592 w 2558952"/>
              <a:gd name="connsiteY79" fmla="*/ 1437390 h 1520800"/>
              <a:gd name="connsiteX80" fmla="*/ 710008 w 2558952"/>
              <a:gd name="connsiteY80" fmla="*/ 1425704 h 1520800"/>
              <a:gd name="connsiteX81" fmla="*/ 604653 w 2558952"/>
              <a:gd name="connsiteY81" fmla="*/ 1366780 h 1520800"/>
              <a:gd name="connsiteX82" fmla="*/ 561390 w 2558952"/>
              <a:gd name="connsiteY82" fmla="*/ 1325250 h 1520800"/>
              <a:gd name="connsiteX83" fmla="*/ 477906 w 2558952"/>
              <a:gd name="connsiteY83" fmla="*/ 1331720 h 1520800"/>
              <a:gd name="connsiteX84" fmla="*/ 16975 w 2558952"/>
              <a:gd name="connsiteY84" fmla="*/ 1049763 h 1520800"/>
              <a:gd name="connsiteX85" fmla="*/ 320498 w 2558952"/>
              <a:gd name="connsiteY85" fmla="*/ 493388 h 1520800"/>
              <a:gd name="connsiteX86" fmla="*/ 373289 w 2558952"/>
              <a:gd name="connsiteY86" fmla="*/ 471661 h 1520800"/>
              <a:gd name="connsiteX87" fmla="*/ 388969 w 2558952"/>
              <a:gd name="connsiteY87" fmla="*/ 412892 h 1520800"/>
              <a:gd name="connsiteX88" fmla="*/ 640158 w 2558952"/>
              <a:gd name="connsiteY88" fmla="*/ 147930 h 1520800"/>
              <a:gd name="connsiteX89" fmla="*/ 688802 w 2558952"/>
              <a:gd name="connsiteY89" fmla="*/ 134887 h 1520800"/>
              <a:gd name="connsiteX90" fmla="*/ 688802 w 2558952"/>
              <a:gd name="connsiteY90" fmla="*/ 738085 h 1520800"/>
              <a:gd name="connsiteX91" fmla="*/ 784815 w 2558952"/>
              <a:gd name="connsiteY91" fmla="*/ 834098 h 1520800"/>
              <a:gd name="connsiteX92" fmla="*/ 916187 w 2558952"/>
              <a:gd name="connsiteY92" fmla="*/ 834098 h 1520800"/>
              <a:gd name="connsiteX93" fmla="*/ 922890 w 2558952"/>
              <a:gd name="connsiteY93" fmla="*/ 867301 h 1520800"/>
              <a:gd name="connsiteX94" fmla="*/ 1072159 w 2558952"/>
              <a:gd name="connsiteY94" fmla="*/ 966243 h 1520800"/>
              <a:gd name="connsiteX95" fmla="*/ 1234159 w 2558952"/>
              <a:gd name="connsiteY95" fmla="*/ 804243 h 1520800"/>
              <a:gd name="connsiteX96" fmla="*/ 1072159 w 2558952"/>
              <a:gd name="connsiteY96" fmla="*/ 642243 h 1520800"/>
              <a:gd name="connsiteX97" fmla="*/ 922890 w 2558952"/>
              <a:gd name="connsiteY97" fmla="*/ 741185 h 1520800"/>
              <a:gd name="connsiteX98" fmla="*/ 918669 w 2558952"/>
              <a:gd name="connsiteY98" fmla="*/ 762090 h 1520800"/>
              <a:gd name="connsiteX99" fmla="*/ 793323 w 2558952"/>
              <a:gd name="connsiteY99" fmla="*/ 762090 h 1520800"/>
              <a:gd name="connsiteX100" fmla="*/ 760810 w 2558952"/>
              <a:gd name="connsiteY100" fmla="*/ 729577 h 1520800"/>
              <a:gd name="connsiteX101" fmla="*/ 760810 w 2558952"/>
              <a:gd name="connsiteY101" fmla="*/ 126950 h 1520800"/>
              <a:gd name="connsiteX102" fmla="*/ 813637 w 2558952"/>
              <a:gd name="connsiteY102" fmla="*/ 131020 h 1520800"/>
              <a:gd name="connsiteX103" fmla="*/ 848337 w 2558952"/>
              <a:gd name="connsiteY103" fmla="*/ 139137 h 1520800"/>
              <a:gd name="connsiteX104" fmla="*/ 903351 w 2558952"/>
              <a:gd name="connsiteY104" fmla="*/ 86328 h 1520800"/>
              <a:gd name="connsiteX105" fmla="*/ 1128403 w 2558952"/>
              <a:gd name="connsiteY105" fmla="*/ 6350 h 1520800"/>
              <a:gd name="connsiteX106" fmla="*/ 1285081 w 2558952"/>
              <a:gd name="connsiteY106" fmla="*/ 43151 h 1520800"/>
              <a:gd name="connsiteX107" fmla="*/ 1316502 w 2558952"/>
              <a:gd name="connsiteY107" fmla="*/ 62993 h 1520800"/>
              <a:gd name="connsiteX108" fmla="*/ 1317679 w 2558952"/>
              <a:gd name="connsiteY108" fmla="*/ 62044 h 1520800"/>
              <a:gd name="connsiteX109" fmla="*/ 1518035 w 2558952"/>
              <a:gd name="connsiteY109" fmla="*/ 0 h 15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2558952" h="1520800">
                <a:moveTo>
                  <a:pt x="438027" y="839529"/>
                </a:moveTo>
                <a:cubicBezTo>
                  <a:pt x="493941" y="839529"/>
                  <a:pt x="539266" y="884855"/>
                  <a:pt x="539266" y="940768"/>
                </a:cubicBezTo>
                <a:cubicBezTo>
                  <a:pt x="539266" y="996681"/>
                  <a:pt x="493941" y="1042007"/>
                  <a:pt x="438027" y="1042007"/>
                </a:cubicBezTo>
                <a:cubicBezTo>
                  <a:pt x="382114" y="1042007"/>
                  <a:pt x="336789" y="996681"/>
                  <a:pt x="336789" y="940768"/>
                </a:cubicBezTo>
                <a:cubicBezTo>
                  <a:pt x="336789" y="884855"/>
                  <a:pt x="382114" y="839529"/>
                  <a:pt x="438027" y="839529"/>
                </a:cubicBezTo>
                <a:close/>
                <a:moveTo>
                  <a:pt x="1072159" y="703004"/>
                </a:moveTo>
                <a:cubicBezTo>
                  <a:pt x="1128072" y="703004"/>
                  <a:pt x="1173398" y="748330"/>
                  <a:pt x="1173398" y="804243"/>
                </a:cubicBezTo>
                <a:cubicBezTo>
                  <a:pt x="1173398" y="860156"/>
                  <a:pt x="1128072" y="905482"/>
                  <a:pt x="1072159" y="905482"/>
                </a:cubicBezTo>
                <a:cubicBezTo>
                  <a:pt x="1016246" y="905482"/>
                  <a:pt x="970920" y="860156"/>
                  <a:pt x="970920" y="804243"/>
                </a:cubicBezTo>
                <a:cubicBezTo>
                  <a:pt x="970920" y="748330"/>
                  <a:pt x="1016246" y="703004"/>
                  <a:pt x="1072159" y="703004"/>
                </a:cubicBezTo>
                <a:close/>
                <a:moveTo>
                  <a:pt x="2061097" y="682044"/>
                </a:moveTo>
                <a:cubicBezTo>
                  <a:pt x="2117010" y="682044"/>
                  <a:pt x="2162336" y="727370"/>
                  <a:pt x="2162336" y="783283"/>
                </a:cubicBezTo>
                <a:cubicBezTo>
                  <a:pt x="2162336" y="839196"/>
                  <a:pt x="2117010" y="884522"/>
                  <a:pt x="2061097" y="884522"/>
                </a:cubicBezTo>
                <a:cubicBezTo>
                  <a:pt x="2005184" y="884522"/>
                  <a:pt x="1959858" y="839196"/>
                  <a:pt x="1959858" y="783283"/>
                </a:cubicBezTo>
                <a:cubicBezTo>
                  <a:pt x="1959858" y="727370"/>
                  <a:pt x="2005184" y="682044"/>
                  <a:pt x="2061097" y="682044"/>
                </a:cubicBezTo>
                <a:close/>
                <a:moveTo>
                  <a:pt x="1300759" y="312479"/>
                </a:moveTo>
                <a:cubicBezTo>
                  <a:pt x="1356672" y="312479"/>
                  <a:pt x="1401998" y="357805"/>
                  <a:pt x="1401998" y="413718"/>
                </a:cubicBezTo>
                <a:cubicBezTo>
                  <a:pt x="1401998" y="469631"/>
                  <a:pt x="1356672" y="514957"/>
                  <a:pt x="1300759" y="514957"/>
                </a:cubicBezTo>
                <a:cubicBezTo>
                  <a:pt x="1244846" y="514957"/>
                  <a:pt x="1199520" y="469631"/>
                  <a:pt x="1199520" y="413718"/>
                </a:cubicBezTo>
                <a:cubicBezTo>
                  <a:pt x="1199520" y="357805"/>
                  <a:pt x="1244846" y="312479"/>
                  <a:pt x="1300759" y="312479"/>
                </a:cubicBezTo>
                <a:close/>
                <a:moveTo>
                  <a:pt x="1518035" y="0"/>
                </a:moveTo>
                <a:cubicBezTo>
                  <a:pt x="1601399" y="0"/>
                  <a:pt x="1678845" y="29484"/>
                  <a:pt x="1743087" y="79978"/>
                </a:cubicBezTo>
                <a:lnTo>
                  <a:pt x="1796912" y="131646"/>
                </a:lnTo>
                <a:lnTo>
                  <a:pt x="1836527" y="127000"/>
                </a:lnTo>
                <a:cubicBezTo>
                  <a:pt x="2003256" y="127000"/>
                  <a:pt x="2146308" y="244937"/>
                  <a:pt x="2207413" y="413016"/>
                </a:cubicBezTo>
                <a:lnTo>
                  <a:pt x="2223867" y="474684"/>
                </a:lnTo>
                <a:lnTo>
                  <a:pt x="2238454" y="480688"/>
                </a:lnTo>
                <a:cubicBezTo>
                  <a:pt x="2475459" y="600932"/>
                  <a:pt x="2608143" y="832420"/>
                  <a:pt x="2541977" y="1037063"/>
                </a:cubicBezTo>
                <a:cubicBezTo>
                  <a:pt x="2485264" y="1212472"/>
                  <a:pt x="2298564" y="1318340"/>
                  <a:pt x="2081048" y="1319020"/>
                </a:cubicBezTo>
                <a:lnTo>
                  <a:pt x="2020633" y="1314338"/>
                </a:lnTo>
                <a:lnTo>
                  <a:pt x="2005983" y="1334996"/>
                </a:lnTo>
                <a:cubicBezTo>
                  <a:pt x="1933141" y="1419742"/>
                  <a:pt x="1832512" y="1472158"/>
                  <a:pt x="1721359" y="1472158"/>
                </a:cubicBezTo>
                <a:lnTo>
                  <a:pt x="1712268" y="1471092"/>
                </a:lnTo>
                <a:lnTo>
                  <a:pt x="1712268" y="1185275"/>
                </a:lnTo>
                <a:lnTo>
                  <a:pt x="2003985" y="1185275"/>
                </a:lnTo>
                <a:cubicBezTo>
                  <a:pt x="2057012" y="1185275"/>
                  <a:pt x="2099998" y="1142289"/>
                  <a:pt x="2099998" y="1089262"/>
                </a:cubicBezTo>
                <a:lnTo>
                  <a:pt x="2099998" y="937429"/>
                </a:lnTo>
                <a:lnTo>
                  <a:pt x="2124155" y="932552"/>
                </a:lnTo>
                <a:cubicBezTo>
                  <a:pt x="2182299" y="907959"/>
                  <a:pt x="2223097" y="850386"/>
                  <a:pt x="2223097" y="783283"/>
                </a:cubicBezTo>
                <a:cubicBezTo>
                  <a:pt x="2223097" y="693813"/>
                  <a:pt x="2150567" y="621283"/>
                  <a:pt x="2061097" y="621283"/>
                </a:cubicBezTo>
                <a:cubicBezTo>
                  <a:pt x="1971627" y="621283"/>
                  <a:pt x="1899097" y="693813"/>
                  <a:pt x="1899097" y="783283"/>
                </a:cubicBezTo>
                <a:cubicBezTo>
                  <a:pt x="1899097" y="850386"/>
                  <a:pt x="1939895" y="907959"/>
                  <a:pt x="1998039" y="932552"/>
                </a:cubicBezTo>
                <a:lnTo>
                  <a:pt x="2027990" y="938599"/>
                </a:lnTo>
                <a:lnTo>
                  <a:pt x="2027990" y="1080754"/>
                </a:lnTo>
                <a:cubicBezTo>
                  <a:pt x="2027990" y="1098710"/>
                  <a:pt x="2013433" y="1113267"/>
                  <a:pt x="1995477" y="1113267"/>
                </a:cubicBezTo>
                <a:lnTo>
                  <a:pt x="1712268" y="1113267"/>
                </a:lnTo>
                <a:lnTo>
                  <a:pt x="1712268" y="477658"/>
                </a:lnTo>
                <a:cubicBezTo>
                  <a:pt x="1712268" y="424631"/>
                  <a:pt x="1669282" y="381645"/>
                  <a:pt x="1616255" y="381645"/>
                </a:cubicBezTo>
                <a:lnTo>
                  <a:pt x="1456284" y="381645"/>
                </a:lnTo>
                <a:lnTo>
                  <a:pt x="1450028" y="350660"/>
                </a:lnTo>
                <a:cubicBezTo>
                  <a:pt x="1425435" y="292516"/>
                  <a:pt x="1367862" y="251718"/>
                  <a:pt x="1300759" y="251718"/>
                </a:cubicBezTo>
                <a:cubicBezTo>
                  <a:pt x="1211289" y="251718"/>
                  <a:pt x="1138759" y="324248"/>
                  <a:pt x="1138759" y="413718"/>
                </a:cubicBezTo>
                <a:cubicBezTo>
                  <a:pt x="1138759" y="503188"/>
                  <a:pt x="1211289" y="575718"/>
                  <a:pt x="1300759" y="575718"/>
                </a:cubicBezTo>
                <a:cubicBezTo>
                  <a:pt x="1367862" y="575718"/>
                  <a:pt x="1425435" y="534920"/>
                  <a:pt x="1450028" y="476776"/>
                </a:cubicBezTo>
                <a:lnTo>
                  <a:pt x="1454697" y="453653"/>
                </a:lnTo>
                <a:lnTo>
                  <a:pt x="1607747" y="453653"/>
                </a:lnTo>
                <a:cubicBezTo>
                  <a:pt x="1625703" y="453653"/>
                  <a:pt x="1640260" y="468210"/>
                  <a:pt x="1640260" y="486166"/>
                </a:cubicBezTo>
                <a:lnTo>
                  <a:pt x="1640260" y="1462647"/>
                </a:lnTo>
                <a:lnTo>
                  <a:pt x="1640238" y="1462644"/>
                </a:lnTo>
                <a:cubicBezTo>
                  <a:pt x="1614035" y="1456406"/>
                  <a:pt x="1588759" y="1447206"/>
                  <a:pt x="1564681" y="1435357"/>
                </a:cubicBezTo>
                <a:lnTo>
                  <a:pt x="1552821" y="1427867"/>
                </a:lnTo>
                <a:lnTo>
                  <a:pt x="1536672" y="1439922"/>
                </a:lnTo>
                <a:cubicBezTo>
                  <a:pt x="1457115" y="1490984"/>
                  <a:pt x="1361208" y="1520800"/>
                  <a:pt x="1257970" y="1520800"/>
                </a:cubicBezTo>
                <a:cubicBezTo>
                  <a:pt x="1171939" y="1520800"/>
                  <a:pt x="1090998" y="1500095"/>
                  <a:pt x="1020367" y="1463643"/>
                </a:cubicBezTo>
                <a:lnTo>
                  <a:pt x="956718" y="1420670"/>
                </a:lnTo>
                <a:lnTo>
                  <a:pt x="910827" y="1437244"/>
                </a:lnTo>
                <a:cubicBezTo>
                  <a:pt x="884624" y="1443482"/>
                  <a:pt x="857493" y="1446758"/>
                  <a:pt x="829705" y="1446758"/>
                </a:cubicBezTo>
                <a:lnTo>
                  <a:pt x="825600" y="1446397"/>
                </a:lnTo>
                <a:lnTo>
                  <a:pt x="825600" y="997961"/>
                </a:lnTo>
                <a:cubicBezTo>
                  <a:pt x="825600" y="944934"/>
                  <a:pt x="782614" y="901948"/>
                  <a:pt x="729587" y="901948"/>
                </a:cubicBezTo>
                <a:lnTo>
                  <a:pt x="592190" y="901948"/>
                </a:lnTo>
                <a:lnTo>
                  <a:pt x="587296" y="877710"/>
                </a:lnTo>
                <a:cubicBezTo>
                  <a:pt x="562704" y="819566"/>
                  <a:pt x="505130" y="778768"/>
                  <a:pt x="438027" y="778768"/>
                </a:cubicBezTo>
                <a:cubicBezTo>
                  <a:pt x="348557" y="778768"/>
                  <a:pt x="276027" y="851298"/>
                  <a:pt x="276027" y="940768"/>
                </a:cubicBezTo>
                <a:cubicBezTo>
                  <a:pt x="276027" y="1030238"/>
                  <a:pt x="348557" y="1102768"/>
                  <a:pt x="438027" y="1102768"/>
                </a:cubicBezTo>
                <a:cubicBezTo>
                  <a:pt x="505130" y="1102768"/>
                  <a:pt x="562704" y="1061970"/>
                  <a:pt x="587296" y="1003826"/>
                </a:cubicBezTo>
                <a:lnTo>
                  <a:pt x="593327" y="973956"/>
                </a:lnTo>
                <a:lnTo>
                  <a:pt x="721079" y="973956"/>
                </a:lnTo>
                <a:cubicBezTo>
                  <a:pt x="739035" y="973956"/>
                  <a:pt x="753592" y="988513"/>
                  <a:pt x="753592" y="1006469"/>
                </a:cubicBezTo>
                <a:lnTo>
                  <a:pt x="753592" y="1437390"/>
                </a:lnTo>
                <a:lnTo>
                  <a:pt x="710008" y="1425704"/>
                </a:lnTo>
                <a:cubicBezTo>
                  <a:pt x="672196" y="1412022"/>
                  <a:pt x="636774" y="1392027"/>
                  <a:pt x="604653" y="1366780"/>
                </a:cubicBezTo>
                <a:lnTo>
                  <a:pt x="561390" y="1325250"/>
                </a:lnTo>
                <a:lnTo>
                  <a:pt x="477906" y="1331720"/>
                </a:lnTo>
                <a:cubicBezTo>
                  <a:pt x="260389" y="1331040"/>
                  <a:pt x="73689" y="1225172"/>
                  <a:pt x="16975" y="1049763"/>
                </a:cubicBezTo>
                <a:cubicBezTo>
                  <a:pt x="-49191" y="845120"/>
                  <a:pt x="83494" y="613632"/>
                  <a:pt x="320498" y="493388"/>
                </a:cubicBezTo>
                <a:lnTo>
                  <a:pt x="373289" y="471661"/>
                </a:lnTo>
                <a:lnTo>
                  <a:pt x="388969" y="412892"/>
                </a:lnTo>
                <a:cubicBezTo>
                  <a:pt x="434798" y="286833"/>
                  <a:pt x="526722" y="188978"/>
                  <a:pt x="640158" y="147930"/>
                </a:cubicBezTo>
                <a:lnTo>
                  <a:pt x="688802" y="134887"/>
                </a:lnTo>
                <a:lnTo>
                  <a:pt x="688802" y="738085"/>
                </a:lnTo>
                <a:cubicBezTo>
                  <a:pt x="688802" y="791112"/>
                  <a:pt x="731788" y="834098"/>
                  <a:pt x="784815" y="834098"/>
                </a:cubicBezTo>
                <a:lnTo>
                  <a:pt x="916187" y="834098"/>
                </a:lnTo>
                <a:lnTo>
                  <a:pt x="922890" y="867301"/>
                </a:lnTo>
                <a:cubicBezTo>
                  <a:pt x="947483" y="925445"/>
                  <a:pt x="1005056" y="966243"/>
                  <a:pt x="1072159" y="966243"/>
                </a:cubicBezTo>
                <a:cubicBezTo>
                  <a:pt x="1161629" y="966243"/>
                  <a:pt x="1234159" y="893713"/>
                  <a:pt x="1234159" y="804243"/>
                </a:cubicBezTo>
                <a:cubicBezTo>
                  <a:pt x="1234159" y="714773"/>
                  <a:pt x="1161629" y="642243"/>
                  <a:pt x="1072159" y="642243"/>
                </a:cubicBezTo>
                <a:cubicBezTo>
                  <a:pt x="1005056" y="642243"/>
                  <a:pt x="947483" y="683041"/>
                  <a:pt x="922890" y="741185"/>
                </a:cubicBezTo>
                <a:lnTo>
                  <a:pt x="918669" y="762090"/>
                </a:lnTo>
                <a:lnTo>
                  <a:pt x="793323" y="762090"/>
                </a:lnTo>
                <a:cubicBezTo>
                  <a:pt x="775367" y="762090"/>
                  <a:pt x="760810" y="747533"/>
                  <a:pt x="760810" y="729577"/>
                </a:cubicBezTo>
                <a:lnTo>
                  <a:pt x="760810" y="126950"/>
                </a:lnTo>
                <a:lnTo>
                  <a:pt x="813637" y="131020"/>
                </a:lnTo>
                <a:lnTo>
                  <a:pt x="848337" y="139137"/>
                </a:lnTo>
                <a:lnTo>
                  <a:pt x="903351" y="86328"/>
                </a:lnTo>
                <a:cubicBezTo>
                  <a:pt x="967594" y="35834"/>
                  <a:pt x="1045039" y="6350"/>
                  <a:pt x="1128403" y="6350"/>
                </a:cubicBezTo>
                <a:cubicBezTo>
                  <a:pt x="1183979" y="6350"/>
                  <a:pt x="1236925" y="19454"/>
                  <a:pt x="1285081" y="43151"/>
                </a:cubicBezTo>
                <a:lnTo>
                  <a:pt x="1316502" y="62993"/>
                </a:lnTo>
                <a:lnTo>
                  <a:pt x="1317679" y="62044"/>
                </a:lnTo>
                <a:cubicBezTo>
                  <a:pt x="1376679" y="22574"/>
                  <a:pt x="1445091" y="0"/>
                  <a:pt x="151803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54000" rIns="90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 hangingPunct="0">
              <a:spcBef>
                <a:spcPct val="0"/>
              </a:spcBef>
              <a:spcAft>
                <a:spcPct val="0"/>
              </a:spcAft>
              <a:buSzPct val="100000"/>
            </a:pPr>
            <a:endParaRPr kumimoji="0" lang="en-GB" sz="1100" dirty="0">
              <a:latin typeface="ＭＳ Ｐ明朝" pitchFamily="18" charset="-128"/>
              <a:ea typeface="ＭＳ Ｐ明朝" pitchFamily="18" charset="-128"/>
              <a:cs typeface="Arial" charset="0"/>
            </a:endParaRPr>
          </a:p>
        </p:txBody>
      </p:sp>
      <p:sp>
        <p:nvSpPr>
          <p:cNvPr id="95" name="四角形: メモ 94">
            <a:extLst>
              <a:ext uri="{FF2B5EF4-FFF2-40B4-BE49-F238E27FC236}">
                <a16:creationId xmlns:a16="http://schemas.microsoft.com/office/drawing/2014/main" id="{EC5EA9EE-1DD4-464A-8FF6-E90FF28DD738}"/>
              </a:ext>
            </a:extLst>
          </p:cNvPr>
          <p:cNvSpPr/>
          <p:nvPr/>
        </p:nvSpPr>
        <p:spPr>
          <a:xfrm>
            <a:off x="6549628" y="6260696"/>
            <a:ext cx="1065046" cy="437472"/>
          </a:xfrm>
          <a:prstGeom prst="foldedCorner">
            <a:avLst>
              <a:gd name="adj" fmla="val 14348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0" rtlCol="0" anchor="ctr"/>
          <a:lstStyle/>
          <a:p>
            <a:pPr algn="ctr">
              <a:lnSpc>
                <a:spcPts val="12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External /</a:t>
            </a:r>
          </a:p>
          <a:p>
            <a:pPr algn="ctr">
              <a:lnSpc>
                <a:spcPts val="12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Internal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Factor</a:t>
            </a:r>
          </a:p>
        </p:txBody>
      </p: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D552D6B2-7CEC-4E7B-93BC-39C5281FA692}"/>
              </a:ext>
            </a:extLst>
          </p:cNvPr>
          <p:cNvCxnSpPr>
            <a:cxnSpLocks/>
            <a:stCxn id="95" idx="0"/>
          </p:cNvCxnSpPr>
          <p:nvPr/>
        </p:nvCxnSpPr>
        <p:spPr>
          <a:xfrm flipH="1" flipV="1">
            <a:off x="7072321" y="5818972"/>
            <a:ext cx="9830" cy="44172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D69E8C85-B7AF-410B-BDF3-87A87842ACAF}"/>
              </a:ext>
            </a:extLst>
          </p:cNvPr>
          <p:cNvSpPr/>
          <p:nvPr/>
        </p:nvSpPr>
        <p:spPr>
          <a:xfrm>
            <a:off x="6671947" y="5990042"/>
            <a:ext cx="969262" cy="15559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lang="en-US" altLang="ja-JP" sz="1050" dirty="0">
                <a:solidFill>
                  <a:schemeClr val="tx1"/>
                </a:solidFill>
              </a:rPr>
              <a:t>Dynamic Pricing</a:t>
            </a: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AD59E56E-E944-4CEC-BD75-202916DC7FA0}"/>
              </a:ext>
            </a:extLst>
          </p:cNvPr>
          <p:cNvSpPr/>
          <p:nvPr/>
        </p:nvSpPr>
        <p:spPr>
          <a:xfrm>
            <a:off x="7873385" y="5982842"/>
            <a:ext cx="801043" cy="15559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lang="en-US" altLang="ja-JP" sz="1050" dirty="0">
                <a:solidFill>
                  <a:schemeClr val="tx1"/>
                </a:solidFill>
              </a:rPr>
              <a:t>ONE QUOTE</a:t>
            </a:r>
          </a:p>
        </p:txBody>
      </p:sp>
      <p:cxnSp>
        <p:nvCxnSpPr>
          <p:cNvPr id="103" name="コネクタ: カギ線 102">
            <a:extLst>
              <a:ext uri="{FF2B5EF4-FFF2-40B4-BE49-F238E27FC236}">
                <a16:creationId xmlns:a16="http://schemas.microsoft.com/office/drawing/2014/main" id="{9A866794-28A6-484B-9B8B-F346E9DEB95B}"/>
              </a:ext>
            </a:extLst>
          </p:cNvPr>
          <p:cNvCxnSpPr>
            <a:cxnSpLocks/>
            <a:stCxn id="64" idx="3"/>
            <a:endCxn id="66" idx="2"/>
          </p:cNvCxnSpPr>
          <p:nvPr/>
        </p:nvCxnSpPr>
        <p:spPr>
          <a:xfrm flipV="1">
            <a:off x="8298674" y="4379721"/>
            <a:ext cx="207856" cy="119155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矢印: 五方向 99">
            <a:extLst>
              <a:ext uri="{FF2B5EF4-FFF2-40B4-BE49-F238E27FC236}">
                <a16:creationId xmlns:a16="http://schemas.microsoft.com/office/drawing/2014/main" id="{50EDBAC3-6A01-4BEF-A4F7-3E87B0849A9C}"/>
              </a:ext>
            </a:extLst>
          </p:cNvPr>
          <p:cNvSpPr/>
          <p:nvPr/>
        </p:nvSpPr>
        <p:spPr>
          <a:xfrm>
            <a:off x="586753" y="3717108"/>
            <a:ext cx="453567" cy="684000"/>
          </a:xfrm>
          <a:prstGeom prst="homePlate">
            <a:avLst>
              <a:gd name="adj" fmla="val 0"/>
            </a:avLst>
          </a:prstGeom>
          <a:solidFill>
            <a:srgbClr val="FDE9F4"/>
          </a:solidFill>
          <a:ln w="3175">
            <a:solidFill>
              <a:schemeClr val="accent4"/>
            </a:solidFill>
          </a:ln>
        </p:spPr>
        <p:txBody>
          <a:bodyPr vert="eaVert" wrap="non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dirty="0"/>
              <a:t>FO/</a:t>
            </a:r>
          </a:p>
          <a:p>
            <a:pPr algn="ctr">
              <a:lnSpc>
                <a:spcPts val="1400"/>
              </a:lnSpc>
            </a:pPr>
            <a:r>
              <a:rPr lang="en-US" altLang="ja-JP" sz="1400" dirty="0"/>
              <a:t>Sales</a:t>
            </a:r>
            <a:endParaRPr lang="ja-JP" altLang="en-US" sz="1400" dirty="0"/>
          </a:p>
        </p:txBody>
      </p:sp>
      <p:sp>
        <p:nvSpPr>
          <p:cNvPr id="65" name="矢印: 五方向 64">
            <a:extLst>
              <a:ext uri="{FF2B5EF4-FFF2-40B4-BE49-F238E27FC236}">
                <a16:creationId xmlns:a16="http://schemas.microsoft.com/office/drawing/2014/main" id="{54119F86-7CD0-4B05-A29C-17E4F9CB7CB9}"/>
              </a:ext>
            </a:extLst>
          </p:cNvPr>
          <p:cNvSpPr/>
          <p:nvPr/>
        </p:nvSpPr>
        <p:spPr>
          <a:xfrm>
            <a:off x="586753" y="4473192"/>
            <a:ext cx="453567" cy="684000"/>
          </a:xfrm>
          <a:prstGeom prst="homePlate">
            <a:avLst>
              <a:gd name="adj" fmla="val 0"/>
            </a:avLst>
          </a:prstGeom>
          <a:solidFill>
            <a:srgbClr val="FDE9F4"/>
          </a:solidFill>
          <a:ln w="3175">
            <a:solidFill>
              <a:schemeClr val="accent4"/>
            </a:solidFill>
          </a:ln>
        </p:spPr>
        <p:txBody>
          <a:bodyPr vert="eaVert" wrap="non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400" dirty="0"/>
              <a:t>SPC</a:t>
            </a:r>
            <a:endParaRPr lang="ja-JP" altLang="en-US" sz="1400" dirty="0"/>
          </a:p>
        </p:txBody>
      </p:sp>
      <p:sp>
        <p:nvSpPr>
          <p:cNvPr id="67" name="四角形: 角を丸くする 173">
            <a:extLst>
              <a:ext uri="{FF2B5EF4-FFF2-40B4-BE49-F238E27FC236}">
                <a16:creationId xmlns:a16="http://schemas.microsoft.com/office/drawing/2014/main" id="{2646DBBA-EAE5-4744-A70E-3F17D0C12990}"/>
              </a:ext>
            </a:extLst>
          </p:cNvPr>
          <p:cNvSpPr/>
          <p:nvPr/>
        </p:nvSpPr>
        <p:spPr>
          <a:xfrm>
            <a:off x="1307468" y="2276872"/>
            <a:ext cx="1224000" cy="49539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Grasp Results</a:t>
            </a:r>
          </a:p>
        </p:txBody>
      </p:sp>
      <p:sp>
        <p:nvSpPr>
          <p:cNvPr id="69" name="四角形: 角を丸くする 173">
            <a:extLst>
              <a:ext uri="{FF2B5EF4-FFF2-40B4-BE49-F238E27FC236}">
                <a16:creationId xmlns:a16="http://schemas.microsoft.com/office/drawing/2014/main" id="{1A31E448-EDB2-4A5F-8E29-1CAF574AC376}"/>
              </a:ext>
            </a:extLst>
          </p:cNvPr>
          <p:cNvSpPr/>
          <p:nvPr/>
        </p:nvSpPr>
        <p:spPr>
          <a:xfrm>
            <a:off x="3174505" y="2296612"/>
            <a:ext cx="1224000" cy="11881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Update Portfolio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and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BSA/Allocation</a:t>
            </a:r>
          </a:p>
          <a:p>
            <a:pPr algn="ctr">
              <a:lnSpc>
                <a:spcPts val="1400"/>
              </a:lnSpc>
              <a:spcBef>
                <a:spcPts val="300"/>
              </a:spcBef>
            </a:pPr>
            <a:r>
              <a:rPr kumimoji="1" lang="en-US" altLang="ja-JP" sz="1050" dirty="0">
                <a:solidFill>
                  <a:schemeClr val="accent4"/>
                </a:solidFill>
              </a:rPr>
              <a:t>*d</a:t>
            </a:r>
            <a:r>
              <a:rPr lang="en-US" altLang="ja-JP" sz="1050" dirty="0">
                <a:solidFill>
                  <a:schemeClr val="accent4"/>
                </a:solidFill>
              </a:rPr>
              <a:t>etailed process</a:t>
            </a:r>
            <a:br>
              <a:rPr lang="en-US" altLang="ja-JP" sz="1050" dirty="0">
                <a:solidFill>
                  <a:schemeClr val="accent4"/>
                </a:solidFill>
              </a:rPr>
            </a:br>
            <a:r>
              <a:rPr lang="en-US" altLang="ja-JP" sz="1050" dirty="0">
                <a:solidFill>
                  <a:schemeClr val="accent4"/>
                </a:solidFill>
              </a:rPr>
              <a:t> on following page</a:t>
            </a:r>
            <a:endParaRPr kumimoji="1" lang="en-US" altLang="ja-JP" sz="1200" dirty="0">
              <a:solidFill>
                <a:schemeClr val="accent4"/>
              </a:solidFill>
            </a:endParaRPr>
          </a:p>
        </p:txBody>
      </p:sp>
      <p:sp>
        <p:nvSpPr>
          <p:cNvPr id="70" name="四角形: 角を丸くする 173">
            <a:extLst>
              <a:ext uri="{FF2B5EF4-FFF2-40B4-BE49-F238E27FC236}">
                <a16:creationId xmlns:a16="http://schemas.microsoft.com/office/drawing/2014/main" id="{F50A6291-DA65-4FED-AEFD-3FDBDFA9B655}"/>
              </a:ext>
            </a:extLst>
          </p:cNvPr>
          <p:cNvSpPr/>
          <p:nvPr/>
        </p:nvSpPr>
        <p:spPr>
          <a:xfrm>
            <a:off x="5088024" y="3717032"/>
            <a:ext cx="1224000" cy="56432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Gather customer</a:t>
            </a:r>
          </a:p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Forecast &amp;</a:t>
            </a:r>
          </a:p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Create AP</a:t>
            </a:r>
          </a:p>
        </p:txBody>
      </p:sp>
      <p:sp>
        <p:nvSpPr>
          <p:cNvPr id="86" name="四角形: 角を丸くする 173">
            <a:extLst>
              <a:ext uri="{FF2B5EF4-FFF2-40B4-BE49-F238E27FC236}">
                <a16:creationId xmlns:a16="http://schemas.microsoft.com/office/drawing/2014/main" id="{A6059371-FD17-46A7-9D2F-CEB08570270C}"/>
              </a:ext>
            </a:extLst>
          </p:cNvPr>
          <p:cNvSpPr/>
          <p:nvPr/>
        </p:nvSpPr>
        <p:spPr>
          <a:xfrm>
            <a:off x="5087888" y="2420992"/>
            <a:ext cx="1224000" cy="936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Review AP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en-US" altLang="ja-JP" sz="1200" dirty="0">
                <a:solidFill>
                  <a:schemeClr val="tx1"/>
                </a:solidFill>
              </a:rPr>
              <a:t>submitted by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kumimoji="1" lang="en-US" altLang="ja-JP" sz="1200" dirty="0">
                <a:solidFill>
                  <a:schemeClr val="tx1"/>
                </a:solidFill>
              </a:rPr>
              <a:t>FO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B2482C9-A007-4969-9898-F374AF95F348}"/>
              </a:ext>
            </a:extLst>
          </p:cNvPr>
          <p:cNvCxnSpPr>
            <a:stCxn id="70" idx="0"/>
            <a:endCxn id="86" idx="2"/>
          </p:cNvCxnSpPr>
          <p:nvPr/>
        </p:nvCxnSpPr>
        <p:spPr>
          <a:xfrm flipH="1" flipV="1">
            <a:off x="5699888" y="3356992"/>
            <a:ext cx="136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四角形: 角を丸くする 173">
            <a:extLst>
              <a:ext uri="{FF2B5EF4-FFF2-40B4-BE49-F238E27FC236}">
                <a16:creationId xmlns:a16="http://schemas.microsoft.com/office/drawing/2014/main" id="{0E0738B8-3589-4AB8-AB75-4D7A9E9F0E28}"/>
              </a:ext>
            </a:extLst>
          </p:cNvPr>
          <p:cNvSpPr/>
          <p:nvPr/>
        </p:nvSpPr>
        <p:spPr>
          <a:xfrm>
            <a:off x="6930673" y="4567497"/>
            <a:ext cx="3233627" cy="49539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Handle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BKG Requests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(automatically judged by OPUS)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06" name="四角形: 角を丸くする 173">
            <a:extLst>
              <a:ext uri="{FF2B5EF4-FFF2-40B4-BE49-F238E27FC236}">
                <a16:creationId xmlns:a16="http://schemas.microsoft.com/office/drawing/2014/main" id="{B0B9FD39-196A-442C-A3C5-245DC56A89A6}"/>
              </a:ext>
            </a:extLst>
          </p:cNvPr>
          <p:cNvSpPr/>
          <p:nvPr/>
        </p:nvSpPr>
        <p:spPr>
          <a:xfrm>
            <a:off x="6961953" y="3764778"/>
            <a:ext cx="3089152" cy="516576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Additional sales </a:t>
            </a:r>
            <a:r>
              <a:rPr lang="en-US" altLang="ja-JP" sz="1200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111" name="四角形: 角を丸くする 173">
            <a:extLst>
              <a:ext uri="{FF2B5EF4-FFF2-40B4-BE49-F238E27FC236}">
                <a16:creationId xmlns:a16="http://schemas.microsoft.com/office/drawing/2014/main" id="{33B435A2-900D-4A2E-9745-954F3D7CC2FA}"/>
              </a:ext>
            </a:extLst>
          </p:cNvPr>
          <p:cNvSpPr/>
          <p:nvPr/>
        </p:nvSpPr>
        <p:spPr>
          <a:xfrm>
            <a:off x="3197798" y="3645024"/>
            <a:ext cx="1224000" cy="58596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Consider</a:t>
            </a:r>
          </a:p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Roll pool</a:t>
            </a:r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CE4100F6-1AF0-49F3-ABEC-B557733FFDFC}"/>
              </a:ext>
            </a:extLst>
          </p:cNvPr>
          <p:cNvSpPr/>
          <p:nvPr/>
        </p:nvSpPr>
        <p:spPr>
          <a:xfrm>
            <a:off x="7822529" y="1777315"/>
            <a:ext cx="1368000" cy="369095"/>
          </a:xfrm>
          <a:prstGeom prst="round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Handle BKG and monitor the utilization</a:t>
            </a:r>
          </a:p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 Take actions to fulfill the space   </a:t>
            </a:r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45E7F7A5-B048-4219-97BE-A7B46DA3744C}"/>
              </a:ext>
            </a:extLst>
          </p:cNvPr>
          <p:cNvSpPr/>
          <p:nvPr/>
        </p:nvSpPr>
        <p:spPr>
          <a:xfrm>
            <a:off x="4545485" y="3333360"/>
            <a:ext cx="419591" cy="14456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000"/>
              </a:lnSpc>
            </a:pPr>
            <a:br>
              <a:rPr lang="en-SG" sz="1050" dirty="0">
                <a:solidFill>
                  <a:schemeClr val="tx1"/>
                </a:solidFill>
              </a:rPr>
            </a:br>
            <a:r>
              <a:rPr lang="en-SG" sz="1050" dirty="0">
                <a:solidFill>
                  <a:schemeClr val="tx1"/>
                </a:solidFill>
              </a:rPr>
              <a:t>Portfolio</a:t>
            </a:r>
            <a:br>
              <a:rPr lang="en-SG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/</a:t>
            </a:r>
            <a:r>
              <a:rPr lang="en-US" altLang="ja-JP" sz="1050" dirty="0">
                <a:solidFill>
                  <a:schemeClr val="tx1"/>
                </a:solidFill>
              </a:rPr>
              <a:t>BSA</a:t>
            </a:r>
            <a:endParaRPr lang="en-SG" sz="1050" dirty="0">
              <a:solidFill>
                <a:schemeClr val="tx1"/>
              </a:solidFill>
            </a:endParaRPr>
          </a:p>
        </p:txBody>
      </p:sp>
      <p:sp>
        <p:nvSpPr>
          <p:cNvPr id="156" name="フローチャート: 結合子 155">
            <a:extLst>
              <a:ext uri="{FF2B5EF4-FFF2-40B4-BE49-F238E27FC236}">
                <a16:creationId xmlns:a16="http://schemas.microsoft.com/office/drawing/2014/main" id="{2C14C14D-E44B-4A0E-8640-C7E64CEA3D87}"/>
              </a:ext>
            </a:extLst>
          </p:cNvPr>
          <p:cNvSpPr/>
          <p:nvPr/>
        </p:nvSpPr>
        <p:spPr>
          <a:xfrm>
            <a:off x="5147938" y="2462907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B-2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フローチャート: 結合子 158">
            <a:extLst>
              <a:ext uri="{FF2B5EF4-FFF2-40B4-BE49-F238E27FC236}">
                <a16:creationId xmlns:a16="http://schemas.microsoft.com/office/drawing/2014/main" id="{246A4288-D7B6-4008-A152-513DF1ADA36E}"/>
              </a:ext>
            </a:extLst>
          </p:cNvPr>
          <p:cNvSpPr/>
          <p:nvPr/>
        </p:nvSpPr>
        <p:spPr>
          <a:xfrm>
            <a:off x="5099343" y="2129431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B-1</a:t>
            </a:r>
          </a:p>
        </p:txBody>
      </p:sp>
      <p:sp>
        <p:nvSpPr>
          <p:cNvPr id="168" name="フローチャート: 結合子 167">
            <a:extLst>
              <a:ext uri="{FF2B5EF4-FFF2-40B4-BE49-F238E27FC236}">
                <a16:creationId xmlns:a16="http://schemas.microsoft.com/office/drawing/2014/main" id="{15740237-D377-4C61-A24A-FFB0E818C6D2}"/>
              </a:ext>
            </a:extLst>
          </p:cNvPr>
          <p:cNvSpPr/>
          <p:nvPr/>
        </p:nvSpPr>
        <p:spPr>
          <a:xfrm>
            <a:off x="3289553" y="2217335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A-1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76" name="直線矢印コネクタ 175">
            <a:extLst>
              <a:ext uri="{FF2B5EF4-FFF2-40B4-BE49-F238E27FC236}">
                <a16:creationId xmlns:a16="http://schemas.microsoft.com/office/drawing/2014/main" id="{434D34F8-2B63-4A01-925D-17EB07C51B1D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10166901" y="3281721"/>
            <a:ext cx="42193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四角形: メモ 192">
            <a:extLst>
              <a:ext uri="{FF2B5EF4-FFF2-40B4-BE49-F238E27FC236}">
                <a16:creationId xmlns:a16="http://schemas.microsoft.com/office/drawing/2014/main" id="{59D8DC09-2E2C-4C0D-81D8-36959F25AAAD}"/>
              </a:ext>
            </a:extLst>
          </p:cNvPr>
          <p:cNvSpPr/>
          <p:nvPr/>
        </p:nvSpPr>
        <p:spPr>
          <a:xfrm>
            <a:off x="4922764" y="4346099"/>
            <a:ext cx="530544" cy="316527"/>
          </a:xfrm>
          <a:prstGeom prst="foldedCorner">
            <a:avLst>
              <a:gd name="adj" fmla="val 25202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0" rtlCol="0" anchor="ctr"/>
          <a:lstStyle/>
          <a:p>
            <a:pPr algn="ctr">
              <a:lnSpc>
                <a:spcPts val="1100"/>
              </a:lnSpc>
            </a:pPr>
            <a:r>
              <a:rPr kumimoji="1" lang="en-US" altLang="ja-JP" sz="1050" dirty="0">
                <a:solidFill>
                  <a:schemeClr val="tx1"/>
                </a:solidFill>
              </a:rPr>
              <a:t>Clear</a:t>
            </a:r>
            <a:br>
              <a:rPr kumimoji="1" lang="en-US" altLang="ja-JP" sz="1050" dirty="0">
                <a:solidFill>
                  <a:schemeClr val="tx1"/>
                </a:solidFill>
              </a:rPr>
            </a:br>
            <a:r>
              <a:rPr kumimoji="1" lang="en-US" altLang="ja-JP" sz="1050" dirty="0">
                <a:solidFill>
                  <a:schemeClr val="tx1"/>
                </a:solidFill>
              </a:rPr>
              <a:t>Rule</a:t>
            </a:r>
          </a:p>
        </p:txBody>
      </p:sp>
      <p:sp>
        <p:nvSpPr>
          <p:cNvPr id="194" name="フローチャート: 結合子 193">
            <a:extLst>
              <a:ext uri="{FF2B5EF4-FFF2-40B4-BE49-F238E27FC236}">
                <a16:creationId xmlns:a16="http://schemas.microsoft.com/office/drawing/2014/main" id="{67C79BC3-9659-4802-8814-DDCD6C0E4CCD}"/>
              </a:ext>
            </a:extLst>
          </p:cNvPr>
          <p:cNvSpPr/>
          <p:nvPr/>
        </p:nvSpPr>
        <p:spPr>
          <a:xfrm>
            <a:off x="4735637" y="4226859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B-2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四角形: 角を丸くする 173">
            <a:extLst>
              <a:ext uri="{FF2B5EF4-FFF2-40B4-BE49-F238E27FC236}">
                <a16:creationId xmlns:a16="http://schemas.microsoft.com/office/drawing/2014/main" id="{7706F7DA-DD9F-45EF-B308-5B85332E5E55}"/>
              </a:ext>
            </a:extLst>
          </p:cNvPr>
          <p:cNvSpPr/>
          <p:nvPr/>
        </p:nvSpPr>
        <p:spPr>
          <a:xfrm>
            <a:off x="6961953" y="2296611"/>
            <a:ext cx="1439377" cy="129423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Monitor </a:t>
            </a:r>
            <a:r>
              <a:rPr lang="en-US" altLang="ja-JP" sz="1200" dirty="0">
                <a:solidFill>
                  <a:schemeClr val="tx1"/>
                </a:solidFill>
              </a:rPr>
              <a:t>BKG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Attempt/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Acceptance</a:t>
            </a:r>
          </a:p>
        </p:txBody>
      </p:sp>
      <p:sp>
        <p:nvSpPr>
          <p:cNvPr id="197" name="四角形: 角を丸くする 173">
            <a:extLst>
              <a:ext uri="{FF2B5EF4-FFF2-40B4-BE49-F238E27FC236}">
                <a16:creationId xmlns:a16="http://schemas.microsoft.com/office/drawing/2014/main" id="{507C205C-CAFF-47BF-B926-D1CD73923576}"/>
              </a:ext>
            </a:extLst>
          </p:cNvPr>
          <p:cNvSpPr/>
          <p:nvPr/>
        </p:nvSpPr>
        <p:spPr>
          <a:xfrm>
            <a:off x="8611728" y="2276872"/>
            <a:ext cx="1439377" cy="1294232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Forecast BKG 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(Forecast space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8" name="AutoShape 50">
            <a:extLst>
              <a:ext uri="{FF2B5EF4-FFF2-40B4-BE49-F238E27FC236}">
                <a16:creationId xmlns:a16="http://schemas.microsoft.com/office/drawing/2014/main" id="{587E855B-D824-4868-BCFF-1DC41D248D7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3339746">
            <a:off x="8260558" y="3395392"/>
            <a:ext cx="491941" cy="49697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5 w 21600"/>
              <a:gd name="T19" fmla="*/ 3162 h 21600"/>
              <a:gd name="T20" fmla="*/ 18435 w 21600"/>
              <a:gd name="T21" fmla="*/ 18438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748" y="8867"/>
                </a:moveTo>
                <a:cubicBezTo>
                  <a:pt x="16880" y="5746"/>
                  <a:pt x="14038" y="3588"/>
                  <a:pt x="10800" y="3588"/>
                </a:cubicBezTo>
                <a:cubicBezTo>
                  <a:pt x="6816" y="3588"/>
                  <a:pt x="3588" y="6816"/>
                  <a:pt x="3588" y="10800"/>
                </a:cubicBezTo>
                <a:cubicBezTo>
                  <a:pt x="3588" y="14783"/>
                  <a:pt x="6816" y="18012"/>
                  <a:pt x="10800" y="18012"/>
                </a:cubicBezTo>
                <a:cubicBezTo>
                  <a:pt x="12871" y="18012"/>
                  <a:pt x="14843" y="17120"/>
                  <a:pt x="16212" y="15565"/>
                </a:cubicBezTo>
                <a:lnTo>
                  <a:pt x="18905" y="17936"/>
                </a:lnTo>
                <a:cubicBezTo>
                  <a:pt x="16855" y="20265"/>
                  <a:pt x="13902" y="21599"/>
                  <a:pt x="10800" y="21600"/>
                </a:cubicBezTo>
                <a:cubicBezTo>
                  <a:pt x="4835" y="21600"/>
                  <a:pt x="0" y="1676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5649" y="-1"/>
                  <a:pt x="19905" y="3233"/>
                  <a:pt x="21204" y="7905"/>
                </a:cubicBezTo>
                <a:lnTo>
                  <a:pt x="23806" y="7182"/>
                </a:lnTo>
                <a:lnTo>
                  <a:pt x="20680" y="12716"/>
                </a:lnTo>
                <a:lnTo>
                  <a:pt x="15146" y="9590"/>
                </a:lnTo>
                <a:lnTo>
                  <a:pt x="17748" y="88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59" name="グループ化 258">
            <a:extLst>
              <a:ext uri="{FF2B5EF4-FFF2-40B4-BE49-F238E27FC236}">
                <a16:creationId xmlns:a16="http://schemas.microsoft.com/office/drawing/2014/main" id="{1FB6A753-59D8-4BA0-A059-62B33FBD671A}"/>
              </a:ext>
            </a:extLst>
          </p:cNvPr>
          <p:cNvGrpSpPr/>
          <p:nvPr/>
        </p:nvGrpSpPr>
        <p:grpSpPr>
          <a:xfrm>
            <a:off x="6072794" y="4039203"/>
            <a:ext cx="196730" cy="267065"/>
            <a:chOff x="8030296" y="4263766"/>
            <a:chExt cx="196730" cy="267065"/>
          </a:xfrm>
        </p:grpSpPr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FA81FA15-DDC9-46F7-B88F-D8AB99BA00CB}"/>
                </a:ext>
              </a:extLst>
            </p:cNvPr>
            <p:cNvSpPr/>
            <p:nvPr/>
          </p:nvSpPr>
          <p:spPr>
            <a:xfrm>
              <a:off x="8030296" y="4263766"/>
              <a:ext cx="196730" cy="2670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1" name="フリーフォーム 68">
              <a:extLst>
                <a:ext uri="{FF2B5EF4-FFF2-40B4-BE49-F238E27FC236}">
                  <a16:creationId xmlns:a16="http://schemas.microsoft.com/office/drawing/2014/main" id="{3AC8D753-4B4A-4692-92A2-89D19B6C78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069520" y="4296710"/>
              <a:ext cx="157506" cy="180092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0000" tIns="540000" rIns="90000" bIns="54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tabLst/>
              </a:pPr>
              <a:endParaRPr kumimoji="0" lang="en-GB" sz="1050" b="0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明朝" pitchFamily="18" charset="-128"/>
                <a:cs typeface="Arial" charset="0"/>
              </a:endParaRPr>
            </a:p>
          </p:txBody>
        </p:sp>
      </p:grpSp>
      <p:sp>
        <p:nvSpPr>
          <p:cNvPr id="191" name="フローチャート: 結合子 190">
            <a:extLst>
              <a:ext uri="{FF2B5EF4-FFF2-40B4-BE49-F238E27FC236}">
                <a16:creationId xmlns:a16="http://schemas.microsoft.com/office/drawing/2014/main" id="{BDBCC168-57CF-41D8-A944-8AB5026F9402}"/>
              </a:ext>
            </a:extLst>
          </p:cNvPr>
          <p:cNvSpPr/>
          <p:nvPr/>
        </p:nvSpPr>
        <p:spPr>
          <a:xfrm>
            <a:off x="5876647" y="3564712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C-1,2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C86C2B18-C5C5-43AF-8DF8-6696DFDC7B28}"/>
              </a:ext>
            </a:extLst>
          </p:cNvPr>
          <p:cNvSpPr/>
          <p:nvPr/>
        </p:nvSpPr>
        <p:spPr>
          <a:xfrm>
            <a:off x="10588838" y="2183720"/>
            <a:ext cx="1368000" cy="2956739"/>
          </a:xfrm>
          <a:prstGeom prst="roundRect">
            <a:avLst>
              <a:gd name="adj" fmla="val 14036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bIns="2556000" rtlCol="0" anchor="b"/>
          <a:lstStyle/>
          <a:p>
            <a:pPr algn="ctr">
              <a:lnSpc>
                <a:spcPts val="1400"/>
              </a:lnSpc>
            </a:pP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08" name="四角形: 角を丸くする 173">
            <a:extLst>
              <a:ext uri="{FF2B5EF4-FFF2-40B4-BE49-F238E27FC236}">
                <a16:creationId xmlns:a16="http://schemas.microsoft.com/office/drawing/2014/main" id="{60CA404E-4BB9-4F79-9CA5-D50BB1A6BBBC}"/>
              </a:ext>
            </a:extLst>
          </p:cNvPr>
          <p:cNvSpPr/>
          <p:nvPr/>
        </p:nvSpPr>
        <p:spPr>
          <a:xfrm>
            <a:off x="10660838" y="4509118"/>
            <a:ext cx="1224000" cy="56432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GD4 &amp;</a:t>
            </a:r>
          </a:p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Additional BKG</a:t>
            </a:r>
          </a:p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Handling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12" name="四角形: 角を丸くする 173">
            <a:extLst>
              <a:ext uri="{FF2B5EF4-FFF2-40B4-BE49-F238E27FC236}">
                <a16:creationId xmlns:a16="http://schemas.microsoft.com/office/drawing/2014/main" id="{11BFF5E1-A2EE-4B24-8913-152B113AF571}"/>
              </a:ext>
            </a:extLst>
          </p:cNvPr>
          <p:cNvSpPr/>
          <p:nvPr/>
        </p:nvSpPr>
        <p:spPr>
          <a:xfrm>
            <a:off x="10660838" y="2276872"/>
            <a:ext cx="1224000" cy="136624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4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Decide to</a:t>
            </a:r>
          </a:p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Accept BKG</a:t>
            </a:r>
          </a:p>
        </p:txBody>
      </p:sp>
      <p:grpSp>
        <p:nvGrpSpPr>
          <p:cNvPr id="172" name="グループ化 171">
            <a:extLst>
              <a:ext uri="{FF2B5EF4-FFF2-40B4-BE49-F238E27FC236}">
                <a16:creationId xmlns:a16="http://schemas.microsoft.com/office/drawing/2014/main" id="{4117C4C7-4F3A-4B1C-96F4-4937A4AB8CC4}"/>
              </a:ext>
            </a:extLst>
          </p:cNvPr>
          <p:cNvGrpSpPr/>
          <p:nvPr/>
        </p:nvGrpSpPr>
        <p:grpSpPr>
          <a:xfrm>
            <a:off x="10657525" y="4423359"/>
            <a:ext cx="196730" cy="267065"/>
            <a:chOff x="8030296" y="4263766"/>
            <a:chExt cx="196730" cy="267065"/>
          </a:xfrm>
        </p:grpSpPr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59D22E6C-6B3B-46F8-A004-03D8796A8685}"/>
                </a:ext>
              </a:extLst>
            </p:cNvPr>
            <p:cNvSpPr/>
            <p:nvPr/>
          </p:nvSpPr>
          <p:spPr>
            <a:xfrm>
              <a:off x="8030296" y="4263766"/>
              <a:ext cx="196730" cy="2670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4" name="フリーフォーム 68">
              <a:extLst>
                <a:ext uri="{FF2B5EF4-FFF2-40B4-BE49-F238E27FC236}">
                  <a16:creationId xmlns:a16="http://schemas.microsoft.com/office/drawing/2014/main" id="{5FB28B4B-C034-4E48-8BE0-D01A0347F15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069520" y="4296710"/>
              <a:ext cx="157506" cy="180092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0000" tIns="540000" rIns="90000" bIns="5400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tabLst/>
              </a:pPr>
              <a:endParaRPr kumimoji="0" lang="en-GB" sz="1050" b="0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明朝" pitchFamily="18" charset="-128"/>
                <a:cs typeface="Arial" charset="0"/>
              </a:endParaRPr>
            </a:p>
          </p:txBody>
        </p:sp>
      </p:grpSp>
      <p:grpSp>
        <p:nvGrpSpPr>
          <p:cNvPr id="265" name="グループ化 264">
            <a:extLst>
              <a:ext uri="{FF2B5EF4-FFF2-40B4-BE49-F238E27FC236}">
                <a16:creationId xmlns:a16="http://schemas.microsoft.com/office/drawing/2014/main" id="{9A4C175A-FCDE-4A50-99B5-1D217F7617F7}"/>
              </a:ext>
            </a:extLst>
          </p:cNvPr>
          <p:cNvGrpSpPr/>
          <p:nvPr/>
        </p:nvGrpSpPr>
        <p:grpSpPr>
          <a:xfrm>
            <a:off x="10931244" y="3938614"/>
            <a:ext cx="196730" cy="267065"/>
            <a:chOff x="8030296" y="4263766"/>
            <a:chExt cx="196730" cy="267065"/>
          </a:xfrm>
        </p:grpSpPr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75F4B629-8E96-49E9-BF3C-B9505888FC32}"/>
                </a:ext>
              </a:extLst>
            </p:cNvPr>
            <p:cNvSpPr/>
            <p:nvPr/>
          </p:nvSpPr>
          <p:spPr>
            <a:xfrm>
              <a:off x="8030296" y="4263766"/>
              <a:ext cx="196730" cy="2670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7" name="フリーフォーム 68">
              <a:extLst>
                <a:ext uri="{FF2B5EF4-FFF2-40B4-BE49-F238E27FC236}">
                  <a16:creationId xmlns:a16="http://schemas.microsoft.com/office/drawing/2014/main" id="{3148A8C3-AC64-4BEC-9987-89744A1BEAD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069520" y="4296710"/>
              <a:ext cx="157506" cy="180092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0000" tIns="0" rIns="90000" bIns="75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0">
                <a:lnSpc>
                  <a:spcPts val="11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tabLst/>
              </a:pPr>
              <a:br>
                <a:rPr kumimoji="0" lang="en-GB" sz="1050" b="0" i="0" u="none" strike="noStrike" cap="none" normalizeH="0" baseline="0" dirty="0">
                  <a:ln>
                    <a:noFill/>
                  </a:ln>
                  <a:effectLst/>
                  <a:latin typeface="+mj-lt"/>
                  <a:ea typeface="ＭＳ Ｐ明朝" pitchFamily="18" charset="-128"/>
                  <a:cs typeface="Arial" charset="0"/>
                </a:rPr>
              </a:br>
              <a:r>
                <a:rPr kumimoji="0" lang="en-GB" sz="1050" b="0" i="0" u="none" strike="noStrike" cap="none" normalizeH="0" baseline="0" dirty="0">
                  <a:ln>
                    <a:noFill/>
                  </a:ln>
                  <a:effectLst/>
                  <a:latin typeface="+mj-lt"/>
                  <a:ea typeface="ＭＳ Ｐ明朝" pitchFamily="18" charset="-128"/>
                  <a:cs typeface="Arial" charset="0"/>
                </a:rPr>
                <a:t>Other</a:t>
              </a:r>
              <a:r>
                <a:rPr kumimoji="0" lang="ja-JP" altLang="en-US" sz="1050" dirty="0">
                  <a:latin typeface="+mj-lt"/>
                  <a:ea typeface="ＭＳ Ｐ明朝" pitchFamily="18" charset="-128"/>
                  <a:cs typeface="Arial" charset="0"/>
                </a:rPr>
                <a:t> </a:t>
              </a:r>
              <a:r>
                <a:rPr kumimoji="0" lang="en-US" altLang="ja-JP" sz="1050" b="0" i="0" u="none" strike="noStrike" cap="none" normalizeH="0" baseline="0" dirty="0">
                  <a:ln>
                    <a:noFill/>
                  </a:ln>
                  <a:effectLst/>
                  <a:latin typeface="+mj-lt"/>
                  <a:ea typeface="ＭＳ Ｐ明朝" pitchFamily="18" charset="-128"/>
                  <a:cs typeface="Arial" charset="0"/>
                </a:rPr>
                <a:t>Trade</a:t>
              </a:r>
              <a:endParaRPr kumimoji="0" lang="en-GB" sz="1050" b="0" i="0" u="none" strike="noStrike" cap="none" normalizeH="0" baseline="0" dirty="0">
                <a:ln>
                  <a:noFill/>
                </a:ln>
                <a:effectLst/>
                <a:latin typeface="+mj-lt"/>
                <a:ea typeface="ＭＳ Ｐ明朝" pitchFamily="18" charset="-128"/>
                <a:cs typeface="Arial" charset="0"/>
              </a:endParaRPr>
            </a:p>
          </p:txBody>
        </p:sp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274455A1-C5CC-4ED4-8B38-3D46434B2538}"/>
              </a:ext>
            </a:extLst>
          </p:cNvPr>
          <p:cNvCxnSpPr>
            <a:cxnSpLocks/>
            <a:endCxn id="266" idx="2"/>
          </p:cNvCxnSpPr>
          <p:nvPr/>
        </p:nvCxnSpPr>
        <p:spPr>
          <a:xfrm flipV="1">
            <a:off x="10885539" y="4205679"/>
            <a:ext cx="144070" cy="22410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四角形: メモ 188">
            <a:extLst>
              <a:ext uri="{FF2B5EF4-FFF2-40B4-BE49-F238E27FC236}">
                <a16:creationId xmlns:a16="http://schemas.microsoft.com/office/drawing/2014/main" id="{E7527C75-00E8-4346-ACA5-C654D3871886}"/>
              </a:ext>
            </a:extLst>
          </p:cNvPr>
          <p:cNvSpPr/>
          <p:nvPr/>
        </p:nvSpPr>
        <p:spPr>
          <a:xfrm>
            <a:off x="11296534" y="5100376"/>
            <a:ext cx="530544" cy="316527"/>
          </a:xfrm>
          <a:prstGeom prst="foldedCorner">
            <a:avLst>
              <a:gd name="adj" fmla="val 25202"/>
            </a:avLst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0" rtlCol="0" anchor="ctr"/>
          <a:lstStyle/>
          <a:p>
            <a:pPr algn="ctr">
              <a:lnSpc>
                <a:spcPts val="1100"/>
              </a:lnSpc>
            </a:pPr>
            <a:r>
              <a:rPr kumimoji="1" lang="en-US" altLang="ja-JP" sz="1050" dirty="0">
                <a:solidFill>
                  <a:schemeClr val="tx1"/>
                </a:solidFill>
              </a:rPr>
              <a:t>Clear</a:t>
            </a:r>
            <a:br>
              <a:rPr kumimoji="1" lang="en-US" altLang="ja-JP" sz="1050" dirty="0">
                <a:solidFill>
                  <a:schemeClr val="tx1"/>
                </a:solidFill>
              </a:rPr>
            </a:br>
            <a:r>
              <a:rPr kumimoji="1" lang="en-US" altLang="ja-JP" sz="1050" dirty="0">
                <a:solidFill>
                  <a:schemeClr val="tx1"/>
                </a:solidFill>
              </a:rPr>
              <a:t> Rule</a:t>
            </a:r>
          </a:p>
        </p:txBody>
      </p:sp>
      <p:sp>
        <p:nvSpPr>
          <p:cNvPr id="192" name="フローチャート: 結合子 191">
            <a:extLst>
              <a:ext uri="{FF2B5EF4-FFF2-40B4-BE49-F238E27FC236}">
                <a16:creationId xmlns:a16="http://schemas.microsoft.com/office/drawing/2014/main" id="{9ECF6095-FC1B-40E6-BBBB-491310C7FFEC}"/>
              </a:ext>
            </a:extLst>
          </p:cNvPr>
          <p:cNvSpPr/>
          <p:nvPr/>
        </p:nvSpPr>
        <p:spPr>
          <a:xfrm>
            <a:off x="11100657" y="5372172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E</a:t>
            </a:r>
            <a:r>
              <a:rPr lang="en-US" altLang="ja-JP" sz="1200" dirty="0">
                <a:solidFill>
                  <a:schemeClr val="tx1"/>
                </a:solidFill>
              </a:rPr>
              <a:t>-1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8" name="フローチャート: 結合子 187">
            <a:extLst>
              <a:ext uri="{FF2B5EF4-FFF2-40B4-BE49-F238E27FC236}">
                <a16:creationId xmlns:a16="http://schemas.microsoft.com/office/drawing/2014/main" id="{98054CA3-6801-4535-8439-A35E4A3234C5}"/>
              </a:ext>
            </a:extLst>
          </p:cNvPr>
          <p:cNvSpPr/>
          <p:nvPr/>
        </p:nvSpPr>
        <p:spPr>
          <a:xfrm>
            <a:off x="7003819" y="2342353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D-</a:t>
            </a:r>
            <a:r>
              <a:rPr lang="en-US" altLang="ja-JP" sz="1200" dirty="0">
                <a:solidFill>
                  <a:schemeClr val="tx1"/>
                </a:solidFill>
              </a:rPr>
              <a:t>3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99" name="直線矢印コネクタ 198">
            <a:extLst>
              <a:ext uri="{FF2B5EF4-FFF2-40B4-BE49-F238E27FC236}">
                <a16:creationId xmlns:a16="http://schemas.microsoft.com/office/drawing/2014/main" id="{1A86933A-F718-41CB-810A-4233F811A133}"/>
              </a:ext>
            </a:extLst>
          </p:cNvPr>
          <p:cNvCxnSpPr>
            <a:cxnSpLocks/>
            <a:stCxn id="55" idx="3"/>
            <a:endCxn id="87" idx="1"/>
          </p:cNvCxnSpPr>
          <p:nvPr/>
        </p:nvCxnSpPr>
        <p:spPr>
          <a:xfrm>
            <a:off x="6378202" y="3281721"/>
            <a:ext cx="552471" cy="153347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四角形: 角を丸くする 199">
            <a:extLst>
              <a:ext uri="{FF2B5EF4-FFF2-40B4-BE49-F238E27FC236}">
                <a16:creationId xmlns:a16="http://schemas.microsoft.com/office/drawing/2014/main" id="{DDE090AD-6434-4888-A0D6-93415008A850}"/>
              </a:ext>
            </a:extLst>
          </p:cNvPr>
          <p:cNvSpPr/>
          <p:nvPr/>
        </p:nvSpPr>
        <p:spPr>
          <a:xfrm>
            <a:off x="10758939" y="1876640"/>
            <a:ext cx="1027798" cy="269770"/>
          </a:xfrm>
          <a:prstGeom prst="round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>
              <a:lnSpc>
                <a:spcPts val="1400"/>
              </a:lnSpc>
            </a:pPr>
            <a:r>
              <a:rPr lang="en-US" altLang="ja-JP" sz="1200" dirty="0">
                <a:solidFill>
                  <a:schemeClr val="tx1"/>
                </a:solidFill>
              </a:rPr>
              <a:t>GD4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BKG Approval</a:t>
            </a:r>
          </a:p>
        </p:txBody>
      </p:sp>
      <p:sp>
        <p:nvSpPr>
          <p:cNvPr id="170" name="フローチャート: 結合子 169">
            <a:extLst>
              <a:ext uri="{FF2B5EF4-FFF2-40B4-BE49-F238E27FC236}">
                <a16:creationId xmlns:a16="http://schemas.microsoft.com/office/drawing/2014/main" id="{15248B2E-0AB3-4CEF-BE91-0A95E9984FCB}"/>
              </a:ext>
            </a:extLst>
          </p:cNvPr>
          <p:cNvSpPr/>
          <p:nvPr/>
        </p:nvSpPr>
        <p:spPr>
          <a:xfrm>
            <a:off x="2690299" y="3061334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F-1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8BAF6C41-E163-4115-B6C0-15B399FBC066}"/>
              </a:ext>
            </a:extLst>
          </p:cNvPr>
          <p:cNvSpPr/>
          <p:nvPr/>
        </p:nvSpPr>
        <p:spPr>
          <a:xfrm>
            <a:off x="2652974" y="3333360"/>
            <a:ext cx="419591" cy="14456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000"/>
              </a:lnSpc>
            </a:pPr>
            <a:r>
              <a:rPr lang="en-US" altLang="ja-JP" sz="1050" dirty="0">
                <a:solidFill>
                  <a:schemeClr val="tx1"/>
                </a:solidFill>
              </a:rPr>
              <a:t>Award</a:t>
            </a:r>
            <a:endParaRPr lang="en-SG" sz="1050" dirty="0">
              <a:solidFill>
                <a:schemeClr val="tx1"/>
              </a:solidFill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67544DA4-6721-45D3-B3A5-5005CEC0DAE6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CB3E6370-C5C8-4A1E-A9BC-60AD2071322E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OCN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BE9F6D72-A014-4565-9B72-14E5E478A3AC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6" name="フローチャート: 結合子 145">
            <a:extLst>
              <a:ext uri="{FF2B5EF4-FFF2-40B4-BE49-F238E27FC236}">
                <a16:creationId xmlns:a16="http://schemas.microsoft.com/office/drawing/2014/main" id="{9552E94E-6D8F-4074-A420-EBB838CCA4A2}"/>
              </a:ext>
            </a:extLst>
          </p:cNvPr>
          <p:cNvSpPr/>
          <p:nvPr/>
        </p:nvSpPr>
        <p:spPr>
          <a:xfrm>
            <a:off x="8696421" y="2342353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D-1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9" name="フローチャート: 結合子 148">
            <a:extLst>
              <a:ext uri="{FF2B5EF4-FFF2-40B4-BE49-F238E27FC236}">
                <a16:creationId xmlns:a16="http://schemas.microsoft.com/office/drawing/2014/main" id="{01EC5602-4D8E-4723-994B-40554F99C573}"/>
              </a:ext>
            </a:extLst>
          </p:cNvPr>
          <p:cNvSpPr/>
          <p:nvPr/>
        </p:nvSpPr>
        <p:spPr>
          <a:xfrm>
            <a:off x="3725298" y="2217335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B-1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0" name="フローチャート: 結合子 149">
            <a:extLst>
              <a:ext uri="{FF2B5EF4-FFF2-40B4-BE49-F238E27FC236}">
                <a16:creationId xmlns:a16="http://schemas.microsoft.com/office/drawing/2014/main" id="{BE5C3ECE-A598-49FE-A891-976235F04000}"/>
              </a:ext>
            </a:extLst>
          </p:cNvPr>
          <p:cNvSpPr/>
          <p:nvPr/>
        </p:nvSpPr>
        <p:spPr>
          <a:xfrm>
            <a:off x="5503079" y="2129431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C-3</a:t>
            </a:r>
          </a:p>
        </p:txBody>
      </p:sp>
      <p:sp>
        <p:nvSpPr>
          <p:cNvPr id="162" name="フローチャート: 結合子 161">
            <a:extLst>
              <a:ext uri="{FF2B5EF4-FFF2-40B4-BE49-F238E27FC236}">
                <a16:creationId xmlns:a16="http://schemas.microsoft.com/office/drawing/2014/main" id="{06DD8CB5-1295-4277-A8B1-FABA8C57DFEF}"/>
              </a:ext>
            </a:extLst>
          </p:cNvPr>
          <p:cNvSpPr/>
          <p:nvPr/>
        </p:nvSpPr>
        <p:spPr>
          <a:xfrm>
            <a:off x="5876647" y="2462907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C-1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22ED3118-EADF-4371-B567-4BBB0C20B83E}"/>
              </a:ext>
            </a:extLst>
          </p:cNvPr>
          <p:cNvCxnSpPr>
            <a:cxnSpLocks/>
          </p:cNvCxnSpPr>
          <p:nvPr/>
        </p:nvCxnSpPr>
        <p:spPr>
          <a:xfrm flipV="1">
            <a:off x="11468977" y="3652600"/>
            <a:ext cx="0" cy="86600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フローチャート: 結合子 163">
            <a:extLst>
              <a:ext uri="{FF2B5EF4-FFF2-40B4-BE49-F238E27FC236}">
                <a16:creationId xmlns:a16="http://schemas.microsoft.com/office/drawing/2014/main" id="{3BDB9411-4034-4B9F-BD4D-FB550FF90776}"/>
              </a:ext>
            </a:extLst>
          </p:cNvPr>
          <p:cNvSpPr/>
          <p:nvPr/>
        </p:nvSpPr>
        <p:spPr>
          <a:xfrm>
            <a:off x="11563819" y="4453292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E</a:t>
            </a:r>
            <a:r>
              <a:rPr lang="en-US" altLang="ja-JP" sz="1200" dirty="0">
                <a:solidFill>
                  <a:schemeClr val="tx1"/>
                </a:solidFill>
              </a:rPr>
              <a:t>-2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9" name="AutoShape 50">
            <a:extLst>
              <a:ext uri="{FF2B5EF4-FFF2-40B4-BE49-F238E27FC236}">
                <a16:creationId xmlns:a16="http://schemas.microsoft.com/office/drawing/2014/main" id="{F7696287-FB19-42BE-AA6A-5CDE82B59C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3339746">
            <a:off x="9333635" y="4342366"/>
            <a:ext cx="305457" cy="30858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5 w 21600"/>
              <a:gd name="T19" fmla="*/ 3162 h 21600"/>
              <a:gd name="T20" fmla="*/ 18435 w 21600"/>
              <a:gd name="T21" fmla="*/ 18438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748" y="8867"/>
                </a:moveTo>
                <a:cubicBezTo>
                  <a:pt x="16880" y="5746"/>
                  <a:pt x="14038" y="3588"/>
                  <a:pt x="10800" y="3588"/>
                </a:cubicBezTo>
                <a:cubicBezTo>
                  <a:pt x="6816" y="3588"/>
                  <a:pt x="3588" y="6816"/>
                  <a:pt x="3588" y="10800"/>
                </a:cubicBezTo>
                <a:cubicBezTo>
                  <a:pt x="3588" y="14783"/>
                  <a:pt x="6816" y="18012"/>
                  <a:pt x="10800" y="18012"/>
                </a:cubicBezTo>
                <a:cubicBezTo>
                  <a:pt x="12871" y="18012"/>
                  <a:pt x="14843" y="17120"/>
                  <a:pt x="16212" y="15565"/>
                </a:cubicBezTo>
                <a:lnTo>
                  <a:pt x="18905" y="17936"/>
                </a:lnTo>
                <a:cubicBezTo>
                  <a:pt x="16855" y="20265"/>
                  <a:pt x="13902" y="21599"/>
                  <a:pt x="10800" y="21600"/>
                </a:cubicBezTo>
                <a:cubicBezTo>
                  <a:pt x="4835" y="21600"/>
                  <a:pt x="0" y="1676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5649" y="-1"/>
                  <a:pt x="19905" y="3233"/>
                  <a:pt x="21204" y="7905"/>
                </a:cubicBezTo>
                <a:lnTo>
                  <a:pt x="23806" y="7182"/>
                </a:lnTo>
                <a:lnTo>
                  <a:pt x="20680" y="12716"/>
                </a:lnTo>
                <a:lnTo>
                  <a:pt x="15146" y="9590"/>
                </a:lnTo>
                <a:lnTo>
                  <a:pt x="17748" y="88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3" name="フローチャート: 結合子 162">
            <a:extLst>
              <a:ext uri="{FF2B5EF4-FFF2-40B4-BE49-F238E27FC236}">
                <a16:creationId xmlns:a16="http://schemas.microsoft.com/office/drawing/2014/main" id="{94FC05E5-0FD0-4357-84D8-818B4E9783E6}"/>
              </a:ext>
            </a:extLst>
          </p:cNvPr>
          <p:cNvSpPr/>
          <p:nvPr/>
        </p:nvSpPr>
        <p:spPr>
          <a:xfrm>
            <a:off x="9569188" y="4348358"/>
            <a:ext cx="36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D-2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639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E58BEAE-9E3B-4A07-A7A5-A2129D08CB8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81401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86" name="think-cell スライド" r:id="rId5" imgW="592" imgH="595" progId="TCLayout.ActiveDocument.1">
                  <p:embed/>
                </p:oleObj>
              </mc:Choice>
              <mc:Fallback>
                <p:oleObj name="think-cell スライド" r:id="rId5" imgW="592" imgH="595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E58BEAE-9E3B-4A07-A7A5-A2129D08C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" name="Google Shape;15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2500"/>
              <a:buFont typeface="Arial Black"/>
              <a:buNone/>
            </a:pPr>
            <a:r>
              <a:rPr kumimoji="1" lang="en-US" altLang="ja-JP" dirty="0"/>
              <a:t>   Digital Infrastructure for OCN</a:t>
            </a:r>
            <a:r>
              <a:rPr kumimoji="1" lang="ja-JP" altLang="en-US" dirty="0"/>
              <a:t> </a:t>
            </a:r>
            <a:r>
              <a:rPr kumimoji="1" lang="en-US" altLang="ja-JP" dirty="0"/>
              <a:t>(To</a:t>
            </a:r>
            <a:r>
              <a:rPr kumimoji="1" lang="ja-JP" altLang="en-US" dirty="0"/>
              <a:t> </a:t>
            </a:r>
            <a:r>
              <a:rPr kumimoji="1" lang="en-US" altLang="ja-JP" dirty="0"/>
              <a:t>Be)</a:t>
            </a:r>
            <a:endParaRPr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97FD6D2-E9C1-4A3E-8190-DB5EA20F4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800" dirty="0">
                <a:solidFill>
                  <a:schemeClr val="dk1"/>
                </a:solidFill>
              </a:rPr>
              <a:t>前述のビジネスプロセスの遂行を支援する基盤として、各プロジェクトでシステム構築に取り組む</a:t>
            </a:r>
            <a:endParaRPr lang="ja-JP" altLang="en-US" dirty="0"/>
          </a:p>
        </p:txBody>
      </p:sp>
      <p:sp>
        <p:nvSpPr>
          <p:cNvPr id="159" name="Google Shape;159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018462CF-A8E5-420D-A2B4-3AD904CD0C33}"/>
              </a:ext>
            </a:extLst>
          </p:cNvPr>
          <p:cNvSpPr/>
          <p:nvPr/>
        </p:nvSpPr>
        <p:spPr>
          <a:xfrm>
            <a:off x="1920269" y="6429225"/>
            <a:ext cx="5399609" cy="30148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800" dirty="0">
                <a:solidFill>
                  <a:schemeClr val="tx1"/>
                </a:solidFill>
              </a:rPr>
              <a:t>*SC: Space Controller</a:t>
            </a:r>
            <a:r>
              <a:rPr kumimoji="1" lang="ja-JP" altLang="en-US" sz="800" dirty="0">
                <a:solidFill>
                  <a:schemeClr val="tx1"/>
                </a:solidFill>
              </a:rPr>
              <a:t>　</a:t>
            </a:r>
            <a:r>
              <a:rPr kumimoji="1" lang="en-US" altLang="ja-JP" sz="800" dirty="0">
                <a:solidFill>
                  <a:schemeClr val="tx1"/>
                </a:solidFill>
              </a:rPr>
              <a:t> **FO: Frontline Office</a:t>
            </a:r>
            <a:r>
              <a:rPr kumimoji="1" lang="ja-JP" altLang="en-US" sz="800" dirty="0">
                <a:solidFill>
                  <a:schemeClr val="tx1"/>
                </a:solidFill>
              </a:rPr>
              <a:t>　</a:t>
            </a:r>
            <a:r>
              <a:rPr kumimoji="1" lang="en-US" altLang="ja-JP" sz="800" dirty="0">
                <a:solidFill>
                  <a:schemeClr val="tx1"/>
                </a:solidFill>
              </a:rPr>
              <a:t>***BOMS : Booking Overflow Management System</a:t>
            </a:r>
            <a:endParaRPr kumimoji="1" lang="ja-JP" altLang="en-US" sz="800" dirty="0">
              <a:solidFill>
                <a:schemeClr val="tx1"/>
              </a:solidFill>
            </a:endParaRPr>
          </a:p>
        </p:txBody>
      </p:sp>
      <p:sp>
        <p:nvSpPr>
          <p:cNvPr id="126" name="楕円 125">
            <a:extLst>
              <a:ext uri="{FF2B5EF4-FFF2-40B4-BE49-F238E27FC236}">
                <a16:creationId xmlns:a16="http://schemas.microsoft.com/office/drawing/2014/main" id="{05D5C458-0FC3-47A6-8BB8-A015BF0B468F}"/>
              </a:ext>
            </a:extLst>
          </p:cNvPr>
          <p:cNvSpPr>
            <a:spLocks noChangeAspect="1"/>
          </p:cNvSpPr>
          <p:nvPr/>
        </p:nvSpPr>
        <p:spPr>
          <a:xfrm>
            <a:off x="9394319" y="5229804"/>
            <a:ext cx="230400" cy="230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1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27" name="楕円 126">
            <a:extLst>
              <a:ext uri="{FF2B5EF4-FFF2-40B4-BE49-F238E27FC236}">
                <a16:creationId xmlns:a16="http://schemas.microsoft.com/office/drawing/2014/main" id="{E2BB46CA-6332-4EAC-9273-A72DFFB136F0}"/>
              </a:ext>
            </a:extLst>
          </p:cNvPr>
          <p:cNvSpPr>
            <a:spLocks noChangeAspect="1"/>
          </p:cNvSpPr>
          <p:nvPr/>
        </p:nvSpPr>
        <p:spPr>
          <a:xfrm>
            <a:off x="9394319" y="5544124"/>
            <a:ext cx="230400" cy="230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2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28" name="楕円 127">
            <a:extLst>
              <a:ext uri="{FF2B5EF4-FFF2-40B4-BE49-F238E27FC236}">
                <a16:creationId xmlns:a16="http://schemas.microsoft.com/office/drawing/2014/main" id="{F5B40A0D-B0F4-44B5-ABEA-28ED96E2AB0A}"/>
              </a:ext>
            </a:extLst>
          </p:cNvPr>
          <p:cNvSpPr>
            <a:spLocks noChangeAspect="1"/>
          </p:cNvSpPr>
          <p:nvPr/>
        </p:nvSpPr>
        <p:spPr>
          <a:xfrm>
            <a:off x="9394319" y="5868504"/>
            <a:ext cx="230400" cy="230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3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30" name="楕円 129">
            <a:extLst>
              <a:ext uri="{FF2B5EF4-FFF2-40B4-BE49-F238E27FC236}">
                <a16:creationId xmlns:a16="http://schemas.microsoft.com/office/drawing/2014/main" id="{72E34D47-5A59-40CF-8A7B-081FB13CB2F8}"/>
              </a:ext>
            </a:extLst>
          </p:cNvPr>
          <p:cNvSpPr>
            <a:spLocks noChangeAspect="1"/>
          </p:cNvSpPr>
          <p:nvPr/>
        </p:nvSpPr>
        <p:spPr>
          <a:xfrm>
            <a:off x="9394319" y="6189980"/>
            <a:ext cx="230400" cy="230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4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3D3EC091-9C4C-457C-A6EA-0FC4AD0EEDAA}"/>
              </a:ext>
            </a:extLst>
          </p:cNvPr>
          <p:cNvSpPr/>
          <p:nvPr/>
        </p:nvSpPr>
        <p:spPr>
          <a:xfrm>
            <a:off x="9609192" y="5184908"/>
            <a:ext cx="2056290" cy="29946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rtlCol="0" anchor="ctr"/>
          <a:lstStyle/>
          <a:p>
            <a:pPr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AP Scheme Enhancement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D7869C16-9483-49DF-8742-BDDA38B63008}"/>
              </a:ext>
            </a:extLst>
          </p:cNvPr>
          <p:cNvSpPr/>
          <p:nvPr/>
        </p:nvSpPr>
        <p:spPr>
          <a:xfrm>
            <a:off x="9609192" y="5499229"/>
            <a:ext cx="983647" cy="29946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rtlCol="0" anchor="ctr"/>
          <a:lstStyle/>
          <a:p>
            <a:pPr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Decision Making Support</a:t>
            </a:r>
            <a:r>
              <a:rPr lang="ja-JP" altLang="en-US" sz="1100" dirty="0">
                <a:solidFill>
                  <a:schemeClr val="tx1"/>
                </a:solidFill>
              </a:rPr>
              <a:t> </a:t>
            </a:r>
            <a:r>
              <a:rPr kumimoji="1" lang="en-US" altLang="ja-JP" sz="1100" dirty="0">
                <a:solidFill>
                  <a:schemeClr val="tx1"/>
                </a:solidFill>
              </a:rPr>
              <a:t>(SNOW)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3B2EE38-3AC7-4DB7-B089-A1EF734CBA75}"/>
              </a:ext>
            </a:extLst>
          </p:cNvPr>
          <p:cNvSpPr/>
          <p:nvPr/>
        </p:nvSpPr>
        <p:spPr>
          <a:xfrm>
            <a:off x="9609192" y="5823609"/>
            <a:ext cx="791873" cy="29946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rtlCol="0" anchor="ctr"/>
          <a:lstStyle/>
          <a:p>
            <a:pPr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BKG FCST, Dynamic Pricing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54D5375C-B9DF-4CA5-A2A0-38BBA1C244E3}"/>
              </a:ext>
            </a:extLst>
          </p:cNvPr>
          <p:cNvSpPr/>
          <p:nvPr/>
        </p:nvSpPr>
        <p:spPr>
          <a:xfrm>
            <a:off x="9609192" y="6145085"/>
            <a:ext cx="791873" cy="29946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rtlCol="0" anchor="ctr"/>
          <a:lstStyle/>
          <a:p>
            <a:pPr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BOMS***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FAB2FB6-851C-4F6D-B2A5-CEFB1DBF483D}"/>
              </a:ext>
            </a:extLst>
          </p:cNvPr>
          <p:cNvSpPr/>
          <p:nvPr/>
        </p:nvSpPr>
        <p:spPr>
          <a:xfrm>
            <a:off x="9238770" y="5068336"/>
            <a:ext cx="2682562" cy="1462312"/>
          </a:xfrm>
          <a:prstGeom prst="rect">
            <a:avLst/>
          </a:prstGeom>
          <a:noFill/>
          <a:ln w="31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9BBAF704-EF0E-4FE7-A88E-23BC4DB808EF}"/>
              </a:ext>
            </a:extLst>
          </p:cNvPr>
          <p:cNvSpPr/>
          <p:nvPr/>
        </p:nvSpPr>
        <p:spPr>
          <a:xfrm>
            <a:off x="9396411" y="4892599"/>
            <a:ext cx="1041235" cy="2994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b="1" i="1" u="sng" dirty="0">
                <a:solidFill>
                  <a:schemeClr val="tx1"/>
                </a:solidFill>
              </a:rPr>
              <a:t>Each Project</a:t>
            </a:r>
            <a:endParaRPr kumimoji="1" lang="ja-JP" altLang="en-US" sz="1100" b="1" i="1" u="sng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88E81FF-E3A2-43C9-9B07-CC7E755A41B0}"/>
              </a:ext>
            </a:extLst>
          </p:cNvPr>
          <p:cNvSpPr/>
          <p:nvPr/>
        </p:nvSpPr>
        <p:spPr>
          <a:xfrm>
            <a:off x="4501381" y="2420423"/>
            <a:ext cx="1825664" cy="821195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Google Shape;175;p4">
            <a:extLst>
              <a:ext uri="{FF2B5EF4-FFF2-40B4-BE49-F238E27FC236}">
                <a16:creationId xmlns:a16="http://schemas.microsoft.com/office/drawing/2014/main" id="{45284259-B8C8-4D3A-9EDD-98694139DC73}"/>
              </a:ext>
            </a:extLst>
          </p:cNvPr>
          <p:cNvSpPr/>
          <p:nvPr/>
        </p:nvSpPr>
        <p:spPr>
          <a:xfrm>
            <a:off x="1372530" y="5552265"/>
            <a:ext cx="1187995" cy="435600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Historical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data (actual)</a:t>
            </a:r>
            <a:endParaRPr kumimoji="1" lang="en-US" altLang="ja-JP" sz="1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Google Shape;175;p4">
            <a:extLst>
              <a:ext uri="{FF2B5EF4-FFF2-40B4-BE49-F238E27FC236}">
                <a16:creationId xmlns:a16="http://schemas.microsoft.com/office/drawing/2014/main" id="{5DEFC0AF-8B22-462E-BCC8-2F6FCC4910D8}"/>
              </a:ext>
            </a:extLst>
          </p:cNvPr>
          <p:cNvSpPr/>
          <p:nvPr/>
        </p:nvSpPr>
        <p:spPr>
          <a:xfrm>
            <a:off x="1267607" y="4281568"/>
            <a:ext cx="2740406" cy="547953"/>
          </a:xfrm>
          <a:prstGeom prst="can">
            <a:avLst>
              <a:gd name="adj" fmla="val 30938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Google </a:t>
            </a:r>
            <a:r>
              <a:rPr lang="en-US" altLang="ja-JP" sz="1000" dirty="0">
                <a:solidFill>
                  <a:schemeClr val="tx1"/>
                </a:solidFill>
              </a:rPr>
              <a:t>Workplace</a:t>
            </a:r>
            <a:br>
              <a:rPr lang="en-US" altLang="ja-JP" sz="1000" dirty="0">
                <a:solidFill>
                  <a:schemeClr val="tx1"/>
                </a:solidFill>
              </a:rPr>
            </a:br>
            <a:r>
              <a:rPr lang="en-US" altLang="ja-JP" sz="1000" dirty="0">
                <a:solidFill>
                  <a:schemeClr val="tx1"/>
                </a:solidFill>
              </a:rPr>
              <a:t>(G-Sheet)</a:t>
            </a:r>
            <a:endParaRPr kumimoji="1" sz="1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lowchart: Data 136">
            <a:extLst>
              <a:ext uri="{FF2B5EF4-FFF2-40B4-BE49-F238E27FC236}">
                <a16:creationId xmlns:a16="http://schemas.microsoft.com/office/drawing/2014/main" id="{C7564F86-1CDB-493D-B82F-048619BDA684}"/>
              </a:ext>
            </a:extLst>
          </p:cNvPr>
          <p:cNvSpPr/>
          <p:nvPr/>
        </p:nvSpPr>
        <p:spPr bwMode="auto">
          <a:xfrm>
            <a:off x="1584202" y="3978255"/>
            <a:ext cx="764653" cy="482139"/>
          </a:xfrm>
          <a:prstGeom prst="flowChartDocument">
            <a:avLst/>
          </a:prstGeom>
          <a:solidFill>
            <a:schemeClr val="accent4">
              <a:alpha val="74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00" dirty="0" err="1">
                <a:solidFill>
                  <a:schemeClr val="bg1"/>
                </a:solidFill>
              </a:rPr>
              <a:t>Recomm</a:t>
            </a:r>
            <a:br>
              <a:rPr lang="en-US" altLang="ja-JP" sz="1000" dirty="0">
                <a:solidFill>
                  <a:schemeClr val="bg1"/>
                </a:solidFill>
              </a:rPr>
            </a:br>
            <a:r>
              <a:rPr lang="en-US" altLang="ja-JP" sz="1000" dirty="0">
                <a:solidFill>
                  <a:schemeClr val="bg1"/>
                </a:solidFill>
              </a:rPr>
              <a:t>ended AP</a:t>
            </a:r>
            <a:endParaRPr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18" name="Flowchart: Data 136">
            <a:extLst>
              <a:ext uri="{FF2B5EF4-FFF2-40B4-BE49-F238E27FC236}">
                <a16:creationId xmlns:a16="http://schemas.microsoft.com/office/drawing/2014/main" id="{9F6EC2F4-026D-4B61-BA2E-51CC490EE3F6}"/>
              </a:ext>
            </a:extLst>
          </p:cNvPr>
          <p:cNvSpPr/>
          <p:nvPr/>
        </p:nvSpPr>
        <p:spPr bwMode="auto">
          <a:xfrm>
            <a:off x="2954751" y="3978255"/>
            <a:ext cx="764653" cy="482139"/>
          </a:xfrm>
          <a:prstGeom prst="flowChartDocument">
            <a:avLst/>
          </a:prstGeom>
          <a:solidFill>
            <a:schemeClr val="accent4">
              <a:alpha val="74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00" dirty="0">
                <a:solidFill>
                  <a:srgbClr val="FFFFFF"/>
                </a:solidFill>
              </a:rPr>
              <a:t>Finalized</a:t>
            </a:r>
            <a:br>
              <a:rPr lang="en-US" altLang="ja-JP" sz="1000" dirty="0">
                <a:solidFill>
                  <a:srgbClr val="FFFFFF"/>
                </a:solidFill>
              </a:rPr>
            </a:br>
            <a:r>
              <a:rPr lang="en-US" altLang="ja-JP" sz="1000" dirty="0">
                <a:solidFill>
                  <a:srgbClr val="FFFFFF"/>
                </a:solidFill>
              </a:rPr>
              <a:t>AP</a:t>
            </a:r>
            <a:endParaRPr lang="ja-JP" altLang="en-US" sz="1000" dirty="0">
              <a:solidFill>
                <a:srgbClr val="FFFFFF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F8F4355-838C-40E9-A86B-E612177FD7BE}"/>
              </a:ext>
            </a:extLst>
          </p:cNvPr>
          <p:cNvCxnSpPr>
            <a:cxnSpLocks/>
            <a:stCxn id="9" idx="1"/>
            <a:endCxn id="11" idx="2"/>
          </p:cNvCxnSpPr>
          <p:nvPr/>
        </p:nvCxnSpPr>
        <p:spPr>
          <a:xfrm flipV="1">
            <a:off x="1966528" y="4428519"/>
            <a:ext cx="1" cy="112374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B38C5C8-CA39-4648-844F-7E64B0323C04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966529" y="3198203"/>
            <a:ext cx="559816" cy="78005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4A84853-5B18-4A93-9ED2-4F6C3563B2A6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2721084" y="3198204"/>
            <a:ext cx="615994" cy="78005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oogle Shape;175;p4">
            <a:extLst>
              <a:ext uri="{FF2B5EF4-FFF2-40B4-BE49-F238E27FC236}">
                <a16:creationId xmlns:a16="http://schemas.microsoft.com/office/drawing/2014/main" id="{139A81FE-830F-4C48-B252-C725D2A0831F}"/>
              </a:ext>
            </a:extLst>
          </p:cNvPr>
          <p:cNvSpPr/>
          <p:nvPr/>
        </p:nvSpPr>
        <p:spPr>
          <a:xfrm>
            <a:off x="4438526" y="4281568"/>
            <a:ext cx="4860147" cy="547953"/>
          </a:xfrm>
          <a:prstGeom prst="can">
            <a:avLst>
              <a:gd name="adj" fmla="val 30939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40" name="Google Shape;175;p4">
            <a:extLst>
              <a:ext uri="{FF2B5EF4-FFF2-40B4-BE49-F238E27FC236}">
                <a16:creationId xmlns:a16="http://schemas.microsoft.com/office/drawing/2014/main" id="{C17CC68B-1A5C-4131-8BFC-2CA9E3D3FB73}"/>
              </a:ext>
            </a:extLst>
          </p:cNvPr>
          <p:cNvSpPr/>
          <p:nvPr/>
        </p:nvSpPr>
        <p:spPr>
          <a:xfrm>
            <a:off x="7974529" y="3807260"/>
            <a:ext cx="984831" cy="411685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BOMS</a:t>
            </a:r>
            <a:endParaRPr kumimoji="1" sz="1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BBC6106-554E-465C-A761-F05A44427CDD}"/>
              </a:ext>
            </a:extLst>
          </p:cNvPr>
          <p:cNvSpPr/>
          <p:nvPr/>
        </p:nvSpPr>
        <p:spPr>
          <a:xfrm>
            <a:off x="3461855" y="1416317"/>
            <a:ext cx="1555113" cy="36235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000" dirty="0">
                <a:solidFill>
                  <a:schemeClr val="tx1"/>
                </a:solidFill>
              </a:rPr>
              <a:t>1 month before ETA, etc.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6" name="矢印: 上下 65">
            <a:extLst>
              <a:ext uri="{FF2B5EF4-FFF2-40B4-BE49-F238E27FC236}">
                <a16:creationId xmlns:a16="http://schemas.microsoft.com/office/drawing/2014/main" id="{60F4D36F-61A9-48D7-9828-1A84B6625CBA}"/>
              </a:ext>
            </a:extLst>
          </p:cNvPr>
          <p:cNvSpPr/>
          <p:nvPr/>
        </p:nvSpPr>
        <p:spPr>
          <a:xfrm>
            <a:off x="8374023" y="4162805"/>
            <a:ext cx="204738" cy="184050"/>
          </a:xfrm>
          <a:prstGeom prst="upDownArrow">
            <a:avLst>
              <a:gd name="adj1" fmla="val 43068"/>
              <a:gd name="adj2" fmla="val 36600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276CBCFA-4C2B-410C-9B4B-7DED4103D719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8466944" y="3149929"/>
            <a:ext cx="1" cy="657331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矢印: 五方向 68">
            <a:extLst>
              <a:ext uri="{FF2B5EF4-FFF2-40B4-BE49-F238E27FC236}">
                <a16:creationId xmlns:a16="http://schemas.microsoft.com/office/drawing/2014/main" id="{1ACF0F0E-E288-4EDA-A111-E009D92E10B9}"/>
              </a:ext>
            </a:extLst>
          </p:cNvPr>
          <p:cNvSpPr/>
          <p:nvPr/>
        </p:nvSpPr>
        <p:spPr>
          <a:xfrm>
            <a:off x="1212310" y="1743824"/>
            <a:ext cx="2997143" cy="203556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100" dirty="0">
                <a:solidFill>
                  <a:schemeClr val="tx1"/>
                </a:solidFill>
              </a:rPr>
              <a:t>AP</a:t>
            </a:r>
            <a:r>
              <a:rPr lang="ja-JP" altLang="en-US" sz="1100" dirty="0">
                <a:solidFill>
                  <a:schemeClr val="tx1"/>
                </a:solidFill>
              </a:rPr>
              <a:t> </a:t>
            </a:r>
            <a:r>
              <a:rPr lang="en-US" altLang="ja-JP" sz="1100" dirty="0">
                <a:solidFill>
                  <a:schemeClr val="tx1"/>
                </a:solidFill>
              </a:rPr>
              <a:t>Preparation/Creation</a:t>
            </a:r>
            <a:endParaRPr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矢印: 五方向 78">
            <a:extLst>
              <a:ext uri="{FF2B5EF4-FFF2-40B4-BE49-F238E27FC236}">
                <a16:creationId xmlns:a16="http://schemas.microsoft.com/office/drawing/2014/main" id="{C456DE06-4FF7-4BF9-89AA-0F27F169617D}"/>
              </a:ext>
            </a:extLst>
          </p:cNvPr>
          <p:cNvSpPr/>
          <p:nvPr/>
        </p:nvSpPr>
        <p:spPr>
          <a:xfrm>
            <a:off x="4273941" y="1743824"/>
            <a:ext cx="3292937" cy="203556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100" dirty="0">
                <a:solidFill>
                  <a:schemeClr val="tx1"/>
                </a:solidFill>
              </a:rPr>
              <a:t>Space Control Activity</a:t>
            </a:r>
            <a:endParaRPr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80" name="矢印: 五方向 79">
            <a:extLst>
              <a:ext uri="{FF2B5EF4-FFF2-40B4-BE49-F238E27FC236}">
                <a16:creationId xmlns:a16="http://schemas.microsoft.com/office/drawing/2014/main" id="{63D88705-6C60-4DD2-A88F-77F6BE3DDB99}"/>
              </a:ext>
            </a:extLst>
          </p:cNvPr>
          <p:cNvSpPr/>
          <p:nvPr/>
        </p:nvSpPr>
        <p:spPr>
          <a:xfrm>
            <a:off x="7629081" y="1743824"/>
            <a:ext cx="1836462" cy="203556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100" dirty="0">
                <a:solidFill>
                  <a:schemeClr val="tx1"/>
                </a:solidFill>
              </a:rPr>
              <a:t>Last Minute</a:t>
            </a:r>
            <a:r>
              <a:rPr lang="ja-JP" altLang="en-US" sz="1100" dirty="0">
                <a:solidFill>
                  <a:schemeClr val="tx1"/>
                </a:solidFill>
              </a:rPr>
              <a:t> </a:t>
            </a:r>
            <a:r>
              <a:rPr lang="en-US" altLang="ja-JP" sz="1100" dirty="0">
                <a:solidFill>
                  <a:schemeClr val="tx1"/>
                </a:solidFill>
              </a:rPr>
              <a:t>Adjustment</a:t>
            </a:r>
            <a:endParaRPr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252903A5-E036-40D6-BAAE-6FD2C74108A5}"/>
              </a:ext>
            </a:extLst>
          </p:cNvPr>
          <p:cNvSpPr/>
          <p:nvPr/>
        </p:nvSpPr>
        <p:spPr>
          <a:xfrm>
            <a:off x="6819281" y="1416317"/>
            <a:ext cx="1555113" cy="36235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10 days before ETA, etc.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DF01F268-2BCC-4865-8233-BDEB0D4ACDD4}"/>
              </a:ext>
            </a:extLst>
          </p:cNvPr>
          <p:cNvSpPr/>
          <p:nvPr/>
        </p:nvSpPr>
        <p:spPr>
          <a:xfrm>
            <a:off x="9146813" y="1416317"/>
            <a:ext cx="659520" cy="36235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000" dirty="0">
                <a:solidFill>
                  <a:schemeClr val="tx1"/>
                </a:solidFill>
              </a:rPr>
              <a:t>ETA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▼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E79FC097-853A-44FC-B920-E0A0B8C606FF}"/>
              </a:ext>
            </a:extLst>
          </p:cNvPr>
          <p:cNvCxnSpPr>
            <a:cxnSpLocks/>
            <a:stCxn id="18" idx="2"/>
            <a:endCxn id="35" idx="2"/>
          </p:cNvCxnSpPr>
          <p:nvPr/>
        </p:nvCxnSpPr>
        <p:spPr>
          <a:xfrm rot="16200000" flipH="1">
            <a:off x="3824289" y="3941308"/>
            <a:ext cx="127026" cy="1101448"/>
          </a:xfrm>
          <a:prstGeom prst="bentConnector2">
            <a:avLst/>
          </a:prstGeom>
          <a:ln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3B3ADA5F-4080-47C1-B4E1-DE0BE1CE8EDA}"/>
              </a:ext>
            </a:extLst>
          </p:cNvPr>
          <p:cNvCxnSpPr>
            <a:cxnSpLocks/>
          </p:cNvCxnSpPr>
          <p:nvPr/>
        </p:nvCxnSpPr>
        <p:spPr>
          <a:xfrm flipV="1">
            <a:off x="5025024" y="4835077"/>
            <a:ext cx="0" cy="60315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矢印コネクタ 105">
            <a:extLst>
              <a:ext uri="{FF2B5EF4-FFF2-40B4-BE49-F238E27FC236}">
                <a16:creationId xmlns:a16="http://schemas.microsoft.com/office/drawing/2014/main" id="{A5C50900-51B7-4BA0-9116-1A2554C5B4C8}"/>
              </a:ext>
            </a:extLst>
          </p:cNvPr>
          <p:cNvCxnSpPr>
            <a:cxnSpLocks/>
            <a:stCxn id="93" idx="1"/>
          </p:cNvCxnSpPr>
          <p:nvPr/>
        </p:nvCxnSpPr>
        <p:spPr>
          <a:xfrm flipH="1" flipV="1">
            <a:off x="6982404" y="4856920"/>
            <a:ext cx="1" cy="91336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矢印: 五方向 90">
            <a:extLst>
              <a:ext uri="{FF2B5EF4-FFF2-40B4-BE49-F238E27FC236}">
                <a16:creationId xmlns:a16="http://schemas.microsoft.com/office/drawing/2014/main" id="{82930650-3524-487E-BE15-219B2B38C4FB}"/>
              </a:ext>
            </a:extLst>
          </p:cNvPr>
          <p:cNvSpPr/>
          <p:nvPr/>
        </p:nvSpPr>
        <p:spPr>
          <a:xfrm>
            <a:off x="6549940" y="2306735"/>
            <a:ext cx="783880" cy="380640"/>
          </a:xfrm>
          <a:prstGeom prst="homePlate">
            <a:avLst>
              <a:gd name="adj" fmla="val 24352"/>
            </a:avLst>
          </a:prstGeom>
          <a:solidFill>
            <a:schemeClr val="accent4">
              <a:alpha val="4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Additional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Sales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92" name="矢印: 五方向 91">
            <a:extLst>
              <a:ext uri="{FF2B5EF4-FFF2-40B4-BE49-F238E27FC236}">
                <a16:creationId xmlns:a16="http://schemas.microsoft.com/office/drawing/2014/main" id="{4478C869-2AB5-4B4B-BC11-F9EBC82AAD70}"/>
              </a:ext>
            </a:extLst>
          </p:cNvPr>
          <p:cNvSpPr/>
          <p:nvPr/>
        </p:nvSpPr>
        <p:spPr>
          <a:xfrm>
            <a:off x="6549940" y="2810594"/>
            <a:ext cx="783880" cy="380640"/>
          </a:xfrm>
          <a:prstGeom prst="homePlate">
            <a:avLst>
              <a:gd name="adj" fmla="val 21502"/>
            </a:avLst>
          </a:prstGeom>
          <a:solidFill>
            <a:schemeClr val="accent4">
              <a:alpha val="4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Dynamic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Pricing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7BA6DD50-356D-494A-8F6F-CB94D6D2C9D3}"/>
              </a:ext>
            </a:extLst>
          </p:cNvPr>
          <p:cNvSpPr/>
          <p:nvPr/>
        </p:nvSpPr>
        <p:spPr>
          <a:xfrm>
            <a:off x="6623574" y="3231980"/>
            <a:ext cx="695654" cy="23634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... </a:t>
            </a:r>
            <a:r>
              <a:rPr lang="en-US" altLang="ja-JP" sz="1000" dirty="0">
                <a:solidFill>
                  <a:schemeClr val="tx1"/>
                </a:solidFill>
              </a:rPr>
              <a:t>e</a:t>
            </a:r>
            <a:r>
              <a:rPr kumimoji="1" lang="en-US" altLang="ja-JP" sz="1000" dirty="0">
                <a:solidFill>
                  <a:schemeClr val="tx1"/>
                </a:solidFill>
              </a:rPr>
              <a:t>tc.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45ABF3AD-9E8A-4396-BB10-B15B260662E9}"/>
              </a:ext>
            </a:extLst>
          </p:cNvPr>
          <p:cNvSpPr/>
          <p:nvPr/>
        </p:nvSpPr>
        <p:spPr>
          <a:xfrm>
            <a:off x="6589596" y="2073282"/>
            <a:ext cx="599563" cy="16903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u="sng" dirty="0">
                <a:solidFill>
                  <a:schemeClr val="tx1"/>
                </a:solidFill>
              </a:rPr>
              <a:t>Action</a:t>
            </a:r>
            <a:endParaRPr kumimoji="1" lang="ja-JP" altLang="en-US" sz="1100" u="sng" dirty="0">
              <a:solidFill>
                <a:schemeClr val="tx1"/>
              </a:solidFill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18A1B030-E98A-4590-836F-7B4D7261674D}"/>
              </a:ext>
            </a:extLst>
          </p:cNvPr>
          <p:cNvSpPr/>
          <p:nvPr/>
        </p:nvSpPr>
        <p:spPr>
          <a:xfrm>
            <a:off x="4584791" y="2073282"/>
            <a:ext cx="1710624" cy="16903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u="sng" dirty="0">
                <a:solidFill>
                  <a:schemeClr val="tx1"/>
                </a:solidFill>
              </a:rPr>
              <a:t>Decision Making</a:t>
            </a:r>
            <a:endParaRPr kumimoji="1" lang="ja-JP" altLang="en-US" sz="1100" u="sng" dirty="0">
              <a:solidFill>
                <a:schemeClr val="tx1"/>
              </a:solidFill>
            </a:endParaRPr>
          </a:p>
        </p:txBody>
      </p:sp>
      <p:sp>
        <p:nvSpPr>
          <p:cNvPr id="115" name="矢印: 上 114">
            <a:extLst>
              <a:ext uri="{FF2B5EF4-FFF2-40B4-BE49-F238E27FC236}">
                <a16:creationId xmlns:a16="http://schemas.microsoft.com/office/drawing/2014/main" id="{2B3CE0F0-B286-409C-BAED-DB341465CCBC}"/>
              </a:ext>
            </a:extLst>
          </p:cNvPr>
          <p:cNvSpPr/>
          <p:nvPr/>
        </p:nvSpPr>
        <p:spPr>
          <a:xfrm>
            <a:off x="5281020" y="3231980"/>
            <a:ext cx="190418" cy="1114873"/>
          </a:xfrm>
          <a:prstGeom prst="upArrow">
            <a:avLst>
              <a:gd name="adj1" fmla="val 50000"/>
              <a:gd name="adj2" fmla="val 72618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2" name="Google Shape;214;p4">
            <a:extLst>
              <a:ext uri="{FF2B5EF4-FFF2-40B4-BE49-F238E27FC236}">
                <a16:creationId xmlns:a16="http://schemas.microsoft.com/office/drawing/2014/main" id="{AB82CA09-011E-420E-A4A0-BEFF930621C8}"/>
              </a:ext>
            </a:extLst>
          </p:cNvPr>
          <p:cNvSpPr/>
          <p:nvPr/>
        </p:nvSpPr>
        <p:spPr>
          <a:xfrm>
            <a:off x="8335817" y="3281775"/>
            <a:ext cx="1175393" cy="313132"/>
          </a:xfrm>
          <a:prstGeom prst="rect">
            <a:avLst/>
          </a:prstGeom>
          <a:solidFill>
            <a:schemeClr val="bg1">
              <a:alpha val="76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Final Adjustment </a:t>
            </a:r>
            <a:br>
              <a:rPr kumimoji="1" lang="en-US" altLang="ja-JP" sz="800" u="sng" dirty="0">
                <a:solidFill>
                  <a:schemeClr val="accent4"/>
                </a:solidFill>
              </a:rPr>
            </a:br>
            <a:r>
              <a:rPr kumimoji="1" lang="en-US" altLang="ja-JP" sz="800" u="sng" dirty="0">
                <a:solidFill>
                  <a:schemeClr val="accent4"/>
                </a:solidFill>
              </a:rPr>
              <a:t>based on Rules</a:t>
            </a:r>
          </a:p>
        </p:txBody>
      </p:sp>
      <p:sp>
        <p:nvSpPr>
          <p:cNvPr id="145" name="Google Shape;214;p4">
            <a:extLst>
              <a:ext uri="{FF2B5EF4-FFF2-40B4-BE49-F238E27FC236}">
                <a16:creationId xmlns:a16="http://schemas.microsoft.com/office/drawing/2014/main" id="{BD53EB1B-0B2C-45AC-ADAB-EC0E4598334E}"/>
              </a:ext>
            </a:extLst>
          </p:cNvPr>
          <p:cNvSpPr/>
          <p:nvPr/>
        </p:nvSpPr>
        <p:spPr>
          <a:xfrm>
            <a:off x="4800502" y="3620941"/>
            <a:ext cx="1175393" cy="458457"/>
          </a:xfrm>
          <a:prstGeom prst="rect">
            <a:avLst/>
          </a:prstGeom>
          <a:solidFill>
            <a:schemeClr val="bg1">
              <a:alpha val="76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Promote Data-based </a:t>
            </a:r>
            <a:br>
              <a:rPr kumimoji="1" lang="en-US" altLang="ja-JP" sz="800" u="sng" dirty="0">
                <a:solidFill>
                  <a:schemeClr val="accent4"/>
                </a:solidFill>
              </a:rPr>
            </a:br>
            <a:r>
              <a:rPr kumimoji="1" lang="en-US" altLang="ja-JP" sz="800" u="sng" dirty="0">
                <a:solidFill>
                  <a:schemeClr val="accent4"/>
                </a:solidFill>
              </a:rPr>
              <a:t>Dialogue/Decision</a:t>
            </a:r>
            <a:br>
              <a:rPr kumimoji="1" lang="en-US" altLang="ja-JP" sz="800" u="sng" dirty="0">
                <a:solidFill>
                  <a:schemeClr val="accent4"/>
                </a:solidFill>
              </a:rPr>
            </a:br>
            <a:r>
              <a:rPr kumimoji="1" lang="en-US" altLang="ja-JP" sz="800" u="sng" dirty="0">
                <a:solidFill>
                  <a:schemeClr val="accent4"/>
                </a:solidFill>
              </a:rPr>
              <a:t>Making</a:t>
            </a:r>
          </a:p>
        </p:txBody>
      </p:sp>
      <p:sp>
        <p:nvSpPr>
          <p:cNvPr id="146" name="Google Shape;214;p4">
            <a:extLst>
              <a:ext uri="{FF2B5EF4-FFF2-40B4-BE49-F238E27FC236}">
                <a16:creationId xmlns:a16="http://schemas.microsoft.com/office/drawing/2014/main" id="{7C4281D2-3627-45CC-AC67-52670F043B54}"/>
              </a:ext>
            </a:extLst>
          </p:cNvPr>
          <p:cNvSpPr/>
          <p:nvPr/>
        </p:nvSpPr>
        <p:spPr>
          <a:xfrm>
            <a:off x="6379093" y="3481479"/>
            <a:ext cx="1095274" cy="288238"/>
          </a:xfrm>
          <a:prstGeom prst="rect">
            <a:avLst/>
          </a:prstGeom>
          <a:solidFill>
            <a:schemeClr val="bg1">
              <a:alpha val="76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Clarify Action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48AE3C4-6CCF-49FA-92E4-3662762B5A88}"/>
              </a:ext>
            </a:extLst>
          </p:cNvPr>
          <p:cNvSpPr/>
          <p:nvPr/>
        </p:nvSpPr>
        <p:spPr>
          <a:xfrm>
            <a:off x="5726792" y="5370647"/>
            <a:ext cx="1209240" cy="31422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spcBef>
                <a:spcPts val="300"/>
              </a:spcBef>
            </a:pPr>
            <a:r>
              <a:rPr kumimoji="1" lang="en-US" altLang="ja-JP" sz="1000" dirty="0">
                <a:solidFill>
                  <a:schemeClr val="tx1"/>
                </a:solidFill>
              </a:rPr>
              <a:t>BKG</a:t>
            </a:r>
            <a:r>
              <a:rPr kumimoji="1" lang="ja-JP" altLang="en-US" sz="1000" dirty="0">
                <a:solidFill>
                  <a:schemeClr val="tx1"/>
                </a:solidFill>
              </a:rPr>
              <a:t> </a:t>
            </a:r>
            <a:r>
              <a:rPr kumimoji="1" lang="en-SG" altLang="ja-JP" sz="1000" dirty="0">
                <a:solidFill>
                  <a:schemeClr val="tx1"/>
                </a:solidFill>
              </a:rPr>
              <a:t>Entry &amp;</a:t>
            </a:r>
            <a:br>
              <a:rPr kumimoji="1" lang="en-US" altLang="ja-JP" sz="1000" dirty="0">
                <a:solidFill>
                  <a:schemeClr val="tx1"/>
                </a:solidFill>
              </a:rPr>
            </a:br>
            <a:r>
              <a:rPr kumimoji="1" lang="en-US" altLang="ja-JP" sz="1000" dirty="0">
                <a:solidFill>
                  <a:schemeClr val="tx1"/>
                </a:solidFill>
              </a:rPr>
              <a:t>Cancellation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84" name="Flowchart: Data 136">
            <a:extLst>
              <a:ext uri="{FF2B5EF4-FFF2-40B4-BE49-F238E27FC236}">
                <a16:creationId xmlns:a16="http://schemas.microsoft.com/office/drawing/2014/main" id="{E1993DF7-CF63-4FC1-A462-3ABCC5EBB7C9}"/>
              </a:ext>
            </a:extLst>
          </p:cNvPr>
          <p:cNvSpPr/>
          <p:nvPr/>
        </p:nvSpPr>
        <p:spPr bwMode="auto">
          <a:xfrm>
            <a:off x="6592567" y="5151853"/>
            <a:ext cx="755898" cy="482139"/>
          </a:xfrm>
          <a:prstGeom prst="flowChartDocument">
            <a:avLst/>
          </a:prstGeom>
          <a:solidFill>
            <a:schemeClr val="accent4">
              <a:alpha val="74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000" dirty="0">
                <a:solidFill>
                  <a:srgbClr val="FFFFFF"/>
                </a:solidFill>
              </a:rPr>
              <a:t>BKG</a:t>
            </a:r>
            <a:br>
              <a:rPr lang="en-US" altLang="ja-JP" sz="1000" dirty="0">
                <a:solidFill>
                  <a:srgbClr val="FFFFFF"/>
                </a:solidFill>
              </a:rPr>
            </a:br>
            <a:r>
              <a:rPr lang="en-US" altLang="ja-JP" sz="1000" dirty="0">
                <a:solidFill>
                  <a:srgbClr val="FFFFFF"/>
                </a:solidFill>
              </a:rPr>
              <a:t>FCST</a:t>
            </a:r>
            <a:endParaRPr lang="ja-JP" altLang="en-US" sz="1000" dirty="0">
              <a:solidFill>
                <a:srgbClr val="FFFFFF"/>
              </a:solidFill>
            </a:endParaRPr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556A8A98-2B03-417D-8959-298D9753B739}"/>
              </a:ext>
            </a:extLst>
          </p:cNvPr>
          <p:cNvSpPr/>
          <p:nvPr/>
        </p:nvSpPr>
        <p:spPr>
          <a:xfrm>
            <a:off x="4482153" y="5860825"/>
            <a:ext cx="1062163" cy="43844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900" dirty="0">
                <a:solidFill>
                  <a:schemeClr val="tx1"/>
                </a:solidFill>
              </a:rPr>
              <a:t>Market info/</a:t>
            </a:r>
            <a:br>
              <a:rPr kumimoji="1" lang="en-US" altLang="ja-JP" sz="900" dirty="0">
                <a:solidFill>
                  <a:schemeClr val="tx1"/>
                </a:solidFill>
              </a:rPr>
            </a:br>
            <a:r>
              <a:rPr kumimoji="1" lang="en-US" altLang="ja-JP" sz="900" dirty="0">
                <a:solidFill>
                  <a:schemeClr val="tx1"/>
                </a:solidFill>
              </a:rPr>
              <a:t>customer negotiation</a:t>
            </a:r>
            <a:br>
              <a:rPr kumimoji="1" lang="en-US" altLang="ja-JP" sz="900" dirty="0">
                <a:solidFill>
                  <a:schemeClr val="tx1"/>
                </a:solidFill>
              </a:rPr>
            </a:br>
            <a:r>
              <a:rPr kumimoji="1" lang="en-US" altLang="ja-JP" sz="900" dirty="0">
                <a:solidFill>
                  <a:schemeClr val="tx1"/>
                </a:solidFill>
              </a:rPr>
              <a:t>status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47" name="Google Shape;214;p4">
            <a:extLst>
              <a:ext uri="{FF2B5EF4-FFF2-40B4-BE49-F238E27FC236}">
                <a16:creationId xmlns:a16="http://schemas.microsoft.com/office/drawing/2014/main" id="{9D1821FD-1EB4-448B-B406-B7345F12ED01}"/>
              </a:ext>
            </a:extLst>
          </p:cNvPr>
          <p:cNvSpPr/>
          <p:nvPr/>
        </p:nvSpPr>
        <p:spPr>
          <a:xfrm>
            <a:off x="7515614" y="5137292"/>
            <a:ext cx="1105456" cy="378890"/>
          </a:xfrm>
          <a:prstGeom prst="rect">
            <a:avLst/>
          </a:prstGeom>
          <a:solidFill>
            <a:schemeClr val="bg1">
              <a:alpha val="76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Improved Utilization</a:t>
            </a:r>
            <a:br>
              <a:rPr kumimoji="1" lang="en-US" altLang="ja-JP" sz="800" u="sng" dirty="0">
                <a:solidFill>
                  <a:schemeClr val="accent4"/>
                </a:solidFill>
              </a:rPr>
            </a:br>
            <a:r>
              <a:rPr kumimoji="1" lang="en-US" altLang="ja-JP" sz="800" u="sng" dirty="0">
                <a:solidFill>
                  <a:schemeClr val="accent4"/>
                </a:solidFill>
              </a:rPr>
              <a:t> Forecast</a:t>
            </a:r>
          </a:p>
        </p:txBody>
      </p:sp>
      <p:sp>
        <p:nvSpPr>
          <p:cNvPr id="95" name="Freeform 23">
            <a:extLst>
              <a:ext uri="{FF2B5EF4-FFF2-40B4-BE49-F238E27FC236}">
                <a16:creationId xmlns:a16="http://schemas.microsoft.com/office/drawing/2014/main" id="{44062942-1CFC-4E68-94FC-2D1D4B973FB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741888" y="5457442"/>
            <a:ext cx="566274" cy="384175"/>
          </a:xfrm>
          <a:custGeom>
            <a:avLst/>
            <a:gdLst/>
            <a:ahLst/>
            <a:cxnLst>
              <a:cxn ang="0">
                <a:pos x="19" y="8"/>
              </a:cxn>
              <a:cxn ang="0">
                <a:pos x="19" y="10"/>
              </a:cxn>
              <a:cxn ang="0">
                <a:pos x="39" y="24"/>
              </a:cxn>
              <a:cxn ang="0">
                <a:pos x="30" y="20"/>
              </a:cxn>
              <a:cxn ang="0">
                <a:pos x="29" y="20"/>
              </a:cxn>
              <a:cxn ang="0">
                <a:pos x="19" y="12"/>
              </a:cxn>
              <a:cxn ang="0">
                <a:pos x="9" y="27"/>
              </a:cxn>
              <a:cxn ang="0">
                <a:pos x="7" y="33"/>
              </a:cxn>
              <a:cxn ang="0">
                <a:pos x="7" y="26"/>
              </a:cxn>
              <a:cxn ang="0">
                <a:pos x="16" y="11"/>
              </a:cxn>
              <a:cxn ang="0">
                <a:pos x="19" y="6"/>
              </a:cxn>
              <a:cxn ang="0">
                <a:pos x="22" y="10"/>
              </a:cxn>
              <a:cxn ang="0">
                <a:pos x="39" y="18"/>
              </a:cxn>
              <a:cxn ang="0">
                <a:pos x="45" y="19"/>
              </a:cxn>
              <a:cxn ang="0">
                <a:pos x="44" y="35"/>
              </a:cxn>
              <a:cxn ang="0">
                <a:pos x="2" y="2"/>
              </a:cxn>
              <a:cxn ang="0">
                <a:pos x="0" y="37"/>
              </a:cxn>
              <a:cxn ang="0">
                <a:pos x="44" y="35"/>
              </a:cxn>
              <a:cxn ang="0">
                <a:pos x="19" y="21"/>
              </a:cxn>
              <a:cxn ang="0">
                <a:pos x="13" y="23"/>
              </a:cxn>
              <a:cxn ang="0">
                <a:pos x="19" y="24"/>
              </a:cxn>
              <a:cxn ang="0">
                <a:pos x="20" y="24"/>
              </a:cxn>
              <a:cxn ang="0">
                <a:pos x="23" y="16"/>
              </a:cxn>
              <a:cxn ang="0">
                <a:pos x="30" y="9"/>
              </a:cxn>
              <a:cxn ang="0">
                <a:pos x="40" y="6"/>
              </a:cxn>
              <a:cxn ang="0">
                <a:pos x="45" y="4"/>
              </a:cxn>
              <a:cxn ang="0">
                <a:pos x="39" y="4"/>
              </a:cxn>
              <a:cxn ang="0">
                <a:pos x="29" y="7"/>
              </a:cxn>
              <a:cxn ang="0">
                <a:pos x="28" y="8"/>
              </a:cxn>
              <a:cxn ang="0">
                <a:pos x="27" y="13"/>
              </a:cxn>
              <a:cxn ang="0">
                <a:pos x="5" y="18"/>
              </a:cxn>
              <a:cxn ang="0">
                <a:pos x="8" y="22"/>
              </a:cxn>
              <a:cxn ang="0">
                <a:pos x="3" y="19"/>
              </a:cxn>
            </a:cxnLst>
            <a:rect l="0" t="0" r="r" b="b"/>
            <a:pathLst>
              <a:path w="45" h="37">
                <a:moveTo>
                  <a:pt x="21" y="9"/>
                </a:moveTo>
                <a:cubicBezTo>
                  <a:pt x="21" y="8"/>
                  <a:pt x="20" y="8"/>
                  <a:pt x="19" y="8"/>
                </a:cubicBezTo>
                <a:cubicBezTo>
                  <a:pt x="19" y="8"/>
                  <a:pt x="18" y="8"/>
                  <a:pt x="18" y="9"/>
                </a:cubicBezTo>
                <a:cubicBezTo>
                  <a:pt x="18" y="10"/>
                  <a:pt x="19" y="10"/>
                  <a:pt x="19" y="10"/>
                </a:cubicBezTo>
                <a:cubicBezTo>
                  <a:pt x="20" y="10"/>
                  <a:pt x="21" y="10"/>
                  <a:pt x="21" y="9"/>
                </a:cubicBezTo>
                <a:close/>
                <a:moveTo>
                  <a:pt x="39" y="24"/>
                </a:moveTo>
                <a:cubicBezTo>
                  <a:pt x="39" y="20"/>
                  <a:pt x="39" y="20"/>
                  <a:pt x="39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29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19" y="12"/>
                </a:cubicBezTo>
                <a:cubicBezTo>
                  <a:pt x="19" y="12"/>
                  <a:pt x="19" y="12"/>
                  <a:pt x="19" y="12"/>
                </a:cubicBezTo>
                <a:cubicBezTo>
                  <a:pt x="9" y="27"/>
                  <a:pt x="9" y="27"/>
                  <a:pt x="9" y="27"/>
                </a:cubicBezTo>
                <a:cubicBezTo>
                  <a:pt x="10" y="28"/>
                  <a:pt x="10" y="29"/>
                  <a:pt x="10" y="30"/>
                </a:cubicBezTo>
                <a:cubicBezTo>
                  <a:pt x="10" y="31"/>
                  <a:pt x="8" y="33"/>
                  <a:pt x="7" y="33"/>
                </a:cubicBezTo>
                <a:cubicBezTo>
                  <a:pt x="5" y="33"/>
                  <a:pt x="3" y="31"/>
                  <a:pt x="3" y="30"/>
                </a:cubicBezTo>
                <a:cubicBezTo>
                  <a:pt x="3" y="28"/>
                  <a:pt x="5" y="26"/>
                  <a:pt x="7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10"/>
                  <a:pt x="16" y="10"/>
                  <a:pt x="16" y="9"/>
                </a:cubicBezTo>
                <a:cubicBezTo>
                  <a:pt x="16" y="7"/>
                  <a:pt x="17" y="6"/>
                  <a:pt x="19" y="6"/>
                </a:cubicBezTo>
                <a:cubicBezTo>
                  <a:pt x="21" y="6"/>
                  <a:pt x="23" y="7"/>
                  <a:pt x="23" y="9"/>
                </a:cubicBezTo>
                <a:cubicBezTo>
                  <a:pt x="23" y="9"/>
                  <a:pt x="22" y="10"/>
                  <a:pt x="22" y="10"/>
                </a:cubicBezTo>
                <a:cubicBezTo>
                  <a:pt x="30" y="18"/>
                  <a:pt x="30" y="18"/>
                  <a:pt x="30" y="18"/>
                </a:cubicBezTo>
                <a:cubicBezTo>
                  <a:pt x="39" y="18"/>
                  <a:pt x="39" y="18"/>
                  <a:pt x="39" y="18"/>
                </a:cubicBezTo>
                <a:cubicBezTo>
                  <a:pt x="39" y="14"/>
                  <a:pt x="39" y="14"/>
                  <a:pt x="39" y="14"/>
                </a:cubicBezTo>
                <a:cubicBezTo>
                  <a:pt x="45" y="19"/>
                  <a:pt x="45" y="19"/>
                  <a:pt x="45" y="19"/>
                </a:cubicBezTo>
                <a:lnTo>
                  <a:pt x="39" y="24"/>
                </a:lnTo>
                <a:close/>
                <a:moveTo>
                  <a:pt x="44" y="35"/>
                </a:moveTo>
                <a:cubicBezTo>
                  <a:pt x="2" y="35"/>
                  <a:pt x="2" y="35"/>
                  <a:pt x="2" y="35"/>
                </a:cubicBezTo>
                <a:cubicBezTo>
                  <a:pt x="2" y="2"/>
                  <a:pt x="2" y="2"/>
                  <a:pt x="2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37"/>
                  <a:pt x="0" y="37"/>
                  <a:pt x="0" y="37"/>
                </a:cubicBezTo>
                <a:cubicBezTo>
                  <a:pt x="44" y="37"/>
                  <a:pt x="44" y="37"/>
                  <a:pt x="44" y="37"/>
                </a:cubicBezTo>
                <a:lnTo>
                  <a:pt x="44" y="35"/>
                </a:lnTo>
                <a:close/>
                <a:moveTo>
                  <a:pt x="23" y="16"/>
                </a:moveTo>
                <a:cubicBezTo>
                  <a:pt x="19" y="21"/>
                  <a:pt x="19" y="21"/>
                  <a:pt x="19" y="21"/>
                </a:cubicBezTo>
                <a:cubicBezTo>
                  <a:pt x="15" y="21"/>
                  <a:pt x="15" y="21"/>
                  <a:pt x="15" y="21"/>
                </a:cubicBezTo>
                <a:cubicBezTo>
                  <a:pt x="13" y="23"/>
                  <a:pt x="13" y="23"/>
                  <a:pt x="13" y="23"/>
                </a:cubicBezTo>
                <a:cubicBezTo>
                  <a:pt x="18" y="24"/>
                  <a:pt x="18" y="24"/>
                  <a:pt x="18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4" y="17"/>
                  <a:pt x="24" y="17"/>
                  <a:pt x="24" y="17"/>
                </a:cubicBezTo>
                <a:lnTo>
                  <a:pt x="23" y="16"/>
                </a:lnTo>
                <a:close/>
                <a:moveTo>
                  <a:pt x="27" y="13"/>
                </a:moveTo>
                <a:cubicBezTo>
                  <a:pt x="30" y="9"/>
                  <a:pt x="30" y="9"/>
                  <a:pt x="30" y="9"/>
                </a:cubicBezTo>
                <a:cubicBezTo>
                  <a:pt x="30" y="9"/>
                  <a:pt x="30" y="9"/>
                  <a:pt x="30" y="9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7"/>
                  <a:pt x="41" y="7"/>
                  <a:pt x="42" y="7"/>
                </a:cubicBezTo>
                <a:cubicBezTo>
                  <a:pt x="44" y="7"/>
                  <a:pt x="45" y="6"/>
                  <a:pt x="45" y="4"/>
                </a:cubicBezTo>
                <a:cubicBezTo>
                  <a:pt x="45" y="2"/>
                  <a:pt x="44" y="0"/>
                  <a:pt x="42" y="0"/>
                </a:cubicBezTo>
                <a:cubicBezTo>
                  <a:pt x="40" y="0"/>
                  <a:pt x="39" y="2"/>
                  <a:pt x="39" y="4"/>
                </a:cubicBezTo>
                <a:cubicBezTo>
                  <a:pt x="29" y="7"/>
                  <a:pt x="29" y="7"/>
                  <a:pt x="29" y="7"/>
                </a:cubicBezTo>
                <a:cubicBezTo>
                  <a:pt x="29" y="7"/>
                  <a:pt x="29" y="7"/>
                  <a:pt x="29" y="7"/>
                </a:cubicBezTo>
                <a:cubicBezTo>
                  <a:pt x="28" y="7"/>
                  <a:pt x="28" y="7"/>
                  <a:pt x="28" y="8"/>
                </a:cubicBezTo>
                <a:cubicBezTo>
                  <a:pt x="28" y="8"/>
                  <a:pt x="28" y="8"/>
                  <a:pt x="28" y="8"/>
                </a:cubicBezTo>
                <a:cubicBezTo>
                  <a:pt x="26" y="11"/>
                  <a:pt x="26" y="11"/>
                  <a:pt x="26" y="11"/>
                </a:cubicBezTo>
                <a:lnTo>
                  <a:pt x="27" y="13"/>
                </a:lnTo>
                <a:close/>
                <a:moveTo>
                  <a:pt x="3" y="19"/>
                </a:moveTo>
                <a:cubicBezTo>
                  <a:pt x="3" y="18"/>
                  <a:pt x="4" y="18"/>
                  <a:pt x="5" y="18"/>
                </a:cubicBezTo>
                <a:cubicBezTo>
                  <a:pt x="10" y="19"/>
                  <a:pt x="10" y="19"/>
                  <a:pt x="10" y="19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1"/>
                  <a:pt x="4" y="21"/>
                  <a:pt x="4" y="21"/>
                </a:cubicBezTo>
                <a:cubicBezTo>
                  <a:pt x="3" y="21"/>
                  <a:pt x="3" y="20"/>
                  <a:pt x="3" y="19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2" name="グラフィックス 21" descr="貨物 単色塗りつぶし">
            <a:extLst>
              <a:ext uri="{FF2B5EF4-FFF2-40B4-BE49-F238E27FC236}">
                <a16:creationId xmlns:a16="http://schemas.microsoft.com/office/drawing/2014/main" id="{E9B0DB69-BC98-4C30-97CA-134E6EE83D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71299" y="4144429"/>
            <a:ext cx="562470" cy="464852"/>
          </a:xfrm>
          <a:prstGeom prst="rect">
            <a:avLst/>
          </a:prstGeom>
        </p:spPr>
      </p:pic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3546FCA5-3C9F-4291-A000-D72F577BFB09}"/>
              </a:ext>
            </a:extLst>
          </p:cNvPr>
          <p:cNvSpPr/>
          <p:nvPr/>
        </p:nvSpPr>
        <p:spPr>
          <a:xfrm>
            <a:off x="6170112" y="4529070"/>
            <a:ext cx="1270515" cy="31422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SG" altLang="ja-JP" sz="1000" dirty="0">
                <a:solidFill>
                  <a:schemeClr val="tx1"/>
                </a:solidFill>
              </a:rPr>
              <a:t>Service Now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054273D-AC5F-4129-B2B4-105AC379327E}"/>
              </a:ext>
            </a:extLst>
          </p:cNvPr>
          <p:cNvSpPr/>
          <p:nvPr/>
        </p:nvSpPr>
        <p:spPr>
          <a:xfrm>
            <a:off x="2549333" y="5557391"/>
            <a:ext cx="1575487" cy="57357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85725" indent="-857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kumimoji="1" lang="en-US" altLang="ja-JP" sz="900" dirty="0">
                <a:solidFill>
                  <a:schemeClr val="tx1"/>
                </a:solidFill>
              </a:rPr>
              <a:t>Historical AP, BKG</a:t>
            </a:r>
            <a:r>
              <a:rPr kumimoji="1" lang="ja-JP" altLang="en-US" sz="900" dirty="0">
                <a:solidFill>
                  <a:schemeClr val="tx1"/>
                </a:solidFill>
              </a:rPr>
              <a:t> </a:t>
            </a:r>
            <a:r>
              <a:rPr kumimoji="1" lang="en-US" altLang="ja-JP" sz="900" dirty="0">
                <a:solidFill>
                  <a:schemeClr val="tx1"/>
                </a:solidFill>
              </a:rPr>
              <a:t>(actual)</a:t>
            </a:r>
          </a:p>
          <a:p>
            <a:pPr marL="85725" indent="-85725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kumimoji="1" lang="en-US" altLang="ja-JP" sz="900" dirty="0">
                <a:solidFill>
                  <a:schemeClr val="tx1"/>
                </a:solidFill>
              </a:rPr>
              <a:t>Customer Behavior</a:t>
            </a:r>
            <a:br>
              <a:rPr kumimoji="1" lang="en-US" altLang="ja-JP" sz="900" dirty="0">
                <a:solidFill>
                  <a:schemeClr val="tx1"/>
                </a:solidFill>
              </a:rPr>
            </a:br>
            <a:r>
              <a:rPr kumimoji="1" lang="en-US" altLang="ja-JP" sz="900" dirty="0">
                <a:solidFill>
                  <a:schemeClr val="tx1"/>
                </a:solidFill>
              </a:rPr>
              <a:t>(BKG</a:t>
            </a:r>
            <a:r>
              <a:rPr kumimoji="1" lang="ja-JP" altLang="en-US" sz="900" dirty="0">
                <a:solidFill>
                  <a:schemeClr val="tx1"/>
                </a:solidFill>
              </a:rPr>
              <a:t> </a:t>
            </a:r>
            <a:r>
              <a:rPr kumimoji="1" lang="en-US" altLang="ja-JP" sz="900" dirty="0">
                <a:solidFill>
                  <a:schemeClr val="tx1"/>
                </a:solidFill>
              </a:rPr>
              <a:t>FCST logic</a:t>
            </a:r>
            <a:br>
              <a:rPr kumimoji="1" lang="en-US" altLang="ja-JP" sz="900" dirty="0">
                <a:solidFill>
                  <a:schemeClr val="tx1"/>
                </a:solidFill>
              </a:rPr>
            </a:br>
            <a:r>
              <a:rPr kumimoji="1" lang="en-US" altLang="ja-JP" sz="900" dirty="0">
                <a:solidFill>
                  <a:schemeClr val="tx1"/>
                </a:solidFill>
              </a:rPr>
              <a:t>referred)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93" name="Google Shape;175;p4">
            <a:extLst>
              <a:ext uri="{FF2B5EF4-FFF2-40B4-BE49-F238E27FC236}">
                <a16:creationId xmlns:a16="http://schemas.microsoft.com/office/drawing/2014/main" id="{D069E12A-6796-4ED1-AEBB-0D8D98144178}"/>
              </a:ext>
            </a:extLst>
          </p:cNvPr>
          <p:cNvSpPr/>
          <p:nvPr/>
        </p:nvSpPr>
        <p:spPr>
          <a:xfrm>
            <a:off x="5971657" y="5770283"/>
            <a:ext cx="2021495" cy="435600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Historical data (actual)</a:t>
            </a:r>
            <a:endParaRPr kumimoji="1" lang="en-US" altLang="ja-JP" sz="1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D67F756D-810D-4F39-935A-484C46D4FDE5}"/>
              </a:ext>
            </a:extLst>
          </p:cNvPr>
          <p:cNvSpPr/>
          <p:nvPr/>
        </p:nvSpPr>
        <p:spPr>
          <a:xfrm>
            <a:off x="6451323" y="6233354"/>
            <a:ext cx="1062163" cy="1859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900" dirty="0">
                <a:solidFill>
                  <a:schemeClr val="tx1"/>
                </a:solidFill>
              </a:rPr>
              <a:t>OPUS, Cognos</a:t>
            </a:r>
            <a:r>
              <a:rPr kumimoji="1" lang="ja-JP" altLang="en-US" sz="900" dirty="0">
                <a:solidFill>
                  <a:schemeClr val="tx1"/>
                </a:solidFill>
              </a:rPr>
              <a:t> </a:t>
            </a:r>
            <a:r>
              <a:rPr kumimoji="1" lang="en-US" altLang="ja-JP" sz="900" dirty="0">
                <a:solidFill>
                  <a:schemeClr val="tx1"/>
                </a:solidFill>
              </a:rPr>
              <a:t>etc. 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242" name="正方形/長方形 241">
            <a:extLst>
              <a:ext uri="{FF2B5EF4-FFF2-40B4-BE49-F238E27FC236}">
                <a16:creationId xmlns:a16="http://schemas.microsoft.com/office/drawing/2014/main" id="{F63F14B6-D7A5-4A11-A2A8-58B4E22309E4}"/>
              </a:ext>
            </a:extLst>
          </p:cNvPr>
          <p:cNvSpPr/>
          <p:nvPr/>
        </p:nvSpPr>
        <p:spPr>
          <a:xfrm>
            <a:off x="1483725" y="6026063"/>
            <a:ext cx="965603" cy="18594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900" dirty="0">
                <a:solidFill>
                  <a:schemeClr val="tx1"/>
                </a:solidFill>
              </a:rPr>
              <a:t>OPUS, Cognos</a:t>
            </a:r>
            <a:r>
              <a:rPr kumimoji="1" lang="ja-JP" altLang="en-US" sz="900" dirty="0">
                <a:solidFill>
                  <a:schemeClr val="tx1"/>
                </a:solidFill>
              </a:rPr>
              <a:t> </a:t>
            </a:r>
            <a:r>
              <a:rPr kumimoji="1" lang="en-US" altLang="ja-JP" sz="900" dirty="0">
                <a:solidFill>
                  <a:schemeClr val="tx1"/>
                </a:solidFill>
              </a:rPr>
              <a:t>etc. 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5679AFFC-34EF-48B5-9A52-196827D92696}"/>
              </a:ext>
            </a:extLst>
          </p:cNvPr>
          <p:cNvSpPr/>
          <p:nvPr/>
        </p:nvSpPr>
        <p:spPr>
          <a:xfrm>
            <a:off x="9270963" y="3915550"/>
            <a:ext cx="262670" cy="19510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000" dirty="0">
                <a:solidFill>
                  <a:schemeClr val="tx1"/>
                </a:solidFill>
              </a:rPr>
              <a:t>OPUS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284" name="直線矢印コネクタ 283">
            <a:extLst>
              <a:ext uri="{FF2B5EF4-FFF2-40B4-BE49-F238E27FC236}">
                <a16:creationId xmlns:a16="http://schemas.microsoft.com/office/drawing/2014/main" id="{30CEB0EC-3ED4-4364-B2F7-D9E254EA8328}"/>
              </a:ext>
            </a:extLst>
          </p:cNvPr>
          <p:cNvCxnSpPr>
            <a:cxnSpLocks/>
            <a:stCxn id="40" idx="4"/>
            <a:endCxn id="282" idx="1"/>
          </p:cNvCxnSpPr>
          <p:nvPr/>
        </p:nvCxnSpPr>
        <p:spPr>
          <a:xfrm>
            <a:off x="8959361" y="4013103"/>
            <a:ext cx="311603" cy="0"/>
          </a:xfrm>
          <a:prstGeom prst="straightConnector1">
            <a:avLst/>
          </a:prstGeom>
          <a:ln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Google Shape;214;p4">
            <a:extLst>
              <a:ext uri="{FF2B5EF4-FFF2-40B4-BE49-F238E27FC236}">
                <a16:creationId xmlns:a16="http://schemas.microsoft.com/office/drawing/2014/main" id="{37C26547-A707-4727-B5A7-ABA44D7A4B6F}"/>
              </a:ext>
            </a:extLst>
          </p:cNvPr>
          <p:cNvSpPr/>
          <p:nvPr/>
        </p:nvSpPr>
        <p:spPr>
          <a:xfrm>
            <a:off x="6342727" y="4114966"/>
            <a:ext cx="1095274" cy="288238"/>
          </a:xfrm>
          <a:prstGeom prst="rect">
            <a:avLst/>
          </a:prstGeom>
          <a:solidFill>
            <a:schemeClr val="bg1">
              <a:alpha val="76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Visibility of Latest Utilization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by Vessel and Port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926E457-63D5-4896-BDA8-D727AD00C13B}"/>
              </a:ext>
            </a:extLst>
          </p:cNvPr>
          <p:cNvGrpSpPr/>
          <p:nvPr/>
        </p:nvGrpSpPr>
        <p:grpSpPr>
          <a:xfrm>
            <a:off x="1996260" y="2094759"/>
            <a:ext cx="1311086" cy="1024146"/>
            <a:chOff x="1787409" y="2120750"/>
            <a:chExt cx="1311086" cy="1024146"/>
          </a:xfrm>
        </p:grpSpPr>
        <p:sp>
          <p:nvSpPr>
            <p:cNvPr id="100" name="フリーフォーム 68">
              <a:extLst>
                <a:ext uri="{FF2B5EF4-FFF2-40B4-BE49-F238E27FC236}">
                  <a16:creationId xmlns:a16="http://schemas.microsoft.com/office/drawing/2014/main" id="{B394D5E7-86D8-4D16-A326-CDAABA6FA94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87409" y="2659772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  <p:sp>
          <p:nvSpPr>
            <p:cNvPr id="102" name="フリーフォーム 68">
              <a:extLst>
                <a:ext uri="{FF2B5EF4-FFF2-40B4-BE49-F238E27FC236}">
                  <a16:creationId xmlns:a16="http://schemas.microsoft.com/office/drawing/2014/main" id="{D6E76C57-AC7A-42D7-B3B6-AE7307045B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232969" y="2120750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  <p:sp>
          <p:nvSpPr>
            <p:cNvPr id="103" name="フリーフォーム 68">
              <a:extLst>
                <a:ext uri="{FF2B5EF4-FFF2-40B4-BE49-F238E27FC236}">
                  <a16:creationId xmlns:a16="http://schemas.microsoft.com/office/drawing/2014/main" id="{A464217E-12A2-4052-98FB-F4AA96BEA50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78530" y="2659772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</p:grp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13F8C324-3D74-4523-90EF-8F4250D94F13}"/>
              </a:ext>
            </a:extLst>
          </p:cNvPr>
          <p:cNvSpPr/>
          <p:nvPr/>
        </p:nvSpPr>
        <p:spPr>
          <a:xfrm>
            <a:off x="2169001" y="2479924"/>
            <a:ext cx="965604" cy="22499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GHQ/RHQ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1DCB52FC-2CA3-4AEE-B1D9-2D4CE2A8EC36}"/>
              </a:ext>
            </a:extLst>
          </p:cNvPr>
          <p:cNvSpPr/>
          <p:nvPr/>
        </p:nvSpPr>
        <p:spPr>
          <a:xfrm>
            <a:off x="2379274" y="2919007"/>
            <a:ext cx="545058" cy="24749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FO/Sales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C088316-141E-4A5A-A938-61CC2945E33F}"/>
              </a:ext>
            </a:extLst>
          </p:cNvPr>
          <p:cNvGrpSpPr/>
          <p:nvPr/>
        </p:nvGrpSpPr>
        <p:grpSpPr>
          <a:xfrm>
            <a:off x="4753058" y="2241769"/>
            <a:ext cx="1311086" cy="954405"/>
            <a:chOff x="4621325" y="2345250"/>
            <a:chExt cx="1311086" cy="954405"/>
          </a:xfrm>
        </p:grpSpPr>
        <p:sp>
          <p:nvSpPr>
            <p:cNvPr id="107" name="フリーフォーム 68">
              <a:extLst>
                <a:ext uri="{FF2B5EF4-FFF2-40B4-BE49-F238E27FC236}">
                  <a16:creationId xmlns:a16="http://schemas.microsoft.com/office/drawing/2014/main" id="{9B1CB7E4-35FB-4C74-B14B-87BBF2D9D8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21325" y="2814531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  <p:sp>
          <p:nvSpPr>
            <p:cNvPr id="108" name="フリーフォーム 68">
              <a:extLst>
                <a:ext uri="{FF2B5EF4-FFF2-40B4-BE49-F238E27FC236}">
                  <a16:creationId xmlns:a16="http://schemas.microsoft.com/office/drawing/2014/main" id="{8EC9CD64-440E-47FC-8EB8-7FCBEA6705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66885" y="2345250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  <p:sp>
          <p:nvSpPr>
            <p:cNvPr id="111" name="フリーフォーム 68">
              <a:extLst>
                <a:ext uri="{FF2B5EF4-FFF2-40B4-BE49-F238E27FC236}">
                  <a16:creationId xmlns:a16="http://schemas.microsoft.com/office/drawing/2014/main" id="{E4869378-BDAB-4D9E-9C17-6E3AC814E0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512446" y="2814531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</p:grp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D17F241-7209-45DE-B833-CC1F191E2BAF}"/>
              </a:ext>
            </a:extLst>
          </p:cNvPr>
          <p:cNvSpPr/>
          <p:nvPr/>
        </p:nvSpPr>
        <p:spPr>
          <a:xfrm>
            <a:off x="4870945" y="2545447"/>
            <a:ext cx="1168380" cy="32940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GHQ/RHQ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FC5E841-A0FF-40D3-857A-DF2329263504}"/>
              </a:ext>
            </a:extLst>
          </p:cNvPr>
          <p:cNvSpPr/>
          <p:nvPr/>
        </p:nvSpPr>
        <p:spPr>
          <a:xfrm>
            <a:off x="4704760" y="3089007"/>
            <a:ext cx="545058" cy="24749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FO/SC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1EBBF34-2E31-4F4B-BDCD-4D6AE0AA3DF4}"/>
              </a:ext>
            </a:extLst>
          </p:cNvPr>
          <p:cNvSpPr/>
          <p:nvPr/>
        </p:nvSpPr>
        <p:spPr>
          <a:xfrm>
            <a:off x="5601030" y="3098670"/>
            <a:ext cx="545058" cy="24749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FO/Sales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8A4929A-3685-47AA-A11F-018A75DEF517}"/>
              </a:ext>
            </a:extLst>
          </p:cNvPr>
          <p:cNvGrpSpPr/>
          <p:nvPr/>
        </p:nvGrpSpPr>
        <p:grpSpPr>
          <a:xfrm>
            <a:off x="7938133" y="2077053"/>
            <a:ext cx="1105586" cy="973774"/>
            <a:chOff x="7635922" y="2109984"/>
            <a:chExt cx="1105586" cy="973774"/>
          </a:xfrm>
        </p:grpSpPr>
        <p:sp>
          <p:nvSpPr>
            <p:cNvPr id="121" name="フリーフォーム 68">
              <a:extLst>
                <a:ext uri="{FF2B5EF4-FFF2-40B4-BE49-F238E27FC236}">
                  <a16:creationId xmlns:a16="http://schemas.microsoft.com/office/drawing/2014/main" id="{CC28148A-7AFD-41E9-962C-9D2CA96FB86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35922" y="2598634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  <p:sp>
          <p:nvSpPr>
            <p:cNvPr id="122" name="フリーフォーム 68">
              <a:extLst>
                <a:ext uri="{FF2B5EF4-FFF2-40B4-BE49-F238E27FC236}">
                  <a16:creationId xmlns:a16="http://schemas.microsoft.com/office/drawing/2014/main" id="{2E907313-1AD0-4CAC-A3E4-021654CEAB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978732" y="2109984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  <p:sp>
          <p:nvSpPr>
            <p:cNvPr id="123" name="フリーフォーム 68">
              <a:extLst>
                <a:ext uri="{FF2B5EF4-FFF2-40B4-BE49-F238E27FC236}">
                  <a16:creationId xmlns:a16="http://schemas.microsoft.com/office/drawing/2014/main" id="{4F038DD9-8671-49CE-AD58-9B1916216D0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21543" y="2598634"/>
              <a:ext cx="419965" cy="485124"/>
            </a:xfrm>
            <a:custGeom>
              <a:avLst/>
              <a:gdLst>
                <a:gd name="connsiteX0" fmla="*/ 611513 w 2358831"/>
                <a:gd name="connsiteY0" fmla="*/ 1697743 h 2808313"/>
                <a:gd name="connsiteX1" fmla="*/ 624827 w 2358831"/>
                <a:gd name="connsiteY1" fmla="*/ 1709225 h 2808313"/>
                <a:gd name="connsiteX2" fmla="*/ 1179419 w 2358831"/>
                <a:gd name="connsiteY2" fmla="*/ 1872770 h 2808313"/>
                <a:gd name="connsiteX3" fmla="*/ 1734005 w 2358831"/>
                <a:gd name="connsiteY3" fmla="*/ 1709225 h 2808313"/>
                <a:gd name="connsiteX4" fmla="*/ 1747313 w 2358831"/>
                <a:gd name="connsiteY4" fmla="*/ 1697743 h 2808313"/>
                <a:gd name="connsiteX5" fmla="*/ 1963743 w 2358831"/>
                <a:gd name="connsiteY5" fmla="*/ 1820744 h 2808313"/>
                <a:gd name="connsiteX6" fmla="*/ 2042987 w 2358831"/>
                <a:gd name="connsiteY6" fmla="*/ 2808313 h 2808313"/>
                <a:gd name="connsiteX7" fmla="*/ 1230284 w 2358831"/>
                <a:gd name="connsiteY7" fmla="*/ 2808313 h 2808313"/>
                <a:gd name="connsiteX8" fmla="*/ 1128549 w 2358831"/>
                <a:gd name="connsiteY8" fmla="*/ 2808313 h 2808313"/>
                <a:gd name="connsiteX9" fmla="*/ 315846 w 2358831"/>
                <a:gd name="connsiteY9" fmla="*/ 2808313 h 2808313"/>
                <a:gd name="connsiteX10" fmla="*/ 395090 w 2358831"/>
                <a:gd name="connsiteY10" fmla="*/ 1820744 h 2808313"/>
                <a:gd name="connsiteX11" fmla="*/ 1179413 w 2358831"/>
                <a:gd name="connsiteY11" fmla="*/ 0 h 2808313"/>
                <a:gd name="connsiteX12" fmla="*/ 1179630 w 2358831"/>
                <a:gd name="connsiteY12" fmla="*/ 22 h 2808313"/>
                <a:gd name="connsiteX13" fmla="*/ 1327560 w 2358831"/>
                <a:gd name="connsiteY13" fmla="*/ 14935 h 2808313"/>
                <a:gd name="connsiteX14" fmla="*/ 1328798 w 2358831"/>
                <a:gd name="connsiteY14" fmla="*/ 15319 h 2808313"/>
                <a:gd name="connsiteX15" fmla="*/ 1346303 w 2358831"/>
                <a:gd name="connsiteY15" fmla="*/ 17114 h 2808313"/>
                <a:gd name="connsiteX16" fmla="*/ 2007505 w 2358831"/>
                <a:gd name="connsiteY16" fmla="*/ 842380 h 2808313"/>
                <a:gd name="connsiteX17" fmla="*/ 1179413 w 2358831"/>
                <a:gd name="connsiteY17" fmla="*/ 1684760 h 2808313"/>
                <a:gd name="connsiteX18" fmla="*/ 351321 w 2358831"/>
                <a:gd name="connsiteY18" fmla="*/ 842380 h 2808313"/>
                <a:gd name="connsiteX19" fmla="*/ 1012524 w 2358831"/>
                <a:gd name="connsiteY19" fmla="*/ 17114 h 2808313"/>
                <a:gd name="connsiteX20" fmla="*/ 1030044 w 2358831"/>
                <a:gd name="connsiteY20" fmla="*/ 15318 h 2808313"/>
                <a:gd name="connsiteX21" fmla="*/ 1031277 w 2358831"/>
                <a:gd name="connsiteY21" fmla="*/ 14935 h 2808313"/>
                <a:gd name="connsiteX22" fmla="*/ 1178476 w 2358831"/>
                <a:gd name="connsiteY22" fmla="*/ 96 h 2808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58831" h="2808313">
                  <a:moveTo>
                    <a:pt x="611513" y="1697743"/>
                  </a:moveTo>
                  <a:lnTo>
                    <a:pt x="624827" y="1709225"/>
                  </a:lnTo>
                  <a:cubicBezTo>
                    <a:pt x="766759" y="1810276"/>
                    <a:pt x="962835" y="1872770"/>
                    <a:pt x="1179419" y="1872770"/>
                  </a:cubicBezTo>
                  <a:cubicBezTo>
                    <a:pt x="1395998" y="1872770"/>
                    <a:pt x="1592074" y="1810276"/>
                    <a:pt x="1734005" y="1709225"/>
                  </a:cubicBezTo>
                  <a:lnTo>
                    <a:pt x="1747313" y="1697743"/>
                  </a:lnTo>
                  <a:lnTo>
                    <a:pt x="1963743" y="1820744"/>
                  </a:lnTo>
                  <a:cubicBezTo>
                    <a:pt x="2442545" y="2172818"/>
                    <a:pt x="2506661" y="2808313"/>
                    <a:pt x="2042987" y="2808313"/>
                  </a:cubicBezTo>
                  <a:lnTo>
                    <a:pt x="1230284" y="2808313"/>
                  </a:lnTo>
                  <a:lnTo>
                    <a:pt x="1128549" y="2808313"/>
                  </a:lnTo>
                  <a:lnTo>
                    <a:pt x="315846" y="2808313"/>
                  </a:lnTo>
                  <a:cubicBezTo>
                    <a:pt x="-147829" y="2808313"/>
                    <a:pt x="-83712" y="2172818"/>
                    <a:pt x="395090" y="1820744"/>
                  </a:cubicBezTo>
                  <a:close/>
                  <a:moveTo>
                    <a:pt x="1179413" y="0"/>
                  </a:moveTo>
                  <a:lnTo>
                    <a:pt x="1179630" y="22"/>
                  </a:lnTo>
                  <a:lnTo>
                    <a:pt x="1327560" y="14935"/>
                  </a:lnTo>
                  <a:lnTo>
                    <a:pt x="1328798" y="15319"/>
                  </a:lnTo>
                  <a:lnTo>
                    <a:pt x="1346303" y="17114"/>
                  </a:lnTo>
                  <a:cubicBezTo>
                    <a:pt x="1723651" y="95663"/>
                    <a:pt x="2007505" y="435300"/>
                    <a:pt x="2007505" y="842380"/>
                  </a:cubicBezTo>
                  <a:cubicBezTo>
                    <a:pt x="2007505" y="1307614"/>
                    <a:pt x="1636756" y="1684760"/>
                    <a:pt x="1179413" y="1684760"/>
                  </a:cubicBezTo>
                  <a:cubicBezTo>
                    <a:pt x="722070" y="1684760"/>
                    <a:pt x="351321" y="1307614"/>
                    <a:pt x="351321" y="842380"/>
                  </a:cubicBezTo>
                  <a:cubicBezTo>
                    <a:pt x="351321" y="435300"/>
                    <a:pt x="635176" y="95663"/>
                    <a:pt x="1012524" y="17114"/>
                  </a:cubicBezTo>
                  <a:lnTo>
                    <a:pt x="1030044" y="15318"/>
                  </a:lnTo>
                  <a:lnTo>
                    <a:pt x="1031277" y="14935"/>
                  </a:lnTo>
                  <a:lnTo>
                    <a:pt x="1178476" y="96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540000" rIns="90000" bIns="54000" anchor="b"/>
            <a:lstStyle/>
            <a:p>
              <a:pPr algn="ctr" eaLnBrk="1">
                <a:lnSpc>
                  <a:spcPts val="1400"/>
                </a:lnSpc>
                <a:buSzPct val="100000"/>
                <a:defRPr/>
              </a:pPr>
              <a:endParaRPr kumimoji="0" lang="en-GB" sz="1050" dirty="0">
                <a:solidFill>
                  <a:srgbClr val="000000"/>
                </a:solidFill>
                <a:latin typeface="Arial"/>
                <a:ea typeface="ＭＳ Ｐ明朝" pitchFamily="18" charset="-128"/>
                <a:cs typeface="Arial" charset="0"/>
              </a:endParaRPr>
            </a:p>
          </p:txBody>
        </p:sp>
      </p:grp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117F7800-4CD1-4F50-AB40-E7C80D28A279}"/>
              </a:ext>
            </a:extLst>
          </p:cNvPr>
          <p:cNvSpPr/>
          <p:nvPr/>
        </p:nvSpPr>
        <p:spPr>
          <a:xfrm>
            <a:off x="7932471" y="2311480"/>
            <a:ext cx="1062163" cy="32940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GHQ/RHQ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9F0B8CB4-1BF9-444A-91F1-0F9BEBFAB638}"/>
              </a:ext>
            </a:extLst>
          </p:cNvPr>
          <p:cNvSpPr/>
          <p:nvPr/>
        </p:nvSpPr>
        <p:spPr>
          <a:xfrm>
            <a:off x="8133794" y="2916033"/>
            <a:ext cx="659520" cy="22499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3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FO/SC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44" name="Google Shape;214;p4">
            <a:extLst>
              <a:ext uri="{FF2B5EF4-FFF2-40B4-BE49-F238E27FC236}">
                <a16:creationId xmlns:a16="http://schemas.microsoft.com/office/drawing/2014/main" id="{A4C9AB18-3AC9-4155-A1C0-409195B207DD}"/>
              </a:ext>
            </a:extLst>
          </p:cNvPr>
          <p:cNvSpPr/>
          <p:nvPr/>
        </p:nvSpPr>
        <p:spPr>
          <a:xfrm>
            <a:off x="1340350" y="5134136"/>
            <a:ext cx="1175393" cy="258786"/>
          </a:xfrm>
          <a:prstGeom prst="rect">
            <a:avLst/>
          </a:prstGeom>
          <a:solidFill>
            <a:schemeClr val="bg1">
              <a:alpha val="76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AP accuracy improvement </a:t>
            </a:r>
          </a:p>
        </p:txBody>
      </p:sp>
      <p:pic>
        <p:nvPicPr>
          <p:cNvPr id="124" name="グラフィックス 123" descr="ライト: オン 単色塗りつぶし">
            <a:extLst>
              <a:ext uri="{FF2B5EF4-FFF2-40B4-BE49-F238E27FC236}">
                <a16:creationId xmlns:a16="http://schemas.microsoft.com/office/drawing/2014/main" id="{86831D8E-CF72-4730-A305-8130D5B8D8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1686" y="4881592"/>
            <a:ext cx="310784" cy="310784"/>
          </a:xfrm>
          <a:prstGeom prst="rect">
            <a:avLst/>
          </a:prstGeom>
        </p:spPr>
      </p:pic>
      <p:pic>
        <p:nvPicPr>
          <p:cNvPr id="125" name="グラフィックス 124" descr="ライト: オン 単色塗りつぶし">
            <a:extLst>
              <a:ext uri="{FF2B5EF4-FFF2-40B4-BE49-F238E27FC236}">
                <a16:creationId xmlns:a16="http://schemas.microsoft.com/office/drawing/2014/main" id="{1A0CEB10-52B1-4A0B-8E93-D30876512A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7666" y="3499101"/>
            <a:ext cx="310784" cy="310784"/>
          </a:xfrm>
          <a:prstGeom prst="rect">
            <a:avLst/>
          </a:prstGeom>
        </p:spPr>
      </p:pic>
      <p:pic>
        <p:nvPicPr>
          <p:cNvPr id="129" name="グラフィックス 128" descr="ライト: オン 単色塗りつぶし">
            <a:extLst>
              <a:ext uri="{FF2B5EF4-FFF2-40B4-BE49-F238E27FC236}">
                <a16:creationId xmlns:a16="http://schemas.microsoft.com/office/drawing/2014/main" id="{5BA48941-AA55-4316-8BF4-6D50BB679F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7045" y="3381437"/>
            <a:ext cx="310784" cy="310784"/>
          </a:xfrm>
          <a:prstGeom prst="rect">
            <a:avLst/>
          </a:prstGeom>
        </p:spPr>
      </p:pic>
      <p:pic>
        <p:nvPicPr>
          <p:cNvPr id="139" name="グラフィックス 138" descr="ライト: オン 単色塗りつぶし">
            <a:extLst>
              <a:ext uri="{FF2B5EF4-FFF2-40B4-BE49-F238E27FC236}">
                <a16:creationId xmlns:a16="http://schemas.microsoft.com/office/drawing/2014/main" id="{B4B3A304-6CDA-4100-92FB-9DD8AF77AE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50370" y="3818538"/>
            <a:ext cx="310784" cy="310784"/>
          </a:xfrm>
          <a:prstGeom prst="rect">
            <a:avLst/>
          </a:prstGeom>
        </p:spPr>
      </p:pic>
      <p:pic>
        <p:nvPicPr>
          <p:cNvPr id="148" name="グラフィックス 147" descr="ライト: オン 単色塗りつぶし">
            <a:extLst>
              <a:ext uri="{FF2B5EF4-FFF2-40B4-BE49-F238E27FC236}">
                <a16:creationId xmlns:a16="http://schemas.microsoft.com/office/drawing/2014/main" id="{AFE99464-48A6-4232-9D06-23FCD0EF29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54697" y="3056413"/>
            <a:ext cx="310784" cy="310784"/>
          </a:xfrm>
          <a:prstGeom prst="rect">
            <a:avLst/>
          </a:prstGeom>
        </p:spPr>
      </p:pic>
      <p:pic>
        <p:nvPicPr>
          <p:cNvPr id="149" name="グラフィックス 148" descr="ライト: オン 単色塗りつぶし">
            <a:extLst>
              <a:ext uri="{FF2B5EF4-FFF2-40B4-BE49-F238E27FC236}">
                <a16:creationId xmlns:a16="http://schemas.microsoft.com/office/drawing/2014/main" id="{FAF9D91A-BA05-4EB8-811E-1C00372454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59881" y="4976225"/>
            <a:ext cx="310784" cy="310784"/>
          </a:xfrm>
          <a:prstGeom prst="rect">
            <a:avLst/>
          </a:prstGeom>
        </p:spPr>
      </p:pic>
      <p:sp>
        <p:nvSpPr>
          <p:cNvPr id="143" name="Google Shape;214;p4">
            <a:extLst>
              <a:ext uri="{FF2B5EF4-FFF2-40B4-BE49-F238E27FC236}">
                <a16:creationId xmlns:a16="http://schemas.microsoft.com/office/drawing/2014/main" id="{487E3A0F-1F2A-4AA4-B7CD-2489253828BE}"/>
              </a:ext>
            </a:extLst>
          </p:cNvPr>
          <p:cNvSpPr/>
          <p:nvPr/>
        </p:nvSpPr>
        <p:spPr>
          <a:xfrm>
            <a:off x="2064106" y="3413034"/>
            <a:ext cx="1175393" cy="378890"/>
          </a:xfrm>
          <a:prstGeom prst="rect">
            <a:avLst/>
          </a:prstGeom>
          <a:solidFill>
            <a:schemeClr val="bg1">
              <a:alpha val="76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kumimoji="1" lang="en-US" altLang="ja-JP" sz="800" u="sng" dirty="0">
                <a:solidFill>
                  <a:schemeClr val="accent4"/>
                </a:solidFill>
              </a:rPr>
              <a:t>Common rules/processes and </a:t>
            </a:r>
            <a:br>
              <a:rPr kumimoji="1" lang="en-US" altLang="ja-JP" sz="800" u="sng" dirty="0">
                <a:solidFill>
                  <a:schemeClr val="accent4"/>
                </a:solidFill>
              </a:rPr>
            </a:br>
            <a:r>
              <a:rPr kumimoji="1" lang="en-US" altLang="ja-JP" sz="800" u="sng" dirty="0">
                <a:solidFill>
                  <a:schemeClr val="accent4"/>
                </a:solidFill>
              </a:rPr>
              <a:t>efficient AP creation</a:t>
            </a:r>
          </a:p>
        </p:txBody>
      </p:sp>
      <p:pic>
        <p:nvPicPr>
          <p:cNvPr id="150" name="グラフィックス 149" descr="ライト: オン 単色塗りつぶし">
            <a:extLst>
              <a:ext uri="{FF2B5EF4-FFF2-40B4-BE49-F238E27FC236}">
                <a16:creationId xmlns:a16="http://schemas.microsoft.com/office/drawing/2014/main" id="{83CBEC64-40D7-4546-8605-7A4713A557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27397" y="3290885"/>
            <a:ext cx="310784" cy="310784"/>
          </a:xfrm>
          <a:prstGeom prst="rect">
            <a:avLst/>
          </a:prstGeom>
        </p:spPr>
      </p:pic>
      <p:sp>
        <p:nvSpPr>
          <p:cNvPr id="151" name="楕円 150">
            <a:extLst>
              <a:ext uri="{FF2B5EF4-FFF2-40B4-BE49-F238E27FC236}">
                <a16:creationId xmlns:a16="http://schemas.microsoft.com/office/drawing/2014/main" id="{832EAABD-04BF-4EFD-B1CA-887E5C0A4040}"/>
              </a:ext>
            </a:extLst>
          </p:cNvPr>
          <p:cNvSpPr>
            <a:spLocks noChangeAspect="1"/>
          </p:cNvSpPr>
          <p:nvPr/>
        </p:nvSpPr>
        <p:spPr>
          <a:xfrm>
            <a:off x="4414062" y="4151539"/>
            <a:ext cx="230639" cy="23063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2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52" name="楕円 151">
            <a:extLst>
              <a:ext uri="{FF2B5EF4-FFF2-40B4-BE49-F238E27FC236}">
                <a16:creationId xmlns:a16="http://schemas.microsoft.com/office/drawing/2014/main" id="{901C06B3-BD21-4D95-8458-4E3477EAE134}"/>
              </a:ext>
            </a:extLst>
          </p:cNvPr>
          <p:cNvSpPr>
            <a:spLocks noChangeAspect="1"/>
          </p:cNvSpPr>
          <p:nvPr/>
        </p:nvSpPr>
        <p:spPr>
          <a:xfrm>
            <a:off x="7940887" y="3638647"/>
            <a:ext cx="230639" cy="23063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4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53" name="楕円 152">
            <a:extLst>
              <a:ext uri="{FF2B5EF4-FFF2-40B4-BE49-F238E27FC236}">
                <a16:creationId xmlns:a16="http://schemas.microsoft.com/office/drawing/2014/main" id="{EA6CEECD-0B04-426E-A48B-1E236A41A189}"/>
              </a:ext>
            </a:extLst>
          </p:cNvPr>
          <p:cNvSpPr>
            <a:spLocks noChangeAspect="1"/>
          </p:cNvSpPr>
          <p:nvPr/>
        </p:nvSpPr>
        <p:spPr>
          <a:xfrm>
            <a:off x="1228624" y="4151539"/>
            <a:ext cx="230639" cy="23063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1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154" name="楕円 153">
            <a:extLst>
              <a:ext uri="{FF2B5EF4-FFF2-40B4-BE49-F238E27FC236}">
                <a16:creationId xmlns:a16="http://schemas.microsoft.com/office/drawing/2014/main" id="{9EEB1457-F8A2-4286-8270-568124A76ABB}"/>
              </a:ext>
            </a:extLst>
          </p:cNvPr>
          <p:cNvSpPr>
            <a:spLocks noChangeAspect="1"/>
          </p:cNvSpPr>
          <p:nvPr/>
        </p:nvSpPr>
        <p:spPr>
          <a:xfrm>
            <a:off x="6425810" y="5013691"/>
            <a:ext cx="230639" cy="23063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3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1C6A5BEE-F495-47C4-B596-B2BD602BA37B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C429F1CC-EC3E-4D3E-B599-8F7A7542811D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OCN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A9F8501E-341A-4D32-B4E3-2C575330C9A1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8F8F6CC6-7317-459D-8A58-A3CC5CE17BC6}"/>
              </a:ext>
            </a:extLst>
          </p:cNvPr>
          <p:cNvSpPr>
            <a:spLocks noChangeAspect="1"/>
          </p:cNvSpPr>
          <p:nvPr/>
        </p:nvSpPr>
        <p:spPr>
          <a:xfrm>
            <a:off x="6395917" y="2744185"/>
            <a:ext cx="230639" cy="23063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</a:rPr>
              <a:t>3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12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B6D91C22-78A5-4AAF-8561-748DE93F0D4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15956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144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B6D91C22-78A5-4AAF-8561-748DE93F0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A9581F7C-B22E-4F21-846D-379E4E2C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ja-JP" dirty="0"/>
              <a:t>   Portfolio and BSA/Allocation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6755C3-B46C-4CFD-B7FB-C53141D30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戦略を具現化した最適な</a:t>
            </a:r>
            <a:r>
              <a:rPr lang="en-US" altLang="ja-JP" dirty="0"/>
              <a:t>Portfolio</a:t>
            </a:r>
            <a:r>
              <a:rPr lang="ja-JP" altLang="en-US" dirty="0"/>
              <a:t>での消席率≧</a:t>
            </a:r>
            <a:r>
              <a:rPr lang="en-US" altLang="ja-JP" dirty="0"/>
              <a:t>100%</a:t>
            </a:r>
            <a:r>
              <a:rPr lang="ja-JP" altLang="en-US" dirty="0"/>
              <a:t>に、オフィスの枠を超えて</a:t>
            </a:r>
            <a:r>
              <a:rPr lang="en-US" altLang="ja-JP" dirty="0"/>
              <a:t>Trade</a:t>
            </a:r>
            <a:r>
              <a:rPr lang="ja-JP" altLang="en-US" dirty="0"/>
              <a:t>一体で取り組む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F55CE5-C93F-4FD6-B99C-264E3554ED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124" name="矢印: 五方向 123">
            <a:extLst>
              <a:ext uri="{FF2B5EF4-FFF2-40B4-BE49-F238E27FC236}">
                <a16:creationId xmlns:a16="http://schemas.microsoft.com/office/drawing/2014/main" id="{91F08C9E-E206-4876-9685-93AA8AD5F5D3}"/>
              </a:ext>
            </a:extLst>
          </p:cNvPr>
          <p:cNvSpPr/>
          <p:nvPr/>
        </p:nvSpPr>
        <p:spPr>
          <a:xfrm>
            <a:off x="338437" y="1448464"/>
            <a:ext cx="2251797" cy="203556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(</a:t>
            </a:r>
            <a:r>
              <a:rPr lang="ja-JP" altLang="en-US" sz="1200" b="1" dirty="0">
                <a:solidFill>
                  <a:schemeClr val="tx1"/>
                </a:solidFill>
              </a:rPr>
              <a:t>期初</a:t>
            </a:r>
            <a:r>
              <a:rPr lang="en-US" altLang="ja-JP" sz="1200" b="1" dirty="0">
                <a:solidFill>
                  <a:schemeClr val="tx1"/>
                </a:solidFill>
              </a:rPr>
              <a:t>) </a:t>
            </a:r>
            <a:r>
              <a:rPr lang="ja-JP" altLang="en-US" sz="1200" b="1" dirty="0">
                <a:solidFill>
                  <a:schemeClr val="tx1"/>
                </a:solidFill>
              </a:rPr>
              <a:t>戦略策定時</a:t>
            </a:r>
          </a:p>
        </p:txBody>
      </p:sp>
      <p:sp>
        <p:nvSpPr>
          <p:cNvPr id="125" name="矢印: 五方向 124">
            <a:extLst>
              <a:ext uri="{FF2B5EF4-FFF2-40B4-BE49-F238E27FC236}">
                <a16:creationId xmlns:a16="http://schemas.microsoft.com/office/drawing/2014/main" id="{83C8890F-0BB0-4C74-BC2F-1296A5C0650B}"/>
              </a:ext>
            </a:extLst>
          </p:cNvPr>
          <p:cNvSpPr/>
          <p:nvPr/>
        </p:nvSpPr>
        <p:spPr>
          <a:xfrm>
            <a:off x="2711172" y="1448464"/>
            <a:ext cx="6761299" cy="203556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(</a:t>
            </a:r>
            <a:r>
              <a:rPr lang="ja-JP" altLang="en-US" sz="1200" b="1" dirty="0">
                <a:solidFill>
                  <a:schemeClr val="tx1"/>
                </a:solidFill>
              </a:rPr>
              <a:t>期中</a:t>
            </a:r>
            <a:r>
              <a:rPr lang="en-US" altLang="ja-JP" sz="1200" b="1" dirty="0">
                <a:solidFill>
                  <a:schemeClr val="tx1"/>
                </a:solidFill>
              </a:rPr>
              <a:t>) Current AP Cycle</a:t>
            </a:r>
            <a:endParaRPr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26" name="矢印: 五方向 125">
            <a:extLst>
              <a:ext uri="{FF2B5EF4-FFF2-40B4-BE49-F238E27FC236}">
                <a16:creationId xmlns:a16="http://schemas.microsoft.com/office/drawing/2014/main" id="{5C1B9681-003E-44FC-90C9-5979406AE4BE}"/>
              </a:ext>
            </a:extLst>
          </p:cNvPr>
          <p:cNvSpPr/>
          <p:nvPr/>
        </p:nvSpPr>
        <p:spPr>
          <a:xfrm>
            <a:off x="9555472" y="1448464"/>
            <a:ext cx="2282860" cy="203556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</a:rPr>
              <a:t>(</a:t>
            </a:r>
            <a:r>
              <a:rPr lang="ja-JP" altLang="en-US" sz="1200" b="1" dirty="0">
                <a:solidFill>
                  <a:schemeClr val="tx1"/>
                </a:solidFill>
              </a:rPr>
              <a:t>期中</a:t>
            </a:r>
            <a:r>
              <a:rPr lang="en-US" altLang="ja-JP" sz="1200" b="1" dirty="0">
                <a:solidFill>
                  <a:schemeClr val="tx1"/>
                </a:solidFill>
              </a:rPr>
              <a:t>) Next AP Cycle</a:t>
            </a:r>
            <a:endParaRPr lang="ja-JP" altLang="en-US" sz="1200" b="1" dirty="0">
              <a:solidFill>
                <a:schemeClr val="tx1"/>
              </a:solidFill>
            </a:endParaRPr>
          </a:p>
        </p:txBody>
      </p:sp>
      <p:sp>
        <p:nvSpPr>
          <p:cNvPr id="127" name="AutoShape 50">
            <a:extLst>
              <a:ext uri="{FF2B5EF4-FFF2-40B4-BE49-F238E27FC236}">
                <a16:creationId xmlns:a16="http://schemas.microsoft.com/office/drawing/2014/main" id="{422D0B3B-C7F3-40FD-84BB-32AA6696C75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3339746">
            <a:off x="11504381" y="1353425"/>
            <a:ext cx="369603" cy="373384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5 w 21600"/>
              <a:gd name="T19" fmla="*/ 3162 h 21600"/>
              <a:gd name="T20" fmla="*/ 18435 w 21600"/>
              <a:gd name="T21" fmla="*/ 18438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748" y="8867"/>
                </a:moveTo>
                <a:cubicBezTo>
                  <a:pt x="16880" y="5746"/>
                  <a:pt x="14038" y="3588"/>
                  <a:pt x="10800" y="3588"/>
                </a:cubicBezTo>
                <a:cubicBezTo>
                  <a:pt x="6816" y="3588"/>
                  <a:pt x="3588" y="6816"/>
                  <a:pt x="3588" y="10800"/>
                </a:cubicBezTo>
                <a:cubicBezTo>
                  <a:pt x="3588" y="14783"/>
                  <a:pt x="6816" y="18012"/>
                  <a:pt x="10800" y="18012"/>
                </a:cubicBezTo>
                <a:cubicBezTo>
                  <a:pt x="12871" y="18012"/>
                  <a:pt x="14843" y="17120"/>
                  <a:pt x="16212" y="15565"/>
                </a:cubicBezTo>
                <a:lnTo>
                  <a:pt x="18905" y="17936"/>
                </a:lnTo>
                <a:cubicBezTo>
                  <a:pt x="16855" y="20265"/>
                  <a:pt x="13902" y="21599"/>
                  <a:pt x="10800" y="21600"/>
                </a:cubicBezTo>
                <a:cubicBezTo>
                  <a:pt x="4835" y="21600"/>
                  <a:pt x="0" y="1676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5649" y="-1"/>
                  <a:pt x="19905" y="3233"/>
                  <a:pt x="21204" y="7905"/>
                </a:cubicBezTo>
                <a:lnTo>
                  <a:pt x="23806" y="7182"/>
                </a:lnTo>
                <a:lnTo>
                  <a:pt x="20680" y="12716"/>
                </a:lnTo>
                <a:lnTo>
                  <a:pt x="15146" y="9590"/>
                </a:lnTo>
                <a:lnTo>
                  <a:pt x="17748" y="88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57656E4E-6CD5-4506-A0D7-DD0DBC69CD95}"/>
              </a:ext>
            </a:extLst>
          </p:cNvPr>
          <p:cNvSpPr/>
          <p:nvPr/>
        </p:nvSpPr>
        <p:spPr>
          <a:xfrm>
            <a:off x="420702" y="2240899"/>
            <a:ext cx="2075598" cy="126964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1200" dirty="0">
                <a:solidFill>
                  <a:schemeClr val="tx1"/>
                </a:solidFill>
              </a:rPr>
              <a:t>Trade Strategy</a:t>
            </a:r>
            <a:r>
              <a:rPr lang="ja-JP" altLang="en-US" sz="1200" dirty="0">
                <a:solidFill>
                  <a:schemeClr val="tx1"/>
                </a:solidFill>
              </a:rPr>
              <a:t>や</a:t>
            </a:r>
            <a:r>
              <a:rPr lang="en-US" altLang="ja-JP" sz="1200" dirty="0">
                <a:solidFill>
                  <a:schemeClr val="tx1"/>
                </a:solidFill>
              </a:rPr>
              <a:t>Award</a:t>
            </a:r>
            <a:r>
              <a:rPr lang="ja-JP" altLang="en-US" sz="1200" dirty="0">
                <a:solidFill>
                  <a:schemeClr val="tx1"/>
                </a:solidFill>
              </a:rPr>
              <a:t>の結果を踏まえて、</a:t>
            </a: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と</a:t>
            </a: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  <a:r>
              <a:rPr lang="ja-JP" altLang="en-US" sz="1200" dirty="0">
                <a:solidFill>
                  <a:schemeClr val="tx1"/>
                </a:solidFill>
              </a:rPr>
              <a:t>の比率を計算し、期初時点における </a:t>
            </a:r>
            <a:r>
              <a:rPr lang="en-US" altLang="ja-JP" sz="1200" dirty="0">
                <a:solidFill>
                  <a:schemeClr val="tx1"/>
                </a:solidFill>
              </a:rPr>
              <a:t>Cargo Portfolio (by TEU)</a:t>
            </a:r>
            <a:r>
              <a:rPr lang="ja-JP" altLang="en-US" sz="1200" dirty="0">
                <a:solidFill>
                  <a:schemeClr val="tx1"/>
                </a:solidFill>
              </a:rPr>
              <a:t>を設定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0432F442-6DAD-4808-96DB-205A5966B809}"/>
              </a:ext>
            </a:extLst>
          </p:cNvPr>
          <p:cNvSpPr/>
          <p:nvPr/>
        </p:nvSpPr>
        <p:spPr>
          <a:xfrm>
            <a:off x="420702" y="1925826"/>
            <a:ext cx="422019" cy="208405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A-1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469D7A7D-31AD-4FFB-BC2C-468258858ED0}"/>
              </a:ext>
            </a:extLst>
          </p:cNvPr>
          <p:cNvSpPr/>
          <p:nvPr/>
        </p:nvSpPr>
        <p:spPr>
          <a:xfrm>
            <a:off x="420702" y="3586807"/>
            <a:ext cx="422019" cy="208405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B</a:t>
            </a:r>
            <a:r>
              <a:rPr kumimoji="1" lang="en-US" altLang="ja-JP" sz="1400" dirty="0">
                <a:solidFill>
                  <a:schemeClr val="bg1"/>
                </a:solidFill>
              </a:rPr>
              <a:t>-1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B496B446-C14A-4A1A-AECD-70EE7E0513AD}"/>
              </a:ext>
            </a:extLst>
          </p:cNvPr>
          <p:cNvSpPr/>
          <p:nvPr/>
        </p:nvSpPr>
        <p:spPr>
          <a:xfrm>
            <a:off x="858258" y="1883894"/>
            <a:ext cx="173197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400" u="sng" dirty="0">
                <a:solidFill>
                  <a:schemeClr val="accent4"/>
                </a:solidFill>
              </a:rPr>
              <a:t>Cargo Portfolio</a:t>
            </a:r>
            <a:endParaRPr lang="ja-JP" altLang="en-US" sz="1400" u="sng" dirty="0">
              <a:solidFill>
                <a:schemeClr val="accent4"/>
              </a:solidFill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ED38FCA6-6F2B-4A9E-B475-D2D405C1BFBF}"/>
              </a:ext>
            </a:extLst>
          </p:cNvPr>
          <p:cNvSpPr/>
          <p:nvPr/>
        </p:nvSpPr>
        <p:spPr>
          <a:xfrm>
            <a:off x="858258" y="3544875"/>
            <a:ext cx="173197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400" u="sng" dirty="0">
                <a:solidFill>
                  <a:schemeClr val="accent4"/>
                </a:solidFill>
              </a:rPr>
              <a:t>BSA/Allocation</a:t>
            </a:r>
            <a:endParaRPr lang="ja-JP" altLang="en-US" sz="1400" u="sng" dirty="0">
              <a:solidFill>
                <a:schemeClr val="accent4"/>
              </a:solidFill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05B52324-9FAA-413E-B277-5B6608C3C58E}"/>
              </a:ext>
            </a:extLst>
          </p:cNvPr>
          <p:cNvSpPr/>
          <p:nvPr/>
        </p:nvSpPr>
        <p:spPr>
          <a:xfrm>
            <a:off x="9668799" y="1925826"/>
            <a:ext cx="422019" cy="208405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A-1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FE3C55BD-7AC7-45FB-A37F-1360DAEF3540}"/>
              </a:ext>
            </a:extLst>
          </p:cNvPr>
          <p:cNvSpPr/>
          <p:nvPr/>
        </p:nvSpPr>
        <p:spPr>
          <a:xfrm>
            <a:off x="9668799" y="4300980"/>
            <a:ext cx="422019" cy="208405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B</a:t>
            </a:r>
            <a:r>
              <a:rPr kumimoji="1" lang="en-US" altLang="ja-JP" sz="1400" dirty="0">
                <a:solidFill>
                  <a:schemeClr val="bg1"/>
                </a:solidFill>
              </a:rPr>
              <a:t>-1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66D376CF-F8CA-45DC-BE4C-CC445C8C3BF8}"/>
              </a:ext>
            </a:extLst>
          </p:cNvPr>
          <p:cNvSpPr/>
          <p:nvPr/>
        </p:nvSpPr>
        <p:spPr>
          <a:xfrm>
            <a:off x="10106355" y="1883894"/>
            <a:ext cx="173197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400" u="sng" dirty="0">
                <a:solidFill>
                  <a:schemeClr val="accent4"/>
                </a:solidFill>
              </a:rPr>
              <a:t>Cargo Portfolio</a:t>
            </a:r>
            <a:endParaRPr lang="ja-JP" altLang="en-US" sz="1400" u="sng" dirty="0">
              <a:solidFill>
                <a:schemeClr val="accent4"/>
              </a:solidFill>
            </a:endParaRP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6A789112-7E71-44E2-86C6-637E5E66D7BA}"/>
              </a:ext>
            </a:extLst>
          </p:cNvPr>
          <p:cNvSpPr/>
          <p:nvPr/>
        </p:nvSpPr>
        <p:spPr>
          <a:xfrm>
            <a:off x="10106355" y="4259048"/>
            <a:ext cx="173197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400" u="sng" dirty="0">
                <a:solidFill>
                  <a:schemeClr val="accent4"/>
                </a:solidFill>
              </a:rPr>
              <a:t>BSA/Allocation</a:t>
            </a:r>
            <a:endParaRPr lang="ja-JP" altLang="en-US" sz="1400" u="sng" dirty="0">
              <a:solidFill>
                <a:schemeClr val="accent4"/>
              </a:solidFill>
            </a:endParaRP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BBFDC57A-3216-425F-9008-D1C30E29B555}"/>
              </a:ext>
            </a:extLst>
          </p:cNvPr>
          <p:cNvSpPr/>
          <p:nvPr/>
        </p:nvSpPr>
        <p:spPr>
          <a:xfrm>
            <a:off x="9668799" y="2240898"/>
            <a:ext cx="2075598" cy="180476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ja-JP" altLang="en-US" sz="1200" dirty="0">
                <a:solidFill>
                  <a:schemeClr val="tx1"/>
                </a:solidFill>
              </a:rPr>
              <a:t>マーケットが大きく変動し、</a:t>
            </a:r>
            <a:r>
              <a:rPr lang="en-US" altLang="ja-JP" sz="1200" dirty="0">
                <a:solidFill>
                  <a:schemeClr val="tx1"/>
                </a:solidFill>
              </a:rPr>
              <a:t>Trade Strategy</a:t>
            </a:r>
            <a:r>
              <a:rPr lang="ja-JP" altLang="en-US" sz="1200" dirty="0">
                <a:solidFill>
                  <a:schemeClr val="tx1"/>
                </a:solidFill>
              </a:rPr>
              <a:t>や</a:t>
            </a:r>
            <a:r>
              <a:rPr lang="en-US" altLang="ja-JP" sz="1200" dirty="0">
                <a:solidFill>
                  <a:schemeClr val="tx1"/>
                </a:solidFill>
              </a:rPr>
              <a:t>Game Plan</a:t>
            </a:r>
            <a:r>
              <a:rPr lang="ja-JP" altLang="en-US" sz="1200" dirty="0">
                <a:solidFill>
                  <a:schemeClr val="tx1"/>
                </a:solidFill>
              </a:rPr>
              <a:t>の策定時に想定していた前提が、もはや成立しなくなった場合は、</a:t>
            </a:r>
            <a:r>
              <a:rPr lang="en-US" altLang="ja-JP" sz="1200" dirty="0">
                <a:solidFill>
                  <a:schemeClr val="tx1"/>
                </a:solidFill>
              </a:rPr>
              <a:t>Cargo Portfolio</a:t>
            </a:r>
            <a:r>
              <a:rPr lang="ja-JP" altLang="en-US" sz="1200" dirty="0">
                <a:solidFill>
                  <a:schemeClr val="tx1"/>
                </a:solidFill>
              </a:rPr>
              <a:t>を見直し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marL="177800" indent="-177800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※ </a:t>
            </a:r>
            <a:r>
              <a:rPr lang="ja-JP" altLang="en-US" sz="1200" u="sng" dirty="0">
                <a:solidFill>
                  <a:schemeClr val="accent4"/>
                </a:solidFill>
              </a:rPr>
              <a:t>好況な場合は、</a:t>
            </a:r>
            <a:r>
              <a:rPr lang="en-US" altLang="ja-JP" sz="1200" u="sng" dirty="0">
                <a:solidFill>
                  <a:schemeClr val="accent4"/>
                </a:solidFill>
              </a:rPr>
              <a:t>SPOT/ST</a:t>
            </a:r>
            <a:r>
              <a:rPr lang="ja-JP" altLang="en-US" sz="1200" u="sng" dirty="0">
                <a:solidFill>
                  <a:schemeClr val="accent4"/>
                </a:solidFill>
              </a:rPr>
              <a:t>の比率を増大</a:t>
            </a: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9555279-9B0F-481C-B00B-0928342393A0}"/>
              </a:ext>
            </a:extLst>
          </p:cNvPr>
          <p:cNvSpPr/>
          <p:nvPr/>
        </p:nvSpPr>
        <p:spPr>
          <a:xfrm>
            <a:off x="9668799" y="4599424"/>
            <a:ext cx="2075598" cy="112454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ja-JP" altLang="en-US" sz="1200" dirty="0">
                <a:solidFill>
                  <a:schemeClr val="tx1"/>
                </a:solidFill>
              </a:rPr>
              <a:t>直近のパフォーマンスを踏まえ、適宜オフィス別の</a:t>
            </a:r>
            <a:r>
              <a:rPr lang="en-US" altLang="ja-JP" sz="1200" dirty="0">
                <a:solidFill>
                  <a:schemeClr val="tx1"/>
                </a:solidFill>
              </a:rPr>
              <a:t>BSA/Allocation</a:t>
            </a:r>
            <a:r>
              <a:rPr lang="ja-JP" altLang="en-US" sz="1200" dirty="0">
                <a:solidFill>
                  <a:schemeClr val="tx1"/>
                </a:solidFill>
              </a:rPr>
              <a:t>を見直し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ja-JP" altLang="en-US" sz="1200" dirty="0">
                <a:solidFill>
                  <a:schemeClr val="tx1"/>
                </a:solidFill>
              </a:rPr>
              <a:t>全体最適な</a:t>
            </a:r>
            <a:r>
              <a:rPr lang="en-US" altLang="ja-JP" sz="1200" dirty="0">
                <a:solidFill>
                  <a:schemeClr val="tx1"/>
                </a:solidFill>
              </a:rPr>
              <a:t>Allocation</a:t>
            </a:r>
            <a:r>
              <a:rPr lang="ja-JP" altLang="en-US" sz="1200" dirty="0">
                <a:solidFill>
                  <a:schemeClr val="tx1"/>
                </a:solidFill>
              </a:rPr>
              <a:t>により、可能な限り</a:t>
            </a:r>
            <a:r>
              <a:rPr lang="en-US" altLang="ja-JP" sz="1200" dirty="0">
                <a:solidFill>
                  <a:schemeClr val="tx1"/>
                </a:solidFill>
              </a:rPr>
              <a:t>Space</a:t>
            </a:r>
            <a:r>
              <a:rPr lang="ja-JP" altLang="en-US" sz="1200" dirty="0">
                <a:solidFill>
                  <a:schemeClr val="tx1"/>
                </a:solidFill>
              </a:rPr>
              <a:t>の返却を回避</a:t>
            </a:r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643920DD-D29A-4374-B915-7790E083D635}"/>
              </a:ext>
            </a:extLst>
          </p:cNvPr>
          <p:cNvSpPr/>
          <p:nvPr/>
        </p:nvSpPr>
        <p:spPr>
          <a:xfrm>
            <a:off x="420702" y="3885251"/>
            <a:ext cx="2075598" cy="244707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1200" dirty="0">
                <a:solidFill>
                  <a:schemeClr val="tx1"/>
                </a:solidFill>
              </a:rPr>
              <a:t>Non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を含む昨年度の実績、及び</a:t>
            </a:r>
            <a:r>
              <a:rPr lang="en-US" altLang="ja-JP" sz="1200" dirty="0">
                <a:solidFill>
                  <a:schemeClr val="tx1"/>
                </a:solidFill>
              </a:rPr>
              <a:t>Award</a:t>
            </a:r>
            <a:r>
              <a:rPr lang="ja-JP" altLang="en-US" sz="1200" dirty="0">
                <a:solidFill>
                  <a:schemeClr val="tx1"/>
                </a:solidFill>
              </a:rPr>
              <a:t>の結果を踏まえ、オフィス別のアローケーションを設定</a:t>
            </a:r>
            <a:r>
              <a:rPr lang="en-US" altLang="ja-JP" sz="1200" dirty="0">
                <a:solidFill>
                  <a:schemeClr val="tx1"/>
                </a:solidFill>
              </a:rPr>
              <a:t>(</a:t>
            </a:r>
            <a:r>
              <a:rPr lang="ja-JP" altLang="en-US" sz="1200" dirty="0">
                <a:solidFill>
                  <a:schemeClr val="tx1"/>
                </a:solidFill>
              </a:rPr>
              <a:t>目標設定によるオフィスのモチベート</a:t>
            </a:r>
            <a:r>
              <a:rPr lang="en-US" altLang="ja-JP" sz="12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1200" dirty="0">
                <a:solidFill>
                  <a:schemeClr val="tx1"/>
                </a:solidFill>
              </a:rPr>
              <a:t>SC/RFA Contract Office</a:t>
            </a:r>
            <a:r>
              <a:rPr lang="ja-JP" altLang="en-US" sz="1200" dirty="0">
                <a:solidFill>
                  <a:schemeClr val="tx1"/>
                </a:solidFill>
              </a:rPr>
              <a:t>ベースの</a:t>
            </a:r>
            <a:r>
              <a:rPr lang="en-US" altLang="ja-JP" sz="1200" dirty="0">
                <a:solidFill>
                  <a:schemeClr val="tx1"/>
                </a:solidFill>
              </a:rPr>
              <a:t>Allocation</a:t>
            </a:r>
            <a:r>
              <a:rPr lang="ja-JP" altLang="en-US" sz="1200" dirty="0">
                <a:solidFill>
                  <a:schemeClr val="tx1"/>
                </a:solidFill>
              </a:rPr>
              <a:t>がスタートであるべき。その後、</a:t>
            </a:r>
            <a:r>
              <a:rPr lang="en-US" altLang="ja-JP" sz="1200" dirty="0">
                <a:solidFill>
                  <a:schemeClr val="tx1"/>
                </a:solidFill>
              </a:rPr>
              <a:t>AP Creation</a:t>
            </a:r>
            <a:r>
              <a:rPr lang="ja-JP" altLang="en-US" sz="1200" dirty="0">
                <a:solidFill>
                  <a:schemeClr val="tx1"/>
                </a:solidFill>
              </a:rPr>
              <a:t>完了時に、</a:t>
            </a:r>
            <a:r>
              <a:rPr lang="en-US" altLang="ja-JP" sz="1200" dirty="0">
                <a:solidFill>
                  <a:schemeClr val="tx1"/>
                </a:solidFill>
              </a:rPr>
              <a:t>Load Office (BKG Office) </a:t>
            </a:r>
            <a:r>
              <a:rPr lang="ja-JP" altLang="en-US" sz="1200" dirty="0">
                <a:solidFill>
                  <a:schemeClr val="tx1"/>
                </a:solidFill>
              </a:rPr>
              <a:t>ベースの</a:t>
            </a:r>
            <a:r>
              <a:rPr lang="en-US" altLang="ja-JP" sz="1200" dirty="0">
                <a:solidFill>
                  <a:schemeClr val="tx1"/>
                </a:solidFill>
              </a:rPr>
              <a:t>BSA/Allocation</a:t>
            </a:r>
            <a:r>
              <a:rPr lang="ja-JP" altLang="en-US" sz="1200" dirty="0">
                <a:solidFill>
                  <a:schemeClr val="tx1"/>
                </a:solidFill>
              </a:rPr>
              <a:t>へ変換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FDF36845-B8D0-4D94-AA02-457F9220EA3E}"/>
              </a:ext>
            </a:extLst>
          </p:cNvPr>
          <p:cNvSpPr/>
          <p:nvPr/>
        </p:nvSpPr>
        <p:spPr>
          <a:xfrm>
            <a:off x="3252292" y="5975063"/>
            <a:ext cx="73452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600"/>
              </a:spcBef>
            </a:pPr>
            <a:r>
              <a:rPr lang="en-US" altLang="ja-JP" sz="1200" u="sng" dirty="0">
                <a:solidFill>
                  <a:schemeClr val="tx1"/>
                </a:solidFill>
              </a:rPr>
              <a:t>KPI</a:t>
            </a:r>
            <a:r>
              <a:rPr lang="ja-JP" altLang="en-US" sz="1200" u="sng" dirty="0">
                <a:solidFill>
                  <a:schemeClr val="tx1"/>
                </a:solidFill>
              </a:rPr>
              <a:t>例示</a:t>
            </a: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8365BF89-E667-4114-A5A8-D592B2DBA3C9}"/>
              </a:ext>
            </a:extLst>
          </p:cNvPr>
          <p:cNvSpPr/>
          <p:nvPr/>
        </p:nvSpPr>
        <p:spPr>
          <a:xfrm>
            <a:off x="3987771" y="6007147"/>
            <a:ext cx="4717315" cy="68915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228600" indent="-228600">
              <a:buFont typeface="+mj-ea"/>
              <a:buAutoNum type="circleNumDbPlain"/>
            </a:pPr>
            <a:r>
              <a:rPr lang="en-US" altLang="ja-JP" sz="1200" dirty="0">
                <a:solidFill>
                  <a:schemeClr val="tx1"/>
                </a:solidFill>
              </a:rPr>
              <a:t>Non AP Ratio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ja-JP" sz="1200" dirty="0">
                <a:solidFill>
                  <a:schemeClr val="tx1"/>
                </a:solidFill>
              </a:rPr>
              <a:t>BSA/Allocation Achievement (after considering space returning)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ja-JP" sz="1200" dirty="0">
                <a:solidFill>
                  <a:schemeClr val="tx1"/>
                </a:solidFill>
              </a:rPr>
              <a:t>Unfulfilled Quantity (i.e. not Returned Space)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440A237-CBCE-4793-BB45-38505A897989}"/>
              </a:ext>
            </a:extLst>
          </p:cNvPr>
          <p:cNvSpPr/>
          <p:nvPr/>
        </p:nvSpPr>
        <p:spPr>
          <a:xfrm>
            <a:off x="3480976" y="4935426"/>
            <a:ext cx="3583372" cy="728563"/>
          </a:xfrm>
          <a:prstGeom prst="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矢印: 上下 79">
            <a:extLst>
              <a:ext uri="{FF2B5EF4-FFF2-40B4-BE49-F238E27FC236}">
                <a16:creationId xmlns:a16="http://schemas.microsoft.com/office/drawing/2014/main" id="{327FFF1F-3600-4DD4-A027-628DFBF0DA3D}"/>
              </a:ext>
            </a:extLst>
          </p:cNvPr>
          <p:cNvSpPr/>
          <p:nvPr/>
        </p:nvSpPr>
        <p:spPr>
          <a:xfrm>
            <a:off x="3043937" y="2377992"/>
            <a:ext cx="343822" cy="3285998"/>
          </a:xfrm>
          <a:prstGeom prst="upDownArrow">
            <a:avLst>
              <a:gd name="adj1" fmla="val 50000"/>
              <a:gd name="adj2" fmla="val 67997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ja-JP" sz="1400" dirty="0">
                <a:solidFill>
                  <a:schemeClr val="accent4"/>
                </a:solidFill>
              </a:rPr>
              <a:t>BSA</a:t>
            </a:r>
            <a:r>
              <a:rPr lang="ja-JP" altLang="en-US" sz="1400" dirty="0">
                <a:solidFill>
                  <a:schemeClr val="accent4"/>
                </a:solidFill>
              </a:rPr>
              <a:t> </a:t>
            </a:r>
            <a:r>
              <a:rPr lang="en-US" altLang="ja-JP" sz="1400" dirty="0">
                <a:solidFill>
                  <a:schemeClr val="accent4"/>
                </a:solidFill>
              </a:rPr>
              <a:t>/Allocation (by</a:t>
            </a:r>
            <a:r>
              <a:rPr lang="ja-JP" altLang="en-US" sz="1400" dirty="0">
                <a:solidFill>
                  <a:schemeClr val="accent4"/>
                </a:solidFill>
              </a:rPr>
              <a:t> </a:t>
            </a:r>
            <a:r>
              <a:rPr lang="en-US" altLang="ja-JP" sz="1400" dirty="0">
                <a:solidFill>
                  <a:schemeClr val="accent4"/>
                </a:solidFill>
              </a:rPr>
              <a:t>Office)</a:t>
            </a:r>
            <a:endParaRPr kumimoji="1" lang="en-US" altLang="ja-JP" sz="1400" dirty="0">
              <a:solidFill>
                <a:schemeClr val="accent4"/>
              </a:solidFill>
            </a:endParaRPr>
          </a:p>
        </p:txBody>
      </p:sp>
      <p:sp>
        <p:nvSpPr>
          <p:cNvPr id="81" name="矢印: 左右 80">
            <a:extLst>
              <a:ext uri="{FF2B5EF4-FFF2-40B4-BE49-F238E27FC236}">
                <a16:creationId xmlns:a16="http://schemas.microsoft.com/office/drawing/2014/main" id="{8536E817-9F49-4A92-ADC3-920A69406B5E}"/>
              </a:ext>
            </a:extLst>
          </p:cNvPr>
          <p:cNvSpPr/>
          <p:nvPr/>
        </p:nvSpPr>
        <p:spPr>
          <a:xfrm>
            <a:off x="3480977" y="1811333"/>
            <a:ext cx="4415223" cy="283560"/>
          </a:xfrm>
          <a:prstGeom prst="leftRightArrow">
            <a:avLst>
              <a:gd name="adj1" fmla="val 50000"/>
              <a:gd name="adj2" fmla="val 75994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ja-JP" sz="1400" dirty="0">
                <a:solidFill>
                  <a:schemeClr val="accent4"/>
                </a:solidFill>
              </a:rPr>
              <a:t>Cargo Portfolio</a:t>
            </a:r>
            <a:r>
              <a:rPr lang="ja-JP" altLang="en-US" sz="1400" dirty="0">
                <a:solidFill>
                  <a:schemeClr val="accent4"/>
                </a:solidFill>
              </a:rPr>
              <a:t> </a:t>
            </a:r>
            <a:r>
              <a:rPr lang="en-US" altLang="ja-JP" sz="1400" dirty="0">
                <a:solidFill>
                  <a:schemeClr val="accent4"/>
                </a:solidFill>
              </a:rPr>
              <a:t>(by TEU)</a:t>
            </a: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F611F738-A623-476B-82C9-169CF8402149}"/>
              </a:ext>
            </a:extLst>
          </p:cNvPr>
          <p:cNvCxnSpPr>
            <a:cxnSpLocks/>
          </p:cNvCxnSpPr>
          <p:nvPr/>
        </p:nvCxnSpPr>
        <p:spPr>
          <a:xfrm>
            <a:off x="3480978" y="2300687"/>
            <a:ext cx="2722167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54CFC3A2-23D5-4107-9220-01690F70B97F}"/>
              </a:ext>
            </a:extLst>
          </p:cNvPr>
          <p:cNvCxnSpPr>
            <a:cxnSpLocks/>
          </p:cNvCxnSpPr>
          <p:nvPr/>
        </p:nvCxnSpPr>
        <p:spPr>
          <a:xfrm>
            <a:off x="6203145" y="2300687"/>
            <a:ext cx="1693055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81907E36-3765-4ED3-BAA0-D3172FBFDDCE}"/>
              </a:ext>
            </a:extLst>
          </p:cNvPr>
          <p:cNvSpPr/>
          <p:nvPr/>
        </p:nvSpPr>
        <p:spPr>
          <a:xfrm>
            <a:off x="4299194" y="2117054"/>
            <a:ext cx="1085732" cy="1846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en-US" altLang="ja-JP" sz="1050" dirty="0">
                <a:solidFill>
                  <a:schemeClr val="tx1"/>
                </a:solidFill>
              </a:rPr>
              <a:t> (LT/MT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EEF0D963-DA5D-4345-B32A-914449E8C8E6}"/>
              </a:ext>
            </a:extLst>
          </p:cNvPr>
          <p:cNvSpPr/>
          <p:nvPr/>
        </p:nvSpPr>
        <p:spPr>
          <a:xfrm>
            <a:off x="6257989" y="2117054"/>
            <a:ext cx="1583368" cy="1846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Non AP</a:t>
            </a:r>
            <a:r>
              <a:rPr lang="ja-JP" altLang="en-US" sz="1050" dirty="0">
                <a:solidFill>
                  <a:schemeClr val="tx1"/>
                </a:solidFill>
              </a:rPr>
              <a:t> </a:t>
            </a:r>
            <a:r>
              <a:rPr lang="en-US" altLang="ja-JP" sz="1050" dirty="0">
                <a:solidFill>
                  <a:schemeClr val="tx1"/>
                </a:solidFill>
              </a:rPr>
              <a:t>(SPOT/ST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BE9FF5E0-7BE4-4B1A-9C2F-292840CE4CFA}"/>
              </a:ext>
            </a:extLst>
          </p:cNvPr>
          <p:cNvSpPr/>
          <p:nvPr/>
        </p:nvSpPr>
        <p:spPr>
          <a:xfrm>
            <a:off x="7174389" y="3432592"/>
            <a:ext cx="580495" cy="11767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ONE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QUOTE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A3DF7F48-0FCF-4006-9BF6-BF10B0424225}"/>
              </a:ext>
            </a:extLst>
          </p:cNvPr>
          <p:cNvSpPr/>
          <p:nvPr/>
        </p:nvSpPr>
        <p:spPr>
          <a:xfrm>
            <a:off x="5645503" y="4411546"/>
            <a:ext cx="1418852" cy="523981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DD687234-04A5-41E4-9B89-6C2D53F75902}"/>
              </a:ext>
            </a:extLst>
          </p:cNvPr>
          <p:cNvSpPr/>
          <p:nvPr/>
        </p:nvSpPr>
        <p:spPr>
          <a:xfrm>
            <a:off x="5163325" y="4411546"/>
            <a:ext cx="482178" cy="52398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</a:rPr>
              <a:t>余剰</a:t>
            </a:r>
            <a:br>
              <a:rPr lang="en-US" altLang="ja-JP" sz="1200" b="1" dirty="0">
                <a:solidFill>
                  <a:schemeClr val="bg1"/>
                </a:solidFill>
              </a:rPr>
            </a:br>
            <a:r>
              <a:rPr lang="en-US" altLang="ja-JP" sz="1200" b="1" dirty="0">
                <a:solidFill>
                  <a:schemeClr val="bg1"/>
                </a:solidFill>
              </a:rPr>
              <a:t>Space</a:t>
            </a:r>
            <a:endParaRPr kumimoji="1" lang="en-US" altLang="ja-JP" sz="1200" b="1" dirty="0">
              <a:solidFill>
                <a:schemeClr val="bg1"/>
              </a:solidFill>
            </a:endParaRPr>
          </a:p>
        </p:txBody>
      </p: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5531938C-F385-40BB-8826-ED42856F7D1C}"/>
              </a:ext>
            </a:extLst>
          </p:cNvPr>
          <p:cNvCxnSpPr>
            <a:cxnSpLocks/>
          </p:cNvCxnSpPr>
          <p:nvPr/>
        </p:nvCxnSpPr>
        <p:spPr>
          <a:xfrm>
            <a:off x="3483964" y="4411546"/>
            <a:ext cx="358761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四角形: 角を丸くする 129">
            <a:extLst>
              <a:ext uri="{FF2B5EF4-FFF2-40B4-BE49-F238E27FC236}">
                <a16:creationId xmlns:a16="http://schemas.microsoft.com/office/drawing/2014/main" id="{0F5A9CE8-B764-4951-BC09-171932F830F1}"/>
              </a:ext>
            </a:extLst>
          </p:cNvPr>
          <p:cNvSpPr/>
          <p:nvPr/>
        </p:nvSpPr>
        <p:spPr>
          <a:xfrm>
            <a:off x="3549627" y="4472048"/>
            <a:ext cx="61832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Z</a:t>
            </a: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CBA90E88-DF6E-415F-93DE-4E85749FCCC5}"/>
              </a:ext>
            </a:extLst>
          </p:cNvPr>
          <p:cNvSpPr/>
          <p:nvPr/>
        </p:nvSpPr>
        <p:spPr>
          <a:xfrm>
            <a:off x="6620290" y="2840129"/>
            <a:ext cx="444065" cy="875293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29" name="四角形: 角を丸くする 128">
            <a:extLst>
              <a:ext uri="{FF2B5EF4-FFF2-40B4-BE49-F238E27FC236}">
                <a16:creationId xmlns:a16="http://schemas.microsoft.com/office/drawing/2014/main" id="{9FB8095B-F109-4E29-ADEB-A61F5E2088B2}"/>
              </a:ext>
            </a:extLst>
          </p:cNvPr>
          <p:cNvSpPr/>
          <p:nvPr/>
        </p:nvSpPr>
        <p:spPr>
          <a:xfrm>
            <a:off x="3549627" y="2893223"/>
            <a:ext cx="61832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X</a:t>
            </a: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43FD8CC9-6C97-4EEA-BED9-3603AFB02048}"/>
              </a:ext>
            </a:extLst>
          </p:cNvPr>
          <p:cNvSpPr/>
          <p:nvPr/>
        </p:nvSpPr>
        <p:spPr>
          <a:xfrm>
            <a:off x="4087683" y="3129948"/>
            <a:ext cx="118430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1CC4FDC3-59F0-470C-B1EA-A14AB99AFF57}"/>
              </a:ext>
            </a:extLst>
          </p:cNvPr>
          <p:cNvSpPr/>
          <p:nvPr/>
        </p:nvSpPr>
        <p:spPr>
          <a:xfrm>
            <a:off x="6530953" y="3129948"/>
            <a:ext cx="668512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21" name="矢印: 左 120">
            <a:extLst>
              <a:ext uri="{FF2B5EF4-FFF2-40B4-BE49-F238E27FC236}">
                <a16:creationId xmlns:a16="http://schemas.microsoft.com/office/drawing/2014/main" id="{1E5DF506-C050-4205-8A0A-FD3D9FABB415}"/>
              </a:ext>
            </a:extLst>
          </p:cNvPr>
          <p:cNvSpPr/>
          <p:nvPr/>
        </p:nvSpPr>
        <p:spPr>
          <a:xfrm rot="10800000">
            <a:off x="6245962" y="3161489"/>
            <a:ext cx="341028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49A837A3-5981-4CD0-9018-91DF9FAB3A5E}"/>
              </a:ext>
            </a:extLst>
          </p:cNvPr>
          <p:cNvSpPr/>
          <p:nvPr/>
        </p:nvSpPr>
        <p:spPr>
          <a:xfrm>
            <a:off x="7963478" y="3096681"/>
            <a:ext cx="1408886" cy="3620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AP</a:t>
            </a:r>
            <a:r>
              <a:rPr lang="ja-JP" altLang="en-US" sz="1050" dirty="0">
                <a:solidFill>
                  <a:schemeClr val="tx1"/>
                </a:solidFill>
              </a:rPr>
              <a:t>が</a:t>
            </a:r>
            <a:r>
              <a:rPr lang="en-US" altLang="ja-JP" sz="1050" dirty="0">
                <a:solidFill>
                  <a:schemeClr val="tx1"/>
                </a:solidFill>
              </a:rPr>
              <a:t>Portfolio</a:t>
            </a:r>
            <a:r>
              <a:rPr lang="ja-JP" altLang="en-US" sz="1050" dirty="0">
                <a:solidFill>
                  <a:schemeClr val="tx1"/>
                </a:solidFill>
              </a:rPr>
              <a:t>を超過。</a:t>
            </a:r>
            <a:r>
              <a:rPr lang="en-US" altLang="ja-JP" sz="1050" dirty="0">
                <a:solidFill>
                  <a:schemeClr val="tx1"/>
                </a:solidFill>
              </a:rPr>
              <a:t>Non AP</a:t>
            </a:r>
            <a:r>
              <a:rPr lang="ja-JP" altLang="en-US" sz="1050" dirty="0">
                <a:solidFill>
                  <a:schemeClr val="tx1"/>
                </a:solidFill>
              </a:rPr>
              <a:t>は達成可能な水準</a:t>
            </a:r>
            <a:endParaRPr lang="en-US" altLang="ja-JP" sz="1050" dirty="0">
              <a:solidFill>
                <a:schemeClr val="tx1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8CD86522-A4B0-4DD7-85E4-EDF3F1954C83}"/>
              </a:ext>
            </a:extLst>
          </p:cNvPr>
          <p:cNvSpPr/>
          <p:nvPr/>
        </p:nvSpPr>
        <p:spPr>
          <a:xfrm>
            <a:off x="5874680" y="3715225"/>
            <a:ext cx="1189675" cy="696321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CC22782E-D370-41BC-8A29-B33299E4580B}"/>
              </a:ext>
            </a:extLst>
          </p:cNvPr>
          <p:cNvCxnSpPr>
            <a:cxnSpLocks/>
          </p:cNvCxnSpPr>
          <p:nvPr/>
        </p:nvCxnSpPr>
        <p:spPr>
          <a:xfrm>
            <a:off x="3483964" y="3715323"/>
            <a:ext cx="358761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四角形: 角を丸くする 127">
            <a:extLst>
              <a:ext uri="{FF2B5EF4-FFF2-40B4-BE49-F238E27FC236}">
                <a16:creationId xmlns:a16="http://schemas.microsoft.com/office/drawing/2014/main" id="{22BB70F6-D803-4DDF-8CF0-ADE65A58479A}"/>
              </a:ext>
            </a:extLst>
          </p:cNvPr>
          <p:cNvSpPr/>
          <p:nvPr/>
        </p:nvSpPr>
        <p:spPr>
          <a:xfrm>
            <a:off x="3549627" y="3770897"/>
            <a:ext cx="61832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Y</a:t>
            </a:r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E0D84AD0-BCCA-4DCB-A40A-86F5B59DB1EC}"/>
              </a:ext>
            </a:extLst>
          </p:cNvPr>
          <p:cNvSpPr/>
          <p:nvPr/>
        </p:nvSpPr>
        <p:spPr>
          <a:xfrm>
            <a:off x="7963478" y="4492442"/>
            <a:ext cx="1408886" cy="3620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AP</a:t>
            </a:r>
            <a:r>
              <a:rPr lang="ja-JP" altLang="en-US" sz="1050" dirty="0">
                <a:solidFill>
                  <a:schemeClr val="tx1"/>
                </a:solidFill>
              </a:rPr>
              <a:t>が</a:t>
            </a:r>
            <a:r>
              <a:rPr lang="en-US" altLang="ja-JP" sz="1050" dirty="0">
                <a:solidFill>
                  <a:schemeClr val="tx1"/>
                </a:solidFill>
              </a:rPr>
              <a:t>Portfolio</a:t>
            </a:r>
            <a:r>
              <a:rPr lang="ja-JP" altLang="en-US" sz="1050" dirty="0">
                <a:solidFill>
                  <a:schemeClr val="tx1"/>
                </a:solidFill>
              </a:rPr>
              <a:t>を下回り、</a:t>
            </a:r>
            <a:r>
              <a:rPr lang="en-US" altLang="ja-JP" sz="1050" b="1" u="sng" dirty="0">
                <a:solidFill>
                  <a:schemeClr val="tx1"/>
                </a:solidFill>
              </a:rPr>
              <a:t>Non AP</a:t>
            </a:r>
            <a:r>
              <a:rPr lang="ja-JP" altLang="en-US" sz="1050" b="1" u="sng" dirty="0">
                <a:solidFill>
                  <a:schemeClr val="tx1"/>
                </a:solidFill>
              </a:rPr>
              <a:t>でもカバー不可能な水準</a:t>
            </a:r>
            <a:endParaRPr lang="en-US" altLang="ja-JP" sz="1050" b="1" u="sng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F86B2BBC-E5B3-4D64-AC72-888C7FAF43F8}"/>
              </a:ext>
            </a:extLst>
          </p:cNvPr>
          <p:cNvSpPr/>
          <p:nvPr/>
        </p:nvSpPr>
        <p:spPr>
          <a:xfrm>
            <a:off x="4087683" y="4525708"/>
            <a:ext cx="118430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1C647F10-347C-4D64-A8C7-C36BF1726E15}"/>
              </a:ext>
            </a:extLst>
          </p:cNvPr>
          <p:cNvSpPr/>
          <p:nvPr/>
        </p:nvSpPr>
        <p:spPr>
          <a:xfrm>
            <a:off x="6326025" y="4525708"/>
            <a:ext cx="60773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84" name="矢印: 左 83">
            <a:extLst>
              <a:ext uri="{FF2B5EF4-FFF2-40B4-BE49-F238E27FC236}">
                <a16:creationId xmlns:a16="http://schemas.microsoft.com/office/drawing/2014/main" id="{669AB80A-5CB7-4A1B-B61E-F66827AF8F17}"/>
              </a:ext>
            </a:extLst>
          </p:cNvPr>
          <p:cNvSpPr/>
          <p:nvPr/>
        </p:nvSpPr>
        <p:spPr>
          <a:xfrm>
            <a:off x="5704546" y="4557249"/>
            <a:ext cx="389119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58A2CF9F-8E54-459D-B3B8-ED5A4A8A37B1}"/>
              </a:ext>
            </a:extLst>
          </p:cNvPr>
          <p:cNvSpPr/>
          <p:nvPr/>
        </p:nvSpPr>
        <p:spPr>
          <a:xfrm>
            <a:off x="7963478" y="3882390"/>
            <a:ext cx="1408886" cy="3620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AP</a:t>
            </a:r>
            <a:r>
              <a:rPr lang="ja-JP" altLang="en-US" sz="1050" dirty="0">
                <a:solidFill>
                  <a:schemeClr val="tx1"/>
                </a:solidFill>
              </a:rPr>
              <a:t>が</a:t>
            </a:r>
            <a:r>
              <a:rPr lang="en-US" altLang="ja-JP" sz="1050" dirty="0">
                <a:solidFill>
                  <a:schemeClr val="tx1"/>
                </a:solidFill>
              </a:rPr>
              <a:t>Portfolio</a:t>
            </a:r>
            <a:r>
              <a:rPr lang="ja-JP" altLang="en-US" sz="1050" dirty="0">
                <a:solidFill>
                  <a:schemeClr val="tx1"/>
                </a:solidFill>
              </a:rPr>
              <a:t>を下回るも、</a:t>
            </a:r>
            <a:r>
              <a:rPr lang="en-US" altLang="ja-JP" sz="1050" dirty="0">
                <a:solidFill>
                  <a:schemeClr val="tx1"/>
                </a:solidFill>
              </a:rPr>
              <a:t>Non AP</a:t>
            </a:r>
            <a:r>
              <a:rPr lang="ja-JP" altLang="en-US" sz="1050" dirty="0">
                <a:solidFill>
                  <a:schemeClr val="tx1"/>
                </a:solidFill>
              </a:rPr>
              <a:t>でカバー可能な水準</a:t>
            </a:r>
            <a:endParaRPr lang="en-US" altLang="ja-JP" sz="1050" dirty="0">
              <a:solidFill>
                <a:schemeClr val="tx1"/>
              </a:solidFill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E3EB731E-074E-4297-AF6E-E30C760A98CE}"/>
              </a:ext>
            </a:extLst>
          </p:cNvPr>
          <p:cNvSpPr/>
          <p:nvPr/>
        </p:nvSpPr>
        <p:spPr>
          <a:xfrm>
            <a:off x="4087683" y="3915657"/>
            <a:ext cx="118430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5435F578-DA02-4573-B648-460E9C2E48CF}"/>
              </a:ext>
            </a:extLst>
          </p:cNvPr>
          <p:cNvSpPr/>
          <p:nvPr/>
        </p:nvSpPr>
        <p:spPr>
          <a:xfrm>
            <a:off x="6129212" y="3915657"/>
            <a:ext cx="889789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122" name="矢印: 左 121">
            <a:extLst>
              <a:ext uri="{FF2B5EF4-FFF2-40B4-BE49-F238E27FC236}">
                <a16:creationId xmlns:a16="http://schemas.microsoft.com/office/drawing/2014/main" id="{4970921B-33E4-4D8D-97A0-A10B9DAFA52E}"/>
              </a:ext>
            </a:extLst>
          </p:cNvPr>
          <p:cNvSpPr/>
          <p:nvPr/>
        </p:nvSpPr>
        <p:spPr>
          <a:xfrm>
            <a:off x="5913388" y="3947198"/>
            <a:ext cx="244028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5BBE7850-A626-49A5-8F5B-36FA61ABBC19}"/>
              </a:ext>
            </a:extLst>
          </p:cNvPr>
          <p:cNvSpPr/>
          <p:nvPr/>
        </p:nvSpPr>
        <p:spPr>
          <a:xfrm>
            <a:off x="3480977" y="5673645"/>
            <a:ext cx="4463026" cy="23011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* Office</a:t>
            </a:r>
            <a:r>
              <a:rPr lang="ja-JP" altLang="en-US" sz="1050" dirty="0">
                <a:solidFill>
                  <a:schemeClr val="tx1"/>
                </a:solidFill>
              </a:rPr>
              <a:t>合計の</a:t>
            </a:r>
            <a:r>
              <a:rPr lang="en-US" altLang="ja-JP" sz="1050" dirty="0">
                <a:solidFill>
                  <a:schemeClr val="tx1"/>
                </a:solidFill>
              </a:rPr>
              <a:t>AP</a:t>
            </a:r>
            <a:r>
              <a:rPr lang="ja-JP" altLang="en-US" sz="1050" dirty="0">
                <a:solidFill>
                  <a:schemeClr val="tx1"/>
                </a:solidFill>
              </a:rPr>
              <a:t>が</a:t>
            </a:r>
            <a:r>
              <a:rPr lang="en-US" altLang="ja-JP" sz="1050" dirty="0">
                <a:solidFill>
                  <a:schemeClr val="tx1"/>
                </a:solidFill>
              </a:rPr>
              <a:t>BSA</a:t>
            </a:r>
            <a:r>
              <a:rPr lang="ja-JP" altLang="en-US" sz="1050" dirty="0">
                <a:solidFill>
                  <a:schemeClr val="tx1"/>
                </a:solidFill>
              </a:rPr>
              <a:t>を超過する場合は、</a:t>
            </a:r>
            <a:r>
              <a:rPr lang="en-US" altLang="ja-JP" sz="1050" dirty="0">
                <a:solidFill>
                  <a:schemeClr val="tx1"/>
                </a:solidFill>
              </a:rPr>
              <a:t>CM/TEU</a:t>
            </a:r>
            <a:r>
              <a:rPr lang="ja-JP" altLang="en-US" sz="1050" dirty="0">
                <a:solidFill>
                  <a:schemeClr val="tx1"/>
                </a:solidFill>
              </a:rPr>
              <a:t>の逆比等で</a:t>
            </a:r>
            <a:r>
              <a:rPr lang="en-US" altLang="ja-JP" sz="1050" dirty="0">
                <a:solidFill>
                  <a:schemeClr val="tx1"/>
                </a:solidFill>
              </a:rPr>
              <a:t>trim down</a:t>
            </a:r>
            <a:endParaRPr lang="en-US" altLang="ja-JP" sz="1050" b="1" u="sng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5AA02445-9C42-4342-9318-F944D1DA0B8A}"/>
              </a:ext>
            </a:extLst>
          </p:cNvPr>
          <p:cNvSpPr/>
          <p:nvPr/>
        </p:nvSpPr>
        <p:spPr>
          <a:xfrm>
            <a:off x="4232365" y="1760714"/>
            <a:ext cx="389119" cy="208405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A-1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5624F89F-6395-41CA-83D7-BD9C6C82F7A7}"/>
              </a:ext>
            </a:extLst>
          </p:cNvPr>
          <p:cNvSpPr/>
          <p:nvPr/>
        </p:nvSpPr>
        <p:spPr>
          <a:xfrm>
            <a:off x="2853804" y="2724929"/>
            <a:ext cx="389119" cy="208405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B</a:t>
            </a:r>
            <a:r>
              <a:rPr kumimoji="1" lang="en-US" altLang="ja-JP" sz="1400" dirty="0">
                <a:solidFill>
                  <a:schemeClr val="bg1"/>
                </a:solidFill>
              </a:rPr>
              <a:t>-1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F0C82C6-3FF5-4596-9AE6-1DBD3A7E4E9E}"/>
              </a:ext>
            </a:extLst>
          </p:cNvPr>
          <p:cNvCxnSpPr/>
          <p:nvPr/>
        </p:nvCxnSpPr>
        <p:spPr>
          <a:xfrm>
            <a:off x="2650703" y="1674891"/>
            <a:ext cx="0" cy="502141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817FBB37-83A4-4532-A62C-47C9E62BDAD7}"/>
              </a:ext>
            </a:extLst>
          </p:cNvPr>
          <p:cNvCxnSpPr/>
          <p:nvPr/>
        </p:nvCxnSpPr>
        <p:spPr>
          <a:xfrm>
            <a:off x="9513972" y="1674891"/>
            <a:ext cx="0" cy="502141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61572C3E-B0BA-4BC2-AAAC-B91EDF2E3C35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B4C77F88-1847-4EFD-8A46-FB4203A46F2B}"/>
              </a:ext>
            </a:extLst>
          </p:cNvPr>
          <p:cNvCxnSpPr>
            <a:cxnSpLocks/>
          </p:cNvCxnSpPr>
          <p:nvPr/>
        </p:nvCxnSpPr>
        <p:spPr>
          <a:xfrm>
            <a:off x="3483964" y="2840129"/>
            <a:ext cx="358761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C40D9628-CEBE-4C7F-9F9A-96219FDB8289}"/>
              </a:ext>
            </a:extLst>
          </p:cNvPr>
          <p:cNvSpPr/>
          <p:nvPr/>
        </p:nvSpPr>
        <p:spPr>
          <a:xfrm>
            <a:off x="3549627" y="2433776"/>
            <a:ext cx="61832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A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441B0FFD-FAA7-428D-ADAF-24557C35D3FF}"/>
              </a:ext>
            </a:extLst>
          </p:cNvPr>
          <p:cNvSpPr/>
          <p:nvPr/>
        </p:nvSpPr>
        <p:spPr>
          <a:xfrm>
            <a:off x="6207162" y="2374750"/>
            <a:ext cx="857194" cy="465380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4364D237-08B2-4452-913E-DA70131CBA4A}"/>
              </a:ext>
            </a:extLst>
          </p:cNvPr>
          <p:cNvSpPr/>
          <p:nvPr/>
        </p:nvSpPr>
        <p:spPr>
          <a:xfrm>
            <a:off x="6311068" y="2481076"/>
            <a:ext cx="668512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CAFE2E48-056B-4D90-8B8E-38D0ED1FC7E3}"/>
              </a:ext>
            </a:extLst>
          </p:cNvPr>
          <p:cNvSpPr/>
          <p:nvPr/>
        </p:nvSpPr>
        <p:spPr>
          <a:xfrm>
            <a:off x="3480977" y="2377992"/>
            <a:ext cx="2722167" cy="3285998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8D990464-8773-48E7-B908-8823D933566D}"/>
              </a:ext>
            </a:extLst>
          </p:cNvPr>
          <p:cNvSpPr/>
          <p:nvPr/>
        </p:nvSpPr>
        <p:spPr>
          <a:xfrm>
            <a:off x="6203145" y="2377992"/>
            <a:ext cx="1693055" cy="3285998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FBDD2E01-F24C-4DBF-9F90-804F3CDA07C0}"/>
              </a:ext>
            </a:extLst>
          </p:cNvPr>
          <p:cNvCxnSpPr>
            <a:cxnSpLocks/>
            <a:stCxn id="156" idx="2"/>
          </p:cNvCxnSpPr>
          <p:nvPr/>
        </p:nvCxnSpPr>
        <p:spPr>
          <a:xfrm flipV="1">
            <a:off x="4842060" y="4870888"/>
            <a:ext cx="429931" cy="68080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64211D80-DC5C-4561-94C6-320E214EE286}"/>
              </a:ext>
            </a:extLst>
          </p:cNvPr>
          <p:cNvSpPr/>
          <p:nvPr/>
        </p:nvSpPr>
        <p:spPr>
          <a:xfrm>
            <a:off x="3707547" y="5215309"/>
            <a:ext cx="2269026" cy="33638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000" b="1" dirty="0">
                <a:solidFill>
                  <a:schemeClr val="accent4"/>
                </a:solidFill>
              </a:rPr>
              <a:t>可能な限り早期にスペースを返上</a:t>
            </a:r>
            <a:br>
              <a:rPr lang="en-US" altLang="ja-JP" sz="1000" b="1" dirty="0">
                <a:solidFill>
                  <a:schemeClr val="accent4"/>
                </a:solidFill>
              </a:rPr>
            </a:br>
            <a:r>
              <a:rPr lang="ja-JP" altLang="en-US" sz="1000" b="1" dirty="0">
                <a:solidFill>
                  <a:schemeClr val="accent4"/>
                </a:solidFill>
              </a:rPr>
              <a:t>（全体最適のためのスペースの相互融通）</a:t>
            </a:r>
            <a:endParaRPr lang="en-US" altLang="ja-JP" sz="1000" b="1" dirty="0">
              <a:solidFill>
                <a:schemeClr val="accent4"/>
              </a:solidFill>
            </a:endParaRPr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718EE225-6353-4981-B71B-0F6299DD63B8}"/>
              </a:ext>
            </a:extLst>
          </p:cNvPr>
          <p:cNvCxnSpPr>
            <a:cxnSpLocks/>
          </p:cNvCxnSpPr>
          <p:nvPr/>
        </p:nvCxnSpPr>
        <p:spPr>
          <a:xfrm>
            <a:off x="7068372" y="2410366"/>
            <a:ext cx="0" cy="3221250"/>
          </a:xfrm>
          <a:prstGeom prst="line">
            <a:avLst/>
          </a:prstGeom>
          <a:ln w="158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4A1B86BA-2562-4DF1-889E-95C3CD26F23D}"/>
              </a:ext>
            </a:extLst>
          </p:cNvPr>
          <p:cNvSpPr/>
          <p:nvPr/>
        </p:nvSpPr>
        <p:spPr>
          <a:xfrm>
            <a:off x="4087683" y="2464320"/>
            <a:ext cx="118430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924DA66B-2485-42B6-9DCB-30CDA2ECFF29}"/>
              </a:ext>
            </a:extLst>
          </p:cNvPr>
          <p:cNvSpPr/>
          <p:nvPr/>
        </p:nvSpPr>
        <p:spPr>
          <a:xfrm>
            <a:off x="8392447" y="3129948"/>
            <a:ext cx="396000" cy="306189"/>
          </a:xfrm>
          <a:prstGeom prst="triangle">
            <a:avLst/>
          </a:prstGeom>
          <a:noFill/>
          <a:ln w="57150">
            <a:solidFill>
              <a:schemeClr val="accent4">
                <a:alpha val="4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9" name="二等辺三角形 148">
            <a:extLst>
              <a:ext uri="{FF2B5EF4-FFF2-40B4-BE49-F238E27FC236}">
                <a16:creationId xmlns:a16="http://schemas.microsoft.com/office/drawing/2014/main" id="{09439A5B-0BBC-4F61-A175-BAC9717A2129}"/>
              </a:ext>
            </a:extLst>
          </p:cNvPr>
          <p:cNvSpPr/>
          <p:nvPr/>
        </p:nvSpPr>
        <p:spPr>
          <a:xfrm>
            <a:off x="8392447" y="3901356"/>
            <a:ext cx="396000" cy="306189"/>
          </a:xfrm>
          <a:prstGeom prst="triangle">
            <a:avLst/>
          </a:prstGeom>
          <a:noFill/>
          <a:ln w="57150">
            <a:solidFill>
              <a:schemeClr val="accent4"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乗算記号 20">
            <a:extLst>
              <a:ext uri="{FF2B5EF4-FFF2-40B4-BE49-F238E27FC236}">
                <a16:creationId xmlns:a16="http://schemas.microsoft.com/office/drawing/2014/main" id="{F7E44B1A-8F10-439A-B64C-D57970D88123}"/>
              </a:ext>
            </a:extLst>
          </p:cNvPr>
          <p:cNvSpPr/>
          <p:nvPr/>
        </p:nvSpPr>
        <p:spPr>
          <a:xfrm>
            <a:off x="8260035" y="4385882"/>
            <a:ext cx="648000" cy="648000"/>
          </a:xfrm>
          <a:prstGeom prst="mathMultiply">
            <a:avLst>
              <a:gd name="adj1" fmla="val 11130"/>
            </a:avLst>
          </a:prstGeom>
          <a:solidFill>
            <a:schemeClr val="accent4"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B914AC8C-80CD-40EC-9CD0-CB888FC43F20}"/>
              </a:ext>
            </a:extLst>
          </p:cNvPr>
          <p:cNvSpPr/>
          <p:nvPr/>
        </p:nvSpPr>
        <p:spPr>
          <a:xfrm>
            <a:off x="8397980" y="2456571"/>
            <a:ext cx="360000" cy="361108"/>
          </a:xfrm>
          <a:prstGeom prst="ellipse">
            <a:avLst/>
          </a:prstGeom>
          <a:noFill/>
          <a:ln w="57150">
            <a:solidFill>
              <a:schemeClr val="accent4">
                <a:alpha val="4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5064C70-C24F-41C7-BDB8-B239E0289031}"/>
              </a:ext>
            </a:extLst>
          </p:cNvPr>
          <p:cNvSpPr/>
          <p:nvPr/>
        </p:nvSpPr>
        <p:spPr>
          <a:xfrm>
            <a:off x="7963478" y="2482480"/>
            <a:ext cx="1408886" cy="3620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Portfolio</a:t>
            </a:r>
            <a:r>
              <a:rPr lang="ja-JP" altLang="en-US" sz="1050" dirty="0">
                <a:solidFill>
                  <a:schemeClr val="tx1"/>
                </a:solidFill>
              </a:rPr>
              <a:t>通りに、</a:t>
            </a:r>
            <a:r>
              <a:rPr lang="en-US" altLang="ja-JP" sz="1050" dirty="0">
                <a:solidFill>
                  <a:schemeClr val="tx1"/>
                </a:solidFill>
              </a:rPr>
              <a:t>AP</a:t>
            </a:r>
            <a:r>
              <a:rPr lang="ja-JP" altLang="en-US" sz="1050" dirty="0">
                <a:solidFill>
                  <a:schemeClr val="tx1"/>
                </a:solidFill>
              </a:rPr>
              <a:t>も</a:t>
            </a:r>
            <a:r>
              <a:rPr lang="en-US" altLang="ja-JP" sz="1050" dirty="0">
                <a:solidFill>
                  <a:schemeClr val="tx1"/>
                </a:solidFill>
              </a:rPr>
              <a:t>Non AP</a:t>
            </a:r>
            <a:r>
              <a:rPr lang="ja-JP" altLang="en-US" sz="1050" dirty="0">
                <a:solidFill>
                  <a:schemeClr val="tx1"/>
                </a:solidFill>
              </a:rPr>
              <a:t>も達成可能</a:t>
            </a:r>
            <a:endParaRPr lang="en-US" altLang="ja-JP" sz="1050" dirty="0">
              <a:solidFill>
                <a:schemeClr val="tx1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42D73993-9C2B-4ED7-BCF2-0F528FA30C14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OCN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7302290-C166-4027-8D6E-1DF0B026613B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5" name="四角形: 角を丸くする 84">
            <a:extLst>
              <a:ext uri="{FF2B5EF4-FFF2-40B4-BE49-F238E27FC236}">
                <a16:creationId xmlns:a16="http://schemas.microsoft.com/office/drawing/2014/main" id="{5C1ED4B1-C553-442F-BC7C-DE87023CD128}"/>
              </a:ext>
            </a:extLst>
          </p:cNvPr>
          <p:cNvSpPr/>
          <p:nvPr/>
        </p:nvSpPr>
        <p:spPr>
          <a:xfrm>
            <a:off x="2351584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Target A and B</a:t>
            </a:r>
          </a:p>
        </p:txBody>
      </p:sp>
    </p:spTree>
    <p:extLst>
      <p:ext uri="{BB962C8B-B14F-4D97-AF65-F5344CB8AC3E}">
        <p14:creationId xmlns:p14="http://schemas.microsoft.com/office/powerpoint/2010/main" val="1471801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0085666D-F01A-4CE2-A2E5-B9DE3F10EAE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6300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6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0085666D-F01A-4CE2-A2E5-B9DE3F10EA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B7935A7C-8D8C-4156-A2FD-50B97481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   公共財の全社活用</a:t>
            </a:r>
            <a:r>
              <a:rPr kumimoji="1" lang="en-US" altLang="ja-JP" dirty="0"/>
              <a:t>Project  (1)</a:t>
            </a:r>
            <a:r>
              <a:rPr kumimoji="1" lang="ja-JP" altLang="en-US" dirty="0"/>
              <a:t> 新</a:t>
            </a:r>
            <a:r>
              <a:rPr kumimoji="1" lang="en-US" altLang="ja-JP" dirty="0"/>
              <a:t>Unit</a:t>
            </a:r>
            <a:r>
              <a:rPr kumimoji="1" lang="ja-JP" altLang="en-US" dirty="0"/>
              <a:t>の起ち上げ</a:t>
            </a:r>
            <a:endParaRPr kumimoji="1" lang="en-GB" dirty="0"/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A3377ECA-CAFA-4EFE-B18C-BCB3E9F56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SYM</a:t>
            </a:r>
            <a:r>
              <a:rPr lang="ja-JP" altLang="en-US" dirty="0"/>
              <a:t>配下に新設する</a:t>
            </a:r>
            <a:r>
              <a:rPr lang="en-US" altLang="ja-JP" dirty="0"/>
              <a:t>Unit</a:t>
            </a:r>
            <a:r>
              <a:rPr lang="ja-JP" altLang="en-US" dirty="0"/>
              <a:t>の「</a:t>
            </a:r>
            <a:r>
              <a:rPr lang="en-US" altLang="ja-JP" dirty="0"/>
              <a:t>Wayport Optimization Control</a:t>
            </a:r>
            <a:r>
              <a:rPr lang="ja-JP" altLang="en-US" dirty="0"/>
              <a:t>」において、「公共財の全社活用」に向けた取り組みを推進していく予定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BA8F64-4C26-4AAC-8F64-FE5FFBF570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3EBAA14-42CA-4413-81DF-D6F98584EF48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79C515E-924A-4D20-9433-9658AD466F84}"/>
              </a:ext>
            </a:extLst>
          </p:cNvPr>
          <p:cNvSpPr/>
          <p:nvPr/>
        </p:nvSpPr>
        <p:spPr>
          <a:xfrm>
            <a:off x="386248" y="1866378"/>
            <a:ext cx="5581583" cy="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2400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SYM</a:t>
            </a:r>
            <a:r>
              <a:rPr lang="ja-JP" altLang="en-US" sz="1600" dirty="0">
                <a:solidFill>
                  <a:schemeClr val="tx1"/>
                </a:solidFill>
              </a:rPr>
              <a:t>組織再編案 </a:t>
            </a:r>
            <a:r>
              <a:rPr lang="en-US" altLang="ja-JP" sz="1600" dirty="0">
                <a:solidFill>
                  <a:schemeClr val="tx1"/>
                </a:solidFill>
              </a:rPr>
              <a:t>(2023</a:t>
            </a:r>
            <a:r>
              <a:rPr lang="ja-JP" altLang="en-US" sz="1600" dirty="0">
                <a:solidFill>
                  <a:schemeClr val="tx1"/>
                </a:solidFill>
              </a:rPr>
              <a:t> </a:t>
            </a:r>
            <a:r>
              <a:rPr lang="en-US" altLang="ja-JP" sz="1600" dirty="0">
                <a:solidFill>
                  <a:schemeClr val="tx1"/>
                </a:solidFill>
              </a:rPr>
              <a:t>Apr</a:t>
            </a:r>
            <a:r>
              <a:rPr lang="ja-JP" altLang="en-US" sz="1600" dirty="0">
                <a:solidFill>
                  <a:schemeClr val="tx1"/>
                </a:solidFill>
              </a:rPr>
              <a:t>～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81BAAAB-077D-4997-8D3F-CA9BF0E6DBC1}"/>
              </a:ext>
            </a:extLst>
          </p:cNvPr>
          <p:cNvSpPr/>
          <p:nvPr/>
        </p:nvSpPr>
        <p:spPr>
          <a:xfrm>
            <a:off x="6231936" y="1866378"/>
            <a:ext cx="5581583" cy="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2400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Wayport Optimization Control</a:t>
            </a:r>
            <a:r>
              <a:rPr lang="ja-JP" altLang="en-US" sz="1600" dirty="0">
                <a:solidFill>
                  <a:schemeClr val="tx1"/>
                </a:solidFill>
              </a:rPr>
              <a:t>のミッション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92F8A85-5B9F-4AA5-B151-2668E12BBEC7}"/>
              </a:ext>
            </a:extLst>
          </p:cNvPr>
          <p:cNvSpPr/>
          <p:nvPr/>
        </p:nvSpPr>
        <p:spPr>
          <a:xfrm>
            <a:off x="6556453" y="2051595"/>
            <a:ext cx="4500500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Wayport Cargo Allocation Set up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8002DE5-3BC4-4234-A4DD-2B010373ED0D}"/>
              </a:ext>
            </a:extLst>
          </p:cNvPr>
          <p:cNvSpPr/>
          <p:nvPr/>
        </p:nvSpPr>
        <p:spPr>
          <a:xfrm>
            <a:off x="6556453" y="2472254"/>
            <a:ext cx="4500500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Feeder Analysis and Design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6AC34C0-FEF9-4E91-977E-B9BD81E2B2CF}"/>
              </a:ext>
            </a:extLst>
          </p:cNvPr>
          <p:cNvSpPr/>
          <p:nvPr/>
        </p:nvSpPr>
        <p:spPr>
          <a:xfrm>
            <a:off x="6556453" y="2892913"/>
            <a:ext cx="4500500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T/S process enhancement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76EE3E6-9080-4916-A3B6-BF66C0C05C00}"/>
              </a:ext>
            </a:extLst>
          </p:cNvPr>
          <p:cNvSpPr/>
          <p:nvPr/>
        </p:nvSpPr>
        <p:spPr>
          <a:xfrm>
            <a:off x="6556453" y="3313572"/>
            <a:ext cx="4500500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Optimization of wayport space with marketing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5997CE7-E2D5-41C7-8A78-3D8A45316B79}"/>
              </a:ext>
            </a:extLst>
          </p:cNvPr>
          <p:cNvSpPr/>
          <p:nvPr/>
        </p:nvSpPr>
        <p:spPr>
          <a:xfrm>
            <a:off x="6556453" y="3734231"/>
            <a:ext cx="4500500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Visibility improvement for inbound cargoes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914E8CD-DE0A-492C-84E2-1A493FD3F68E}"/>
              </a:ext>
            </a:extLst>
          </p:cNvPr>
          <p:cNvSpPr/>
          <p:nvPr/>
        </p:nvSpPr>
        <p:spPr>
          <a:xfrm>
            <a:off x="6556453" y="4154890"/>
            <a:ext cx="4500500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Collaboration with TS team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D432ACD-9039-4506-8BAA-44A31B3AFDEE}"/>
              </a:ext>
            </a:extLst>
          </p:cNvPr>
          <p:cNvSpPr/>
          <p:nvPr/>
        </p:nvSpPr>
        <p:spPr>
          <a:xfrm>
            <a:off x="6556453" y="4575550"/>
            <a:ext cx="4500500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PRD priority change arrangement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0417B01-C1F4-4263-9286-52DE347B3600}"/>
              </a:ext>
            </a:extLst>
          </p:cNvPr>
          <p:cNvSpPr/>
          <p:nvPr/>
        </p:nvSpPr>
        <p:spPr>
          <a:xfrm>
            <a:off x="6556453" y="4983090"/>
            <a:ext cx="4500500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bg1">
                    <a:lumMod val="75000"/>
                  </a:schemeClr>
                </a:solidFill>
              </a:rPr>
              <a:t>Delay notification scheme implementation</a:t>
            </a:r>
            <a:endParaRPr kumimoji="1" lang="en-GB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793FCAB-04F1-431A-86F9-88CE68247C25}"/>
              </a:ext>
            </a:extLst>
          </p:cNvPr>
          <p:cNvSpPr/>
          <p:nvPr/>
        </p:nvSpPr>
        <p:spPr>
          <a:xfrm>
            <a:off x="6556453" y="5392634"/>
            <a:ext cx="4500500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bg1">
                    <a:lumMod val="75000"/>
                  </a:schemeClr>
                </a:solidFill>
              </a:rPr>
              <a:t>Ad-hoc feeder or own vessel usage arrangement</a:t>
            </a:r>
            <a:endParaRPr kumimoji="1" lang="en-GB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83C5C73-4A39-4D8B-BE8C-B75084915600}"/>
              </a:ext>
            </a:extLst>
          </p:cNvPr>
          <p:cNvSpPr/>
          <p:nvPr/>
        </p:nvSpPr>
        <p:spPr>
          <a:xfrm>
            <a:off x="6556453" y="5802178"/>
            <a:ext cx="4500500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bg1">
                    <a:lumMod val="75000"/>
                  </a:schemeClr>
                </a:solidFill>
              </a:rPr>
              <a:t>Collaboration with the origin RHQ/office</a:t>
            </a:r>
            <a:endParaRPr kumimoji="1" lang="en-GB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0D9EB40-AAF2-421B-B801-AC7BD3453C85}"/>
              </a:ext>
            </a:extLst>
          </p:cNvPr>
          <p:cNvSpPr/>
          <p:nvPr/>
        </p:nvSpPr>
        <p:spPr>
          <a:xfrm>
            <a:off x="11164965" y="2051595"/>
            <a:ext cx="324036" cy="323155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>
              <a:spcBef>
                <a:spcPts val="600"/>
              </a:spcBef>
            </a:pPr>
            <a:r>
              <a:rPr lang="ja-JP" altLang="en-US" sz="1600" dirty="0">
                <a:solidFill>
                  <a:schemeClr val="accent4"/>
                </a:solidFill>
              </a:rPr>
              <a:t>「公共財の全社活用」と関連性のあるテーマ</a:t>
            </a:r>
            <a:endParaRPr lang="en-US" altLang="ja-JP" sz="1600" dirty="0">
              <a:solidFill>
                <a:schemeClr val="accent4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74302F5-E41C-490E-A655-B12B57AE5A2D}"/>
              </a:ext>
            </a:extLst>
          </p:cNvPr>
          <p:cNvSpPr/>
          <p:nvPr/>
        </p:nvSpPr>
        <p:spPr>
          <a:xfrm>
            <a:off x="3255583" y="4057295"/>
            <a:ext cx="2417117" cy="3196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i="1" dirty="0">
                <a:solidFill>
                  <a:schemeClr val="accent4"/>
                </a:solidFill>
              </a:rPr>
              <a:t>Wayport Optimization Control</a:t>
            </a:r>
            <a:endParaRPr kumimoji="1" lang="en-GB" sz="1400" b="1" i="1" dirty="0">
              <a:solidFill>
                <a:schemeClr val="accent4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87FF2F7-0122-4E0E-A497-710439F19075}"/>
              </a:ext>
            </a:extLst>
          </p:cNvPr>
          <p:cNvSpPr/>
          <p:nvPr/>
        </p:nvSpPr>
        <p:spPr>
          <a:xfrm>
            <a:off x="636625" y="2312411"/>
            <a:ext cx="1030884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SYM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CFA3E9D-D26A-4817-9D3B-1CBBCE2AB084}"/>
              </a:ext>
            </a:extLst>
          </p:cNvPr>
          <p:cNvSpPr/>
          <p:nvPr/>
        </p:nvSpPr>
        <p:spPr>
          <a:xfrm>
            <a:off x="3255583" y="3621074"/>
            <a:ext cx="2417117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GSE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802FA17-6DB8-44FF-8BC6-BA86E7F2BB03}"/>
              </a:ext>
            </a:extLst>
          </p:cNvPr>
          <p:cNvSpPr/>
          <p:nvPr/>
        </p:nvSpPr>
        <p:spPr>
          <a:xfrm>
            <a:off x="3255583" y="3184853"/>
            <a:ext cx="2417117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GYM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93DCD874-F090-43C7-996E-3BB2A5DBBEBB}"/>
              </a:ext>
            </a:extLst>
          </p:cNvPr>
          <p:cNvSpPr/>
          <p:nvPr/>
        </p:nvSpPr>
        <p:spPr>
          <a:xfrm>
            <a:off x="5466133" y="4005545"/>
            <a:ext cx="498389" cy="229823"/>
          </a:xfrm>
          <a:prstGeom prst="ellips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i="1" dirty="0">
                <a:solidFill>
                  <a:schemeClr val="bg1"/>
                </a:solidFill>
              </a:rPr>
              <a:t>New</a:t>
            </a:r>
            <a:endParaRPr kumimoji="1" lang="ja-JP" altLang="en-US" sz="1400" b="1" i="1" dirty="0">
              <a:solidFill>
                <a:schemeClr val="bg1"/>
              </a:solidFill>
            </a:endParaRPr>
          </a:p>
        </p:txBody>
      </p: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36C2ABF9-FE7F-4F13-8FD2-4D0CDC76B126}"/>
              </a:ext>
            </a:extLst>
          </p:cNvPr>
          <p:cNvCxnSpPr>
            <a:stCxn id="43" idx="2"/>
            <a:endCxn id="44" idx="1"/>
          </p:cNvCxnSpPr>
          <p:nvPr/>
        </p:nvCxnSpPr>
        <p:spPr>
          <a:xfrm rot="16200000" flipH="1">
            <a:off x="1410896" y="2373266"/>
            <a:ext cx="276379" cy="794037"/>
          </a:xfrm>
          <a:prstGeom prst="bentConnector2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2242813F-FB21-47AB-9D23-E0E9A5CF4F0B}"/>
              </a:ext>
            </a:extLst>
          </p:cNvPr>
          <p:cNvCxnSpPr>
            <a:cxnSpLocks/>
            <a:stCxn id="46" idx="1"/>
            <a:endCxn id="44" idx="2"/>
          </p:cNvCxnSpPr>
          <p:nvPr/>
        </p:nvCxnSpPr>
        <p:spPr>
          <a:xfrm rot="10800000">
            <a:off x="2461547" y="3068318"/>
            <a:ext cx="794037" cy="276379"/>
          </a:xfrm>
          <a:prstGeom prst="bentConnector2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2F360D0-04CC-4C4D-A376-59B9660A75FE}"/>
              </a:ext>
            </a:extLst>
          </p:cNvPr>
          <p:cNvSpPr/>
          <p:nvPr/>
        </p:nvSpPr>
        <p:spPr>
          <a:xfrm>
            <a:off x="848544" y="2022804"/>
            <a:ext cx="60704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i="1" dirty="0">
                <a:solidFill>
                  <a:schemeClr val="tx1"/>
                </a:solidFill>
              </a:rPr>
              <a:t>Dept</a:t>
            </a:r>
            <a:endParaRPr lang="ja-JP" altLang="en-US" sz="1400" b="1" i="1" dirty="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EBC76AA-8AA5-4EB4-AEBB-FE8544037080}"/>
              </a:ext>
            </a:extLst>
          </p:cNvPr>
          <p:cNvSpPr/>
          <p:nvPr/>
        </p:nvSpPr>
        <p:spPr>
          <a:xfrm>
            <a:off x="1946104" y="2748632"/>
            <a:ext cx="1030884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YM</a:t>
            </a:r>
            <a:endParaRPr lang="en-GB" sz="1400" dirty="0">
              <a:solidFill>
                <a:schemeClr val="tx1"/>
              </a:solidFill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37EBD9CC-D884-4B5C-B6A3-3BDC4735BB8A}"/>
              </a:ext>
            </a:extLst>
          </p:cNvPr>
          <p:cNvGrpSpPr/>
          <p:nvPr/>
        </p:nvGrpSpPr>
        <p:grpSpPr>
          <a:xfrm>
            <a:off x="1946104" y="4493516"/>
            <a:ext cx="1030884" cy="1192126"/>
            <a:chOff x="1946104" y="4929737"/>
            <a:chExt cx="1030884" cy="1192126"/>
          </a:xfrm>
        </p:grpSpPr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E7B7399E-B84D-44BB-91CC-B1073AF4692D}"/>
                </a:ext>
              </a:extLst>
            </p:cNvPr>
            <p:cNvSpPr/>
            <p:nvPr/>
          </p:nvSpPr>
          <p:spPr>
            <a:xfrm>
              <a:off x="1946104" y="4929737"/>
              <a:ext cx="1030884" cy="3196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dirty="0">
                  <a:solidFill>
                    <a:schemeClr val="tx1"/>
                  </a:solidFill>
                </a:rPr>
                <a:t>GRSC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2C7AA797-D01E-4F61-980B-80F7DA1CF352}"/>
                </a:ext>
              </a:extLst>
            </p:cNvPr>
            <p:cNvSpPr/>
            <p:nvPr/>
          </p:nvSpPr>
          <p:spPr>
            <a:xfrm>
              <a:off x="1946104" y="5365958"/>
              <a:ext cx="1030884" cy="3196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dirty="0">
                  <a:solidFill>
                    <a:schemeClr val="tx1"/>
                  </a:solidFill>
                </a:rPr>
                <a:t>IOP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0916543F-0886-4DFD-AF71-D6D296E0C6CB}"/>
                </a:ext>
              </a:extLst>
            </p:cNvPr>
            <p:cNvSpPr/>
            <p:nvPr/>
          </p:nvSpPr>
          <p:spPr>
            <a:xfrm>
              <a:off x="1946104" y="5802178"/>
              <a:ext cx="1030884" cy="3196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dirty="0">
                  <a:solidFill>
                    <a:schemeClr val="tx1"/>
                  </a:solidFill>
                </a:rPr>
                <a:t>OMCC</a:t>
              </a:r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84BB12FA-923A-4388-AD22-15FFAFB972B4}"/>
              </a:ext>
            </a:extLst>
          </p:cNvPr>
          <p:cNvCxnSpPr>
            <a:cxnSpLocks/>
            <a:stCxn id="47" idx="1"/>
            <a:endCxn id="48" idx="1"/>
          </p:cNvCxnSpPr>
          <p:nvPr/>
        </p:nvCxnSpPr>
        <p:spPr>
          <a:xfrm rot="10800000" flipV="1">
            <a:off x="1946104" y="4653358"/>
            <a:ext cx="12700" cy="436221"/>
          </a:xfrm>
          <a:prstGeom prst="bentConnector3">
            <a:avLst>
              <a:gd name="adj1" fmla="val 1800000"/>
            </a:avLst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931199B6-99A3-4105-8D47-629BDE9B00EA}"/>
              </a:ext>
            </a:extLst>
          </p:cNvPr>
          <p:cNvSpPr/>
          <p:nvPr/>
        </p:nvSpPr>
        <p:spPr>
          <a:xfrm>
            <a:off x="2158023" y="2022804"/>
            <a:ext cx="60704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i="1" dirty="0">
                <a:solidFill>
                  <a:schemeClr val="tx1"/>
                </a:solidFill>
              </a:rPr>
              <a:t>Team</a:t>
            </a:r>
            <a:endParaRPr lang="ja-JP" altLang="en-US" sz="1400" b="1" i="1" dirty="0">
              <a:solidFill>
                <a:schemeClr val="tx1"/>
              </a:solidFill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73ED30E3-44E4-471B-9295-BDB552200F61}"/>
              </a:ext>
            </a:extLst>
          </p:cNvPr>
          <p:cNvSpPr/>
          <p:nvPr/>
        </p:nvSpPr>
        <p:spPr>
          <a:xfrm>
            <a:off x="4160618" y="2022804"/>
            <a:ext cx="607046" cy="2922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i="1" dirty="0">
                <a:solidFill>
                  <a:schemeClr val="tx1"/>
                </a:solidFill>
              </a:rPr>
              <a:t>Unit</a:t>
            </a:r>
            <a:endParaRPr lang="ja-JP" altLang="en-US" sz="1400" b="1" i="1" dirty="0">
              <a:solidFill>
                <a:schemeClr val="tx1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CBD1CCEF-A17C-4DF2-BC59-B08403981C7B}"/>
              </a:ext>
            </a:extLst>
          </p:cNvPr>
          <p:cNvSpPr/>
          <p:nvPr/>
        </p:nvSpPr>
        <p:spPr>
          <a:xfrm>
            <a:off x="3409085" y="4474575"/>
            <a:ext cx="2311868" cy="502524"/>
          </a:xfrm>
          <a:prstGeom prst="rect">
            <a:avLst/>
          </a:prstGeom>
          <a:noFill/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i="1" dirty="0">
                <a:solidFill>
                  <a:schemeClr val="accent4"/>
                </a:solidFill>
              </a:rPr>
              <a:t>1FTE + SYM Branch Office Support</a:t>
            </a:r>
            <a:r>
              <a:rPr lang="ja-JP" altLang="en-US" sz="1400" b="1" i="1" dirty="0">
                <a:solidFill>
                  <a:schemeClr val="accent4"/>
                </a:solidFill>
              </a:rPr>
              <a:t> </a:t>
            </a:r>
            <a:r>
              <a:rPr lang="en-US" altLang="ja-JP" sz="1400" b="1" i="1" dirty="0">
                <a:solidFill>
                  <a:schemeClr val="accent4"/>
                </a:solidFill>
              </a:rPr>
              <a:t>(2FTE)</a:t>
            </a:r>
            <a:endParaRPr lang="ja-JP" altLang="en-US" sz="1400" b="1" i="1" dirty="0">
              <a:solidFill>
                <a:schemeClr val="accent4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7CA266B-2214-4AA4-B3A9-FB12DE0CBE1B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OCN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75396DD-1CE2-46E3-BE87-DB768C37C880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7330A322-BC19-4100-A576-FFBA00D06922}"/>
              </a:ext>
            </a:extLst>
          </p:cNvPr>
          <p:cNvSpPr/>
          <p:nvPr/>
        </p:nvSpPr>
        <p:spPr>
          <a:xfrm>
            <a:off x="2351584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Target G</a:t>
            </a:r>
          </a:p>
        </p:txBody>
      </p: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A759F2FB-2885-495E-9B1F-68CB2D93DA75}"/>
              </a:ext>
            </a:extLst>
          </p:cNvPr>
          <p:cNvCxnSpPr>
            <a:cxnSpLocks/>
            <a:stCxn id="46" idx="1"/>
            <a:endCxn id="37" idx="1"/>
          </p:cNvCxnSpPr>
          <p:nvPr/>
        </p:nvCxnSpPr>
        <p:spPr>
          <a:xfrm rot="10800000" flipV="1">
            <a:off x="3255583" y="3344696"/>
            <a:ext cx="12700" cy="872442"/>
          </a:xfrm>
          <a:prstGeom prst="bentConnector3">
            <a:avLst>
              <a:gd name="adj1" fmla="val 1800000"/>
            </a:avLst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48141CF0-E883-40D1-8C40-4BC5414002E3}"/>
              </a:ext>
            </a:extLst>
          </p:cNvPr>
          <p:cNvSpPr/>
          <p:nvPr/>
        </p:nvSpPr>
        <p:spPr>
          <a:xfrm>
            <a:off x="1820560" y="6147627"/>
            <a:ext cx="2197379" cy="22563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(Service Quality Assurance)</a:t>
            </a:r>
            <a:endParaRPr kumimoji="1" lang="en-GB" sz="1200" dirty="0">
              <a:solidFill>
                <a:schemeClr val="tx1"/>
              </a:solidFill>
            </a:endParaRPr>
          </a:p>
        </p:txBody>
      </p:sp>
      <p:cxnSp>
        <p:nvCxnSpPr>
          <p:cNvPr id="64" name="コネクタ: カギ線 63">
            <a:extLst>
              <a:ext uri="{FF2B5EF4-FFF2-40B4-BE49-F238E27FC236}">
                <a16:creationId xmlns:a16="http://schemas.microsoft.com/office/drawing/2014/main" id="{44B450D5-8AE6-42DB-BDC5-8C90249CAAC8}"/>
              </a:ext>
            </a:extLst>
          </p:cNvPr>
          <p:cNvCxnSpPr>
            <a:cxnSpLocks/>
            <a:stCxn id="46" idx="1"/>
            <a:endCxn id="45" idx="1"/>
          </p:cNvCxnSpPr>
          <p:nvPr/>
        </p:nvCxnSpPr>
        <p:spPr>
          <a:xfrm rot="10800000" flipV="1">
            <a:off x="3255583" y="3344695"/>
            <a:ext cx="12700" cy="436221"/>
          </a:xfrm>
          <a:prstGeom prst="bentConnector3">
            <a:avLst>
              <a:gd name="adj1" fmla="val 1800000"/>
            </a:avLst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57660B20-5AC3-4E29-AB69-1639124BF3D6}"/>
              </a:ext>
            </a:extLst>
          </p:cNvPr>
          <p:cNvSpPr/>
          <p:nvPr/>
        </p:nvSpPr>
        <p:spPr>
          <a:xfrm>
            <a:off x="1946104" y="5802178"/>
            <a:ext cx="1030884" cy="31968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SQA</a:t>
            </a:r>
            <a:endParaRPr kumimoji="1" lang="en-GB" sz="1400" dirty="0">
              <a:solidFill>
                <a:schemeClr val="tx1"/>
              </a:solidFill>
            </a:endParaRPr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C8721E6E-F014-42AF-8F44-6F8E3D1E65FE}"/>
              </a:ext>
            </a:extLst>
          </p:cNvPr>
          <p:cNvSpPr/>
          <p:nvPr/>
        </p:nvSpPr>
        <p:spPr>
          <a:xfrm>
            <a:off x="2769894" y="5715299"/>
            <a:ext cx="498389" cy="22982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i="1" dirty="0">
                <a:solidFill>
                  <a:schemeClr val="accent4"/>
                </a:solidFill>
              </a:rPr>
              <a:t>New</a:t>
            </a:r>
            <a:endParaRPr kumimoji="1" lang="ja-JP" altLang="en-US" sz="1400" i="1" dirty="0">
              <a:solidFill>
                <a:schemeClr val="accent4"/>
              </a:solidFill>
            </a:endParaRPr>
          </a:p>
        </p:txBody>
      </p: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4C4467CF-7A5F-41E2-A498-0E8885A992AF}"/>
              </a:ext>
            </a:extLst>
          </p:cNvPr>
          <p:cNvCxnSpPr>
            <a:cxnSpLocks/>
            <a:stCxn id="44" idx="1"/>
            <a:endCxn id="66" idx="1"/>
          </p:cNvCxnSpPr>
          <p:nvPr/>
        </p:nvCxnSpPr>
        <p:spPr>
          <a:xfrm rot="10800000" flipV="1">
            <a:off x="1946104" y="2908475"/>
            <a:ext cx="12700" cy="3053546"/>
          </a:xfrm>
          <a:prstGeom prst="bentConnector3">
            <a:avLst>
              <a:gd name="adj1" fmla="val 1800000"/>
            </a:avLst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BACF46FE-C74E-4E4D-94BE-0F53983F11BB}"/>
              </a:ext>
            </a:extLst>
          </p:cNvPr>
          <p:cNvCxnSpPr>
            <a:cxnSpLocks/>
            <a:stCxn id="48" idx="1"/>
            <a:endCxn id="49" idx="1"/>
          </p:cNvCxnSpPr>
          <p:nvPr/>
        </p:nvCxnSpPr>
        <p:spPr>
          <a:xfrm rot="10800000" flipV="1">
            <a:off x="1946104" y="5089580"/>
            <a:ext cx="12700" cy="436220"/>
          </a:xfrm>
          <a:prstGeom prst="bentConnector3">
            <a:avLst>
              <a:gd name="adj1" fmla="val 1800000"/>
            </a:avLst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094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5DDF44C5-D838-4032-A43C-D9F2A3C23C4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48236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446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9" name="オブジェクト 8" hidden="1">
                        <a:extLst>
                          <a:ext uri="{FF2B5EF4-FFF2-40B4-BE49-F238E27FC236}">
                            <a16:creationId xmlns:a16="http://schemas.microsoft.com/office/drawing/2014/main" id="{5DDF44C5-D838-4032-A43C-D9F2A3C23C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C24E5A6-EBD5-4B50-8D26-8E48C0BA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   公共財の全社活用</a:t>
            </a:r>
            <a:r>
              <a:rPr kumimoji="1" lang="en-US" altLang="ja-JP" dirty="0"/>
              <a:t>Project  (2) </a:t>
            </a:r>
            <a:r>
              <a:rPr kumimoji="1" lang="ja-JP" altLang="en-US" dirty="0"/>
              <a:t>想定テーマ</a:t>
            </a:r>
            <a:endParaRPr kumimoji="1" lang="en-US" altLang="ja-JP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FA2C5374-770D-48AF-A9A5-3E4F00012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624" y="613646"/>
            <a:ext cx="11650663" cy="949280"/>
          </a:xfrm>
        </p:spPr>
        <p:txBody>
          <a:bodyPr/>
          <a:lstStyle/>
          <a:p>
            <a:r>
              <a:rPr lang="en-US" altLang="ja-JP" dirty="0"/>
              <a:t>Risk</a:t>
            </a:r>
            <a:r>
              <a:rPr lang="ja-JP" altLang="en-US" dirty="0"/>
              <a:t>と</a:t>
            </a:r>
            <a:r>
              <a:rPr lang="en-US" altLang="ja-JP" dirty="0"/>
              <a:t>Opportunity</a:t>
            </a:r>
            <a:r>
              <a:rPr lang="ja-JP" altLang="en-US" dirty="0"/>
              <a:t>をバランスよく踏まえた戦略と、ヒトの思考・行動を含む組織設計がポイントか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3A3D650-D612-491E-8481-74C57715D036}"/>
              </a:ext>
            </a:extLst>
          </p:cNvPr>
          <p:cNvSpPr/>
          <p:nvPr/>
        </p:nvSpPr>
        <p:spPr>
          <a:xfrm>
            <a:off x="404483" y="1983462"/>
            <a:ext cx="2142869" cy="8541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44000" bIns="216000" rtlCol="0" anchor="t"/>
          <a:lstStyle/>
          <a:p>
            <a:pPr algn="ctr"/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2E74E608-49E1-4482-B671-BD41686B70BF}"/>
              </a:ext>
            </a:extLst>
          </p:cNvPr>
          <p:cNvSpPr/>
          <p:nvPr/>
        </p:nvSpPr>
        <p:spPr>
          <a:xfrm>
            <a:off x="525919" y="1881812"/>
            <a:ext cx="1899997" cy="20329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200" i="1" u="sng" dirty="0">
                <a:solidFill>
                  <a:schemeClr val="tx1"/>
                </a:solidFill>
              </a:rPr>
              <a:t>Opportunity Assessment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B874CBBD-36ED-42E1-BAE6-36A1BDF5D185}"/>
              </a:ext>
            </a:extLst>
          </p:cNvPr>
          <p:cNvSpPr/>
          <p:nvPr/>
        </p:nvSpPr>
        <p:spPr>
          <a:xfrm>
            <a:off x="487069" y="2162989"/>
            <a:ext cx="882339" cy="2011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Volume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EF50EAEF-8827-4B23-8D2F-F455C39CC0A7}"/>
              </a:ext>
            </a:extLst>
          </p:cNvPr>
          <p:cNvSpPr/>
          <p:nvPr/>
        </p:nvSpPr>
        <p:spPr>
          <a:xfrm>
            <a:off x="1582427" y="2162989"/>
            <a:ext cx="882339" cy="2011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Commodity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" name="十字形 5">
            <a:extLst>
              <a:ext uri="{FF2B5EF4-FFF2-40B4-BE49-F238E27FC236}">
                <a16:creationId xmlns:a16="http://schemas.microsoft.com/office/drawing/2014/main" id="{D037B927-0425-407B-9A0A-1C80F1C4C97B}"/>
              </a:ext>
            </a:extLst>
          </p:cNvPr>
          <p:cNvSpPr>
            <a:spLocks noChangeAspect="1"/>
          </p:cNvSpPr>
          <p:nvPr/>
        </p:nvSpPr>
        <p:spPr>
          <a:xfrm rot="2700000">
            <a:off x="1390070" y="2167097"/>
            <a:ext cx="171694" cy="176917"/>
          </a:xfrm>
          <a:prstGeom prst="plus">
            <a:avLst>
              <a:gd name="adj" fmla="val 41402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E16C1FE0-F7A1-4D6A-B2A4-CA185F67DE98}"/>
              </a:ext>
            </a:extLst>
          </p:cNvPr>
          <p:cNvSpPr/>
          <p:nvPr/>
        </p:nvSpPr>
        <p:spPr>
          <a:xfrm>
            <a:off x="404483" y="3122425"/>
            <a:ext cx="2142869" cy="142484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44000" bIns="216000" rtlCol="0" anchor="t"/>
          <a:lstStyle/>
          <a:p>
            <a:pPr algn="ctr"/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7A8982A-4FC3-4E6B-BF97-40468B51165A}"/>
              </a:ext>
            </a:extLst>
          </p:cNvPr>
          <p:cNvSpPr/>
          <p:nvPr/>
        </p:nvSpPr>
        <p:spPr>
          <a:xfrm>
            <a:off x="827056" y="3018147"/>
            <a:ext cx="1297723" cy="20329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200" i="1" u="sng" dirty="0">
                <a:solidFill>
                  <a:schemeClr val="tx1"/>
                </a:solidFill>
              </a:rPr>
              <a:t>Risk Assessment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44F4A150-40D2-4360-A5B2-4597887B51DD}"/>
              </a:ext>
            </a:extLst>
          </p:cNvPr>
          <p:cNvSpPr/>
          <p:nvPr/>
        </p:nvSpPr>
        <p:spPr>
          <a:xfrm>
            <a:off x="2679619" y="2187775"/>
            <a:ext cx="201755" cy="2137006"/>
          </a:xfrm>
          <a:prstGeom prst="rightArrow">
            <a:avLst>
              <a:gd name="adj1" fmla="val 62567"/>
              <a:gd name="adj2" fmla="val 100000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37E3FE9A-89AC-42FF-992C-759124E08C93}"/>
              </a:ext>
            </a:extLst>
          </p:cNvPr>
          <p:cNvSpPr/>
          <p:nvPr/>
        </p:nvSpPr>
        <p:spPr>
          <a:xfrm>
            <a:off x="2963724" y="1983462"/>
            <a:ext cx="1689330" cy="256381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44000" bIns="216000" rtlCol="0" anchor="t"/>
          <a:lstStyle/>
          <a:p>
            <a:pPr algn="ctr"/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25129E2D-B3BD-4094-90C0-7CDB3A9A332D}"/>
              </a:ext>
            </a:extLst>
          </p:cNvPr>
          <p:cNvSpPr/>
          <p:nvPr/>
        </p:nvSpPr>
        <p:spPr>
          <a:xfrm>
            <a:off x="3521535" y="1877009"/>
            <a:ext cx="605397" cy="20329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200" i="1" u="sng" dirty="0">
                <a:solidFill>
                  <a:schemeClr val="tx1"/>
                </a:solidFill>
              </a:rPr>
              <a:t>Target</a:t>
            </a: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745D9086-4412-4A40-84D9-B3F5D3C8FA7C}"/>
              </a:ext>
            </a:extLst>
          </p:cNvPr>
          <p:cNvSpPr/>
          <p:nvPr/>
        </p:nvSpPr>
        <p:spPr>
          <a:xfrm>
            <a:off x="9120840" y="3677493"/>
            <a:ext cx="882339" cy="22129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Operation</a:t>
            </a: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AF2B39B5-2153-4C0D-B236-4D5F26FD0421}"/>
              </a:ext>
            </a:extLst>
          </p:cNvPr>
          <p:cNvSpPr/>
          <p:nvPr/>
        </p:nvSpPr>
        <p:spPr>
          <a:xfrm>
            <a:off x="3067811" y="2363279"/>
            <a:ext cx="1422588" cy="5193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000" dirty="0">
                <a:solidFill>
                  <a:schemeClr val="tx1"/>
                </a:solidFill>
              </a:rPr>
              <a:t>Rollover</a:t>
            </a:r>
            <a:r>
              <a:rPr lang="ja-JP" altLang="en-US" sz="1000" dirty="0">
                <a:solidFill>
                  <a:schemeClr val="tx1"/>
                </a:solidFill>
              </a:rPr>
              <a:t>等による遅延の影響を、相対的に受けにくい顧客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951F940D-0E4A-489A-A82C-CC51F7C65D0A}"/>
              </a:ext>
            </a:extLst>
          </p:cNvPr>
          <p:cNvSpPr/>
          <p:nvPr/>
        </p:nvSpPr>
        <p:spPr>
          <a:xfrm>
            <a:off x="3067811" y="3138909"/>
            <a:ext cx="1422588" cy="39067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ja-JP" altLang="en-US" sz="1000" dirty="0">
                <a:solidFill>
                  <a:schemeClr val="tx1"/>
                </a:solidFill>
              </a:rPr>
              <a:t>各</a:t>
            </a:r>
            <a:r>
              <a:rPr lang="en-US" altLang="ja-JP" sz="1000" dirty="0">
                <a:solidFill>
                  <a:schemeClr val="tx1"/>
                </a:solidFill>
              </a:rPr>
              <a:t>Region</a:t>
            </a:r>
            <a:r>
              <a:rPr lang="ja-JP" altLang="en-US" sz="1000" dirty="0">
                <a:solidFill>
                  <a:schemeClr val="tx1"/>
                </a:solidFill>
              </a:rPr>
              <a:t>に特化した海運会社との競争環境も踏まえた</a:t>
            </a:r>
            <a:r>
              <a:rPr lang="en-US" altLang="ja-JP" sz="1000" dirty="0">
                <a:solidFill>
                  <a:schemeClr val="tx1"/>
                </a:solidFill>
              </a:rPr>
              <a:t>CM</a:t>
            </a:r>
            <a:r>
              <a:rPr lang="ja-JP" altLang="en-US" sz="1000" dirty="0">
                <a:solidFill>
                  <a:schemeClr val="tx1"/>
                </a:solidFill>
              </a:rPr>
              <a:t>設定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2B2C07C3-64BA-44D2-AE3D-47B1B5E55658}"/>
              </a:ext>
            </a:extLst>
          </p:cNvPr>
          <p:cNvSpPr/>
          <p:nvPr/>
        </p:nvSpPr>
        <p:spPr>
          <a:xfrm>
            <a:off x="3067811" y="3939004"/>
            <a:ext cx="1422588" cy="37576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000" dirty="0">
                <a:solidFill>
                  <a:schemeClr val="tx1"/>
                </a:solidFill>
              </a:rPr>
              <a:t>OCN</a:t>
            </a:r>
            <a:r>
              <a:rPr lang="ja-JP" altLang="en-US" sz="1000" dirty="0">
                <a:solidFill>
                  <a:schemeClr val="tx1"/>
                </a:solidFill>
              </a:rPr>
              <a:t>への</a:t>
            </a:r>
            <a:r>
              <a:rPr lang="en-US" altLang="ja-JP" sz="1000" dirty="0">
                <a:solidFill>
                  <a:schemeClr val="tx1"/>
                </a:solidFill>
              </a:rPr>
              <a:t>Allocation</a:t>
            </a:r>
            <a:r>
              <a:rPr lang="ja-JP" altLang="en-US" sz="1000" dirty="0">
                <a:solidFill>
                  <a:schemeClr val="tx1"/>
                </a:solidFill>
              </a:rPr>
              <a:t>を踏まえた、消席率目標の設定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106" name="コネクタ: カギ線 105">
            <a:extLst>
              <a:ext uri="{FF2B5EF4-FFF2-40B4-BE49-F238E27FC236}">
                <a16:creationId xmlns:a16="http://schemas.microsoft.com/office/drawing/2014/main" id="{2538B5D8-196B-4715-AD88-897825C2E11B}"/>
              </a:ext>
            </a:extLst>
          </p:cNvPr>
          <p:cNvCxnSpPr>
            <a:cxnSpLocks/>
            <a:stCxn id="145" idx="3"/>
          </p:cNvCxnSpPr>
          <p:nvPr/>
        </p:nvCxnSpPr>
        <p:spPr>
          <a:xfrm>
            <a:off x="4407644" y="3841345"/>
            <a:ext cx="785379" cy="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8EB055-E7D4-45DD-B6D8-A9F5668D110C}"/>
              </a:ext>
            </a:extLst>
          </p:cNvPr>
          <p:cNvSpPr/>
          <p:nvPr/>
        </p:nvSpPr>
        <p:spPr>
          <a:xfrm>
            <a:off x="232081" y="1443131"/>
            <a:ext cx="4572508" cy="3196993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 anchor="ctr"/>
          <a:lstStyle/>
          <a:p>
            <a:pPr algn="ctr"/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0E0FD08-F554-4312-90E5-641EAA648AAA}"/>
              </a:ext>
            </a:extLst>
          </p:cNvPr>
          <p:cNvSpPr/>
          <p:nvPr/>
        </p:nvSpPr>
        <p:spPr>
          <a:xfrm>
            <a:off x="8904312" y="1443131"/>
            <a:ext cx="3096344" cy="3196993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 anchor="ctr"/>
          <a:lstStyle/>
          <a:p>
            <a:pPr algn="ctr"/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EEC84DE-AECC-4952-87C0-9C0560AFA5AA}"/>
              </a:ext>
            </a:extLst>
          </p:cNvPr>
          <p:cNvSpPr/>
          <p:nvPr/>
        </p:nvSpPr>
        <p:spPr>
          <a:xfrm>
            <a:off x="5002341" y="1443131"/>
            <a:ext cx="3704220" cy="3196993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 anchor="ctr"/>
          <a:lstStyle/>
          <a:p>
            <a:pPr algn="ctr"/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84" name="矢印: 下 83">
            <a:extLst>
              <a:ext uri="{FF2B5EF4-FFF2-40B4-BE49-F238E27FC236}">
                <a16:creationId xmlns:a16="http://schemas.microsoft.com/office/drawing/2014/main" id="{4165C000-9EB4-4DAF-9E49-DCF3869D5F1F}"/>
              </a:ext>
            </a:extLst>
          </p:cNvPr>
          <p:cNvSpPr/>
          <p:nvPr/>
        </p:nvSpPr>
        <p:spPr>
          <a:xfrm>
            <a:off x="5209567" y="1920550"/>
            <a:ext cx="621463" cy="765708"/>
          </a:xfrm>
          <a:prstGeom prst="downArrow">
            <a:avLst>
              <a:gd name="adj1" fmla="val 100000"/>
              <a:gd name="adj2" fmla="val 23293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</a:rPr>
              <a:t>Negotiation</a:t>
            </a:r>
            <a:br>
              <a:rPr kumimoji="1" lang="en-US" altLang="ja-JP" sz="1100" dirty="0">
                <a:solidFill>
                  <a:schemeClr val="tx1"/>
                </a:solidFill>
              </a:rPr>
            </a:br>
            <a:r>
              <a:rPr kumimoji="1" lang="ja-JP" altLang="en-US" sz="1100" dirty="0">
                <a:solidFill>
                  <a:schemeClr val="tx1"/>
                </a:solidFill>
              </a:rPr>
              <a:t>～</a:t>
            </a:r>
            <a:br>
              <a:rPr kumimoji="1" lang="en-US" altLang="ja-JP" sz="1100" dirty="0">
                <a:solidFill>
                  <a:schemeClr val="tx1"/>
                </a:solidFill>
              </a:rPr>
            </a:br>
            <a:r>
              <a:rPr lang="en-US" altLang="ja-JP" sz="1100" dirty="0">
                <a:solidFill>
                  <a:schemeClr val="tx1"/>
                </a:solidFill>
              </a:rPr>
              <a:t>Contract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F14D2B7-4D6D-4CA6-90BF-F9F5C411022E}"/>
              </a:ext>
            </a:extLst>
          </p:cNvPr>
          <p:cNvSpPr/>
          <p:nvPr/>
        </p:nvSpPr>
        <p:spPr>
          <a:xfrm>
            <a:off x="5872003" y="1920550"/>
            <a:ext cx="2780206" cy="65238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ctr"/>
          <a:lstStyle/>
          <a:p>
            <a:pPr marL="85725" indent="-85725" eaLnBrk="1" hangingPunct="1"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ja-JP" altLang="en-US" sz="1000" dirty="0">
                <a:solidFill>
                  <a:schemeClr val="tx1"/>
                </a:solidFill>
              </a:rPr>
              <a:t>ターゲッティング方針に基づく顧客選定</a:t>
            </a:r>
            <a:br>
              <a:rPr lang="en-US" altLang="ja-JP" sz="1000" dirty="0">
                <a:solidFill>
                  <a:schemeClr val="tx1"/>
                </a:solidFill>
              </a:rPr>
            </a:br>
            <a:r>
              <a:rPr lang="ja-JP" altLang="en-US" sz="1000" dirty="0">
                <a:solidFill>
                  <a:schemeClr val="tx1"/>
                </a:solidFill>
              </a:rPr>
              <a:t>（遅延リスクの許容度が高い顧客等）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marL="85725" indent="-85725" eaLnBrk="1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000" dirty="0">
                <a:solidFill>
                  <a:schemeClr val="tx1"/>
                </a:solidFill>
              </a:rPr>
              <a:t>Minimum CM</a:t>
            </a:r>
            <a:r>
              <a:rPr lang="ja-JP" altLang="en-US" sz="1000" dirty="0">
                <a:solidFill>
                  <a:schemeClr val="tx1"/>
                </a:solidFill>
              </a:rPr>
              <a:t>やその他契約条件の標準化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7CC7ED1C-6037-49B8-B6E7-BF25B254C2AE}"/>
              </a:ext>
            </a:extLst>
          </p:cNvPr>
          <p:cNvSpPr/>
          <p:nvPr/>
        </p:nvSpPr>
        <p:spPr>
          <a:xfrm>
            <a:off x="5072082" y="1615447"/>
            <a:ext cx="3347612" cy="23595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ja-JP" altLang="en-US" sz="1200" dirty="0">
                <a:solidFill>
                  <a:schemeClr val="tx1"/>
                </a:solidFill>
              </a:rPr>
              <a:t>明確なルールとプロセスに基づく</a:t>
            </a:r>
            <a:r>
              <a:rPr lang="en-US" altLang="ja-JP" sz="1200" dirty="0">
                <a:solidFill>
                  <a:schemeClr val="tx1"/>
                </a:solidFill>
              </a:rPr>
              <a:t>Planning</a:t>
            </a:r>
            <a:r>
              <a:rPr lang="ja-JP" altLang="en-US" sz="1200" dirty="0">
                <a:solidFill>
                  <a:schemeClr val="tx1"/>
                </a:solidFill>
              </a:rPr>
              <a:t>、</a:t>
            </a:r>
            <a:r>
              <a:rPr lang="en-US" altLang="ja-JP" sz="1200" dirty="0">
                <a:solidFill>
                  <a:schemeClr val="tx1"/>
                </a:solidFill>
              </a:rPr>
              <a:t>Execution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270FB4D6-6FF7-43CD-BB07-BC6C9419A73A}"/>
              </a:ext>
            </a:extLst>
          </p:cNvPr>
          <p:cNvSpPr/>
          <p:nvPr/>
        </p:nvSpPr>
        <p:spPr>
          <a:xfrm>
            <a:off x="5872003" y="2697067"/>
            <a:ext cx="2780206" cy="51718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ctr"/>
          <a:lstStyle/>
          <a:p>
            <a:pPr marL="85725" indent="-85725"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000" dirty="0">
                <a:solidFill>
                  <a:schemeClr val="tx1"/>
                </a:solidFill>
              </a:rPr>
              <a:t>ONE QUOTE</a:t>
            </a:r>
            <a:r>
              <a:rPr lang="ja-JP" altLang="en-US" sz="1000" dirty="0">
                <a:solidFill>
                  <a:schemeClr val="tx1"/>
                </a:solidFill>
              </a:rPr>
              <a:t>の枠組みを利用し、ダイナミックプライシング（当面は、</a:t>
            </a:r>
            <a:r>
              <a:rPr lang="en-US" altLang="ja-JP" sz="1000" dirty="0">
                <a:solidFill>
                  <a:schemeClr val="tx1"/>
                </a:solidFill>
              </a:rPr>
              <a:t>Intra-Asia Trade</a:t>
            </a:r>
            <a:r>
              <a:rPr lang="ja-JP" altLang="en-US" sz="1000" dirty="0">
                <a:solidFill>
                  <a:schemeClr val="tx1"/>
                </a:solidFill>
              </a:rPr>
              <a:t>内のプライシングチームが実施か）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88" name="矢印: 下 87">
            <a:extLst>
              <a:ext uri="{FF2B5EF4-FFF2-40B4-BE49-F238E27FC236}">
                <a16:creationId xmlns:a16="http://schemas.microsoft.com/office/drawing/2014/main" id="{4D55432E-03A8-4140-A2D7-81D4C28A1DC5}"/>
              </a:ext>
            </a:extLst>
          </p:cNvPr>
          <p:cNvSpPr/>
          <p:nvPr/>
        </p:nvSpPr>
        <p:spPr>
          <a:xfrm>
            <a:off x="5209567" y="3334399"/>
            <a:ext cx="621463" cy="994774"/>
          </a:xfrm>
          <a:prstGeom prst="downArrow">
            <a:avLst>
              <a:gd name="adj1" fmla="val 100000"/>
              <a:gd name="adj2" fmla="val 23293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</a:rPr>
              <a:t>BKG</a:t>
            </a:r>
            <a:br>
              <a:rPr kumimoji="1" lang="en-US" altLang="ja-JP" sz="1100" dirty="0">
                <a:solidFill>
                  <a:schemeClr val="tx1"/>
                </a:solidFill>
              </a:rPr>
            </a:br>
            <a:r>
              <a:rPr kumimoji="1" lang="en-US" altLang="ja-JP" sz="1100" dirty="0">
                <a:solidFill>
                  <a:schemeClr val="tx1"/>
                </a:solidFill>
              </a:rPr>
              <a:t>Control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FC63519-A8F8-423D-8A57-0BED73E09CE4}"/>
              </a:ext>
            </a:extLst>
          </p:cNvPr>
          <p:cNvSpPr/>
          <p:nvPr/>
        </p:nvSpPr>
        <p:spPr>
          <a:xfrm>
            <a:off x="6393486" y="4241564"/>
            <a:ext cx="244307" cy="85892"/>
          </a:xfrm>
          <a:prstGeom prst="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2C448207-C3CE-4D99-BA8D-E68454859D33}"/>
              </a:ext>
            </a:extLst>
          </p:cNvPr>
          <p:cNvSpPr/>
          <p:nvPr/>
        </p:nvSpPr>
        <p:spPr>
          <a:xfrm>
            <a:off x="6629920" y="4179316"/>
            <a:ext cx="244307" cy="148140"/>
          </a:xfrm>
          <a:prstGeom prst="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0FCC0F90-7343-4445-9EB4-C65695F0AC04}"/>
              </a:ext>
            </a:extLst>
          </p:cNvPr>
          <p:cNvSpPr/>
          <p:nvPr/>
        </p:nvSpPr>
        <p:spPr>
          <a:xfrm>
            <a:off x="6873505" y="4110998"/>
            <a:ext cx="244307" cy="216459"/>
          </a:xfrm>
          <a:prstGeom prst="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AC641191-0E91-44A8-9898-1221B321045A}"/>
              </a:ext>
            </a:extLst>
          </p:cNvPr>
          <p:cNvSpPr/>
          <p:nvPr/>
        </p:nvSpPr>
        <p:spPr>
          <a:xfrm>
            <a:off x="7114481" y="4038846"/>
            <a:ext cx="244307" cy="288612"/>
          </a:xfrm>
          <a:prstGeom prst="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ECC94477-D9C2-4734-93E6-510C801FD8FB}"/>
              </a:ext>
            </a:extLst>
          </p:cNvPr>
          <p:cNvSpPr/>
          <p:nvPr/>
        </p:nvSpPr>
        <p:spPr>
          <a:xfrm>
            <a:off x="7353525" y="3953785"/>
            <a:ext cx="269142" cy="373672"/>
          </a:xfrm>
          <a:prstGeom prst="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3B28A4EF-61AD-4A2D-85DE-B67496918EC7}"/>
              </a:ext>
            </a:extLst>
          </p:cNvPr>
          <p:cNvSpPr/>
          <p:nvPr/>
        </p:nvSpPr>
        <p:spPr>
          <a:xfrm>
            <a:off x="7601368" y="3953785"/>
            <a:ext cx="328178" cy="373672"/>
          </a:xfrm>
          <a:prstGeom prst="rect">
            <a:avLst/>
          </a:prstGeom>
          <a:pattFill prst="ltUpDiag">
            <a:fgClr>
              <a:schemeClr val="accent4"/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936D286E-6679-4EE7-88CD-D79069AF0692}"/>
              </a:ext>
            </a:extLst>
          </p:cNvPr>
          <p:cNvSpPr/>
          <p:nvPr/>
        </p:nvSpPr>
        <p:spPr>
          <a:xfrm>
            <a:off x="7601368" y="3784531"/>
            <a:ext cx="328178" cy="16925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en-US" altLang="ja-JP" sz="1050" dirty="0">
              <a:solidFill>
                <a:schemeClr val="tx1"/>
              </a:solidFill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CB78F9EA-5885-42CA-A0F5-CD2BA99F3577}"/>
              </a:ext>
            </a:extLst>
          </p:cNvPr>
          <p:cNvSpPr/>
          <p:nvPr/>
        </p:nvSpPr>
        <p:spPr>
          <a:xfrm>
            <a:off x="6033048" y="3815664"/>
            <a:ext cx="801393" cy="14650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000" dirty="0">
                <a:solidFill>
                  <a:schemeClr val="accent4"/>
                </a:solidFill>
              </a:rPr>
              <a:t>Allocation</a:t>
            </a: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A2001CBD-4DB6-4086-913E-0229EB5466B8}"/>
              </a:ext>
            </a:extLst>
          </p:cNvPr>
          <p:cNvSpPr/>
          <p:nvPr/>
        </p:nvSpPr>
        <p:spPr>
          <a:xfrm>
            <a:off x="5314678" y="4368632"/>
            <a:ext cx="411241" cy="17727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200" dirty="0">
                <a:solidFill>
                  <a:schemeClr val="accent4"/>
                </a:solidFill>
              </a:rPr>
              <a:t>Lifting</a:t>
            </a: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D3FCF118-B567-400D-B96F-050E71E0263A}"/>
              </a:ext>
            </a:extLst>
          </p:cNvPr>
          <p:cNvSpPr/>
          <p:nvPr/>
        </p:nvSpPr>
        <p:spPr>
          <a:xfrm>
            <a:off x="9120840" y="2137647"/>
            <a:ext cx="882339" cy="22129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Profitability</a:t>
            </a: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B74931B-35AB-4D81-A889-A63E170CB724}"/>
              </a:ext>
            </a:extLst>
          </p:cNvPr>
          <p:cNvSpPr/>
          <p:nvPr/>
        </p:nvSpPr>
        <p:spPr>
          <a:xfrm>
            <a:off x="9987683" y="2165115"/>
            <a:ext cx="801393" cy="14650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100" dirty="0">
                <a:solidFill>
                  <a:schemeClr val="tx1"/>
                </a:solidFill>
              </a:rPr>
              <a:t>(Financial Performance)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4010AB6F-083C-4ACC-94C8-B9808D79F90B}"/>
              </a:ext>
            </a:extLst>
          </p:cNvPr>
          <p:cNvSpPr/>
          <p:nvPr/>
        </p:nvSpPr>
        <p:spPr>
          <a:xfrm>
            <a:off x="9186261" y="2356082"/>
            <a:ext cx="2690856" cy="47296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marL="171450" indent="-171450" eaLnBrk="1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CM vs Additional Cost</a:t>
            </a:r>
          </a:p>
          <a:p>
            <a:pPr marL="171450" indent="-171450" eaLnBrk="1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Net Profit = CM - FC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4CB6F682-F245-401D-8478-DB4DABC234D6}"/>
              </a:ext>
            </a:extLst>
          </p:cNvPr>
          <p:cNvSpPr/>
          <p:nvPr/>
        </p:nvSpPr>
        <p:spPr>
          <a:xfrm>
            <a:off x="9120840" y="2923989"/>
            <a:ext cx="882339" cy="22129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Customer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DDCC99C6-D192-4D32-B4C1-8BF1961E4110}"/>
              </a:ext>
            </a:extLst>
          </p:cNvPr>
          <p:cNvSpPr/>
          <p:nvPr/>
        </p:nvSpPr>
        <p:spPr>
          <a:xfrm>
            <a:off x="9186261" y="3149779"/>
            <a:ext cx="2690856" cy="2426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marL="171450" indent="-171450" eaLnBrk="1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Rollover Incidence</a:t>
            </a:r>
          </a:p>
          <a:p>
            <a:pPr marL="171450" indent="-171450" eaLnBrk="1" hangingPunct="1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Customer Satisfaction</a:t>
            </a: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4108DF2F-EA86-48C8-91AC-CDF297B73595}"/>
              </a:ext>
            </a:extLst>
          </p:cNvPr>
          <p:cNvSpPr/>
          <p:nvPr/>
        </p:nvSpPr>
        <p:spPr>
          <a:xfrm>
            <a:off x="9186261" y="3909572"/>
            <a:ext cx="2690856" cy="24268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marL="171450" indent="-171450" eaLnBrk="1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Loading/Discharging Time</a:t>
            </a:r>
          </a:p>
          <a:p>
            <a:pPr marL="171450" indent="-171450" eaLnBrk="1" hangingPunct="1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Shipping schedule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78187940-4CA5-48E4-8B27-3156064AEAC7}"/>
              </a:ext>
            </a:extLst>
          </p:cNvPr>
          <p:cNvSpPr/>
          <p:nvPr/>
        </p:nvSpPr>
        <p:spPr>
          <a:xfrm>
            <a:off x="487069" y="4121688"/>
            <a:ext cx="882339" cy="1828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Operation</a:t>
            </a: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68265E5C-9054-4A85-A521-9D9B40F45B95}"/>
              </a:ext>
            </a:extLst>
          </p:cNvPr>
          <p:cNvSpPr/>
          <p:nvPr/>
        </p:nvSpPr>
        <p:spPr>
          <a:xfrm>
            <a:off x="1305051" y="2853828"/>
            <a:ext cx="341732" cy="20329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2800" b="1" dirty="0">
                <a:solidFill>
                  <a:schemeClr val="accent4"/>
                </a:solidFill>
              </a:rPr>
              <a:t>+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1678EFC8-58BD-4310-89F2-8E8089F01D6A}"/>
              </a:ext>
            </a:extLst>
          </p:cNvPr>
          <p:cNvSpPr/>
          <p:nvPr/>
        </p:nvSpPr>
        <p:spPr>
          <a:xfrm>
            <a:off x="399483" y="2405703"/>
            <a:ext cx="1989099" cy="20108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t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000" dirty="0">
                <a:solidFill>
                  <a:schemeClr val="tx1"/>
                </a:solidFill>
              </a:rPr>
              <a:t>Port to Port</a:t>
            </a:r>
            <a:r>
              <a:rPr lang="ja-JP" altLang="en-US" sz="1000" dirty="0">
                <a:solidFill>
                  <a:schemeClr val="tx1"/>
                </a:solidFill>
              </a:rPr>
              <a:t>で</a:t>
            </a:r>
            <a:r>
              <a:rPr lang="en-US" altLang="ja-JP" sz="1000" dirty="0">
                <a:solidFill>
                  <a:schemeClr val="tx1"/>
                </a:solidFill>
              </a:rPr>
              <a:t>Wayport</a:t>
            </a:r>
            <a:r>
              <a:rPr lang="ja-JP" altLang="en-US" sz="1000" dirty="0">
                <a:solidFill>
                  <a:schemeClr val="tx1"/>
                </a:solidFill>
              </a:rPr>
              <a:t>に適した貨物</a:t>
            </a:r>
            <a:br>
              <a:rPr lang="en-US" altLang="ja-JP" sz="1000" dirty="0">
                <a:solidFill>
                  <a:schemeClr val="tx1"/>
                </a:solidFill>
              </a:rPr>
            </a:br>
            <a:r>
              <a:rPr lang="ja-JP" altLang="en-US" sz="1000" dirty="0">
                <a:solidFill>
                  <a:schemeClr val="tx1"/>
                </a:solidFill>
              </a:rPr>
              <a:t>の荷動きを把握（例</a:t>
            </a:r>
            <a:r>
              <a:rPr lang="en-US" altLang="ja-JP" sz="1000" dirty="0">
                <a:solidFill>
                  <a:schemeClr val="tx1"/>
                </a:solidFill>
              </a:rPr>
              <a:t>. </a:t>
            </a:r>
            <a:r>
              <a:rPr lang="ja-JP" altLang="en-US" sz="1000" dirty="0">
                <a:solidFill>
                  <a:schemeClr val="tx1"/>
                </a:solidFill>
              </a:rPr>
              <a:t>穀物）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123F1943-22B3-4A37-94B1-452042EE1957}"/>
              </a:ext>
            </a:extLst>
          </p:cNvPr>
          <p:cNvSpPr/>
          <p:nvPr/>
        </p:nvSpPr>
        <p:spPr>
          <a:xfrm>
            <a:off x="487069" y="3687473"/>
            <a:ext cx="882339" cy="1828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Customer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0246471-CAE4-49B3-91D1-685EAAAD73F7}"/>
              </a:ext>
            </a:extLst>
          </p:cNvPr>
          <p:cNvSpPr/>
          <p:nvPr/>
        </p:nvSpPr>
        <p:spPr>
          <a:xfrm>
            <a:off x="487069" y="3875711"/>
            <a:ext cx="1814443" cy="20108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000" dirty="0">
                <a:solidFill>
                  <a:schemeClr val="tx1"/>
                </a:solidFill>
              </a:rPr>
              <a:t>Rollover</a:t>
            </a:r>
            <a:r>
              <a:rPr lang="ja-JP" altLang="en-US" sz="1000" dirty="0">
                <a:solidFill>
                  <a:schemeClr val="tx1"/>
                </a:solidFill>
              </a:rPr>
              <a:t>による顧客満足度低下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8F4145B5-7889-407D-95D2-A8373908C320}"/>
              </a:ext>
            </a:extLst>
          </p:cNvPr>
          <p:cNvSpPr/>
          <p:nvPr/>
        </p:nvSpPr>
        <p:spPr>
          <a:xfrm>
            <a:off x="487069" y="4309592"/>
            <a:ext cx="1814443" cy="20108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ja-JP" altLang="en-US" sz="1000" dirty="0">
                <a:solidFill>
                  <a:schemeClr val="tx1"/>
                </a:solidFill>
              </a:rPr>
              <a:t>追加荷役による遅延リスク</a:t>
            </a:r>
            <a:endParaRPr lang="en-US" altLang="ja-JP" sz="1000" u="sng" dirty="0">
              <a:solidFill>
                <a:schemeClr val="tx1"/>
              </a:solidFill>
            </a:endParaRPr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D6F97437-F52A-4776-A224-5D9C90C13089}"/>
              </a:ext>
            </a:extLst>
          </p:cNvPr>
          <p:cNvSpPr/>
          <p:nvPr/>
        </p:nvSpPr>
        <p:spPr>
          <a:xfrm>
            <a:off x="3067811" y="2956585"/>
            <a:ext cx="1339833" cy="1828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Target CM</a:t>
            </a:r>
          </a:p>
        </p:txBody>
      </p:sp>
      <p:sp>
        <p:nvSpPr>
          <p:cNvPr id="143" name="四角形: 角を丸くする 142">
            <a:extLst>
              <a:ext uri="{FF2B5EF4-FFF2-40B4-BE49-F238E27FC236}">
                <a16:creationId xmlns:a16="http://schemas.microsoft.com/office/drawing/2014/main" id="{6DF1558C-26CD-4993-B42A-5994748B5A78}"/>
              </a:ext>
            </a:extLst>
          </p:cNvPr>
          <p:cNvSpPr/>
          <p:nvPr/>
        </p:nvSpPr>
        <p:spPr>
          <a:xfrm>
            <a:off x="3067811" y="2177164"/>
            <a:ext cx="1339833" cy="1828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Target Customer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45" name="四角形: 角を丸くする 144">
            <a:extLst>
              <a:ext uri="{FF2B5EF4-FFF2-40B4-BE49-F238E27FC236}">
                <a16:creationId xmlns:a16="http://schemas.microsoft.com/office/drawing/2014/main" id="{1D5AB89E-4373-4B01-AFE1-DB2BB5DE1F7D}"/>
              </a:ext>
            </a:extLst>
          </p:cNvPr>
          <p:cNvSpPr/>
          <p:nvPr/>
        </p:nvSpPr>
        <p:spPr>
          <a:xfrm>
            <a:off x="3067811" y="3749902"/>
            <a:ext cx="1339833" cy="1828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Target Allocation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cxnSp>
        <p:nvCxnSpPr>
          <p:cNvPr id="146" name="コネクタ: カギ線 116">
            <a:extLst>
              <a:ext uri="{FF2B5EF4-FFF2-40B4-BE49-F238E27FC236}">
                <a16:creationId xmlns:a16="http://schemas.microsoft.com/office/drawing/2014/main" id="{1E6500D0-6CBF-4DFF-AE10-A0BBFCC6A73A}"/>
              </a:ext>
            </a:extLst>
          </p:cNvPr>
          <p:cNvCxnSpPr>
            <a:cxnSpLocks/>
            <a:stCxn id="143" idx="3"/>
            <a:endCxn id="142" idx="3"/>
          </p:cNvCxnSpPr>
          <p:nvPr/>
        </p:nvCxnSpPr>
        <p:spPr>
          <a:xfrm>
            <a:off x="4407644" y="2268607"/>
            <a:ext cx="12700" cy="779421"/>
          </a:xfrm>
          <a:prstGeom prst="bentConnector3">
            <a:avLst>
              <a:gd name="adj1" fmla="val 1176378"/>
            </a:avLst>
          </a:prstGeom>
          <a:ln w="38100">
            <a:solidFill>
              <a:schemeClr val="accent4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四角形: 角を丸くする 154">
            <a:extLst>
              <a:ext uri="{FF2B5EF4-FFF2-40B4-BE49-F238E27FC236}">
                <a16:creationId xmlns:a16="http://schemas.microsoft.com/office/drawing/2014/main" id="{E1CCB681-AF2F-43BE-B739-3EC0645E3467}"/>
              </a:ext>
            </a:extLst>
          </p:cNvPr>
          <p:cNvSpPr/>
          <p:nvPr/>
        </p:nvSpPr>
        <p:spPr>
          <a:xfrm>
            <a:off x="487069" y="3253259"/>
            <a:ext cx="882339" cy="1828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kumimoji="1" lang="en-US" altLang="ja-JP" sz="1100" dirty="0">
                <a:solidFill>
                  <a:schemeClr val="tx1"/>
                </a:solidFill>
              </a:rPr>
              <a:t>Profitability</a:t>
            </a: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3CFE5D96-A774-40F1-A994-BBEB25D3BA10}"/>
              </a:ext>
            </a:extLst>
          </p:cNvPr>
          <p:cNvSpPr/>
          <p:nvPr/>
        </p:nvSpPr>
        <p:spPr>
          <a:xfrm>
            <a:off x="487069" y="3441831"/>
            <a:ext cx="1814443" cy="20108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ja-JP" altLang="en-US" sz="1000" dirty="0">
                <a:solidFill>
                  <a:schemeClr val="tx1"/>
                </a:solidFill>
              </a:rPr>
              <a:t>追加コストの回収不能リスク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3659F128-841C-4944-887D-2709FC831E4B}"/>
              </a:ext>
            </a:extLst>
          </p:cNvPr>
          <p:cNvSpPr/>
          <p:nvPr/>
        </p:nvSpPr>
        <p:spPr>
          <a:xfrm>
            <a:off x="8971271" y="1615447"/>
            <a:ext cx="2898226" cy="23595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200" dirty="0">
                <a:solidFill>
                  <a:schemeClr val="tx1"/>
                </a:solidFill>
              </a:rPr>
              <a:t>Strategy</a:t>
            </a:r>
            <a:r>
              <a:rPr lang="ja-JP" altLang="en-US" sz="1200" dirty="0">
                <a:solidFill>
                  <a:schemeClr val="tx1"/>
                </a:solidFill>
              </a:rPr>
              <a:t>～</a:t>
            </a:r>
            <a:r>
              <a:rPr lang="en-US" altLang="ja-JP" sz="1200" dirty="0">
                <a:solidFill>
                  <a:schemeClr val="tx1"/>
                </a:solidFill>
              </a:rPr>
              <a:t>Execution</a:t>
            </a:r>
            <a:r>
              <a:rPr lang="ja-JP" altLang="en-US" sz="1200" dirty="0">
                <a:solidFill>
                  <a:schemeClr val="tx1"/>
                </a:solidFill>
              </a:rPr>
              <a:t>の妥当性検証と改善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12FD0C3B-A93A-453D-95E3-783C6DF02133}"/>
              </a:ext>
            </a:extLst>
          </p:cNvPr>
          <p:cNvSpPr/>
          <p:nvPr/>
        </p:nvSpPr>
        <p:spPr>
          <a:xfrm>
            <a:off x="302366" y="1615447"/>
            <a:ext cx="3824565" cy="23595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200" dirty="0">
                <a:solidFill>
                  <a:schemeClr val="tx1"/>
                </a:solidFill>
              </a:rPr>
              <a:t>Opportunity</a:t>
            </a:r>
            <a:r>
              <a:rPr lang="ja-JP" altLang="en-US" sz="1200" dirty="0">
                <a:solidFill>
                  <a:schemeClr val="tx1"/>
                </a:solidFill>
              </a:rPr>
              <a:t>と</a:t>
            </a:r>
            <a:r>
              <a:rPr lang="en-US" altLang="ja-JP" sz="1200" dirty="0">
                <a:solidFill>
                  <a:schemeClr val="tx1"/>
                </a:solidFill>
              </a:rPr>
              <a:t>Risk</a:t>
            </a:r>
            <a:r>
              <a:rPr lang="ja-JP" altLang="en-US" sz="1200" dirty="0">
                <a:solidFill>
                  <a:schemeClr val="tx1"/>
                </a:solidFill>
              </a:rPr>
              <a:t>を適切に織り込んだ</a:t>
            </a:r>
            <a:r>
              <a:rPr lang="en-US" altLang="ja-JP" sz="1200" dirty="0">
                <a:solidFill>
                  <a:schemeClr val="tx1"/>
                </a:solidFill>
              </a:rPr>
              <a:t>Target</a:t>
            </a:r>
            <a:r>
              <a:rPr lang="ja-JP" altLang="en-US" sz="1200" dirty="0">
                <a:solidFill>
                  <a:schemeClr val="tx1"/>
                </a:solidFill>
              </a:rPr>
              <a:t>設定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353F0AF5-BEE1-46A4-9438-BD989C3B4692}"/>
              </a:ext>
            </a:extLst>
          </p:cNvPr>
          <p:cNvSpPr/>
          <p:nvPr/>
        </p:nvSpPr>
        <p:spPr>
          <a:xfrm>
            <a:off x="7861325" y="3798814"/>
            <a:ext cx="452365" cy="14650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000" dirty="0">
                <a:solidFill>
                  <a:schemeClr val="bg2"/>
                </a:solidFill>
              </a:rPr>
              <a:t>Reject</a:t>
            </a: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5A6229E-F242-493F-8E02-F3CB7F0BF690}"/>
              </a:ext>
            </a:extLst>
          </p:cNvPr>
          <p:cNvCxnSpPr>
            <a:cxnSpLocks/>
          </p:cNvCxnSpPr>
          <p:nvPr/>
        </p:nvCxnSpPr>
        <p:spPr>
          <a:xfrm flipV="1">
            <a:off x="6344956" y="3953784"/>
            <a:ext cx="1929926" cy="1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010DA34-2CEB-4B56-94A7-4245523EC520}"/>
              </a:ext>
            </a:extLst>
          </p:cNvPr>
          <p:cNvCxnSpPr>
            <a:cxnSpLocks/>
          </p:cNvCxnSpPr>
          <p:nvPr/>
        </p:nvCxnSpPr>
        <p:spPr>
          <a:xfrm flipV="1">
            <a:off x="6222653" y="4327456"/>
            <a:ext cx="2052229" cy="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153E1B0A-4EFD-4057-8F0C-E004DA7FE375}"/>
              </a:ext>
            </a:extLst>
          </p:cNvPr>
          <p:cNvSpPr/>
          <p:nvPr/>
        </p:nvSpPr>
        <p:spPr>
          <a:xfrm>
            <a:off x="7443488" y="4329172"/>
            <a:ext cx="801393" cy="14650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000" dirty="0">
                <a:solidFill>
                  <a:schemeClr val="accent4"/>
                </a:solidFill>
              </a:rPr>
              <a:t>	time</a:t>
            </a:r>
          </a:p>
        </p:txBody>
      </p:sp>
      <p:sp>
        <p:nvSpPr>
          <p:cNvPr id="116" name="矢印: 下 115">
            <a:extLst>
              <a:ext uri="{FF2B5EF4-FFF2-40B4-BE49-F238E27FC236}">
                <a16:creationId xmlns:a16="http://schemas.microsoft.com/office/drawing/2014/main" id="{993E79DC-8947-454C-A41A-09869AA5C46A}"/>
              </a:ext>
            </a:extLst>
          </p:cNvPr>
          <p:cNvSpPr/>
          <p:nvPr/>
        </p:nvSpPr>
        <p:spPr>
          <a:xfrm>
            <a:off x="5209567" y="2697067"/>
            <a:ext cx="621463" cy="612340"/>
          </a:xfrm>
          <a:prstGeom prst="downArrow">
            <a:avLst>
              <a:gd name="adj1" fmla="val 100000"/>
              <a:gd name="adj2" fmla="val 23293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100" dirty="0">
                <a:solidFill>
                  <a:schemeClr val="tx1"/>
                </a:solidFill>
              </a:rPr>
              <a:t>Pricing</a:t>
            </a:r>
            <a:endParaRPr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821E5B02-36F9-49EE-8190-E8089589949C}"/>
              </a:ext>
            </a:extLst>
          </p:cNvPr>
          <p:cNvSpPr/>
          <p:nvPr/>
        </p:nvSpPr>
        <p:spPr>
          <a:xfrm>
            <a:off x="5872003" y="3369355"/>
            <a:ext cx="2780206" cy="38254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marL="85725" indent="-85725"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000" dirty="0">
                <a:solidFill>
                  <a:schemeClr val="tx1"/>
                </a:solidFill>
              </a:rPr>
              <a:t>Wayport</a:t>
            </a:r>
            <a:r>
              <a:rPr lang="ja-JP" altLang="en-US" sz="1000" dirty="0">
                <a:solidFill>
                  <a:schemeClr val="tx1"/>
                </a:solidFill>
              </a:rPr>
              <a:t>への</a:t>
            </a:r>
            <a:r>
              <a:rPr lang="en-US" altLang="ja-JP" sz="1000" dirty="0">
                <a:solidFill>
                  <a:schemeClr val="tx1"/>
                </a:solidFill>
              </a:rPr>
              <a:t>Allocation</a:t>
            </a:r>
            <a:r>
              <a:rPr lang="ja-JP" altLang="en-US" sz="1000" dirty="0">
                <a:solidFill>
                  <a:schemeClr val="tx1"/>
                </a:solidFill>
              </a:rPr>
              <a:t>を上限とした</a:t>
            </a:r>
            <a:r>
              <a:rPr lang="en-US" altLang="ja-JP" sz="1000" dirty="0">
                <a:solidFill>
                  <a:schemeClr val="tx1"/>
                </a:solidFill>
              </a:rPr>
              <a:t>BKG</a:t>
            </a:r>
            <a:r>
              <a:rPr lang="ja-JP" altLang="en-US" sz="1000" dirty="0">
                <a:solidFill>
                  <a:schemeClr val="tx1"/>
                </a:solidFill>
              </a:rPr>
              <a:t>の</a:t>
            </a:r>
            <a:br>
              <a:rPr lang="en-US" altLang="ja-JP" sz="1000" dirty="0">
                <a:solidFill>
                  <a:schemeClr val="tx1"/>
                </a:solidFill>
              </a:rPr>
            </a:br>
            <a:r>
              <a:rPr lang="ja-JP" altLang="en-US" sz="1000" dirty="0">
                <a:solidFill>
                  <a:schemeClr val="tx1"/>
                </a:solidFill>
              </a:rPr>
              <a:t>受け入れ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148" name="コネクタ: カギ線 116">
            <a:extLst>
              <a:ext uri="{FF2B5EF4-FFF2-40B4-BE49-F238E27FC236}">
                <a16:creationId xmlns:a16="http://schemas.microsoft.com/office/drawing/2014/main" id="{0B2734F2-4D2E-4A33-9E51-64B4EB2ED01B}"/>
              </a:ext>
            </a:extLst>
          </p:cNvPr>
          <p:cNvCxnSpPr>
            <a:cxnSpLocks/>
          </p:cNvCxnSpPr>
          <p:nvPr/>
        </p:nvCxnSpPr>
        <p:spPr>
          <a:xfrm>
            <a:off x="4545064" y="2632070"/>
            <a:ext cx="664503" cy="32451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/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コネクタ: カギ線 116">
            <a:extLst>
              <a:ext uri="{FF2B5EF4-FFF2-40B4-BE49-F238E27FC236}">
                <a16:creationId xmlns:a16="http://schemas.microsoft.com/office/drawing/2014/main" id="{B7F3E79A-A197-4902-BCE4-84E0701AAB62}"/>
              </a:ext>
            </a:extLst>
          </p:cNvPr>
          <p:cNvCxnSpPr>
            <a:cxnSpLocks/>
          </p:cNvCxnSpPr>
          <p:nvPr/>
        </p:nvCxnSpPr>
        <p:spPr>
          <a:xfrm flipV="1">
            <a:off x="4553665" y="2187775"/>
            <a:ext cx="639358" cy="444295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/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AB689C66-4DCF-43A7-BB15-BCBF28D421A1}"/>
              </a:ext>
            </a:extLst>
          </p:cNvPr>
          <p:cNvSpPr/>
          <p:nvPr/>
        </p:nvSpPr>
        <p:spPr>
          <a:xfrm>
            <a:off x="7368499" y="5993476"/>
            <a:ext cx="3137375" cy="447967"/>
          </a:xfrm>
          <a:prstGeom prst="rect">
            <a:avLst/>
          </a:prstGeom>
          <a:solidFill>
            <a:srgbClr val="F6DAEA"/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44000" bIns="216000" rtlCol="0" anchor="t"/>
          <a:lstStyle/>
          <a:p>
            <a:pPr algn="ctr"/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28EA7DDC-8D7A-41BA-AB05-2AAFEEA54E80}"/>
              </a:ext>
            </a:extLst>
          </p:cNvPr>
          <p:cNvSpPr/>
          <p:nvPr/>
        </p:nvSpPr>
        <p:spPr>
          <a:xfrm>
            <a:off x="5958046" y="5770649"/>
            <a:ext cx="341732" cy="2094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2800" b="1" dirty="0">
                <a:solidFill>
                  <a:schemeClr val="accent4"/>
                </a:solidFill>
              </a:rPr>
              <a:t>+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C701BCF-C9A3-46D0-8E7D-3AF312B8B2FE}"/>
              </a:ext>
            </a:extLst>
          </p:cNvPr>
          <p:cNvSpPr/>
          <p:nvPr/>
        </p:nvSpPr>
        <p:spPr>
          <a:xfrm>
            <a:off x="667364" y="4945342"/>
            <a:ext cx="5306546" cy="1703202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 anchor="ctr"/>
          <a:lstStyle/>
          <a:p>
            <a:pPr algn="ctr"/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05BC2C9-F8E8-4249-9A6B-BDD3A10B931C}"/>
              </a:ext>
            </a:extLst>
          </p:cNvPr>
          <p:cNvSpPr/>
          <p:nvPr/>
        </p:nvSpPr>
        <p:spPr>
          <a:xfrm>
            <a:off x="6283913" y="4945342"/>
            <a:ext cx="5306546" cy="1703202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bIns="72000" rtlCol="0" anchor="ctr"/>
          <a:lstStyle/>
          <a:p>
            <a:pPr algn="ctr"/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A067C445-DF46-4E82-B9D8-DB2259260E79}"/>
              </a:ext>
            </a:extLst>
          </p:cNvPr>
          <p:cNvSpPr/>
          <p:nvPr/>
        </p:nvSpPr>
        <p:spPr>
          <a:xfrm>
            <a:off x="1802216" y="5283621"/>
            <a:ext cx="1173318" cy="24310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100" b="1" i="1" dirty="0">
                <a:solidFill>
                  <a:schemeClr val="accent4"/>
                </a:solidFill>
              </a:rPr>
              <a:t>Wayport Optimization Control</a:t>
            </a:r>
            <a:r>
              <a:rPr lang="ja-JP" altLang="en-US" sz="1100" b="1" i="1" dirty="0">
                <a:solidFill>
                  <a:schemeClr val="accent4"/>
                </a:solidFill>
              </a:rPr>
              <a:t>（新設）</a:t>
            </a:r>
            <a:endParaRPr lang="en-US" altLang="ja-JP" sz="1100" b="1" i="1" dirty="0">
              <a:solidFill>
                <a:schemeClr val="accent4"/>
              </a:solidFill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AF04E369-4E76-4F07-9C97-E8311208DDC0}"/>
              </a:ext>
            </a:extLst>
          </p:cNvPr>
          <p:cNvSpPr/>
          <p:nvPr/>
        </p:nvSpPr>
        <p:spPr>
          <a:xfrm>
            <a:off x="1948828" y="5848323"/>
            <a:ext cx="880094" cy="24310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ja-JP" altLang="en-US" sz="1100" i="1" u="sng" dirty="0">
                <a:solidFill>
                  <a:schemeClr val="tx1"/>
                </a:solidFill>
              </a:rPr>
              <a:t>連携</a:t>
            </a:r>
            <a:endParaRPr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27D18335-02F4-46EB-B92F-6E8C81A1E5DB}"/>
              </a:ext>
            </a:extLst>
          </p:cNvPr>
          <p:cNvSpPr/>
          <p:nvPr/>
        </p:nvSpPr>
        <p:spPr>
          <a:xfrm>
            <a:off x="6556630" y="5303894"/>
            <a:ext cx="2536151" cy="6888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t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100" dirty="0">
                <a:solidFill>
                  <a:schemeClr val="tx1"/>
                </a:solidFill>
              </a:rPr>
              <a:t>【For</a:t>
            </a:r>
            <a:r>
              <a:rPr lang="ja-JP" altLang="en-US" sz="1100" dirty="0">
                <a:solidFill>
                  <a:schemeClr val="tx1"/>
                </a:solidFill>
              </a:rPr>
              <a:t> </a:t>
            </a:r>
            <a:r>
              <a:rPr lang="en-US" altLang="ja-JP" sz="1100" dirty="0">
                <a:solidFill>
                  <a:schemeClr val="tx1"/>
                </a:solidFill>
              </a:rPr>
              <a:t>Execution】</a:t>
            </a:r>
          </a:p>
          <a:p>
            <a:pPr marL="171450" indent="-171450" eaLnBrk="1" hangingPunct="1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ja-JP" altLang="en-US" sz="1100" dirty="0">
                <a:solidFill>
                  <a:schemeClr val="tx1"/>
                </a:solidFill>
              </a:rPr>
              <a:t>消席率のタイムリーな可視化</a:t>
            </a:r>
            <a:r>
              <a:rPr lang="en-US" altLang="ja-JP" sz="1100" dirty="0">
                <a:solidFill>
                  <a:schemeClr val="tx1"/>
                </a:solidFill>
              </a:rPr>
              <a:t>(OCN</a:t>
            </a:r>
            <a:r>
              <a:rPr lang="ja-JP" altLang="en-US" sz="1100" dirty="0">
                <a:solidFill>
                  <a:schemeClr val="tx1"/>
                </a:solidFill>
              </a:rPr>
              <a:t>含む</a:t>
            </a:r>
            <a:r>
              <a:rPr lang="en-US" altLang="ja-JP" sz="1100" dirty="0">
                <a:solidFill>
                  <a:schemeClr val="tx1"/>
                </a:solidFill>
              </a:rPr>
              <a:t>)</a:t>
            </a:r>
          </a:p>
          <a:p>
            <a:pPr marL="171450" indent="-171450" eaLnBrk="1" hangingPunct="1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Dynamic Pricing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8799AF83-98DA-4BB2-9A13-787F68AA25AA}"/>
              </a:ext>
            </a:extLst>
          </p:cNvPr>
          <p:cNvSpPr/>
          <p:nvPr/>
        </p:nvSpPr>
        <p:spPr>
          <a:xfrm>
            <a:off x="2770378" y="6281595"/>
            <a:ext cx="787575" cy="24310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>
              <a:spcBef>
                <a:spcPts val="600"/>
              </a:spcBef>
              <a:buClr>
                <a:schemeClr val="tx1"/>
              </a:buClr>
            </a:pPr>
            <a:r>
              <a:rPr lang="en-US" altLang="ja-JP" sz="1100" dirty="0">
                <a:solidFill>
                  <a:schemeClr val="tx1"/>
                </a:solidFill>
              </a:rPr>
              <a:t>Sales PIC</a:t>
            </a: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E32DC4E6-6E05-4C12-BCE5-0C951191A203}"/>
              </a:ext>
            </a:extLst>
          </p:cNvPr>
          <p:cNvSpPr/>
          <p:nvPr/>
        </p:nvSpPr>
        <p:spPr>
          <a:xfrm>
            <a:off x="1082480" y="6281595"/>
            <a:ext cx="787575" cy="24310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100" dirty="0">
                <a:solidFill>
                  <a:schemeClr val="tx1"/>
                </a:solidFill>
              </a:rPr>
              <a:t>Space Controller</a:t>
            </a:r>
          </a:p>
        </p:txBody>
      </p:sp>
      <p:sp>
        <p:nvSpPr>
          <p:cNvPr id="18" name="フローチャート: 結合子 17">
            <a:extLst>
              <a:ext uri="{FF2B5EF4-FFF2-40B4-BE49-F238E27FC236}">
                <a16:creationId xmlns:a16="http://schemas.microsoft.com/office/drawing/2014/main" id="{97121C7B-2CCB-4F50-88B5-CDE0D2B2394C}"/>
              </a:ext>
            </a:extLst>
          </p:cNvPr>
          <p:cNvSpPr/>
          <p:nvPr/>
        </p:nvSpPr>
        <p:spPr>
          <a:xfrm>
            <a:off x="1411555" y="5678131"/>
            <a:ext cx="1954641" cy="583486"/>
          </a:xfrm>
          <a:prstGeom prst="flowChartConnector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6004DEA-5A2D-4995-8DBB-F2DA2F0FD930}"/>
              </a:ext>
            </a:extLst>
          </p:cNvPr>
          <p:cNvGrpSpPr/>
          <p:nvPr/>
        </p:nvGrpSpPr>
        <p:grpSpPr>
          <a:xfrm>
            <a:off x="2176038" y="6149212"/>
            <a:ext cx="401363" cy="226052"/>
            <a:chOff x="2165987" y="6078944"/>
            <a:chExt cx="401363" cy="226052"/>
          </a:xfrm>
        </p:grpSpPr>
        <p:sp>
          <p:nvSpPr>
            <p:cNvPr id="120" name="矢印: 山形 112">
              <a:extLst>
                <a:ext uri="{FF2B5EF4-FFF2-40B4-BE49-F238E27FC236}">
                  <a16:creationId xmlns:a16="http://schemas.microsoft.com/office/drawing/2014/main" id="{015BE9A1-3D5A-49B9-98D7-C9128DA75BB6}"/>
                </a:ext>
              </a:extLst>
            </p:cNvPr>
            <p:cNvSpPr/>
            <p:nvPr/>
          </p:nvSpPr>
          <p:spPr>
            <a:xfrm rot="10800000">
              <a:off x="2165987" y="6078944"/>
              <a:ext cx="163655" cy="226052"/>
            </a:xfrm>
            <a:custGeom>
              <a:avLst/>
              <a:gdLst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1323885 w 2168988"/>
                <a:gd name="connsiteY3" fmla="*/ 1690207 h 1690207"/>
                <a:gd name="connsiteX4" fmla="*/ 0 w 2168988"/>
                <a:gd name="connsiteY4" fmla="*/ 1690207 h 1690207"/>
                <a:gd name="connsiteX5" fmla="*/ 845104 w 2168988"/>
                <a:gd name="connsiteY5" fmla="*/ 845104 h 1690207"/>
                <a:gd name="connsiteX6" fmla="*/ 0 w 2168988"/>
                <a:gd name="connsiteY6" fmla="*/ 0 h 1690207"/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0 w 2168988"/>
                <a:gd name="connsiteY3" fmla="*/ 1690207 h 1690207"/>
                <a:gd name="connsiteX4" fmla="*/ 845104 w 2168988"/>
                <a:gd name="connsiteY4" fmla="*/ 845104 h 1690207"/>
                <a:gd name="connsiteX5" fmla="*/ 0 w 2168988"/>
                <a:gd name="connsiteY5" fmla="*/ 0 h 1690207"/>
                <a:gd name="connsiteX0" fmla="*/ 0 w 2168988"/>
                <a:gd name="connsiteY0" fmla="*/ 0 h 1690207"/>
                <a:gd name="connsiteX1" fmla="*/ 2168988 w 2168988"/>
                <a:gd name="connsiteY1" fmla="*/ 845104 h 1690207"/>
                <a:gd name="connsiteX2" fmla="*/ 0 w 2168988"/>
                <a:gd name="connsiteY2" fmla="*/ 1690207 h 1690207"/>
                <a:gd name="connsiteX3" fmla="*/ 845104 w 2168988"/>
                <a:gd name="connsiteY3" fmla="*/ 845104 h 1690207"/>
                <a:gd name="connsiteX4" fmla="*/ 0 w 2168988"/>
                <a:gd name="connsiteY4" fmla="*/ 0 h 169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8988" h="1690207">
                  <a:moveTo>
                    <a:pt x="0" y="0"/>
                  </a:moveTo>
                  <a:lnTo>
                    <a:pt x="2168988" y="845104"/>
                  </a:lnTo>
                  <a:lnTo>
                    <a:pt x="0" y="1690207"/>
                  </a:lnTo>
                  <a:lnTo>
                    <a:pt x="845104" y="84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2" name="矢印: 山形 112">
              <a:extLst>
                <a:ext uri="{FF2B5EF4-FFF2-40B4-BE49-F238E27FC236}">
                  <a16:creationId xmlns:a16="http://schemas.microsoft.com/office/drawing/2014/main" id="{1A08EF39-8857-4467-B3E7-804F55C34131}"/>
                </a:ext>
              </a:extLst>
            </p:cNvPr>
            <p:cNvSpPr/>
            <p:nvPr/>
          </p:nvSpPr>
          <p:spPr>
            <a:xfrm>
              <a:off x="2403695" y="6078944"/>
              <a:ext cx="163655" cy="226052"/>
            </a:xfrm>
            <a:custGeom>
              <a:avLst/>
              <a:gdLst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1323885 w 2168988"/>
                <a:gd name="connsiteY3" fmla="*/ 1690207 h 1690207"/>
                <a:gd name="connsiteX4" fmla="*/ 0 w 2168988"/>
                <a:gd name="connsiteY4" fmla="*/ 1690207 h 1690207"/>
                <a:gd name="connsiteX5" fmla="*/ 845104 w 2168988"/>
                <a:gd name="connsiteY5" fmla="*/ 845104 h 1690207"/>
                <a:gd name="connsiteX6" fmla="*/ 0 w 2168988"/>
                <a:gd name="connsiteY6" fmla="*/ 0 h 1690207"/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0 w 2168988"/>
                <a:gd name="connsiteY3" fmla="*/ 1690207 h 1690207"/>
                <a:gd name="connsiteX4" fmla="*/ 845104 w 2168988"/>
                <a:gd name="connsiteY4" fmla="*/ 845104 h 1690207"/>
                <a:gd name="connsiteX5" fmla="*/ 0 w 2168988"/>
                <a:gd name="connsiteY5" fmla="*/ 0 h 1690207"/>
                <a:gd name="connsiteX0" fmla="*/ 0 w 2168988"/>
                <a:gd name="connsiteY0" fmla="*/ 0 h 1690207"/>
                <a:gd name="connsiteX1" fmla="*/ 2168988 w 2168988"/>
                <a:gd name="connsiteY1" fmla="*/ 845104 h 1690207"/>
                <a:gd name="connsiteX2" fmla="*/ 0 w 2168988"/>
                <a:gd name="connsiteY2" fmla="*/ 1690207 h 1690207"/>
                <a:gd name="connsiteX3" fmla="*/ 845104 w 2168988"/>
                <a:gd name="connsiteY3" fmla="*/ 845104 h 1690207"/>
                <a:gd name="connsiteX4" fmla="*/ 0 w 2168988"/>
                <a:gd name="connsiteY4" fmla="*/ 0 h 169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8988" h="1690207">
                  <a:moveTo>
                    <a:pt x="0" y="0"/>
                  </a:moveTo>
                  <a:lnTo>
                    <a:pt x="2168988" y="845104"/>
                  </a:lnTo>
                  <a:lnTo>
                    <a:pt x="0" y="1690207"/>
                  </a:lnTo>
                  <a:lnTo>
                    <a:pt x="845104" y="84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88F52424-00D1-4261-A768-C0F17A56093D}"/>
              </a:ext>
            </a:extLst>
          </p:cNvPr>
          <p:cNvGrpSpPr/>
          <p:nvPr/>
        </p:nvGrpSpPr>
        <p:grpSpPr>
          <a:xfrm rot="574696">
            <a:off x="1642184" y="5586802"/>
            <a:ext cx="357745" cy="302889"/>
            <a:chOff x="1155144" y="5145999"/>
            <a:chExt cx="393519" cy="333178"/>
          </a:xfrm>
        </p:grpSpPr>
        <p:sp>
          <p:nvSpPr>
            <p:cNvPr id="123" name="矢印: 山形 112">
              <a:extLst>
                <a:ext uri="{FF2B5EF4-FFF2-40B4-BE49-F238E27FC236}">
                  <a16:creationId xmlns:a16="http://schemas.microsoft.com/office/drawing/2014/main" id="{F5551F8C-924B-4439-99B9-781C5E30C246}"/>
                </a:ext>
              </a:extLst>
            </p:cNvPr>
            <p:cNvSpPr/>
            <p:nvPr/>
          </p:nvSpPr>
          <p:spPr>
            <a:xfrm rot="20584671">
              <a:off x="1368642" y="5145999"/>
              <a:ext cx="180021" cy="248657"/>
            </a:xfrm>
            <a:custGeom>
              <a:avLst/>
              <a:gdLst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1323885 w 2168988"/>
                <a:gd name="connsiteY3" fmla="*/ 1690207 h 1690207"/>
                <a:gd name="connsiteX4" fmla="*/ 0 w 2168988"/>
                <a:gd name="connsiteY4" fmla="*/ 1690207 h 1690207"/>
                <a:gd name="connsiteX5" fmla="*/ 845104 w 2168988"/>
                <a:gd name="connsiteY5" fmla="*/ 845104 h 1690207"/>
                <a:gd name="connsiteX6" fmla="*/ 0 w 2168988"/>
                <a:gd name="connsiteY6" fmla="*/ 0 h 1690207"/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0 w 2168988"/>
                <a:gd name="connsiteY3" fmla="*/ 1690207 h 1690207"/>
                <a:gd name="connsiteX4" fmla="*/ 845104 w 2168988"/>
                <a:gd name="connsiteY4" fmla="*/ 845104 h 1690207"/>
                <a:gd name="connsiteX5" fmla="*/ 0 w 2168988"/>
                <a:gd name="connsiteY5" fmla="*/ 0 h 1690207"/>
                <a:gd name="connsiteX0" fmla="*/ 0 w 2168988"/>
                <a:gd name="connsiteY0" fmla="*/ 0 h 1690207"/>
                <a:gd name="connsiteX1" fmla="*/ 2168988 w 2168988"/>
                <a:gd name="connsiteY1" fmla="*/ 845104 h 1690207"/>
                <a:gd name="connsiteX2" fmla="*/ 0 w 2168988"/>
                <a:gd name="connsiteY2" fmla="*/ 1690207 h 1690207"/>
                <a:gd name="connsiteX3" fmla="*/ 845104 w 2168988"/>
                <a:gd name="connsiteY3" fmla="*/ 845104 h 1690207"/>
                <a:gd name="connsiteX4" fmla="*/ 0 w 2168988"/>
                <a:gd name="connsiteY4" fmla="*/ 0 h 169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8988" h="1690207">
                  <a:moveTo>
                    <a:pt x="0" y="0"/>
                  </a:moveTo>
                  <a:lnTo>
                    <a:pt x="2168988" y="845104"/>
                  </a:lnTo>
                  <a:lnTo>
                    <a:pt x="0" y="1690207"/>
                  </a:lnTo>
                  <a:lnTo>
                    <a:pt x="845104" y="84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6" name="矢印: 山形 112">
              <a:extLst>
                <a:ext uri="{FF2B5EF4-FFF2-40B4-BE49-F238E27FC236}">
                  <a16:creationId xmlns:a16="http://schemas.microsoft.com/office/drawing/2014/main" id="{3E7335EA-2E07-4DAB-B307-57EADA0C3D28}"/>
                </a:ext>
              </a:extLst>
            </p:cNvPr>
            <p:cNvSpPr/>
            <p:nvPr/>
          </p:nvSpPr>
          <p:spPr>
            <a:xfrm rot="9186516">
              <a:off x="1155144" y="5230520"/>
              <a:ext cx="180021" cy="248657"/>
            </a:xfrm>
            <a:custGeom>
              <a:avLst/>
              <a:gdLst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1323885 w 2168988"/>
                <a:gd name="connsiteY3" fmla="*/ 1690207 h 1690207"/>
                <a:gd name="connsiteX4" fmla="*/ 0 w 2168988"/>
                <a:gd name="connsiteY4" fmla="*/ 1690207 h 1690207"/>
                <a:gd name="connsiteX5" fmla="*/ 845104 w 2168988"/>
                <a:gd name="connsiteY5" fmla="*/ 845104 h 1690207"/>
                <a:gd name="connsiteX6" fmla="*/ 0 w 2168988"/>
                <a:gd name="connsiteY6" fmla="*/ 0 h 1690207"/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0 w 2168988"/>
                <a:gd name="connsiteY3" fmla="*/ 1690207 h 1690207"/>
                <a:gd name="connsiteX4" fmla="*/ 845104 w 2168988"/>
                <a:gd name="connsiteY4" fmla="*/ 845104 h 1690207"/>
                <a:gd name="connsiteX5" fmla="*/ 0 w 2168988"/>
                <a:gd name="connsiteY5" fmla="*/ 0 h 1690207"/>
                <a:gd name="connsiteX0" fmla="*/ 0 w 2168988"/>
                <a:gd name="connsiteY0" fmla="*/ 0 h 1690207"/>
                <a:gd name="connsiteX1" fmla="*/ 2168988 w 2168988"/>
                <a:gd name="connsiteY1" fmla="*/ 845104 h 1690207"/>
                <a:gd name="connsiteX2" fmla="*/ 0 w 2168988"/>
                <a:gd name="connsiteY2" fmla="*/ 1690207 h 1690207"/>
                <a:gd name="connsiteX3" fmla="*/ 845104 w 2168988"/>
                <a:gd name="connsiteY3" fmla="*/ 845104 h 1690207"/>
                <a:gd name="connsiteX4" fmla="*/ 0 w 2168988"/>
                <a:gd name="connsiteY4" fmla="*/ 0 h 169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8988" h="1690207">
                  <a:moveTo>
                    <a:pt x="0" y="0"/>
                  </a:moveTo>
                  <a:lnTo>
                    <a:pt x="2168988" y="845104"/>
                  </a:lnTo>
                  <a:lnTo>
                    <a:pt x="0" y="1690207"/>
                  </a:lnTo>
                  <a:lnTo>
                    <a:pt x="845104" y="84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F0BF58FA-7F0F-4C99-846D-36F06FFA1027}"/>
              </a:ext>
            </a:extLst>
          </p:cNvPr>
          <p:cNvGrpSpPr/>
          <p:nvPr/>
        </p:nvGrpSpPr>
        <p:grpSpPr>
          <a:xfrm rot="12825987">
            <a:off x="2785443" y="5593475"/>
            <a:ext cx="357745" cy="302889"/>
            <a:chOff x="1155144" y="5145999"/>
            <a:chExt cx="393519" cy="333178"/>
          </a:xfrm>
        </p:grpSpPr>
        <p:sp>
          <p:nvSpPr>
            <p:cNvPr id="131" name="矢印: 山形 112">
              <a:extLst>
                <a:ext uri="{FF2B5EF4-FFF2-40B4-BE49-F238E27FC236}">
                  <a16:creationId xmlns:a16="http://schemas.microsoft.com/office/drawing/2014/main" id="{AB6E11F1-8776-4402-84FA-F474C263DF3B}"/>
                </a:ext>
              </a:extLst>
            </p:cNvPr>
            <p:cNvSpPr/>
            <p:nvPr/>
          </p:nvSpPr>
          <p:spPr>
            <a:xfrm rot="20584671">
              <a:off x="1368642" y="5145999"/>
              <a:ext cx="180021" cy="248657"/>
            </a:xfrm>
            <a:custGeom>
              <a:avLst/>
              <a:gdLst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1323885 w 2168988"/>
                <a:gd name="connsiteY3" fmla="*/ 1690207 h 1690207"/>
                <a:gd name="connsiteX4" fmla="*/ 0 w 2168988"/>
                <a:gd name="connsiteY4" fmla="*/ 1690207 h 1690207"/>
                <a:gd name="connsiteX5" fmla="*/ 845104 w 2168988"/>
                <a:gd name="connsiteY5" fmla="*/ 845104 h 1690207"/>
                <a:gd name="connsiteX6" fmla="*/ 0 w 2168988"/>
                <a:gd name="connsiteY6" fmla="*/ 0 h 1690207"/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0 w 2168988"/>
                <a:gd name="connsiteY3" fmla="*/ 1690207 h 1690207"/>
                <a:gd name="connsiteX4" fmla="*/ 845104 w 2168988"/>
                <a:gd name="connsiteY4" fmla="*/ 845104 h 1690207"/>
                <a:gd name="connsiteX5" fmla="*/ 0 w 2168988"/>
                <a:gd name="connsiteY5" fmla="*/ 0 h 1690207"/>
                <a:gd name="connsiteX0" fmla="*/ 0 w 2168988"/>
                <a:gd name="connsiteY0" fmla="*/ 0 h 1690207"/>
                <a:gd name="connsiteX1" fmla="*/ 2168988 w 2168988"/>
                <a:gd name="connsiteY1" fmla="*/ 845104 h 1690207"/>
                <a:gd name="connsiteX2" fmla="*/ 0 w 2168988"/>
                <a:gd name="connsiteY2" fmla="*/ 1690207 h 1690207"/>
                <a:gd name="connsiteX3" fmla="*/ 845104 w 2168988"/>
                <a:gd name="connsiteY3" fmla="*/ 845104 h 1690207"/>
                <a:gd name="connsiteX4" fmla="*/ 0 w 2168988"/>
                <a:gd name="connsiteY4" fmla="*/ 0 h 169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8988" h="1690207">
                  <a:moveTo>
                    <a:pt x="0" y="0"/>
                  </a:moveTo>
                  <a:lnTo>
                    <a:pt x="2168988" y="845104"/>
                  </a:lnTo>
                  <a:lnTo>
                    <a:pt x="0" y="1690207"/>
                  </a:lnTo>
                  <a:lnTo>
                    <a:pt x="845104" y="84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7" name="矢印: 山形 112">
              <a:extLst>
                <a:ext uri="{FF2B5EF4-FFF2-40B4-BE49-F238E27FC236}">
                  <a16:creationId xmlns:a16="http://schemas.microsoft.com/office/drawing/2014/main" id="{3369A72F-3D97-438E-B815-0C91E8DD645C}"/>
                </a:ext>
              </a:extLst>
            </p:cNvPr>
            <p:cNvSpPr/>
            <p:nvPr/>
          </p:nvSpPr>
          <p:spPr>
            <a:xfrm rot="9186516">
              <a:off x="1155144" y="5230520"/>
              <a:ext cx="180021" cy="248657"/>
            </a:xfrm>
            <a:custGeom>
              <a:avLst/>
              <a:gdLst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1323885 w 2168988"/>
                <a:gd name="connsiteY3" fmla="*/ 1690207 h 1690207"/>
                <a:gd name="connsiteX4" fmla="*/ 0 w 2168988"/>
                <a:gd name="connsiteY4" fmla="*/ 1690207 h 1690207"/>
                <a:gd name="connsiteX5" fmla="*/ 845104 w 2168988"/>
                <a:gd name="connsiteY5" fmla="*/ 845104 h 1690207"/>
                <a:gd name="connsiteX6" fmla="*/ 0 w 2168988"/>
                <a:gd name="connsiteY6" fmla="*/ 0 h 1690207"/>
                <a:gd name="connsiteX0" fmla="*/ 0 w 2168988"/>
                <a:gd name="connsiteY0" fmla="*/ 0 h 1690207"/>
                <a:gd name="connsiteX1" fmla="*/ 1323885 w 2168988"/>
                <a:gd name="connsiteY1" fmla="*/ 0 h 1690207"/>
                <a:gd name="connsiteX2" fmla="*/ 2168988 w 2168988"/>
                <a:gd name="connsiteY2" fmla="*/ 845104 h 1690207"/>
                <a:gd name="connsiteX3" fmla="*/ 0 w 2168988"/>
                <a:gd name="connsiteY3" fmla="*/ 1690207 h 1690207"/>
                <a:gd name="connsiteX4" fmla="*/ 845104 w 2168988"/>
                <a:gd name="connsiteY4" fmla="*/ 845104 h 1690207"/>
                <a:gd name="connsiteX5" fmla="*/ 0 w 2168988"/>
                <a:gd name="connsiteY5" fmla="*/ 0 h 1690207"/>
                <a:gd name="connsiteX0" fmla="*/ 0 w 2168988"/>
                <a:gd name="connsiteY0" fmla="*/ 0 h 1690207"/>
                <a:gd name="connsiteX1" fmla="*/ 2168988 w 2168988"/>
                <a:gd name="connsiteY1" fmla="*/ 845104 h 1690207"/>
                <a:gd name="connsiteX2" fmla="*/ 0 w 2168988"/>
                <a:gd name="connsiteY2" fmla="*/ 1690207 h 1690207"/>
                <a:gd name="connsiteX3" fmla="*/ 845104 w 2168988"/>
                <a:gd name="connsiteY3" fmla="*/ 845104 h 1690207"/>
                <a:gd name="connsiteX4" fmla="*/ 0 w 2168988"/>
                <a:gd name="connsiteY4" fmla="*/ 0 h 1690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8988" h="1690207">
                  <a:moveTo>
                    <a:pt x="0" y="0"/>
                  </a:moveTo>
                  <a:lnTo>
                    <a:pt x="2168988" y="845104"/>
                  </a:lnTo>
                  <a:lnTo>
                    <a:pt x="0" y="1690207"/>
                  </a:lnTo>
                  <a:lnTo>
                    <a:pt x="845104" y="84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1" name="フリーフォーム 68">
            <a:extLst>
              <a:ext uri="{FF2B5EF4-FFF2-40B4-BE49-F238E27FC236}">
                <a16:creationId xmlns:a16="http://schemas.microsoft.com/office/drawing/2014/main" id="{DC72072B-5A6D-4119-927E-AB67D761E410}"/>
              </a:ext>
            </a:extLst>
          </p:cNvPr>
          <p:cNvSpPr>
            <a:spLocks noChangeAspect="1"/>
          </p:cNvSpPr>
          <p:nvPr/>
        </p:nvSpPr>
        <p:spPr bwMode="auto">
          <a:xfrm>
            <a:off x="2268456" y="5530720"/>
            <a:ext cx="240839" cy="300173"/>
          </a:xfrm>
          <a:custGeom>
            <a:avLst/>
            <a:gdLst>
              <a:gd name="connsiteX0" fmla="*/ 611513 w 2358831"/>
              <a:gd name="connsiteY0" fmla="*/ 1697743 h 2808313"/>
              <a:gd name="connsiteX1" fmla="*/ 624827 w 2358831"/>
              <a:gd name="connsiteY1" fmla="*/ 1709225 h 2808313"/>
              <a:gd name="connsiteX2" fmla="*/ 1179419 w 2358831"/>
              <a:gd name="connsiteY2" fmla="*/ 1872770 h 2808313"/>
              <a:gd name="connsiteX3" fmla="*/ 1734005 w 2358831"/>
              <a:gd name="connsiteY3" fmla="*/ 1709225 h 2808313"/>
              <a:gd name="connsiteX4" fmla="*/ 1747313 w 2358831"/>
              <a:gd name="connsiteY4" fmla="*/ 1697743 h 2808313"/>
              <a:gd name="connsiteX5" fmla="*/ 1963743 w 2358831"/>
              <a:gd name="connsiteY5" fmla="*/ 1820744 h 2808313"/>
              <a:gd name="connsiteX6" fmla="*/ 2042987 w 2358831"/>
              <a:gd name="connsiteY6" fmla="*/ 2808313 h 2808313"/>
              <a:gd name="connsiteX7" fmla="*/ 1230284 w 2358831"/>
              <a:gd name="connsiteY7" fmla="*/ 2808313 h 2808313"/>
              <a:gd name="connsiteX8" fmla="*/ 1128549 w 2358831"/>
              <a:gd name="connsiteY8" fmla="*/ 2808313 h 2808313"/>
              <a:gd name="connsiteX9" fmla="*/ 315846 w 2358831"/>
              <a:gd name="connsiteY9" fmla="*/ 2808313 h 2808313"/>
              <a:gd name="connsiteX10" fmla="*/ 395090 w 2358831"/>
              <a:gd name="connsiteY10" fmla="*/ 1820744 h 2808313"/>
              <a:gd name="connsiteX11" fmla="*/ 1179413 w 2358831"/>
              <a:gd name="connsiteY11" fmla="*/ 0 h 2808313"/>
              <a:gd name="connsiteX12" fmla="*/ 1179630 w 2358831"/>
              <a:gd name="connsiteY12" fmla="*/ 22 h 2808313"/>
              <a:gd name="connsiteX13" fmla="*/ 1327560 w 2358831"/>
              <a:gd name="connsiteY13" fmla="*/ 14935 h 2808313"/>
              <a:gd name="connsiteX14" fmla="*/ 1328798 w 2358831"/>
              <a:gd name="connsiteY14" fmla="*/ 15319 h 2808313"/>
              <a:gd name="connsiteX15" fmla="*/ 1346303 w 2358831"/>
              <a:gd name="connsiteY15" fmla="*/ 17114 h 2808313"/>
              <a:gd name="connsiteX16" fmla="*/ 2007505 w 2358831"/>
              <a:gd name="connsiteY16" fmla="*/ 842380 h 2808313"/>
              <a:gd name="connsiteX17" fmla="*/ 1179413 w 2358831"/>
              <a:gd name="connsiteY17" fmla="*/ 1684760 h 2808313"/>
              <a:gd name="connsiteX18" fmla="*/ 351321 w 2358831"/>
              <a:gd name="connsiteY18" fmla="*/ 842380 h 2808313"/>
              <a:gd name="connsiteX19" fmla="*/ 1012524 w 2358831"/>
              <a:gd name="connsiteY19" fmla="*/ 17114 h 2808313"/>
              <a:gd name="connsiteX20" fmla="*/ 1030044 w 2358831"/>
              <a:gd name="connsiteY20" fmla="*/ 15318 h 2808313"/>
              <a:gd name="connsiteX21" fmla="*/ 1031277 w 2358831"/>
              <a:gd name="connsiteY21" fmla="*/ 14935 h 2808313"/>
              <a:gd name="connsiteX22" fmla="*/ 1178476 w 2358831"/>
              <a:gd name="connsiteY22" fmla="*/ 96 h 2808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58831" h="2808313">
                <a:moveTo>
                  <a:pt x="611513" y="1697743"/>
                </a:moveTo>
                <a:lnTo>
                  <a:pt x="624827" y="1709225"/>
                </a:lnTo>
                <a:cubicBezTo>
                  <a:pt x="766759" y="1810276"/>
                  <a:pt x="962835" y="1872770"/>
                  <a:pt x="1179419" y="1872770"/>
                </a:cubicBezTo>
                <a:cubicBezTo>
                  <a:pt x="1395998" y="1872770"/>
                  <a:pt x="1592074" y="1810276"/>
                  <a:pt x="1734005" y="1709225"/>
                </a:cubicBezTo>
                <a:lnTo>
                  <a:pt x="1747313" y="1697743"/>
                </a:lnTo>
                <a:lnTo>
                  <a:pt x="1963743" y="1820744"/>
                </a:lnTo>
                <a:cubicBezTo>
                  <a:pt x="2442545" y="2172818"/>
                  <a:pt x="2506661" y="2808313"/>
                  <a:pt x="2042987" y="2808313"/>
                </a:cubicBezTo>
                <a:lnTo>
                  <a:pt x="1230284" y="2808313"/>
                </a:lnTo>
                <a:lnTo>
                  <a:pt x="1128549" y="2808313"/>
                </a:lnTo>
                <a:lnTo>
                  <a:pt x="315846" y="2808313"/>
                </a:lnTo>
                <a:cubicBezTo>
                  <a:pt x="-147829" y="2808313"/>
                  <a:pt x="-83712" y="2172818"/>
                  <a:pt x="395090" y="1820744"/>
                </a:cubicBezTo>
                <a:close/>
                <a:moveTo>
                  <a:pt x="1179413" y="0"/>
                </a:moveTo>
                <a:lnTo>
                  <a:pt x="1179630" y="22"/>
                </a:lnTo>
                <a:lnTo>
                  <a:pt x="1327560" y="14935"/>
                </a:lnTo>
                <a:lnTo>
                  <a:pt x="1328798" y="15319"/>
                </a:lnTo>
                <a:lnTo>
                  <a:pt x="1346303" y="17114"/>
                </a:lnTo>
                <a:cubicBezTo>
                  <a:pt x="1723651" y="95663"/>
                  <a:pt x="2007505" y="435300"/>
                  <a:pt x="2007505" y="842380"/>
                </a:cubicBezTo>
                <a:cubicBezTo>
                  <a:pt x="2007505" y="1307614"/>
                  <a:pt x="1636756" y="1684760"/>
                  <a:pt x="1179413" y="1684760"/>
                </a:cubicBezTo>
                <a:cubicBezTo>
                  <a:pt x="722070" y="1684760"/>
                  <a:pt x="351321" y="1307614"/>
                  <a:pt x="351321" y="842380"/>
                </a:cubicBezTo>
                <a:cubicBezTo>
                  <a:pt x="351321" y="435300"/>
                  <a:pt x="635176" y="95663"/>
                  <a:pt x="1012524" y="17114"/>
                </a:cubicBezTo>
                <a:lnTo>
                  <a:pt x="1030044" y="15318"/>
                </a:lnTo>
                <a:lnTo>
                  <a:pt x="1031277" y="14935"/>
                </a:lnTo>
                <a:lnTo>
                  <a:pt x="1178476" y="9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54000" rIns="90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ＭＳ Ｐ明朝" pitchFamily="18" charset="-128"/>
              <a:ea typeface="ＭＳ Ｐ明朝" pitchFamily="18" charset="-128"/>
              <a:cs typeface="Arial" charset="0"/>
            </a:endParaRPr>
          </a:p>
        </p:txBody>
      </p:sp>
      <p:sp>
        <p:nvSpPr>
          <p:cNvPr id="102" name="フリーフォーム 68">
            <a:extLst>
              <a:ext uri="{FF2B5EF4-FFF2-40B4-BE49-F238E27FC236}">
                <a16:creationId xmlns:a16="http://schemas.microsoft.com/office/drawing/2014/main" id="{3C8BB07F-A2F5-4F62-80FB-2622A0CBE064}"/>
              </a:ext>
            </a:extLst>
          </p:cNvPr>
          <p:cNvSpPr>
            <a:spLocks noChangeAspect="1"/>
          </p:cNvSpPr>
          <p:nvPr/>
        </p:nvSpPr>
        <p:spPr bwMode="auto">
          <a:xfrm>
            <a:off x="1568797" y="5962908"/>
            <a:ext cx="240839" cy="300173"/>
          </a:xfrm>
          <a:custGeom>
            <a:avLst/>
            <a:gdLst>
              <a:gd name="connsiteX0" fmla="*/ 611513 w 2358831"/>
              <a:gd name="connsiteY0" fmla="*/ 1697743 h 2808313"/>
              <a:gd name="connsiteX1" fmla="*/ 624827 w 2358831"/>
              <a:gd name="connsiteY1" fmla="*/ 1709225 h 2808313"/>
              <a:gd name="connsiteX2" fmla="*/ 1179419 w 2358831"/>
              <a:gd name="connsiteY2" fmla="*/ 1872770 h 2808313"/>
              <a:gd name="connsiteX3" fmla="*/ 1734005 w 2358831"/>
              <a:gd name="connsiteY3" fmla="*/ 1709225 h 2808313"/>
              <a:gd name="connsiteX4" fmla="*/ 1747313 w 2358831"/>
              <a:gd name="connsiteY4" fmla="*/ 1697743 h 2808313"/>
              <a:gd name="connsiteX5" fmla="*/ 1963743 w 2358831"/>
              <a:gd name="connsiteY5" fmla="*/ 1820744 h 2808313"/>
              <a:gd name="connsiteX6" fmla="*/ 2042987 w 2358831"/>
              <a:gd name="connsiteY6" fmla="*/ 2808313 h 2808313"/>
              <a:gd name="connsiteX7" fmla="*/ 1230284 w 2358831"/>
              <a:gd name="connsiteY7" fmla="*/ 2808313 h 2808313"/>
              <a:gd name="connsiteX8" fmla="*/ 1128549 w 2358831"/>
              <a:gd name="connsiteY8" fmla="*/ 2808313 h 2808313"/>
              <a:gd name="connsiteX9" fmla="*/ 315846 w 2358831"/>
              <a:gd name="connsiteY9" fmla="*/ 2808313 h 2808313"/>
              <a:gd name="connsiteX10" fmla="*/ 395090 w 2358831"/>
              <a:gd name="connsiteY10" fmla="*/ 1820744 h 2808313"/>
              <a:gd name="connsiteX11" fmla="*/ 1179413 w 2358831"/>
              <a:gd name="connsiteY11" fmla="*/ 0 h 2808313"/>
              <a:gd name="connsiteX12" fmla="*/ 1179630 w 2358831"/>
              <a:gd name="connsiteY12" fmla="*/ 22 h 2808313"/>
              <a:gd name="connsiteX13" fmla="*/ 1327560 w 2358831"/>
              <a:gd name="connsiteY13" fmla="*/ 14935 h 2808313"/>
              <a:gd name="connsiteX14" fmla="*/ 1328798 w 2358831"/>
              <a:gd name="connsiteY14" fmla="*/ 15319 h 2808313"/>
              <a:gd name="connsiteX15" fmla="*/ 1346303 w 2358831"/>
              <a:gd name="connsiteY15" fmla="*/ 17114 h 2808313"/>
              <a:gd name="connsiteX16" fmla="*/ 2007505 w 2358831"/>
              <a:gd name="connsiteY16" fmla="*/ 842380 h 2808313"/>
              <a:gd name="connsiteX17" fmla="*/ 1179413 w 2358831"/>
              <a:gd name="connsiteY17" fmla="*/ 1684760 h 2808313"/>
              <a:gd name="connsiteX18" fmla="*/ 351321 w 2358831"/>
              <a:gd name="connsiteY18" fmla="*/ 842380 h 2808313"/>
              <a:gd name="connsiteX19" fmla="*/ 1012524 w 2358831"/>
              <a:gd name="connsiteY19" fmla="*/ 17114 h 2808313"/>
              <a:gd name="connsiteX20" fmla="*/ 1030044 w 2358831"/>
              <a:gd name="connsiteY20" fmla="*/ 15318 h 2808313"/>
              <a:gd name="connsiteX21" fmla="*/ 1031277 w 2358831"/>
              <a:gd name="connsiteY21" fmla="*/ 14935 h 2808313"/>
              <a:gd name="connsiteX22" fmla="*/ 1178476 w 2358831"/>
              <a:gd name="connsiteY22" fmla="*/ 96 h 2808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58831" h="2808313">
                <a:moveTo>
                  <a:pt x="611513" y="1697743"/>
                </a:moveTo>
                <a:lnTo>
                  <a:pt x="624827" y="1709225"/>
                </a:lnTo>
                <a:cubicBezTo>
                  <a:pt x="766759" y="1810276"/>
                  <a:pt x="962835" y="1872770"/>
                  <a:pt x="1179419" y="1872770"/>
                </a:cubicBezTo>
                <a:cubicBezTo>
                  <a:pt x="1395998" y="1872770"/>
                  <a:pt x="1592074" y="1810276"/>
                  <a:pt x="1734005" y="1709225"/>
                </a:cubicBezTo>
                <a:lnTo>
                  <a:pt x="1747313" y="1697743"/>
                </a:lnTo>
                <a:lnTo>
                  <a:pt x="1963743" y="1820744"/>
                </a:lnTo>
                <a:cubicBezTo>
                  <a:pt x="2442545" y="2172818"/>
                  <a:pt x="2506661" y="2808313"/>
                  <a:pt x="2042987" y="2808313"/>
                </a:cubicBezTo>
                <a:lnTo>
                  <a:pt x="1230284" y="2808313"/>
                </a:lnTo>
                <a:lnTo>
                  <a:pt x="1128549" y="2808313"/>
                </a:lnTo>
                <a:lnTo>
                  <a:pt x="315846" y="2808313"/>
                </a:lnTo>
                <a:cubicBezTo>
                  <a:pt x="-147829" y="2808313"/>
                  <a:pt x="-83712" y="2172818"/>
                  <a:pt x="395090" y="1820744"/>
                </a:cubicBezTo>
                <a:close/>
                <a:moveTo>
                  <a:pt x="1179413" y="0"/>
                </a:moveTo>
                <a:lnTo>
                  <a:pt x="1179630" y="22"/>
                </a:lnTo>
                <a:lnTo>
                  <a:pt x="1327560" y="14935"/>
                </a:lnTo>
                <a:lnTo>
                  <a:pt x="1328798" y="15319"/>
                </a:lnTo>
                <a:lnTo>
                  <a:pt x="1346303" y="17114"/>
                </a:lnTo>
                <a:cubicBezTo>
                  <a:pt x="1723651" y="95663"/>
                  <a:pt x="2007505" y="435300"/>
                  <a:pt x="2007505" y="842380"/>
                </a:cubicBezTo>
                <a:cubicBezTo>
                  <a:pt x="2007505" y="1307614"/>
                  <a:pt x="1636756" y="1684760"/>
                  <a:pt x="1179413" y="1684760"/>
                </a:cubicBezTo>
                <a:cubicBezTo>
                  <a:pt x="722070" y="1684760"/>
                  <a:pt x="351321" y="1307614"/>
                  <a:pt x="351321" y="842380"/>
                </a:cubicBezTo>
                <a:cubicBezTo>
                  <a:pt x="351321" y="435300"/>
                  <a:pt x="635176" y="95663"/>
                  <a:pt x="1012524" y="17114"/>
                </a:cubicBezTo>
                <a:lnTo>
                  <a:pt x="1030044" y="15318"/>
                </a:lnTo>
                <a:lnTo>
                  <a:pt x="1031277" y="14935"/>
                </a:lnTo>
                <a:lnTo>
                  <a:pt x="1178476" y="9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54000" rIns="90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ＭＳ Ｐ明朝" pitchFamily="18" charset="-128"/>
              <a:ea typeface="ＭＳ Ｐ明朝" pitchFamily="18" charset="-128"/>
              <a:cs typeface="Arial" charset="0"/>
            </a:endParaRPr>
          </a:p>
        </p:txBody>
      </p:sp>
      <p:sp>
        <p:nvSpPr>
          <p:cNvPr id="103" name="フリーフォーム 68">
            <a:extLst>
              <a:ext uri="{FF2B5EF4-FFF2-40B4-BE49-F238E27FC236}">
                <a16:creationId xmlns:a16="http://schemas.microsoft.com/office/drawing/2014/main" id="{94BB1960-7388-47AD-BABC-487E3CB52235}"/>
              </a:ext>
            </a:extLst>
          </p:cNvPr>
          <p:cNvSpPr>
            <a:spLocks noChangeAspect="1"/>
          </p:cNvSpPr>
          <p:nvPr/>
        </p:nvSpPr>
        <p:spPr bwMode="auto">
          <a:xfrm>
            <a:off x="2910366" y="5962908"/>
            <a:ext cx="240839" cy="300173"/>
          </a:xfrm>
          <a:custGeom>
            <a:avLst/>
            <a:gdLst>
              <a:gd name="connsiteX0" fmla="*/ 611513 w 2358831"/>
              <a:gd name="connsiteY0" fmla="*/ 1697743 h 2808313"/>
              <a:gd name="connsiteX1" fmla="*/ 624827 w 2358831"/>
              <a:gd name="connsiteY1" fmla="*/ 1709225 h 2808313"/>
              <a:gd name="connsiteX2" fmla="*/ 1179419 w 2358831"/>
              <a:gd name="connsiteY2" fmla="*/ 1872770 h 2808313"/>
              <a:gd name="connsiteX3" fmla="*/ 1734005 w 2358831"/>
              <a:gd name="connsiteY3" fmla="*/ 1709225 h 2808313"/>
              <a:gd name="connsiteX4" fmla="*/ 1747313 w 2358831"/>
              <a:gd name="connsiteY4" fmla="*/ 1697743 h 2808313"/>
              <a:gd name="connsiteX5" fmla="*/ 1963743 w 2358831"/>
              <a:gd name="connsiteY5" fmla="*/ 1820744 h 2808313"/>
              <a:gd name="connsiteX6" fmla="*/ 2042987 w 2358831"/>
              <a:gd name="connsiteY6" fmla="*/ 2808313 h 2808313"/>
              <a:gd name="connsiteX7" fmla="*/ 1230284 w 2358831"/>
              <a:gd name="connsiteY7" fmla="*/ 2808313 h 2808313"/>
              <a:gd name="connsiteX8" fmla="*/ 1128549 w 2358831"/>
              <a:gd name="connsiteY8" fmla="*/ 2808313 h 2808313"/>
              <a:gd name="connsiteX9" fmla="*/ 315846 w 2358831"/>
              <a:gd name="connsiteY9" fmla="*/ 2808313 h 2808313"/>
              <a:gd name="connsiteX10" fmla="*/ 395090 w 2358831"/>
              <a:gd name="connsiteY10" fmla="*/ 1820744 h 2808313"/>
              <a:gd name="connsiteX11" fmla="*/ 1179413 w 2358831"/>
              <a:gd name="connsiteY11" fmla="*/ 0 h 2808313"/>
              <a:gd name="connsiteX12" fmla="*/ 1179630 w 2358831"/>
              <a:gd name="connsiteY12" fmla="*/ 22 h 2808313"/>
              <a:gd name="connsiteX13" fmla="*/ 1327560 w 2358831"/>
              <a:gd name="connsiteY13" fmla="*/ 14935 h 2808313"/>
              <a:gd name="connsiteX14" fmla="*/ 1328798 w 2358831"/>
              <a:gd name="connsiteY14" fmla="*/ 15319 h 2808313"/>
              <a:gd name="connsiteX15" fmla="*/ 1346303 w 2358831"/>
              <a:gd name="connsiteY15" fmla="*/ 17114 h 2808313"/>
              <a:gd name="connsiteX16" fmla="*/ 2007505 w 2358831"/>
              <a:gd name="connsiteY16" fmla="*/ 842380 h 2808313"/>
              <a:gd name="connsiteX17" fmla="*/ 1179413 w 2358831"/>
              <a:gd name="connsiteY17" fmla="*/ 1684760 h 2808313"/>
              <a:gd name="connsiteX18" fmla="*/ 351321 w 2358831"/>
              <a:gd name="connsiteY18" fmla="*/ 842380 h 2808313"/>
              <a:gd name="connsiteX19" fmla="*/ 1012524 w 2358831"/>
              <a:gd name="connsiteY19" fmla="*/ 17114 h 2808313"/>
              <a:gd name="connsiteX20" fmla="*/ 1030044 w 2358831"/>
              <a:gd name="connsiteY20" fmla="*/ 15318 h 2808313"/>
              <a:gd name="connsiteX21" fmla="*/ 1031277 w 2358831"/>
              <a:gd name="connsiteY21" fmla="*/ 14935 h 2808313"/>
              <a:gd name="connsiteX22" fmla="*/ 1178476 w 2358831"/>
              <a:gd name="connsiteY22" fmla="*/ 96 h 2808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58831" h="2808313">
                <a:moveTo>
                  <a:pt x="611513" y="1697743"/>
                </a:moveTo>
                <a:lnTo>
                  <a:pt x="624827" y="1709225"/>
                </a:lnTo>
                <a:cubicBezTo>
                  <a:pt x="766759" y="1810276"/>
                  <a:pt x="962835" y="1872770"/>
                  <a:pt x="1179419" y="1872770"/>
                </a:cubicBezTo>
                <a:cubicBezTo>
                  <a:pt x="1395998" y="1872770"/>
                  <a:pt x="1592074" y="1810276"/>
                  <a:pt x="1734005" y="1709225"/>
                </a:cubicBezTo>
                <a:lnTo>
                  <a:pt x="1747313" y="1697743"/>
                </a:lnTo>
                <a:lnTo>
                  <a:pt x="1963743" y="1820744"/>
                </a:lnTo>
                <a:cubicBezTo>
                  <a:pt x="2442545" y="2172818"/>
                  <a:pt x="2506661" y="2808313"/>
                  <a:pt x="2042987" y="2808313"/>
                </a:cubicBezTo>
                <a:lnTo>
                  <a:pt x="1230284" y="2808313"/>
                </a:lnTo>
                <a:lnTo>
                  <a:pt x="1128549" y="2808313"/>
                </a:lnTo>
                <a:lnTo>
                  <a:pt x="315846" y="2808313"/>
                </a:lnTo>
                <a:cubicBezTo>
                  <a:pt x="-147829" y="2808313"/>
                  <a:pt x="-83712" y="2172818"/>
                  <a:pt x="395090" y="1820744"/>
                </a:cubicBezTo>
                <a:close/>
                <a:moveTo>
                  <a:pt x="1179413" y="0"/>
                </a:moveTo>
                <a:lnTo>
                  <a:pt x="1179630" y="22"/>
                </a:lnTo>
                <a:lnTo>
                  <a:pt x="1327560" y="14935"/>
                </a:lnTo>
                <a:lnTo>
                  <a:pt x="1328798" y="15319"/>
                </a:lnTo>
                <a:lnTo>
                  <a:pt x="1346303" y="17114"/>
                </a:lnTo>
                <a:cubicBezTo>
                  <a:pt x="1723651" y="95663"/>
                  <a:pt x="2007505" y="435300"/>
                  <a:pt x="2007505" y="842380"/>
                </a:cubicBezTo>
                <a:cubicBezTo>
                  <a:pt x="2007505" y="1307614"/>
                  <a:pt x="1636756" y="1684760"/>
                  <a:pt x="1179413" y="1684760"/>
                </a:cubicBezTo>
                <a:cubicBezTo>
                  <a:pt x="722070" y="1684760"/>
                  <a:pt x="351321" y="1307614"/>
                  <a:pt x="351321" y="842380"/>
                </a:cubicBezTo>
                <a:cubicBezTo>
                  <a:pt x="351321" y="435300"/>
                  <a:pt x="635176" y="95663"/>
                  <a:pt x="1012524" y="17114"/>
                </a:cubicBezTo>
                <a:lnTo>
                  <a:pt x="1030044" y="15318"/>
                </a:lnTo>
                <a:lnTo>
                  <a:pt x="1031277" y="14935"/>
                </a:lnTo>
                <a:lnTo>
                  <a:pt x="1178476" y="96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54000" rIns="90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ＭＳ Ｐ明朝" pitchFamily="18" charset="-128"/>
              <a:ea typeface="ＭＳ Ｐ明朝" pitchFamily="18" charset="-128"/>
              <a:cs typeface="Arial" charset="0"/>
            </a:endParaRP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ED9C1CBB-F43F-402C-9C02-35BCBDA68374}"/>
              </a:ext>
            </a:extLst>
          </p:cNvPr>
          <p:cNvSpPr/>
          <p:nvPr/>
        </p:nvSpPr>
        <p:spPr>
          <a:xfrm>
            <a:off x="9377936" y="5303894"/>
            <a:ext cx="2108058" cy="68886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000" bIns="36000" rtlCol="0" anchor="t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100" dirty="0">
                <a:solidFill>
                  <a:schemeClr val="tx1"/>
                </a:solidFill>
              </a:rPr>
              <a:t>【For Monitoring】</a:t>
            </a:r>
          </a:p>
          <a:p>
            <a:pPr marL="171450" indent="-171450" eaLnBrk="1" hangingPunct="1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-"/>
            </a:pPr>
            <a:r>
              <a:rPr lang="en-US" altLang="ja-JP" sz="1100" dirty="0">
                <a:solidFill>
                  <a:schemeClr val="tx1"/>
                </a:solidFill>
              </a:rPr>
              <a:t>Profitability / Customer / Operation Data</a:t>
            </a: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1A9E5D8E-3014-44F5-B945-C82161ACC8E3}"/>
              </a:ext>
            </a:extLst>
          </p:cNvPr>
          <p:cNvSpPr/>
          <p:nvPr/>
        </p:nvSpPr>
        <p:spPr>
          <a:xfrm>
            <a:off x="3557953" y="5844259"/>
            <a:ext cx="341732" cy="20945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4000" b="1" dirty="0">
                <a:solidFill>
                  <a:schemeClr val="accent4"/>
                </a:solidFill>
              </a:rPr>
              <a:t>+</a:t>
            </a: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CC6B8BB5-7399-4486-805D-83EE5FA7EDCD}"/>
              </a:ext>
            </a:extLst>
          </p:cNvPr>
          <p:cNvSpPr/>
          <p:nvPr/>
        </p:nvSpPr>
        <p:spPr>
          <a:xfrm>
            <a:off x="4214545" y="5336522"/>
            <a:ext cx="1173318" cy="3559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100" dirty="0">
                <a:solidFill>
                  <a:schemeClr val="tx1"/>
                </a:solidFill>
              </a:rPr>
              <a:t>Wayport</a:t>
            </a:r>
            <a:r>
              <a:rPr lang="ja-JP" altLang="en-US" sz="1100" dirty="0">
                <a:solidFill>
                  <a:schemeClr val="tx1"/>
                </a:solidFill>
              </a:rPr>
              <a:t> の活用を動機</a:t>
            </a:r>
            <a:br>
              <a:rPr lang="en-US" altLang="ja-JP" sz="1100" dirty="0">
                <a:solidFill>
                  <a:schemeClr val="tx1"/>
                </a:solidFill>
              </a:rPr>
            </a:br>
            <a:r>
              <a:rPr lang="ja-JP" altLang="en-US" sz="1100" dirty="0">
                <a:solidFill>
                  <a:schemeClr val="tx1"/>
                </a:solidFill>
              </a:rPr>
              <a:t>づける</a:t>
            </a:r>
            <a:r>
              <a:rPr lang="en-US" altLang="ja-JP" sz="1100" b="1" i="1" dirty="0">
                <a:solidFill>
                  <a:schemeClr val="accent4"/>
                </a:solidFill>
              </a:rPr>
              <a:t>KPI</a:t>
            </a:r>
            <a:r>
              <a:rPr lang="ja-JP" altLang="en-US" sz="1100" b="1" i="1" dirty="0">
                <a:solidFill>
                  <a:schemeClr val="accent4"/>
                </a:solidFill>
              </a:rPr>
              <a:t>設定</a:t>
            </a:r>
            <a:r>
              <a:rPr lang="ja-JP" altLang="en-US" sz="1100" dirty="0">
                <a:solidFill>
                  <a:schemeClr val="tx1"/>
                </a:solidFill>
              </a:rPr>
              <a:t>など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F5CFC19B-E712-4344-B49D-2F9257145B7A}"/>
              </a:ext>
            </a:extLst>
          </p:cNvPr>
          <p:cNvSpPr/>
          <p:nvPr/>
        </p:nvSpPr>
        <p:spPr>
          <a:xfrm>
            <a:off x="6351691" y="5028841"/>
            <a:ext cx="3347612" cy="24310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ja-JP" altLang="en-US" sz="1200" dirty="0">
                <a:solidFill>
                  <a:schemeClr val="tx1"/>
                </a:solidFill>
              </a:rPr>
              <a:t>主に</a:t>
            </a:r>
            <a:r>
              <a:rPr lang="en-US" altLang="ja-JP" sz="1200" dirty="0">
                <a:solidFill>
                  <a:schemeClr val="tx1"/>
                </a:solidFill>
              </a:rPr>
              <a:t>Execution/Monitoring</a:t>
            </a:r>
            <a:r>
              <a:rPr lang="ja-JP" altLang="en-US" sz="1200" dirty="0">
                <a:solidFill>
                  <a:schemeClr val="tx1"/>
                </a:solidFill>
              </a:rPr>
              <a:t>をサポートするシステムの構築とデータ提供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A3FEC2DD-F485-4353-850A-86C870E517C9}"/>
              </a:ext>
            </a:extLst>
          </p:cNvPr>
          <p:cNvSpPr/>
          <p:nvPr/>
        </p:nvSpPr>
        <p:spPr>
          <a:xfrm>
            <a:off x="730376" y="5028841"/>
            <a:ext cx="4572093" cy="24310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200" dirty="0">
                <a:solidFill>
                  <a:schemeClr val="tx1"/>
                </a:solidFill>
              </a:rPr>
              <a:t>Trade</a:t>
            </a:r>
            <a:r>
              <a:rPr lang="ja-JP" altLang="en-US" sz="1200" dirty="0">
                <a:solidFill>
                  <a:schemeClr val="tx1"/>
                </a:solidFill>
              </a:rPr>
              <a:t>横断で</a:t>
            </a:r>
            <a:r>
              <a:rPr lang="en-US" altLang="ja-JP" sz="1200" dirty="0">
                <a:solidFill>
                  <a:schemeClr val="tx1"/>
                </a:solidFill>
              </a:rPr>
              <a:t>Wayport</a:t>
            </a:r>
            <a:r>
              <a:rPr lang="ja-JP" altLang="en-US" sz="1200" dirty="0">
                <a:solidFill>
                  <a:schemeClr val="tx1"/>
                </a:solidFill>
              </a:rPr>
              <a:t>活用を推進する組織への改編（評価制度含む）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29" name="矢印: 下 128">
            <a:extLst>
              <a:ext uri="{FF2B5EF4-FFF2-40B4-BE49-F238E27FC236}">
                <a16:creationId xmlns:a16="http://schemas.microsoft.com/office/drawing/2014/main" id="{C5C6E7AD-533D-4D2C-AE5D-FFAD41C4C536}"/>
              </a:ext>
            </a:extLst>
          </p:cNvPr>
          <p:cNvSpPr/>
          <p:nvPr/>
        </p:nvSpPr>
        <p:spPr>
          <a:xfrm>
            <a:off x="4299938" y="5778658"/>
            <a:ext cx="1002532" cy="248844"/>
          </a:xfrm>
          <a:prstGeom prst="downArrow">
            <a:avLst>
              <a:gd name="adj1" fmla="val 60821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71513FDC-1FC4-4668-BCAB-FCCABC5125B2}"/>
              </a:ext>
            </a:extLst>
          </p:cNvPr>
          <p:cNvSpPr/>
          <p:nvPr/>
        </p:nvSpPr>
        <p:spPr>
          <a:xfrm>
            <a:off x="4214545" y="6113713"/>
            <a:ext cx="1173318" cy="35592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ja-JP" altLang="en-US" sz="1100" dirty="0">
                <a:solidFill>
                  <a:schemeClr val="tx1"/>
                </a:solidFill>
              </a:rPr>
              <a:t>全社最適化（</a:t>
            </a:r>
            <a:r>
              <a:rPr lang="en-US" altLang="ja-JP" sz="1100" dirty="0">
                <a:solidFill>
                  <a:schemeClr val="tx1"/>
                </a:solidFill>
              </a:rPr>
              <a:t>Trade</a:t>
            </a:r>
            <a:r>
              <a:rPr lang="ja-JP" altLang="en-US" sz="1100" dirty="0">
                <a:solidFill>
                  <a:schemeClr val="tx1"/>
                </a:solidFill>
              </a:rPr>
              <a:t>横断）</a:t>
            </a:r>
            <a:br>
              <a:rPr lang="en-US" altLang="ja-JP" sz="1100" dirty="0">
                <a:solidFill>
                  <a:schemeClr val="tx1"/>
                </a:solidFill>
              </a:rPr>
            </a:br>
            <a:r>
              <a:rPr lang="ja-JP" altLang="en-US" sz="1100" dirty="0">
                <a:solidFill>
                  <a:schemeClr val="tx1"/>
                </a:solidFill>
              </a:rPr>
              <a:t>の思考・行動</a:t>
            </a:r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71A92B96-73B0-4C3E-8443-78BF63209EA2}"/>
              </a:ext>
            </a:extLst>
          </p:cNvPr>
          <p:cNvGrpSpPr/>
          <p:nvPr/>
        </p:nvGrpSpPr>
        <p:grpSpPr>
          <a:xfrm>
            <a:off x="244623" y="4675837"/>
            <a:ext cx="11702755" cy="229059"/>
            <a:chOff x="244623" y="4630186"/>
            <a:chExt cx="11702755" cy="277161"/>
          </a:xfrm>
        </p:grpSpPr>
        <p:sp>
          <p:nvSpPr>
            <p:cNvPr id="150" name="台形 149">
              <a:extLst>
                <a:ext uri="{FF2B5EF4-FFF2-40B4-BE49-F238E27FC236}">
                  <a16:creationId xmlns:a16="http://schemas.microsoft.com/office/drawing/2014/main" id="{5A77914D-433C-40F0-9809-F8490A121A3E}"/>
                </a:ext>
              </a:extLst>
            </p:cNvPr>
            <p:cNvSpPr/>
            <p:nvPr/>
          </p:nvSpPr>
          <p:spPr>
            <a:xfrm rot="10800000">
              <a:off x="244623" y="4646356"/>
              <a:ext cx="6103805" cy="258704"/>
            </a:xfrm>
            <a:prstGeom prst="trapezoid">
              <a:avLst>
                <a:gd name="adj" fmla="val 146553"/>
              </a:avLst>
            </a:prstGeom>
            <a:solidFill>
              <a:schemeClr val="accent4">
                <a:alpha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1" name="台形 150">
              <a:extLst>
                <a:ext uri="{FF2B5EF4-FFF2-40B4-BE49-F238E27FC236}">
                  <a16:creationId xmlns:a16="http://schemas.microsoft.com/office/drawing/2014/main" id="{B049B752-5DD3-437C-9D5B-CE9DF13A6F5D}"/>
                </a:ext>
              </a:extLst>
            </p:cNvPr>
            <p:cNvSpPr/>
            <p:nvPr/>
          </p:nvSpPr>
          <p:spPr>
            <a:xfrm rot="10800000">
              <a:off x="5843573" y="4646356"/>
              <a:ext cx="6103805" cy="258704"/>
            </a:xfrm>
            <a:prstGeom prst="trapezoid">
              <a:avLst>
                <a:gd name="adj" fmla="val 146553"/>
              </a:avLst>
            </a:prstGeom>
            <a:solidFill>
              <a:schemeClr val="accent4">
                <a:alpha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9" name="矢印: 上 138">
              <a:extLst>
                <a:ext uri="{FF2B5EF4-FFF2-40B4-BE49-F238E27FC236}">
                  <a16:creationId xmlns:a16="http://schemas.microsoft.com/office/drawing/2014/main" id="{D68A7A41-AF21-49A6-A10E-C42C730F50C5}"/>
                </a:ext>
              </a:extLst>
            </p:cNvPr>
            <p:cNvSpPr/>
            <p:nvPr/>
          </p:nvSpPr>
          <p:spPr>
            <a:xfrm>
              <a:off x="8665298" y="4630186"/>
              <a:ext cx="543777" cy="277161"/>
            </a:xfrm>
            <a:prstGeom prst="upArrow">
              <a:avLst>
                <a:gd name="adj1" fmla="val 63512"/>
                <a:gd name="adj2" fmla="val 50000"/>
              </a:avLst>
            </a:pr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1" name="矢印: 上 140">
              <a:extLst>
                <a:ext uri="{FF2B5EF4-FFF2-40B4-BE49-F238E27FC236}">
                  <a16:creationId xmlns:a16="http://schemas.microsoft.com/office/drawing/2014/main" id="{F316A463-2D1C-4E9A-9A63-355C30118C04}"/>
                </a:ext>
              </a:extLst>
            </p:cNvPr>
            <p:cNvSpPr/>
            <p:nvPr/>
          </p:nvSpPr>
          <p:spPr>
            <a:xfrm>
              <a:off x="3048749" y="4630186"/>
              <a:ext cx="543777" cy="277161"/>
            </a:xfrm>
            <a:prstGeom prst="upArrow">
              <a:avLst>
                <a:gd name="adj1" fmla="val 63512"/>
                <a:gd name="adj2" fmla="val 50000"/>
              </a:avLst>
            </a:prstGeom>
            <a:solidFill>
              <a:schemeClr val="accent4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円柱 20">
            <a:extLst>
              <a:ext uri="{FF2B5EF4-FFF2-40B4-BE49-F238E27FC236}">
                <a16:creationId xmlns:a16="http://schemas.microsoft.com/office/drawing/2014/main" id="{BE3F3800-9678-4BF6-945A-D4C876E66782}"/>
              </a:ext>
            </a:extLst>
          </p:cNvPr>
          <p:cNvSpPr/>
          <p:nvPr/>
        </p:nvSpPr>
        <p:spPr>
          <a:xfrm>
            <a:off x="7555270" y="6040391"/>
            <a:ext cx="830604" cy="359864"/>
          </a:xfrm>
          <a:prstGeom prst="can">
            <a:avLst>
              <a:gd name="adj" fmla="val 36517"/>
            </a:avLst>
          </a:prstGeom>
          <a:solidFill>
            <a:srgbClr val="FFFFFF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SNOW?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52" name="円柱 151">
            <a:extLst>
              <a:ext uri="{FF2B5EF4-FFF2-40B4-BE49-F238E27FC236}">
                <a16:creationId xmlns:a16="http://schemas.microsoft.com/office/drawing/2014/main" id="{057E2F68-CF40-415C-8F5C-D10FEE0357A0}"/>
              </a:ext>
            </a:extLst>
          </p:cNvPr>
          <p:cNvSpPr/>
          <p:nvPr/>
        </p:nvSpPr>
        <p:spPr>
          <a:xfrm>
            <a:off x="8514135" y="6040391"/>
            <a:ext cx="830604" cy="359864"/>
          </a:xfrm>
          <a:prstGeom prst="can">
            <a:avLst>
              <a:gd name="adj" fmla="val 36517"/>
            </a:avLst>
          </a:prstGeom>
          <a:solidFill>
            <a:srgbClr val="FFFFFF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solidFill>
                  <a:schemeClr val="tx1"/>
                </a:solidFill>
              </a:rPr>
              <a:t>Cognos?</a:t>
            </a:r>
            <a:endParaRPr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53" name="円柱 152">
            <a:extLst>
              <a:ext uri="{FF2B5EF4-FFF2-40B4-BE49-F238E27FC236}">
                <a16:creationId xmlns:a16="http://schemas.microsoft.com/office/drawing/2014/main" id="{AD8E97B7-28FB-44E7-BC62-8F63F1AC0D74}"/>
              </a:ext>
            </a:extLst>
          </p:cNvPr>
          <p:cNvSpPr/>
          <p:nvPr/>
        </p:nvSpPr>
        <p:spPr>
          <a:xfrm>
            <a:off x="9473000" y="6040391"/>
            <a:ext cx="830604" cy="359864"/>
          </a:xfrm>
          <a:prstGeom prst="can">
            <a:avLst>
              <a:gd name="adj" fmla="val 36517"/>
            </a:avLst>
          </a:prstGeom>
          <a:solidFill>
            <a:srgbClr val="FFFFFF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・・・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4BFDA8E5-46DC-4914-A1BA-8579661A7AD8}"/>
              </a:ext>
            </a:extLst>
          </p:cNvPr>
          <p:cNvSpPr/>
          <p:nvPr/>
        </p:nvSpPr>
        <p:spPr>
          <a:xfrm>
            <a:off x="1049140" y="6526990"/>
            <a:ext cx="1299698" cy="25344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600" dirty="0">
                <a:solidFill>
                  <a:schemeClr val="accent4"/>
                </a:solidFill>
              </a:rPr>
              <a:t>Organization</a:t>
            </a: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559B65AA-5043-41DB-B8CE-FF66EBD4D22F}"/>
              </a:ext>
            </a:extLst>
          </p:cNvPr>
          <p:cNvSpPr>
            <a:spLocks noChangeAspect="1"/>
          </p:cNvSpPr>
          <p:nvPr/>
        </p:nvSpPr>
        <p:spPr>
          <a:xfrm>
            <a:off x="783884" y="6522499"/>
            <a:ext cx="262077" cy="26242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</a:rPr>
              <a:t>4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63A6489B-7207-4219-993D-33EEB7F7D0CE}"/>
              </a:ext>
            </a:extLst>
          </p:cNvPr>
          <p:cNvSpPr/>
          <p:nvPr/>
        </p:nvSpPr>
        <p:spPr>
          <a:xfrm>
            <a:off x="6675747" y="6526990"/>
            <a:ext cx="1976462" cy="25344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600" dirty="0">
                <a:solidFill>
                  <a:schemeClr val="accent4"/>
                </a:solidFill>
              </a:rPr>
              <a:t>Digital Infrastructure</a:t>
            </a: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F567C06A-376E-4929-BEE2-509A6AB1D9BF}"/>
              </a:ext>
            </a:extLst>
          </p:cNvPr>
          <p:cNvSpPr>
            <a:spLocks noChangeAspect="1"/>
          </p:cNvSpPr>
          <p:nvPr/>
        </p:nvSpPr>
        <p:spPr>
          <a:xfrm>
            <a:off x="6400433" y="6522499"/>
            <a:ext cx="262077" cy="26242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</a:rPr>
              <a:t>5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A7B7292-2222-4453-9BE6-DE9C761ED8DA}"/>
              </a:ext>
            </a:extLst>
          </p:cNvPr>
          <p:cNvSpPr/>
          <p:nvPr/>
        </p:nvSpPr>
        <p:spPr>
          <a:xfrm>
            <a:off x="617299" y="1299416"/>
            <a:ext cx="892950" cy="3066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600" dirty="0">
                <a:solidFill>
                  <a:schemeClr val="accent4"/>
                </a:solidFill>
              </a:rPr>
              <a:t>Strategy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055163AC-C89B-40C1-A04C-B3E877D89A66}"/>
              </a:ext>
            </a:extLst>
          </p:cNvPr>
          <p:cNvSpPr>
            <a:spLocks noChangeAspect="1"/>
          </p:cNvSpPr>
          <p:nvPr/>
        </p:nvSpPr>
        <p:spPr>
          <a:xfrm>
            <a:off x="348601" y="1321537"/>
            <a:ext cx="262077" cy="26242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</a:rPr>
              <a:t>1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38FD37E-552C-4C0A-9D7A-7318BBBECF7A}"/>
              </a:ext>
            </a:extLst>
          </p:cNvPr>
          <p:cNvSpPr/>
          <p:nvPr/>
        </p:nvSpPr>
        <p:spPr>
          <a:xfrm>
            <a:off x="5391219" y="1299416"/>
            <a:ext cx="2117389" cy="3066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600" dirty="0">
                <a:solidFill>
                  <a:schemeClr val="accent4"/>
                </a:solidFill>
              </a:rPr>
              <a:t>Planning</a:t>
            </a:r>
            <a:r>
              <a:rPr lang="ja-JP" altLang="en-US" sz="1600" dirty="0">
                <a:solidFill>
                  <a:schemeClr val="accent4"/>
                </a:solidFill>
              </a:rPr>
              <a:t> ～ </a:t>
            </a:r>
            <a:r>
              <a:rPr lang="en-US" altLang="ja-JP" sz="1600" dirty="0">
                <a:solidFill>
                  <a:schemeClr val="accent4"/>
                </a:solidFill>
              </a:rPr>
              <a:t>Execution</a:t>
            </a: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BFE80184-48CE-4128-996D-ECBE2C775F4D}"/>
              </a:ext>
            </a:extLst>
          </p:cNvPr>
          <p:cNvSpPr>
            <a:spLocks noChangeAspect="1"/>
          </p:cNvSpPr>
          <p:nvPr/>
        </p:nvSpPr>
        <p:spPr>
          <a:xfrm>
            <a:off x="5118861" y="1321537"/>
            <a:ext cx="262077" cy="26242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/>
                </a:solidFill>
              </a:rPr>
              <a:t>2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32BDB0C3-7C33-45C3-9DE4-E09EBF2978B0}"/>
              </a:ext>
            </a:extLst>
          </p:cNvPr>
          <p:cNvSpPr/>
          <p:nvPr/>
        </p:nvSpPr>
        <p:spPr>
          <a:xfrm>
            <a:off x="9290202" y="1299416"/>
            <a:ext cx="1079752" cy="30666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algn="ctr" eaLnBrk="1" hangingPunct="1">
              <a:spcBef>
                <a:spcPts val="600"/>
              </a:spcBef>
              <a:buClr>
                <a:schemeClr val="tx1"/>
              </a:buClr>
            </a:pPr>
            <a:r>
              <a:rPr lang="en-US" altLang="ja-JP" sz="1600" dirty="0">
                <a:solidFill>
                  <a:schemeClr val="accent4"/>
                </a:solidFill>
              </a:rPr>
              <a:t>Monitoring</a:t>
            </a: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9960C052-3EA7-4FCE-AD25-2854568DFA5E}"/>
              </a:ext>
            </a:extLst>
          </p:cNvPr>
          <p:cNvSpPr>
            <a:spLocks noChangeAspect="1"/>
          </p:cNvSpPr>
          <p:nvPr/>
        </p:nvSpPr>
        <p:spPr>
          <a:xfrm>
            <a:off x="9020832" y="1321537"/>
            <a:ext cx="262077" cy="26242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bg1"/>
                </a:solidFill>
              </a:rPr>
              <a:t>3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170" name="楕円 169">
            <a:extLst>
              <a:ext uri="{FF2B5EF4-FFF2-40B4-BE49-F238E27FC236}">
                <a16:creationId xmlns:a16="http://schemas.microsoft.com/office/drawing/2014/main" id="{CF3D13CA-679E-4C20-82FA-00339EF2337C}"/>
              </a:ext>
            </a:extLst>
          </p:cNvPr>
          <p:cNvSpPr/>
          <p:nvPr/>
        </p:nvSpPr>
        <p:spPr>
          <a:xfrm>
            <a:off x="3966897" y="1337839"/>
            <a:ext cx="729692" cy="229823"/>
          </a:xfrm>
          <a:prstGeom prst="ellips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i="1" dirty="0">
                <a:solidFill>
                  <a:schemeClr val="bg1"/>
                </a:solidFill>
              </a:rPr>
              <a:t>Point</a:t>
            </a:r>
            <a:endParaRPr kumimoji="1" lang="ja-JP" altLang="en-US" sz="1400" b="1" i="1" dirty="0">
              <a:solidFill>
                <a:schemeClr val="bg1"/>
              </a:solidFill>
            </a:endParaRPr>
          </a:p>
        </p:txBody>
      </p:sp>
      <p:sp>
        <p:nvSpPr>
          <p:cNvPr id="171" name="楕円 170">
            <a:extLst>
              <a:ext uri="{FF2B5EF4-FFF2-40B4-BE49-F238E27FC236}">
                <a16:creationId xmlns:a16="http://schemas.microsoft.com/office/drawing/2014/main" id="{5B9EA2D7-8796-4CB6-899D-6661BD28CF25}"/>
              </a:ext>
            </a:extLst>
          </p:cNvPr>
          <p:cNvSpPr/>
          <p:nvPr/>
        </p:nvSpPr>
        <p:spPr>
          <a:xfrm>
            <a:off x="5136218" y="6537666"/>
            <a:ext cx="729692" cy="229823"/>
          </a:xfrm>
          <a:prstGeom prst="ellips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b="1" i="1" dirty="0">
                <a:solidFill>
                  <a:schemeClr val="bg1"/>
                </a:solidFill>
              </a:rPr>
              <a:t>Point</a:t>
            </a:r>
            <a:endParaRPr kumimoji="1" lang="ja-JP" altLang="en-US" sz="1400" b="1" i="1" dirty="0">
              <a:solidFill>
                <a:schemeClr val="bg1"/>
              </a:solidFill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4D43B4B7-2BE1-4260-8D25-168A61422FE3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4" name="スライド番号プレースホルダー 3">
            <a:extLst>
              <a:ext uri="{FF2B5EF4-FFF2-40B4-BE49-F238E27FC236}">
                <a16:creationId xmlns:a16="http://schemas.microsoft.com/office/drawing/2014/main" id="{E6748EBD-5E63-4437-AF36-A68609F1BE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57911" y="6479931"/>
            <a:ext cx="2743200" cy="2415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15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790B7D17-06A9-41A6-BEC8-83AF9DDCAC55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OCN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18725DE0-58CC-4796-89A5-FC4F807F431E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166" name="四角形: 角を丸くする 165">
            <a:extLst>
              <a:ext uri="{FF2B5EF4-FFF2-40B4-BE49-F238E27FC236}">
                <a16:creationId xmlns:a16="http://schemas.microsoft.com/office/drawing/2014/main" id="{C146FAE3-920F-40D9-876C-4A4CC8CD7AAC}"/>
              </a:ext>
            </a:extLst>
          </p:cNvPr>
          <p:cNvSpPr/>
          <p:nvPr/>
        </p:nvSpPr>
        <p:spPr>
          <a:xfrm>
            <a:off x="2351584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Target G</a:t>
            </a: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26378840-81D7-473A-9363-6B24B2C4ED88}"/>
              </a:ext>
            </a:extLst>
          </p:cNvPr>
          <p:cNvSpPr/>
          <p:nvPr/>
        </p:nvSpPr>
        <p:spPr>
          <a:xfrm>
            <a:off x="7537630" y="1080526"/>
            <a:ext cx="4463026" cy="23011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* </a:t>
            </a:r>
            <a:r>
              <a:rPr lang="ja-JP" altLang="en-US" sz="1050" dirty="0">
                <a:solidFill>
                  <a:schemeClr val="tx1"/>
                </a:solidFill>
              </a:rPr>
              <a:t>下記はあくまで現時点の「想定」。実際にプロジェクト始動後、検討テーマは改めて設計</a:t>
            </a:r>
            <a:endParaRPr lang="en-US" altLang="ja-JP" sz="105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884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51C79EC-FAD7-484B-B474-72D7DD00341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37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51C79EC-FAD7-484B-B474-72D7DD003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21C9D921-A693-4A3B-B387-8429B531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   </a:t>
            </a:r>
            <a:r>
              <a:rPr kumimoji="1" lang="en-US" altLang="ja-JP" dirty="0"/>
              <a:t>Evaluation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6FFB50-D958-4463-95A9-B14DFD34D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目的とあるべき姿を実現していくためには、「</a:t>
            </a:r>
            <a:r>
              <a:rPr kumimoji="1" lang="en-US" altLang="ja-JP" dirty="0"/>
              <a:t>Target</a:t>
            </a:r>
            <a:r>
              <a:rPr kumimoji="1" lang="ja-JP" altLang="en-US" dirty="0"/>
              <a:t>の進捗度」及び「</a:t>
            </a:r>
            <a:r>
              <a:rPr kumimoji="1" lang="en-US" altLang="ja-JP" dirty="0"/>
              <a:t>Target</a:t>
            </a:r>
            <a:r>
              <a:rPr kumimoji="1" lang="ja-JP" altLang="en-US" dirty="0"/>
              <a:t>が生み出す成果」を測定する指標を定め、定期的にモニタリングしていく体制が肝要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6099DE-B5DF-4CCA-95DE-904D5EA1F8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3ACC6F7-B1C9-44F4-A997-0AE1E338339D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4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8F2CEBA-DFF2-44DC-B5F6-2318A1DE52FC}"/>
              </a:ext>
            </a:extLst>
          </p:cNvPr>
          <p:cNvSpPr txBox="1"/>
          <p:nvPr/>
        </p:nvSpPr>
        <p:spPr>
          <a:xfrm>
            <a:off x="314353" y="1809977"/>
            <a:ext cx="8753504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altLang="ja-JP"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Targets</a:t>
            </a:r>
            <a:endParaRPr kumimoji="1" lang="en-US" altLang="ja-JP" sz="140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91FA2F-0361-4390-B90E-8DC02CB630B3}"/>
              </a:ext>
            </a:extLst>
          </p:cNvPr>
          <p:cNvSpPr/>
          <p:nvPr/>
        </p:nvSpPr>
        <p:spPr>
          <a:xfrm>
            <a:off x="1926744" y="2207745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B-1.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全体最適な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を策定するため、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GHQ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主導型の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プロセスの構築と実行（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FO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への全体最適な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Allocation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を含む）</a:t>
            </a:r>
            <a:endParaRPr kumimoji="1" lang="en-US" altLang="ja-JP" sz="1100" i="0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4C43165-9EE3-4DAD-A16A-4F1FB445526D}"/>
              </a:ext>
            </a:extLst>
          </p:cNvPr>
          <p:cNvSpPr/>
          <p:nvPr/>
        </p:nvSpPr>
        <p:spPr>
          <a:xfrm>
            <a:off x="1926744" y="254930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評価項目の統一や算出ロジックの標準化など、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策定に係る全社共通ルールの策定</a:t>
            </a:r>
            <a:endParaRPr kumimoji="1" lang="en-US" altLang="ja-JP" sz="1100" i="0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F77A68A-6FE8-4EC7-856B-49E5822378D3}"/>
              </a:ext>
            </a:extLst>
          </p:cNvPr>
          <p:cNvSpPr/>
          <p:nvPr/>
        </p:nvSpPr>
        <p:spPr>
          <a:xfrm>
            <a:off x="1926744" y="5623325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E-3.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モニタリングを通じガバナンスを強化するための、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結果分析ツールの導入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2A80085-D964-46D4-887B-CD2C60EE9110}"/>
              </a:ext>
            </a:extLst>
          </p:cNvPr>
          <p:cNvSpPr/>
          <p:nvPr/>
        </p:nvSpPr>
        <p:spPr>
          <a:xfrm>
            <a:off x="1926744" y="4940209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E-1.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いずれの地域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/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オフィス等にも偏らない、全体最適かつ公平な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BKG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受入のためのルール明確化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E1E19EA-3341-4B24-9255-9EC2376D4E73}"/>
              </a:ext>
            </a:extLst>
          </p:cNvPr>
          <p:cNvSpPr/>
          <p:nvPr/>
        </p:nvSpPr>
        <p:spPr>
          <a:xfrm>
            <a:off x="1926744" y="5281767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E-2.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ルールに準拠した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受入を促進すべく、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 Data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 管理システムの導入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3D995F2-FEBC-4C94-A546-8D1E6BDC45B1}"/>
              </a:ext>
            </a:extLst>
          </p:cNvPr>
          <p:cNvSpPr/>
          <p:nvPr/>
        </p:nvSpPr>
        <p:spPr>
          <a:xfrm>
            <a:off x="1926744" y="425709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D-2.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有効かつ効率的に消席率を高めるため、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SPC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と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Loading Office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のコミュニケーション促進と連携強化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D20DCAA-AE9F-49E7-BB37-CC2558099273}"/>
              </a:ext>
            </a:extLst>
          </p:cNvPr>
          <p:cNvSpPr/>
          <p:nvPr/>
        </p:nvSpPr>
        <p:spPr>
          <a:xfrm>
            <a:off x="1926744" y="3915535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D-1.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消席率を最大化するため、各種データに基づく将来の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予測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2472068-855A-41C5-AF0A-387469B83345}"/>
              </a:ext>
            </a:extLst>
          </p:cNvPr>
          <p:cNvSpPr/>
          <p:nvPr/>
        </p:nvSpPr>
        <p:spPr>
          <a:xfrm>
            <a:off x="1926744" y="4598651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D-3.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適切な追加営業活動を適時に判断するため、最新消席率の可視化（余剰スペースのタイムリーな把握）</a:t>
            </a:r>
            <a:endParaRPr lang="en-US" altLang="ja-JP" sz="1100" dirty="0">
              <a:latin typeface="Arial"/>
              <a:ea typeface="ＭＳ Ｐゴシック" panose="020B060007020508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965FB68-7702-4A9A-A060-0D725D412614}"/>
              </a:ext>
            </a:extLst>
          </p:cNvPr>
          <p:cNvSpPr/>
          <p:nvPr/>
        </p:nvSpPr>
        <p:spPr>
          <a:xfrm>
            <a:off x="1926744" y="596488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>
              <a:lnSpc>
                <a:spcPts val="1400"/>
              </a:lnSpc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F-1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契約条件（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Award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）の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連携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による、戦略から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に至る、一気通貫のプロセス構築とデータ連携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7F51530-8D6F-4C54-BBF5-165B9FE64EF5}"/>
              </a:ext>
            </a:extLst>
          </p:cNvPr>
          <p:cNvSpPr/>
          <p:nvPr/>
        </p:nvSpPr>
        <p:spPr>
          <a:xfrm>
            <a:off x="1926744" y="3573977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altLang="ja-JP" sz="1100" dirty="0">
                <a:latin typeface="Arial"/>
                <a:ea typeface="ＭＳ Ｐゴシック" panose="020B0600070205080204" pitchFamily="50" charset="-128"/>
              </a:rPr>
              <a:t>C-3</a:t>
            </a:r>
            <a:r>
              <a:rPr kumimoji="1" lang="fr-FR" altLang="ja-JP" sz="11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業務の品質向上と効率化のため、マニュアル作業の多い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策定業務の自動化</a:t>
            </a:r>
            <a:endParaRPr kumimoji="1" lang="fr-FR" altLang="ja-JP" sz="11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66010DC-AE3B-45AF-A473-A17DBACDFAF6}"/>
              </a:ext>
            </a:extLst>
          </p:cNvPr>
          <p:cNvSpPr/>
          <p:nvPr/>
        </p:nvSpPr>
        <p:spPr>
          <a:xfrm>
            <a:off x="1926744" y="2890861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C-1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 正確な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AP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を策定すべく、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網羅的なデータの収集と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当該データの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への反映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CBE3E23-5DA1-4549-BF7F-21654D34694C}"/>
              </a:ext>
            </a:extLst>
          </p:cNvPr>
          <p:cNvSpPr/>
          <p:nvPr/>
        </p:nvSpPr>
        <p:spPr>
          <a:xfrm>
            <a:off x="1926744" y="3232419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C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-2.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正確な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を策定するため、顧客情報をタイムリーかつ正確に把握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し、当該情報を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AP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に反映するプロセスの徹底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2DE0AC8-3D51-49B5-A370-C3A0EBB88102}"/>
              </a:ext>
            </a:extLst>
          </p:cNvPr>
          <p:cNvSpPr/>
          <p:nvPr/>
        </p:nvSpPr>
        <p:spPr>
          <a:xfrm>
            <a:off x="1926744" y="6306443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rIns="0" bIns="0" rtlCol="0" anchor="ctr">
            <a:noAutofit/>
          </a:bodyPr>
          <a:lstStyle/>
          <a:p>
            <a:pPr marL="182563" indent="-182563" algn="l">
              <a:lnSpc>
                <a:spcPts val="1400"/>
              </a:lnSpc>
            </a:pP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G-1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. 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OCN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以外（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IPC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、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T/S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）の</a:t>
            </a:r>
            <a:r>
              <a:rPr lang="en-US" altLang="ja-JP" sz="1100" dirty="0">
                <a:latin typeface="Arial"/>
                <a:ea typeface="ＭＳ Ｐゴシック" panose="020B0600070205080204" pitchFamily="50" charset="-128"/>
              </a:rPr>
              <a:t>BKG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獲得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による</a:t>
            </a:r>
            <a:r>
              <a:rPr lang="ja-JP" altLang="en-US" sz="1100" dirty="0">
                <a:latin typeface="Arial"/>
                <a:ea typeface="ＭＳ Ｐゴシック" panose="020B0600070205080204" pitchFamily="50" charset="-128"/>
              </a:rPr>
              <a:t>公共財の最大活用推進（組織起ち上げ、インセンティブ付与を含む）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4486103-93C0-4A51-BDC9-4CC0773B47BA}"/>
              </a:ext>
            </a:extLst>
          </p:cNvPr>
          <p:cNvSpPr txBox="1"/>
          <p:nvPr/>
        </p:nvSpPr>
        <p:spPr>
          <a:xfrm>
            <a:off x="9295116" y="1809977"/>
            <a:ext cx="1255723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ja-JP" altLang="en-US" sz="1400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評価指標</a:t>
            </a:r>
            <a:endParaRPr kumimoji="1" lang="en-US" altLang="ja-JP" sz="140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EA2392A-A13C-41A5-8C1A-1D5B8E4FB3AC}"/>
              </a:ext>
            </a:extLst>
          </p:cNvPr>
          <p:cNvSpPr txBox="1"/>
          <p:nvPr/>
        </p:nvSpPr>
        <p:spPr>
          <a:xfrm>
            <a:off x="10721379" y="1809977"/>
            <a:ext cx="1255723" cy="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ja-JP" altLang="en-US" sz="1400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評価主体</a:t>
            </a:r>
            <a:endParaRPr kumimoji="1" lang="en-US" altLang="ja-JP" sz="1400" i="0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12FB69E-759D-48D0-B476-CEB5D0796208}"/>
              </a:ext>
            </a:extLst>
          </p:cNvPr>
          <p:cNvSpPr/>
          <p:nvPr/>
        </p:nvSpPr>
        <p:spPr>
          <a:xfrm>
            <a:off x="10682752" y="1866187"/>
            <a:ext cx="1332976" cy="46992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L="179388" marR="0" lvl="0" indent="-179388" algn="l" defTabSz="914400" rtl="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altLang="ja-JP" sz="1400" dirty="0"/>
              <a:t>SYM</a:t>
            </a:r>
          </a:p>
          <a:p>
            <a:pPr marL="179388" marR="0" lvl="0" indent="-179388" algn="l" defTabSz="914400" rtl="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altLang="ja-JP" sz="1400" dirty="0"/>
              <a:t>DYM</a:t>
            </a:r>
          </a:p>
          <a:p>
            <a:pPr marL="179388" marR="0" lvl="0" indent="-179388" algn="l" defTabSz="914400" rtl="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altLang="ja-JP" sz="1400" dirty="0"/>
              <a:t>Related Project Owners</a:t>
            </a:r>
          </a:p>
          <a:p>
            <a:pPr marL="179388" marR="0" lvl="0" indent="-179388" algn="l" defTabSz="914400" rtl="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-"/>
              <a:tabLst/>
              <a:defRPr/>
            </a:pPr>
            <a:r>
              <a:rPr lang="en-US" altLang="ja-JP" sz="1400" dirty="0"/>
              <a:t>GHQ/RHQ Trade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A1CDDBA-C2C5-4E8F-B9F5-2FF69DDF6EC9}"/>
              </a:ext>
            </a:extLst>
          </p:cNvPr>
          <p:cNvSpPr/>
          <p:nvPr/>
        </p:nvSpPr>
        <p:spPr>
          <a:xfrm>
            <a:off x="9256490" y="1866187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XXX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7DB094F-A719-48A8-A934-049627891A45}"/>
              </a:ext>
            </a:extLst>
          </p:cNvPr>
          <p:cNvSpPr/>
          <p:nvPr/>
        </p:nvSpPr>
        <p:spPr>
          <a:xfrm>
            <a:off x="9256490" y="2183348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XXX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70B7607-BE2A-4BA4-90D1-3529A35CBEC1}"/>
              </a:ext>
            </a:extLst>
          </p:cNvPr>
          <p:cNvSpPr/>
          <p:nvPr/>
        </p:nvSpPr>
        <p:spPr>
          <a:xfrm>
            <a:off x="9256490" y="2500509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XXX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CD24FCE-D4CB-475C-B2FD-B5F14A9BC711}"/>
              </a:ext>
            </a:extLst>
          </p:cNvPr>
          <p:cNvSpPr/>
          <p:nvPr/>
        </p:nvSpPr>
        <p:spPr>
          <a:xfrm>
            <a:off x="9256490" y="2817670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3278C83-281B-4AC1-8AFB-C6DDC63D56C6}"/>
              </a:ext>
            </a:extLst>
          </p:cNvPr>
          <p:cNvSpPr/>
          <p:nvPr/>
        </p:nvSpPr>
        <p:spPr>
          <a:xfrm>
            <a:off x="9256490" y="3134831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758B5E9-85A0-4321-B2EA-EB764A56F027}"/>
              </a:ext>
            </a:extLst>
          </p:cNvPr>
          <p:cNvSpPr/>
          <p:nvPr/>
        </p:nvSpPr>
        <p:spPr>
          <a:xfrm>
            <a:off x="9256490" y="3451992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93735A8-D394-4B47-8CC8-CF197EA8496D}"/>
              </a:ext>
            </a:extLst>
          </p:cNvPr>
          <p:cNvSpPr/>
          <p:nvPr/>
        </p:nvSpPr>
        <p:spPr>
          <a:xfrm>
            <a:off x="9256490" y="3769153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77A1D5F-D927-41DC-AB72-F7BAEDF04855}"/>
              </a:ext>
            </a:extLst>
          </p:cNvPr>
          <p:cNvSpPr/>
          <p:nvPr/>
        </p:nvSpPr>
        <p:spPr>
          <a:xfrm>
            <a:off x="9256490" y="4086314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D7032CA-5CDD-4188-889F-7E8352D2BDE7}"/>
              </a:ext>
            </a:extLst>
          </p:cNvPr>
          <p:cNvSpPr/>
          <p:nvPr/>
        </p:nvSpPr>
        <p:spPr>
          <a:xfrm>
            <a:off x="9256490" y="4403475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076CE50-783D-4CCB-93A5-A187EF8155B9}"/>
              </a:ext>
            </a:extLst>
          </p:cNvPr>
          <p:cNvSpPr/>
          <p:nvPr/>
        </p:nvSpPr>
        <p:spPr>
          <a:xfrm>
            <a:off x="9256490" y="4720636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EA917F8-9466-4CC5-A561-4B4079B1148D}"/>
              </a:ext>
            </a:extLst>
          </p:cNvPr>
          <p:cNvSpPr/>
          <p:nvPr/>
        </p:nvSpPr>
        <p:spPr>
          <a:xfrm>
            <a:off x="9256490" y="5037797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62AE23F-D17E-41FF-B58B-515C2EF594AF}"/>
              </a:ext>
            </a:extLst>
          </p:cNvPr>
          <p:cNvSpPr/>
          <p:nvPr/>
        </p:nvSpPr>
        <p:spPr>
          <a:xfrm>
            <a:off x="9256490" y="5354958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B35F635-8AF0-4FD3-AA50-EC2FB9703AA8}"/>
              </a:ext>
            </a:extLst>
          </p:cNvPr>
          <p:cNvSpPr/>
          <p:nvPr/>
        </p:nvSpPr>
        <p:spPr>
          <a:xfrm>
            <a:off x="9256490" y="5672119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38AB797-FBDA-479E-84C7-1D58C4E19404}"/>
              </a:ext>
            </a:extLst>
          </p:cNvPr>
          <p:cNvSpPr/>
          <p:nvPr/>
        </p:nvSpPr>
        <p:spPr>
          <a:xfrm>
            <a:off x="9256490" y="5989280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A28B16A-0135-4288-91A6-D8C9BAC53CC6}"/>
              </a:ext>
            </a:extLst>
          </p:cNvPr>
          <p:cNvSpPr/>
          <p:nvPr/>
        </p:nvSpPr>
        <p:spPr>
          <a:xfrm>
            <a:off x="9256490" y="6306443"/>
            <a:ext cx="1332976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ja-JP" sz="1100" dirty="0"/>
          </a:p>
        </p:txBody>
      </p:sp>
      <p:sp>
        <p:nvSpPr>
          <p:cNvPr id="32" name="Rectangle 117">
            <a:extLst>
              <a:ext uri="{FF2B5EF4-FFF2-40B4-BE49-F238E27FC236}">
                <a16:creationId xmlns:a16="http://schemas.microsoft.com/office/drawing/2014/main" id="{79C10704-D39D-4D68-8E90-7ABBDC07A8D6}"/>
              </a:ext>
            </a:extLst>
          </p:cNvPr>
          <p:cNvSpPr/>
          <p:nvPr/>
        </p:nvSpPr>
        <p:spPr>
          <a:xfrm>
            <a:off x="9256490" y="1866187"/>
            <a:ext cx="1332976" cy="4699212"/>
          </a:xfrm>
          <a:prstGeom prst="rect">
            <a:avLst/>
          </a:prstGeom>
          <a:solidFill>
            <a:srgbClr val="FBCCE7">
              <a:alpha val="60000"/>
            </a:srgb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Grand</a:t>
            </a:r>
            <a:r>
              <a:rPr lang="ja-JP" altLang="en-US" sz="1600" b="1" dirty="0">
                <a:solidFill>
                  <a:schemeClr val="tx1"/>
                </a:solidFill>
              </a:rPr>
              <a:t> </a:t>
            </a:r>
            <a:r>
              <a:rPr lang="en-US" altLang="ja-JP" sz="1600" b="1" dirty="0">
                <a:solidFill>
                  <a:schemeClr val="tx1"/>
                </a:solidFill>
              </a:rPr>
              <a:t>Design</a:t>
            </a:r>
            <a:r>
              <a:rPr lang="ja-JP" altLang="en-US" sz="1600" b="1" dirty="0">
                <a:solidFill>
                  <a:schemeClr val="tx1"/>
                </a:solidFill>
              </a:rPr>
              <a:t>の達成状況をモニタリングするため、</a:t>
            </a:r>
            <a:r>
              <a:rPr lang="en-US" altLang="ja-JP" sz="1600" b="1" dirty="0">
                <a:solidFill>
                  <a:schemeClr val="tx1"/>
                </a:solidFill>
              </a:rPr>
              <a:t>Target</a:t>
            </a:r>
            <a:r>
              <a:rPr lang="ja-JP" altLang="en-US" sz="1600" b="1" dirty="0">
                <a:solidFill>
                  <a:schemeClr val="tx1"/>
                </a:solidFill>
              </a:rPr>
              <a:t>に係る評価指標を今後体系化</a:t>
            </a:r>
            <a:endParaRPr lang="en-US" altLang="ja-JP" sz="1600" b="1" dirty="0">
              <a:solidFill>
                <a:schemeClr val="tx1"/>
              </a:solidFill>
            </a:endParaRP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FF2F2372-0D96-4B9E-B94E-1959B491A019}"/>
              </a:ext>
            </a:extLst>
          </p:cNvPr>
          <p:cNvCxnSpPr>
            <a:cxnSpLocks/>
            <a:stCxn id="64" idx="3"/>
            <a:endCxn id="13" idx="1"/>
          </p:cNvCxnSpPr>
          <p:nvPr/>
        </p:nvCxnSpPr>
        <p:spPr>
          <a:xfrm flipV="1">
            <a:off x="1760447" y="2337223"/>
            <a:ext cx="166297" cy="512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040ABDCF-C3D4-4B4D-948E-170C271D4944}"/>
              </a:ext>
            </a:extLst>
          </p:cNvPr>
          <p:cNvCxnSpPr>
            <a:cxnSpLocks/>
            <a:stCxn id="64" idx="3"/>
            <a:endCxn id="14" idx="1"/>
          </p:cNvCxnSpPr>
          <p:nvPr/>
        </p:nvCxnSpPr>
        <p:spPr>
          <a:xfrm flipV="1">
            <a:off x="1760447" y="2678781"/>
            <a:ext cx="166297" cy="1713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C9399C9-3B3C-4854-B531-5DB95E4BBFFC}"/>
              </a:ext>
            </a:extLst>
          </p:cNvPr>
          <p:cNvCxnSpPr>
            <a:cxnSpLocks/>
            <a:stCxn id="82" idx="3"/>
            <a:endCxn id="20" idx="1"/>
          </p:cNvCxnSpPr>
          <p:nvPr/>
        </p:nvCxnSpPr>
        <p:spPr>
          <a:xfrm flipV="1">
            <a:off x="1760447" y="4045013"/>
            <a:ext cx="166297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3D3C8A56-B738-4C83-B4A8-4D626D16FB0C}"/>
              </a:ext>
            </a:extLst>
          </p:cNvPr>
          <p:cNvCxnSpPr>
            <a:cxnSpLocks/>
            <a:stCxn id="82" idx="3"/>
            <a:endCxn id="19" idx="1"/>
          </p:cNvCxnSpPr>
          <p:nvPr/>
        </p:nvCxnSpPr>
        <p:spPr>
          <a:xfrm>
            <a:off x="1760447" y="4215792"/>
            <a:ext cx="166297" cy="17077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66BE147C-63C2-46E1-883E-1D273942976C}"/>
              </a:ext>
            </a:extLst>
          </p:cNvPr>
          <p:cNvCxnSpPr>
            <a:cxnSpLocks/>
            <a:stCxn id="82" idx="3"/>
            <a:endCxn id="21" idx="1"/>
          </p:cNvCxnSpPr>
          <p:nvPr/>
        </p:nvCxnSpPr>
        <p:spPr>
          <a:xfrm>
            <a:off x="1760447" y="4215792"/>
            <a:ext cx="166297" cy="51233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8DBEC6B4-1010-4D29-9991-9B8B6DE859C3}"/>
              </a:ext>
            </a:extLst>
          </p:cNvPr>
          <p:cNvCxnSpPr>
            <a:cxnSpLocks/>
            <a:stCxn id="76" idx="3"/>
            <a:endCxn id="24" idx="1"/>
          </p:cNvCxnSpPr>
          <p:nvPr/>
        </p:nvCxnSpPr>
        <p:spPr>
          <a:xfrm flipV="1">
            <a:off x="1760447" y="3020339"/>
            <a:ext cx="166297" cy="5126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07B2D4E2-F8F7-4526-89E9-F12764CBEB1F}"/>
              </a:ext>
            </a:extLst>
          </p:cNvPr>
          <p:cNvCxnSpPr>
            <a:cxnSpLocks/>
            <a:stCxn id="76" idx="3"/>
            <a:endCxn id="25" idx="1"/>
          </p:cNvCxnSpPr>
          <p:nvPr/>
        </p:nvCxnSpPr>
        <p:spPr>
          <a:xfrm flipV="1">
            <a:off x="1760447" y="3361897"/>
            <a:ext cx="166297" cy="1710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883149B8-9AFF-4B31-89D6-9ED4CD1715AD}"/>
              </a:ext>
            </a:extLst>
          </p:cNvPr>
          <p:cNvCxnSpPr>
            <a:cxnSpLocks/>
            <a:stCxn id="76" idx="3"/>
            <a:endCxn id="23" idx="1"/>
          </p:cNvCxnSpPr>
          <p:nvPr/>
        </p:nvCxnSpPr>
        <p:spPr>
          <a:xfrm>
            <a:off x="1760447" y="3532984"/>
            <a:ext cx="166297" cy="17047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F91B93B8-1422-4541-BBB0-A3CC91DB5B53}"/>
              </a:ext>
            </a:extLst>
          </p:cNvPr>
          <p:cNvCxnSpPr>
            <a:cxnSpLocks/>
            <a:stCxn id="65" idx="3"/>
            <a:endCxn id="16" idx="1"/>
          </p:cNvCxnSpPr>
          <p:nvPr/>
        </p:nvCxnSpPr>
        <p:spPr>
          <a:xfrm>
            <a:off x="1760447" y="4898600"/>
            <a:ext cx="166297" cy="1710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9100CEDC-9EAE-4599-AED4-0564118455F5}"/>
              </a:ext>
            </a:extLst>
          </p:cNvPr>
          <p:cNvCxnSpPr>
            <a:cxnSpLocks/>
            <a:stCxn id="65" idx="3"/>
            <a:endCxn id="17" idx="1"/>
          </p:cNvCxnSpPr>
          <p:nvPr/>
        </p:nvCxnSpPr>
        <p:spPr>
          <a:xfrm>
            <a:off x="1760447" y="4898600"/>
            <a:ext cx="166297" cy="5126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D052023C-12F9-445B-B8B9-8B66C9FB4217}"/>
              </a:ext>
            </a:extLst>
          </p:cNvPr>
          <p:cNvCxnSpPr>
            <a:cxnSpLocks/>
            <a:stCxn id="66" idx="3"/>
            <a:endCxn id="22" idx="1"/>
          </p:cNvCxnSpPr>
          <p:nvPr/>
        </p:nvCxnSpPr>
        <p:spPr>
          <a:xfrm>
            <a:off x="1760447" y="5581408"/>
            <a:ext cx="166297" cy="5129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FB3EBE5F-3026-4E9F-9FAC-93731789D4CF}"/>
              </a:ext>
            </a:extLst>
          </p:cNvPr>
          <p:cNvCxnSpPr>
            <a:cxnSpLocks/>
            <a:stCxn id="67" idx="3"/>
            <a:endCxn id="27" idx="1"/>
          </p:cNvCxnSpPr>
          <p:nvPr/>
        </p:nvCxnSpPr>
        <p:spPr>
          <a:xfrm>
            <a:off x="1760447" y="6264218"/>
            <a:ext cx="166297" cy="1717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4DD44D19-5A7F-477F-BFCC-FC9F2C891362}"/>
              </a:ext>
            </a:extLst>
          </p:cNvPr>
          <p:cNvCxnSpPr>
            <a:cxnSpLocks/>
            <a:stCxn id="65" idx="3"/>
            <a:endCxn id="15" idx="1"/>
          </p:cNvCxnSpPr>
          <p:nvPr/>
        </p:nvCxnSpPr>
        <p:spPr>
          <a:xfrm>
            <a:off x="1760447" y="4898600"/>
            <a:ext cx="166297" cy="8542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ED8ECA0B-0C86-45AE-8D3B-F32AB8C7B0DF}"/>
              </a:ext>
            </a:extLst>
          </p:cNvPr>
          <p:cNvSpPr/>
          <p:nvPr/>
        </p:nvSpPr>
        <p:spPr>
          <a:xfrm>
            <a:off x="257910" y="2548995"/>
            <a:ext cx="1502537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200" dirty="0">
                <a:solidFill>
                  <a:schemeClr val="tx1"/>
                </a:solidFill>
              </a:rPr>
              <a:t>GHQ</a:t>
            </a:r>
            <a:r>
              <a:rPr kumimoji="1" lang="ja-JP" altLang="en-US" sz="1200" dirty="0">
                <a:solidFill>
                  <a:schemeClr val="tx1"/>
                </a:solidFill>
              </a:rPr>
              <a:t>主導型の全体最適なルール・プロセスの確立</a:t>
            </a:r>
            <a:endParaRPr lang="ja-JP" altLang="en-US" sz="1200" dirty="0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98D41F81-F5DB-468D-AB50-5F56F6496896}"/>
              </a:ext>
            </a:extLst>
          </p:cNvPr>
          <p:cNvSpPr/>
          <p:nvPr/>
        </p:nvSpPr>
        <p:spPr>
          <a:xfrm>
            <a:off x="257910" y="4597419"/>
            <a:ext cx="1502537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>
              <a:lnSpc>
                <a:spcPts val="1400"/>
              </a:lnSpc>
              <a:defRPr/>
            </a:pPr>
            <a:r>
              <a:rPr kumimoji="1" lang="en-US" altLang="ja-JP" sz="1200" dirty="0">
                <a:solidFill>
                  <a:schemeClr val="tx1"/>
                </a:solidFill>
              </a:rPr>
              <a:t>BKG Acceptance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Rule</a:t>
            </a:r>
            <a:r>
              <a:rPr lang="ja-JP" altLang="en-US" sz="1200" dirty="0">
                <a:solidFill>
                  <a:schemeClr val="tx1"/>
                </a:solidFill>
              </a:rPr>
              <a:t>の確立とモニタリング</a:t>
            </a:r>
            <a:endParaRPr lang="ja-JP" altLang="en-US" sz="120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D13E702-A16A-4FA0-829E-36F394957170}"/>
              </a:ext>
            </a:extLst>
          </p:cNvPr>
          <p:cNvSpPr/>
          <p:nvPr/>
        </p:nvSpPr>
        <p:spPr>
          <a:xfrm>
            <a:off x="257910" y="5280227"/>
            <a:ext cx="1502537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戦略の落とし込み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8F53B690-EB96-481B-8B7B-B03963C83D9A}"/>
              </a:ext>
            </a:extLst>
          </p:cNvPr>
          <p:cNvSpPr/>
          <p:nvPr/>
        </p:nvSpPr>
        <p:spPr>
          <a:xfrm>
            <a:off x="257910" y="5963037"/>
            <a:ext cx="1502537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200" dirty="0"/>
              <a:t>公共財の最大活用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1403053-F102-4869-AF0E-4296D50EFFA9}"/>
              </a:ext>
            </a:extLst>
          </p:cNvPr>
          <p:cNvSpPr/>
          <p:nvPr/>
        </p:nvSpPr>
        <p:spPr>
          <a:xfrm>
            <a:off x="1926744" y="1866187"/>
            <a:ext cx="7197557" cy="2589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100" dirty="0"/>
              <a:t>A-1. CM</a:t>
            </a:r>
            <a:r>
              <a:rPr lang="ja-JP" altLang="en-US" sz="1100" dirty="0"/>
              <a:t>最大化のため、市場環境に応じた</a:t>
            </a:r>
            <a:r>
              <a:rPr lang="en-US" altLang="ja-JP" sz="1100" dirty="0"/>
              <a:t>AP(LT/MT etc.)</a:t>
            </a:r>
            <a:r>
              <a:rPr lang="ja-JP" altLang="en-US" sz="1100" dirty="0"/>
              <a:t>と</a:t>
            </a:r>
            <a:r>
              <a:rPr lang="en-US" altLang="ja-JP" sz="1100" dirty="0"/>
              <a:t>Non-AP(SPOT/ST etc.)</a:t>
            </a:r>
            <a:r>
              <a:rPr lang="ja-JP" altLang="en-US" sz="1100" dirty="0"/>
              <a:t>の</a:t>
            </a:r>
            <a:r>
              <a:rPr lang="en-US" altLang="ja-JP" sz="1100" dirty="0"/>
              <a:t>Portfolio</a:t>
            </a:r>
            <a:r>
              <a:rPr lang="ja-JP" altLang="en-US" sz="1100" dirty="0"/>
              <a:t>調整</a:t>
            </a:r>
            <a:endParaRPr lang="en-US" altLang="ja-JP" sz="11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402CDA69-DEE8-48D7-A120-380E79E780E5}"/>
              </a:ext>
            </a:extLst>
          </p:cNvPr>
          <p:cNvSpPr/>
          <p:nvPr/>
        </p:nvSpPr>
        <p:spPr>
          <a:xfrm>
            <a:off x="257910" y="1866187"/>
            <a:ext cx="1502537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>
              <a:lnSpc>
                <a:spcPts val="1400"/>
              </a:lnSpc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マーケットを踏まえた</a:t>
            </a:r>
            <a:r>
              <a:rPr kumimoji="1" lang="en-US" altLang="ja-JP" sz="1200" dirty="0">
                <a:solidFill>
                  <a:schemeClr val="tx1"/>
                </a:solidFill>
              </a:rPr>
              <a:t>Portfolio</a:t>
            </a:r>
            <a:r>
              <a:rPr kumimoji="1" lang="ja-JP" altLang="en-US" sz="1200" dirty="0">
                <a:solidFill>
                  <a:schemeClr val="tx1"/>
                </a:solidFill>
              </a:rPr>
              <a:t>調整</a:t>
            </a:r>
            <a:endParaRPr lang="ja-JP" altLang="en-US" sz="1200" dirty="0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B68A55E2-4DD5-4873-930E-0B375754F033}"/>
              </a:ext>
            </a:extLst>
          </p:cNvPr>
          <p:cNvSpPr/>
          <p:nvPr/>
        </p:nvSpPr>
        <p:spPr>
          <a:xfrm>
            <a:off x="257910" y="3231803"/>
            <a:ext cx="1502537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1200" dirty="0"/>
              <a:t>正確な</a:t>
            </a:r>
            <a:r>
              <a:rPr lang="en-US" altLang="ja-JP" sz="1200" dirty="0"/>
              <a:t>AP</a:t>
            </a:r>
            <a:r>
              <a:rPr lang="ja-JP" altLang="en-US" sz="1200" dirty="0"/>
              <a:t>の策定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C1944D0C-A7D6-45A8-9A8A-DDDFE3ED3573}"/>
              </a:ext>
            </a:extLst>
          </p:cNvPr>
          <p:cNvSpPr/>
          <p:nvPr/>
        </p:nvSpPr>
        <p:spPr>
          <a:xfrm>
            <a:off x="257910" y="3914611"/>
            <a:ext cx="1502537" cy="602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44000" tIns="0" bIns="0" rtlCol="0" anchor="ctr">
            <a:noAutofit/>
          </a:bodyPr>
          <a:lstStyle/>
          <a:p>
            <a:pPr algn="ctr">
              <a:lnSpc>
                <a:spcPts val="1400"/>
              </a:lnSpc>
              <a:defRPr/>
            </a:pPr>
            <a:r>
              <a:rPr kumimoji="1" lang="ja-JP" altLang="en-US" sz="1200" dirty="0">
                <a:solidFill>
                  <a:schemeClr val="tx1"/>
                </a:solidFill>
              </a:rPr>
              <a:t>消席率のタイムリーな把握と適時・適切なアクション実行</a:t>
            </a:r>
            <a:endParaRPr lang="ja-JP" altLang="en-US" sz="1200" dirty="0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E66A4D9A-2759-4691-A5C9-B0D5E8A6E0CC}"/>
              </a:ext>
            </a:extLst>
          </p:cNvPr>
          <p:cNvSpPr/>
          <p:nvPr/>
        </p:nvSpPr>
        <p:spPr>
          <a:xfrm>
            <a:off x="136167" y="1894987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8C709465-27D1-46EA-868B-C4849EBAE1E1}"/>
              </a:ext>
            </a:extLst>
          </p:cNvPr>
          <p:cNvSpPr/>
          <p:nvPr/>
        </p:nvSpPr>
        <p:spPr>
          <a:xfrm>
            <a:off x="136167" y="2577795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047026D9-B47E-4DA4-8B09-E5267AEBA2A2}"/>
              </a:ext>
            </a:extLst>
          </p:cNvPr>
          <p:cNvSpPr/>
          <p:nvPr/>
        </p:nvSpPr>
        <p:spPr>
          <a:xfrm>
            <a:off x="136167" y="3260603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BAA27C1F-0570-41E3-8652-5D84F36266B2}"/>
              </a:ext>
            </a:extLst>
          </p:cNvPr>
          <p:cNvSpPr/>
          <p:nvPr/>
        </p:nvSpPr>
        <p:spPr>
          <a:xfrm>
            <a:off x="136167" y="4626219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AAE7C432-42FB-4E09-A402-E13DAACD060A}"/>
              </a:ext>
            </a:extLst>
          </p:cNvPr>
          <p:cNvSpPr/>
          <p:nvPr/>
        </p:nvSpPr>
        <p:spPr>
          <a:xfrm>
            <a:off x="136167" y="5309027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7CC07FA0-11F2-4122-AC0F-6F8E5D954601}"/>
              </a:ext>
            </a:extLst>
          </p:cNvPr>
          <p:cNvSpPr/>
          <p:nvPr/>
        </p:nvSpPr>
        <p:spPr>
          <a:xfrm>
            <a:off x="136167" y="5991837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40E325F-7977-4127-BE5A-4E97356BC7CC}"/>
              </a:ext>
            </a:extLst>
          </p:cNvPr>
          <p:cNvSpPr/>
          <p:nvPr/>
        </p:nvSpPr>
        <p:spPr>
          <a:xfrm>
            <a:off x="136167" y="3943411"/>
            <a:ext cx="216000" cy="2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90000" tIns="0" bIns="0" rtlCol="0" anchor="ctr">
            <a:noAutofit/>
          </a:bodyPr>
          <a:lstStyle/>
          <a:p>
            <a:pPr marR="0" lvl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ja-JP" sz="1200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74CB904F-1A2D-4E1B-9238-D72BC1E725BF}"/>
              </a:ext>
            </a:extLst>
          </p:cNvPr>
          <p:cNvCxnSpPr>
            <a:cxnSpLocks/>
            <a:stCxn id="68" idx="3"/>
            <a:endCxn id="26" idx="1"/>
          </p:cNvCxnSpPr>
          <p:nvPr/>
        </p:nvCxnSpPr>
        <p:spPr>
          <a:xfrm flipV="1">
            <a:off x="1760447" y="1995665"/>
            <a:ext cx="166297" cy="1717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BB1265B-84CF-41E2-917D-C93732FA5A91}"/>
              </a:ext>
            </a:extLst>
          </p:cNvPr>
          <p:cNvSpPr/>
          <p:nvPr/>
        </p:nvSpPr>
        <p:spPr>
          <a:xfrm>
            <a:off x="9319374" y="2982103"/>
            <a:ext cx="603603" cy="233451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TBD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742C74B4-9985-463A-B845-AE1499C01D6B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 dirty="0">
                <a:solidFill>
                  <a:schemeClr val="accent4"/>
                </a:solidFill>
              </a:rPr>
              <a:t>OCN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C75F7855-3F88-4DAC-804B-5DF46801F2F4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kumimoji="1" lang="ja-JP" altLang="en-US" sz="105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3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1F99273-672B-45C7-8F05-79364B3774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39688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539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025ACC-E3F3-47AD-9CE5-A50C622A5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6BB3662-7486-4925-AD4E-D2CAB745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398" y="3035698"/>
            <a:ext cx="6283204" cy="786604"/>
          </a:xfrm>
        </p:spPr>
        <p:txBody>
          <a:bodyPr vert="horz" anchor="ctr"/>
          <a:lstStyle/>
          <a:p>
            <a:pPr algn="ctr"/>
            <a:r>
              <a:rPr lang="en-US" altLang="ja-JP" dirty="0">
                <a:solidFill>
                  <a:schemeClr val="accent4"/>
                </a:solidFill>
              </a:rPr>
              <a:t>Appendices</a:t>
            </a:r>
            <a:endParaRPr lang="en-GB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927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6A42F445-DC56-4B77-8FAC-D4F62011064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8391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94" name="think-cell スライド" r:id="rId4" imgW="473" imgH="473" progId="TCLayout.ActiveDocument.1">
                  <p:embed/>
                </p:oleObj>
              </mc:Choice>
              <mc:Fallback>
                <p:oleObj name="think-cell スライド" r:id="rId4" imgW="473" imgH="47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6A42F445-DC56-4B77-8FAC-D4F6201106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81DC8AE3-7435-4558-A48A-517965CD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ja-JP" altLang="en-US" dirty="0"/>
              <a:t>   正確な</a:t>
            </a:r>
            <a:r>
              <a:rPr lang="en-US" altLang="ja-JP" dirty="0"/>
              <a:t>AP</a:t>
            </a:r>
            <a:r>
              <a:rPr lang="ja-JP" altLang="en-US" dirty="0"/>
              <a:t>の策定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84A40E-1098-4556-A417-84C767BB0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Space Management</a:t>
            </a:r>
            <a:r>
              <a:rPr lang="ja-JP" altLang="en-US" dirty="0"/>
              <a:t>と</a:t>
            </a:r>
            <a:r>
              <a:rPr lang="en-US" altLang="ja-JP" dirty="0"/>
              <a:t>Award/Budget</a:t>
            </a:r>
            <a:r>
              <a:rPr lang="ja-JP" altLang="en-US" dirty="0"/>
              <a:t>達成のための</a:t>
            </a:r>
            <a:r>
              <a:rPr lang="en-US" altLang="ja-JP" dirty="0"/>
              <a:t>Performance Management</a:t>
            </a:r>
            <a:r>
              <a:rPr lang="ja-JP" altLang="en-US" dirty="0"/>
              <a:t>は、そもそもの目的が異なる。</a:t>
            </a:r>
            <a:r>
              <a:rPr lang="en-US" altLang="ja-JP" dirty="0"/>
              <a:t>AP</a:t>
            </a:r>
            <a:r>
              <a:rPr lang="ja-JP" altLang="en-US" dirty="0"/>
              <a:t>は可能な限り正確な需要予測を登録し、</a:t>
            </a:r>
            <a:r>
              <a:rPr lang="en-US" altLang="ja-JP" dirty="0"/>
              <a:t>Space</a:t>
            </a:r>
            <a:r>
              <a:rPr lang="ja-JP" altLang="en-US" dirty="0"/>
              <a:t>の最大活用を通じた</a:t>
            </a:r>
            <a:r>
              <a:rPr lang="en-US" altLang="ja-JP" dirty="0"/>
              <a:t>CM</a:t>
            </a:r>
            <a:r>
              <a:rPr lang="ja-JP" altLang="en-US" dirty="0"/>
              <a:t>最大化を目指すべき</a:t>
            </a:r>
            <a:endParaRPr lang="en-US" altLang="ja-JP" dirty="0"/>
          </a:p>
        </p:txBody>
      </p:sp>
      <p:sp>
        <p:nvSpPr>
          <p:cNvPr id="109" name="スライド番号プレースホルダー 3">
            <a:extLst>
              <a:ext uri="{FF2B5EF4-FFF2-40B4-BE49-F238E27FC236}">
                <a16:creationId xmlns:a16="http://schemas.microsoft.com/office/drawing/2014/main" id="{857DF3F6-0C13-4E3D-83C9-A11056EB07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18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E76ECC4-242E-46C5-AA78-7E7FB9B9E33A}"/>
              </a:ext>
            </a:extLst>
          </p:cNvPr>
          <p:cNvSpPr/>
          <p:nvPr/>
        </p:nvSpPr>
        <p:spPr>
          <a:xfrm>
            <a:off x="386248" y="1866378"/>
            <a:ext cx="5581583" cy="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2400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Customer Performance Management</a:t>
            </a:r>
            <a:r>
              <a:rPr lang="ja-JP" altLang="en-US" sz="1600" dirty="0">
                <a:solidFill>
                  <a:schemeClr val="tx1"/>
                </a:solidFill>
              </a:rPr>
              <a:t> </a:t>
            </a:r>
            <a:r>
              <a:rPr lang="en-US" altLang="ja-JP" sz="1600" dirty="0">
                <a:solidFill>
                  <a:schemeClr val="tx1"/>
                </a:solidFill>
              </a:rPr>
              <a:t>(for Award/Budget)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C9D5D76-7284-4A3D-B1D9-F6AE67228D1F}"/>
              </a:ext>
            </a:extLst>
          </p:cNvPr>
          <p:cNvSpPr/>
          <p:nvPr/>
        </p:nvSpPr>
        <p:spPr>
          <a:xfrm>
            <a:off x="6231936" y="1866378"/>
            <a:ext cx="5581583" cy="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2400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Space Management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F573276-59AF-4DED-9A84-341345465F33}"/>
              </a:ext>
            </a:extLst>
          </p:cNvPr>
          <p:cNvSpPr/>
          <p:nvPr/>
        </p:nvSpPr>
        <p:spPr>
          <a:xfrm>
            <a:off x="423295" y="1907720"/>
            <a:ext cx="5507489" cy="5570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1200" dirty="0">
                <a:solidFill>
                  <a:schemeClr val="tx1"/>
                </a:solidFill>
              </a:rPr>
              <a:t>Performance Management</a:t>
            </a:r>
            <a:r>
              <a:rPr lang="ja-JP" altLang="en-US" sz="1200" dirty="0">
                <a:solidFill>
                  <a:schemeClr val="tx1"/>
                </a:solidFill>
              </a:rPr>
              <a:t>のため、個々の</a:t>
            </a: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顧客を対象に、</a:t>
            </a:r>
            <a:r>
              <a:rPr lang="en-US" altLang="ja-JP" sz="1200" dirty="0">
                <a:solidFill>
                  <a:schemeClr val="tx1"/>
                </a:solidFill>
              </a:rPr>
              <a:t>Award</a:t>
            </a:r>
            <a:r>
              <a:rPr lang="ja-JP" altLang="en-US" sz="1200" dirty="0">
                <a:solidFill>
                  <a:schemeClr val="tx1"/>
                </a:solidFill>
              </a:rPr>
              <a:t>と実績を比較し、その達成状況をモニタリング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E232D42-4EBE-4B5C-9726-903FDBCDAC83}"/>
              </a:ext>
            </a:extLst>
          </p:cNvPr>
          <p:cNvSpPr/>
          <p:nvPr/>
        </p:nvSpPr>
        <p:spPr>
          <a:xfrm>
            <a:off x="423295" y="5641325"/>
            <a:ext cx="5507489" cy="51623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Award</a:t>
            </a:r>
            <a:r>
              <a:rPr lang="ja-JP" altLang="en-US" sz="1200" dirty="0">
                <a:solidFill>
                  <a:schemeClr val="tx1"/>
                </a:solidFill>
              </a:rPr>
              <a:t>と実績との乖離が進行した場合、顧客へのコンタクト・交渉を実施し、</a:t>
            </a:r>
            <a:r>
              <a:rPr lang="en-US" altLang="ja-JP" sz="1200" dirty="0">
                <a:solidFill>
                  <a:schemeClr val="tx1"/>
                </a:solidFill>
              </a:rPr>
              <a:t>Award</a:t>
            </a:r>
            <a:r>
              <a:rPr lang="ja-JP" altLang="en-US" sz="1200" dirty="0">
                <a:solidFill>
                  <a:schemeClr val="tx1"/>
                </a:solidFill>
              </a:rPr>
              <a:t>達成のためのアクションを早期に実行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F5AE693-2887-41A3-A5FE-6841A477B748}"/>
              </a:ext>
            </a:extLst>
          </p:cNvPr>
          <p:cNvSpPr/>
          <p:nvPr/>
        </p:nvSpPr>
        <p:spPr>
          <a:xfrm>
            <a:off x="423295" y="6126848"/>
            <a:ext cx="5507489" cy="5570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92075" indent="-92075">
              <a:spcBef>
                <a:spcPts val="6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* Award</a:t>
            </a:r>
            <a:r>
              <a:rPr lang="ja-JP" altLang="en-US" sz="1100" dirty="0">
                <a:solidFill>
                  <a:schemeClr val="tx1"/>
                </a:solidFill>
              </a:rPr>
              <a:t>の達成見込みが相当に低いと見込まれる場合には、目標</a:t>
            </a:r>
            <a:r>
              <a:rPr lang="en-US" altLang="ja-JP" sz="1100" dirty="0">
                <a:solidFill>
                  <a:schemeClr val="tx1"/>
                </a:solidFill>
              </a:rPr>
              <a:t>CM</a:t>
            </a:r>
            <a:r>
              <a:rPr lang="ja-JP" altLang="en-US" sz="1100" dirty="0">
                <a:solidFill>
                  <a:schemeClr val="tx1"/>
                </a:solidFill>
              </a:rPr>
              <a:t>を達成するため、</a:t>
            </a:r>
            <a:r>
              <a:rPr lang="en-US" altLang="ja-JP" sz="1100" dirty="0">
                <a:solidFill>
                  <a:schemeClr val="tx1"/>
                </a:solidFill>
              </a:rPr>
              <a:t>SPOT</a:t>
            </a:r>
            <a:r>
              <a:rPr lang="ja-JP" altLang="en-US" sz="1100" dirty="0">
                <a:solidFill>
                  <a:schemeClr val="tx1"/>
                </a:solidFill>
              </a:rPr>
              <a:t>や</a:t>
            </a:r>
            <a:r>
              <a:rPr lang="en-US" altLang="ja-JP" sz="1100" dirty="0">
                <a:solidFill>
                  <a:schemeClr val="tx1"/>
                </a:solidFill>
              </a:rPr>
              <a:t>ST</a:t>
            </a:r>
            <a:r>
              <a:rPr lang="ja-JP" altLang="en-US" sz="1100" dirty="0">
                <a:solidFill>
                  <a:schemeClr val="tx1"/>
                </a:solidFill>
              </a:rPr>
              <a:t>、</a:t>
            </a:r>
            <a:r>
              <a:rPr lang="en-US" altLang="ja-JP" sz="1100" dirty="0">
                <a:solidFill>
                  <a:schemeClr val="tx1"/>
                </a:solidFill>
              </a:rPr>
              <a:t>IPC</a:t>
            </a:r>
            <a:r>
              <a:rPr lang="ja-JP" altLang="en-US" sz="1100" dirty="0">
                <a:solidFill>
                  <a:schemeClr val="tx1"/>
                </a:solidFill>
              </a:rPr>
              <a:t>等の活用に切り替えることを含む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graphicFrame>
        <p:nvGraphicFramePr>
          <p:cNvPr id="68" name="グラフ 67">
            <a:extLst>
              <a:ext uri="{FF2B5EF4-FFF2-40B4-BE49-F238E27FC236}">
                <a16:creationId xmlns:a16="http://schemas.microsoft.com/office/drawing/2014/main" id="{B885FB91-4BCA-4927-90F2-226A79DAE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002574"/>
              </p:ext>
            </p:extLst>
          </p:nvPr>
        </p:nvGraphicFramePr>
        <p:xfrm>
          <a:off x="724305" y="2170849"/>
          <a:ext cx="4756268" cy="313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63299308-7185-4D90-AC01-C3A6D8F24BB9}"/>
              </a:ext>
            </a:extLst>
          </p:cNvPr>
          <p:cNvSpPr/>
          <p:nvPr/>
        </p:nvSpPr>
        <p:spPr>
          <a:xfrm>
            <a:off x="4850997" y="2859537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ja-JP" altLang="en-US" sz="1200" dirty="0">
                <a:solidFill>
                  <a:schemeClr val="tx1"/>
                </a:solidFill>
              </a:rPr>
              <a:t>季節性を踏まえた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Award</a:t>
            </a: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C230EE7-70C5-4EBA-A50A-4CCB57668B61}"/>
              </a:ext>
            </a:extLst>
          </p:cNvPr>
          <p:cNvSpPr/>
          <p:nvPr/>
        </p:nvSpPr>
        <p:spPr>
          <a:xfrm>
            <a:off x="4850997" y="3529517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Actual</a:t>
            </a:r>
          </a:p>
        </p:txBody>
      </p:sp>
      <p:sp>
        <p:nvSpPr>
          <p:cNvPr id="116" name="矢印: 上下 115">
            <a:extLst>
              <a:ext uri="{FF2B5EF4-FFF2-40B4-BE49-F238E27FC236}">
                <a16:creationId xmlns:a16="http://schemas.microsoft.com/office/drawing/2014/main" id="{0256350D-46E3-4C3C-9969-48B17A4CAE6D}"/>
              </a:ext>
            </a:extLst>
          </p:cNvPr>
          <p:cNvSpPr/>
          <p:nvPr/>
        </p:nvSpPr>
        <p:spPr>
          <a:xfrm>
            <a:off x="4064247" y="2751668"/>
            <a:ext cx="270504" cy="441784"/>
          </a:xfrm>
          <a:prstGeom prst="upDownArrow">
            <a:avLst>
              <a:gd name="adj1" fmla="val 54237"/>
              <a:gd name="adj2" fmla="val 46443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AC60C487-94ED-4BB0-AA69-CD5742CE7A6F}"/>
              </a:ext>
            </a:extLst>
          </p:cNvPr>
          <p:cNvSpPr/>
          <p:nvPr/>
        </p:nvSpPr>
        <p:spPr>
          <a:xfrm>
            <a:off x="3884711" y="2853895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b="1" i="1" dirty="0">
                <a:solidFill>
                  <a:schemeClr val="accent4"/>
                </a:solidFill>
              </a:rPr>
              <a:t>Deviation</a:t>
            </a:r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37957AC2-30AB-4ED9-9269-C5864EA8A67A}"/>
              </a:ext>
            </a:extLst>
          </p:cNvPr>
          <p:cNvCxnSpPr/>
          <p:nvPr/>
        </p:nvCxnSpPr>
        <p:spPr>
          <a:xfrm>
            <a:off x="970392" y="4930832"/>
            <a:ext cx="4301984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064433C9-940C-4112-B882-8B6CB3DA7557}"/>
              </a:ext>
            </a:extLst>
          </p:cNvPr>
          <p:cNvSpPr/>
          <p:nvPr/>
        </p:nvSpPr>
        <p:spPr>
          <a:xfrm>
            <a:off x="970392" y="5041481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the beginning of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the contract period</a:t>
            </a: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B628B5DC-9137-4C4C-BC84-476FB9C3D939}"/>
              </a:ext>
            </a:extLst>
          </p:cNvPr>
          <p:cNvSpPr/>
          <p:nvPr/>
        </p:nvSpPr>
        <p:spPr>
          <a:xfrm>
            <a:off x="1163816" y="4815222"/>
            <a:ext cx="242729" cy="2132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400" dirty="0">
                <a:solidFill>
                  <a:schemeClr val="tx1"/>
                </a:solidFill>
              </a:rPr>
              <a:t>▲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7D542DE-EFEA-4FD6-ADEA-B1489B186BCA}"/>
              </a:ext>
            </a:extLst>
          </p:cNvPr>
          <p:cNvSpPr/>
          <p:nvPr/>
        </p:nvSpPr>
        <p:spPr>
          <a:xfrm>
            <a:off x="4715364" y="4815222"/>
            <a:ext cx="242729" cy="2132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400" dirty="0">
                <a:solidFill>
                  <a:schemeClr val="tx1"/>
                </a:solidFill>
              </a:rPr>
              <a:t>▲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68204CF3-919E-4C42-A42C-0F7F38EF4530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1277334" y="3941999"/>
            <a:ext cx="0" cy="873223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85FFCE9A-645B-4FAF-AFA8-3B207D78A732}"/>
              </a:ext>
            </a:extLst>
          </p:cNvPr>
          <p:cNvCxnSpPr>
            <a:cxnSpLocks/>
            <a:endCxn id="125" idx="0"/>
          </p:cNvCxnSpPr>
          <p:nvPr/>
        </p:nvCxnSpPr>
        <p:spPr>
          <a:xfrm>
            <a:off x="4836728" y="3120336"/>
            <a:ext cx="1" cy="16948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矢印: 上下 133">
            <a:extLst>
              <a:ext uri="{FF2B5EF4-FFF2-40B4-BE49-F238E27FC236}">
                <a16:creationId xmlns:a16="http://schemas.microsoft.com/office/drawing/2014/main" id="{6414FACC-29FF-4B5B-A74F-E6315271C9BC}"/>
              </a:ext>
            </a:extLst>
          </p:cNvPr>
          <p:cNvSpPr/>
          <p:nvPr/>
        </p:nvSpPr>
        <p:spPr>
          <a:xfrm>
            <a:off x="1906496" y="3246330"/>
            <a:ext cx="270504" cy="473185"/>
          </a:xfrm>
          <a:prstGeom prst="upDownArrow">
            <a:avLst>
              <a:gd name="adj1" fmla="val 54237"/>
              <a:gd name="adj2" fmla="val 46443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1DE758FA-973F-4284-97C5-441CF5CD8AEF}"/>
              </a:ext>
            </a:extLst>
          </p:cNvPr>
          <p:cNvSpPr/>
          <p:nvPr/>
        </p:nvSpPr>
        <p:spPr>
          <a:xfrm>
            <a:off x="1763933" y="4220959"/>
            <a:ext cx="2826213" cy="41855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92075" indent="-92075" algn="ctr">
              <a:spcBef>
                <a:spcPts val="600"/>
              </a:spcBef>
            </a:pPr>
            <a:r>
              <a:rPr lang="ja-JP" altLang="en-US" sz="1100" dirty="0">
                <a:solidFill>
                  <a:schemeClr val="tx1"/>
                </a:solidFill>
              </a:rPr>
              <a:t>実績が</a:t>
            </a:r>
            <a:r>
              <a:rPr lang="en-US" altLang="ja-JP" sz="1100" dirty="0">
                <a:solidFill>
                  <a:schemeClr val="tx1"/>
                </a:solidFill>
              </a:rPr>
              <a:t>Award</a:t>
            </a:r>
            <a:r>
              <a:rPr lang="ja-JP" altLang="en-US" sz="1100" dirty="0">
                <a:solidFill>
                  <a:schemeClr val="tx1"/>
                </a:solidFill>
              </a:rPr>
              <a:t>を下回る状態が継続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dirty="0">
                <a:solidFill>
                  <a:schemeClr val="tx1"/>
                </a:solidFill>
              </a:rPr>
              <a:t>（乖離の累積値が増加し続けている状況）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D602D86-21D2-44EA-B335-9C958FBB18F9}"/>
              </a:ext>
            </a:extLst>
          </p:cNvPr>
          <p:cNvSpPr/>
          <p:nvPr/>
        </p:nvSpPr>
        <p:spPr>
          <a:xfrm>
            <a:off x="6268983" y="1907720"/>
            <a:ext cx="5507489" cy="5570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は</a:t>
            </a:r>
            <a:r>
              <a:rPr lang="en-US" altLang="ja-JP" sz="1200" dirty="0">
                <a:solidFill>
                  <a:schemeClr val="tx1"/>
                </a:solidFill>
              </a:rPr>
              <a:t>1</a:t>
            </a:r>
            <a:r>
              <a:rPr lang="ja-JP" altLang="en-US" sz="1200" dirty="0">
                <a:solidFill>
                  <a:schemeClr val="tx1"/>
                </a:solidFill>
              </a:rPr>
              <a:t>か月先の受注見込みであり、スペース管理の観点からは、出来る限り正確な数値であるべき（「これぐらい取りたい</a:t>
            </a:r>
            <a:r>
              <a:rPr lang="en-US" altLang="ja-JP" sz="1200" dirty="0">
                <a:solidFill>
                  <a:schemeClr val="tx1"/>
                </a:solidFill>
              </a:rPr>
              <a:t>/</a:t>
            </a:r>
            <a:r>
              <a:rPr lang="ja-JP" altLang="en-US" sz="1200" dirty="0">
                <a:solidFill>
                  <a:schemeClr val="tx1"/>
                </a:solidFill>
              </a:rPr>
              <a:t>取るべき」ではなく、「これだけ取れる」という数値）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41C6B50-5BED-44BA-8A8E-179228A0173D}"/>
              </a:ext>
            </a:extLst>
          </p:cNvPr>
          <p:cNvSpPr/>
          <p:nvPr/>
        </p:nvSpPr>
        <p:spPr>
          <a:xfrm>
            <a:off x="6268983" y="5641325"/>
            <a:ext cx="5507489" cy="51623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</a:rPr>
              <a:t>サイクル毎に</a:t>
            </a: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を機動的に見直し、</a:t>
            </a:r>
            <a:r>
              <a:rPr lang="en-US" altLang="ja-JP" sz="1200" dirty="0">
                <a:solidFill>
                  <a:schemeClr val="tx1"/>
                </a:solidFill>
              </a:rPr>
              <a:t>OCN(Short/Spot)</a:t>
            </a:r>
            <a:r>
              <a:rPr lang="ja-JP" altLang="en-US" sz="1200" dirty="0">
                <a:solidFill>
                  <a:schemeClr val="tx1"/>
                </a:solidFill>
              </a:rPr>
              <a:t>は勿論、</a:t>
            </a:r>
            <a:r>
              <a:rPr lang="en-US" altLang="ja-JP" sz="1200" dirty="0">
                <a:solidFill>
                  <a:schemeClr val="tx1"/>
                </a:solidFill>
              </a:rPr>
              <a:t> IPC</a:t>
            </a:r>
            <a:r>
              <a:rPr lang="ja-JP" altLang="en-US" sz="1200" dirty="0">
                <a:solidFill>
                  <a:schemeClr val="tx1"/>
                </a:solidFill>
              </a:rPr>
              <a:t>や</a:t>
            </a:r>
            <a:r>
              <a:rPr lang="en-US" altLang="ja-JP" sz="1200" dirty="0">
                <a:solidFill>
                  <a:schemeClr val="tx1"/>
                </a:solidFill>
              </a:rPr>
              <a:t>T/S</a:t>
            </a:r>
            <a:r>
              <a:rPr lang="ja-JP" altLang="en-US" sz="1200" dirty="0">
                <a:solidFill>
                  <a:schemeClr val="tx1"/>
                </a:solidFill>
              </a:rPr>
              <a:t>、</a:t>
            </a:r>
            <a:r>
              <a:rPr lang="en-US" altLang="ja-JP" sz="1200" dirty="0">
                <a:solidFill>
                  <a:schemeClr val="tx1"/>
                </a:solidFill>
              </a:rPr>
              <a:t>MT</a:t>
            </a:r>
            <a:r>
              <a:rPr lang="ja-JP" altLang="en-US" sz="1200" dirty="0">
                <a:solidFill>
                  <a:schemeClr val="tx1"/>
                </a:solidFill>
              </a:rPr>
              <a:t>に割り振り可能な余剰スペースを早期に把握</a:t>
            </a:r>
          </a:p>
        </p:txBody>
      </p:sp>
      <p:graphicFrame>
        <p:nvGraphicFramePr>
          <p:cNvPr id="136" name="グラフ 135">
            <a:extLst>
              <a:ext uri="{FF2B5EF4-FFF2-40B4-BE49-F238E27FC236}">
                <a16:creationId xmlns:a16="http://schemas.microsoft.com/office/drawing/2014/main" id="{2105118B-C7EF-417E-8E9D-E94840439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246032"/>
              </p:ext>
            </p:extLst>
          </p:nvPr>
        </p:nvGraphicFramePr>
        <p:xfrm>
          <a:off x="6644593" y="2170849"/>
          <a:ext cx="4756268" cy="313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567A9BB0-5524-41CD-B5FC-C2D2259D71CF}"/>
              </a:ext>
            </a:extLst>
          </p:cNvPr>
          <p:cNvCxnSpPr/>
          <p:nvPr/>
        </p:nvCxnSpPr>
        <p:spPr>
          <a:xfrm>
            <a:off x="6891138" y="4930832"/>
            <a:ext cx="4301984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747E11E2-FB71-43F4-ABFA-9F19C5DB1D0B}"/>
              </a:ext>
            </a:extLst>
          </p:cNvPr>
          <p:cNvSpPr/>
          <p:nvPr/>
        </p:nvSpPr>
        <p:spPr>
          <a:xfrm>
            <a:off x="6891138" y="5041481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the beginning of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the contract period</a:t>
            </a: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4037DADB-B218-4863-A298-F63C51E91A99}"/>
              </a:ext>
            </a:extLst>
          </p:cNvPr>
          <p:cNvSpPr/>
          <p:nvPr/>
        </p:nvSpPr>
        <p:spPr>
          <a:xfrm>
            <a:off x="7084562" y="4815222"/>
            <a:ext cx="242729" cy="2132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400" dirty="0">
                <a:solidFill>
                  <a:schemeClr val="tx1"/>
                </a:solidFill>
              </a:rPr>
              <a:t>▲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3D7DAD38-F063-458D-943F-9C6935306EBB}"/>
              </a:ext>
            </a:extLst>
          </p:cNvPr>
          <p:cNvSpPr/>
          <p:nvPr/>
        </p:nvSpPr>
        <p:spPr>
          <a:xfrm>
            <a:off x="10636110" y="4815222"/>
            <a:ext cx="242729" cy="2132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400" dirty="0">
                <a:solidFill>
                  <a:schemeClr val="tx1"/>
                </a:solidFill>
              </a:rPr>
              <a:t>▲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1FA3A0A7-08DF-46BE-9295-716D646EE836}"/>
              </a:ext>
            </a:extLst>
          </p:cNvPr>
          <p:cNvCxnSpPr>
            <a:cxnSpLocks/>
          </p:cNvCxnSpPr>
          <p:nvPr/>
        </p:nvCxnSpPr>
        <p:spPr>
          <a:xfrm>
            <a:off x="7198080" y="3933610"/>
            <a:ext cx="7847" cy="873223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75C1EE20-2DC9-44F9-84B4-6B88ADB0BB7A}"/>
              </a:ext>
            </a:extLst>
          </p:cNvPr>
          <p:cNvCxnSpPr>
            <a:cxnSpLocks/>
            <a:endCxn id="145" idx="0"/>
          </p:cNvCxnSpPr>
          <p:nvPr/>
        </p:nvCxnSpPr>
        <p:spPr>
          <a:xfrm>
            <a:off x="10757474" y="3120336"/>
            <a:ext cx="1" cy="16948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楕円 149">
            <a:extLst>
              <a:ext uri="{FF2B5EF4-FFF2-40B4-BE49-F238E27FC236}">
                <a16:creationId xmlns:a16="http://schemas.microsoft.com/office/drawing/2014/main" id="{D92F05B7-F9C5-4FBD-B0D2-4020CA4B3101}"/>
              </a:ext>
            </a:extLst>
          </p:cNvPr>
          <p:cNvSpPr/>
          <p:nvPr/>
        </p:nvSpPr>
        <p:spPr>
          <a:xfrm>
            <a:off x="10536831" y="3319150"/>
            <a:ext cx="473010" cy="404909"/>
          </a:xfrm>
          <a:prstGeom prst="ellipse">
            <a:avLst/>
          </a:prstGeom>
          <a:solidFill>
            <a:schemeClr val="accent4">
              <a:lumMod val="60000"/>
              <a:lumOff val="40000"/>
              <a:alpha val="3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0D56FC17-E037-4FCB-A576-DA87C7925EBF}"/>
              </a:ext>
            </a:extLst>
          </p:cNvPr>
          <p:cNvSpPr/>
          <p:nvPr/>
        </p:nvSpPr>
        <p:spPr>
          <a:xfrm>
            <a:off x="8117304" y="3511657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Actual</a:t>
            </a: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D367938F-720A-40C1-BCAD-3026DC2A19E2}"/>
              </a:ext>
            </a:extLst>
          </p:cNvPr>
          <p:cNvSpPr/>
          <p:nvPr/>
        </p:nvSpPr>
        <p:spPr>
          <a:xfrm>
            <a:off x="9250239" y="4068027"/>
            <a:ext cx="1096638" cy="41855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altLang="ja-JP" sz="1100" dirty="0">
                <a:solidFill>
                  <a:schemeClr val="tx1"/>
                </a:solidFill>
              </a:rPr>
              <a:t>AP</a:t>
            </a:r>
            <a:r>
              <a:rPr lang="ja-JP" altLang="en-US" sz="1100" dirty="0">
                <a:solidFill>
                  <a:schemeClr val="tx1"/>
                </a:solidFill>
              </a:rPr>
              <a:t>として登録すべき数値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cxnSp>
        <p:nvCxnSpPr>
          <p:cNvPr id="153" name="直線矢印コネクタ 152">
            <a:extLst>
              <a:ext uri="{FF2B5EF4-FFF2-40B4-BE49-F238E27FC236}">
                <a16:creationId xmlns:a16="http://schemas.microsoft.com/office/drawing/2014/main" id="{C6AABB87-B705-4110-B5AB-FA8A7985B320}"/>
              </a:ext>
            </a:extLst>
          </p:cNvPr>
          <p:cNvCxnSpPr>
            <a:cxnSpLocks/>
            <a:stCxn id="152" idx="0"/>
          </p:cNvCxnSpPr>
          <p:nvPr/>
        </p:nvCxnSpPr>
        <p:spPr>
          <a:xfrm flipV="1">
            <a:off x="9798558" y="3598479"/>
            <a:ext cx="876838" cy="469548"/>
          </a:xfrm>
          <a:prstGeom prst="straightConnector1">
            <a:avLst/>
          </a:prstGeom>
          <a:ln>
            <a:solidFill>
              <a:schemeClr val="accent4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0975EF4-D858-410B-9BA9-EAD163412246}"/>
              </a:ext>
            </a:extLst>
          </p:cNvPr>
          <p:cNvSpPr/>
          <p:nvPr/>
        </p:nvSpPr>
        <p:spPr>
          <a:xfrm>
            <a:off x="10504832" y="2532594"/>
            <a:ext cx="1096638" cy="41855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ja-JP" altLang="en-US" sz="1100" dirty="0">
                <a:solidFill>
                  <a:schemeClr val="tx1"/>
                </a:solidFill>
              </a:rPr>
              <a:t>これぐらい取りたい</a:t>
            </a:r>
            <a:r>
              <a:rPr lang="en-US" altLang="ja-JP" sz="1100" dirty="0">
                <a:solidFill>
                  <a:schemeClr val="tx1"/>
                </a:solidFill>
              </a:rPr>
              <a:t>/</a:t>
            </a:r>
            <a:r>
              <a:rPr lang="ja-JP" altLang="en-US" sz="1100" dirty="0">
                <a:solidFill>
                  <a:schemeClr val="tx1"/>
                </a:solidFill>
              </a:rPr>
              <a:t>取るべき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56A41653-7343-493C-B44B-9F16C14ADAEE}"/>
              </a:ext>
            </a:extLst>
          </p:cNvPr>
          <p:cNvSpPr/>
          <p:nvPr/>
        </p:nvSpPr>
        <p:spPr>
          <a:xfrm>
            <a:off x="2791321" y="4662221"/>
            <a:ext cx="771437" cy="121184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00E37E0-111F-42D5-AF25-6BBA75660EDF}"/>
              </a:ext>
            </a:extLst>
          </p:cNvPr>
          <p:cNvSpPr/>
          <p:nvPr/>
        </p:nvSpPr>
        <p:spPr>
          <a:xfrm>
            <a:off x="2338688" y="4841629"/>
            <a:ext cx="1676702" cy="259886"/>
          </a:xfrm>
          <a:prstGeom prst="rect">
            <a:avLst/>
          </a:prstGeom>
          <a:pattFill prst="ltUp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顧客交渉等</a:t>
            </a:r>
            <a:r>
              <a:rPr lang="ja-JP" altLang="en-US" sz="1050">
                <a:solidFill>
                  <a:schemeClr val="tx1"/>
                </a:solidFill>
              </a:rPr>
              <a:t>のアクション</a:t>
            </a:r>
            <a:endParaRPr lang="en-US" altLang="ja-JP" sz="1050" dirty="0">
              <a:solidFill>
                <a:schemeClr val="tx1"/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5065587-43CE-4D0C-81F4-D6720556B845}"/>
              </a:ext>
            </a:extLst>
          </p:cNvPr>
          <p:cNvSpPr/>
          <p:nvPr/>
        </p:nvSpPr>
        <p:spPr>
          <a:xfrm>
            <a:off x="8057506" y="4493377"/>
            <a:ext cx="864000" cy="225579"/>
          </a:xfrm>
          <a:prstGeom prst="rect">
            <a:avLst/>
          </a:prstGeom>
          <a:pattFill prst="ltUp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顧客動向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2610DFF-34F8-4B6C-8334-183519F595F0}"/>
              </a:ext>
            </a:extLst>
          </p:cNvPr>
          <p:cNvSpPr/>
          <p:nvPr/>
        </p:nvSpPr>
        <p:spPr>
          <a:xfrm>
            <a:off x="8986749" y="4770394"/>
            <a:ext cx="864000" cy="2255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サービス</a:t>
            </a:r>
            <a:r>
              <a:rPr lang="ja-JP" altLang="en-US" sz="1050" dirty="0">
                <a:solidFill>
                  <a:schemeClr val="tx1"/>
                </a:solidFill>
              </a:rPr>
              <a:t>特性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AACD4D8A-2862-41EE-AB92-B030FD4FE9ED}"/>
              </a:ext>
            </a:extLst>
          </p:cNvPr>
          <p:cNvSpPr/>
          <p:nvPr/>
        </p:nvSpPr>
        <p:spPr>
          <a:xfrm>
            <a:off x="8057506" y="4773006"/>
            <a:ext cx="864000" cy="2255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貨物特性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809F3D5-DDF4-48AC-9549-358F48EAE1E3}"/>
              </a:ext>
            </a:extLst>
          </p:cNvPr>
          <p:cNvSpPr/>
          <p:nvPr/>
        </p:nvSpPr>
        <p:spPr>
          <a:xfrm>
            <a:off x="8986749" y="4493377"/>
            <a:ext cx="864000" cy="2255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需要傾向</a:t>
            </a:r>
            <a:endParaRPr kumimoji="1" lang="en-US" altLang="ja-JP" sz="1050" dirty="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5FDDB9F6-8E98-420C-9A39-01F5BB7F52F1}"/>
              </a:ext>
            </a:extLst>
          </p:cNvPr>
          <p:cNvSpPr/>
          <p:nvPr/>
        </p:nvSpPr>
        <p:spPr>
          <a:xfrm>
            <a:off x="8057506" y="5052634"/>
            <a:ext cx="864000" cy="2255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営業特性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2654680-FE26-4F9C-8B0E-0DDBD4C6892A}"/>
              </a:ext>
            </a:extLst>
          </p:cNvPr>
          <p:cNvSpPr/>
          <p:nvPr/>
        </p:nvSpPr>
        <p:spPr>
          <a:xfrm>
            <a:off x="8117304" y="2728633"/>
            <a:ext cx="629576" cy="37781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ja-JP" altLang="en-US" sz="1200" dirty="0">
                <a:solidFill>
                  <a:schemeClr val="tx1"/>
                </a:solidFill>
              </a:rPr>
              <a:t>季節性を踏まえた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Award</a:t>
            </a:r>
          </a:p>
        </p:txBody>
      </p:sp>
      <p:cxnSp>
        <p:nvCxnSpPr>
          <p:cNvPr id="3" name="コネクタ: カギ線 2">
            <a:extLst>
              <a:ext uri="{FF2B5EF4-FFF2-40B4-BE49-F238E27FC236}">
                <a16:creationId xmlns:a16="http://schemas.microsoft.com/office/drawing/2014/main" id="{BEB37561-9195-4F7A-89EA-DD5F4FB48237}"/>
              </a:ext>
            </a:extLst>
          </p:cNvPr>
          <p:cNvCxnSpPr>
            <a:cxnSpLocks/>
            <a:stCxn id="46" idx="2"/>
            <a:endCxn id="47" idx="1"/>
          </p:cNvCxnSpPr>
          <p:nvPr/>
        </p:nvCxnSpPr>
        <p:spPr>
          <a:xfrm rot="5400000" flipH="1" flipV="1">
            <a:off x="5369598" y="2413607"/>
            <a:ext cx="495348" cy="4880467"/>
          </a:xfrm>
          <a:prstGeom prst="bentConnector4">
            <a:avLst>
              <a:gd name="adj1" fmla="val -59847"/>
              <a:gd name="adj2" fmla="val 58589"/>
            </a:avLst>
          </a:prstGeom>
          <a:ln w="3175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8D64499-9424-4F72-90D9-900525CED157}"/>
              </a:ext>
            </a:extLst>
          </p:cNvPr>
          <p:cNvCxnSpPr/>
          <p:nvPr/>
        </p:nvCxnSpPr>
        <p:spPr>
          <a:xfrm>
            <a:off x="10342024" y="4871245"/>
            <a:ext cx="0" cy="127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F8C22611-3758-46E6-9302-39EDE451FB82}"/>
              </a:ext>
            </a:extLst>
          </p:cNvPr>
          <p:cNvSpPr/>
          <p:nvPr/>
        </p:nvSpPr>
        <p:spPr>
          <a:xfrm>
            <a:off x="10024330" y="4635073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current</a:t>
            </a:r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15088395-2DA0-41FC-A362-5DFE941D32DF}"/>
              </a:ext>
            </a:extLst>
          </p:cNvPr>
          <p:cNvCxnSpPr/>
          <p:nvPr/>
        </p:nvCxnSpPr>
        <p:spPr>
          <a:xfrm>
            <a:off x="4428574" y="4871245"/>
            <a:ext cx="0" cy="1276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9921DA37-F4F4-4044-9BB9-2852409D758B}"/>
              </a:ext>
            </a:extLst>
          </p:cNvPr>
          <p:cNvSpPr/>
          <p:nvPr/>
        </p:nvSpPr>
        <p:spPr>
          <a:xfrm>
            <a:off x="4110880" y="4635073"/>
            <a:ext cx="629576" cy="25805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current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6D20691D-89EF-4CA4-A20C-19A2B34DAD4F}"/>
              </a:ext>
            </a:extLst>
          </p:cNvPr>
          <p:cNvSpPr/>
          <p:nvPr/>
        </p:nvSpPr>
        <p:spPr>
          <a:xfrm>
            <a:off x="4600223" y="5041481"/>
            <a:ext cx="473010" cy="25805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 month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later</a:t>
            </a:r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B5AB442D-ED7E-473A-BCE3-0735BD53B170}"/>
              </a:ext>
            </a:extLst>
          </p:cNvPr>
          <p:cNvSpPr/>
          <p:nvPr/>
        </p:nvSpPr>
        <p:spPr>
          <a:xfrm>
            <a:off x="10520969" y="5041481"/>
            <a:ext cx="473010" cy="25805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 month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200" dirty="0">
                <a:solidFill>
                  <a:schemeClr val="tx1"/>
                </a:solidFill>
              </a:rPr>
              <a:t>later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6617B62F-A775-4DEE-897A-9062DAF3986B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OCN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7C514D17-C63C-40F7-BE9F-0AEE41BF1644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08EBF9C-FF72-4570-9213-4434398C02A9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A08A1342-C021-447A-BE43-68709A8B17DE}"/>
              </a:ext>
            </a:extLst>
          </p:cNvPr>
          <p:cNvSpPr/>
          <p:nvPr/>
        </p:nvSpPr>
        <p:spPr>
          <a:xfrm>
            <a:off x="2351584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Target C</a:t>
            </a:r>
          </a:p>
        </p:txBody>
      </p:sp>
    </p:spTree>
    <p:extLst>
      <p:ext uri="{BB962C8B-B14F-4D97-AF65-F5344CB8AC3E}">
        <p14:creationId xmlns:p14="http://schemas.microsoft.com/office/powerpoint/2010/main" val="3925495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6A42F445-DC56-4B77-8FAC-D4F62011064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95690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4" name="think-cell スライド" r:id="rId4" imgW="473" imgH="473" progId="TCLayout.ActiveDocument.1">
                  <p:embed/>
                </p:oleObj>
              </mc:Choice>
              <mc:Fallback>
                <p:oleObj name="think-cell スライド" r:id="rId4" imgW="473" imgH="47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6A42F445-DC56-4B77-8FAC-D4F6201106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81DC8AE3-7435-4558-A48A-517965CD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ja-JP" dirty="0"/>
              <a:t>   BKG Acceptance Rule</a:t>
            </a:r>
            <a:endParaRPr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84A40E-1098-4556-A417-84C767BB0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AP</a:t>
            </a:r>
            <a:r>
              <a:rPr lang="ja-JP" altLang="en-US" dirty="0"/>
              <a:t>に基づく</a:t>
            </a:r>
            <a:r>
              <a:rPr lang="en-US" altLang="ja-JP" dirty="0"/>
              <a:t>BKG(BKG≦AP)</a:t>
            </a:r>
            <a:r>
              <a:rPr lang="ja-JP" altLang="en-US" dirty="0"/>
              <a:t>、及び優先的取り扱いを認められた</a:t>
            </a:r>
            <a:r>
              <a:rPr lang="en-US" altLang="ja-JP" dirty="0"/>
              <a:t>BKG</a:t>
            </a:r>
            <a:r>
              <a:rPr lang="ja-JP" altLang="en-US" dirty="0"/>
              <a:t>は即座に受け入れ。その他の</a:t>
            </a:r>
            <a:r>
              <a:rPr lang="en-US" altLang="ja-JP" dirty="0"/>
              <a:t>BKG</a:t>
            </a:r>
            <a:r>
              <a:rPr lang="ja-JP" altLang="en-US" dirty="0"/>
              <a:t>は、</a:t>
            </a:r>
            <a:r>
              <a:rPr lang="en-US" altLang="ja-JP" dirty="0"/>
              <a:t>AP Expiry Date</a:t>
            </a:r>
            <a:r>
              <a:rPr lang="ja-JP" altLang="en-US" dirty="0"/>
              <a:t>の経過後、</a:t>
            </a:r>
            <a:r>
              <a:rPr lang="en-US" altLang="ja-JP" dirty="0"/>
              <a:t>CM</a:t>
            </a:r>
            <a:r>
              <a:rPr lang="ja-JP" altLang="en-US" dirty="0"/>
              <a:t>の高いものから受入</a:t>
            </a:r>
          </a:p>
        </p:txBody>
      </p:sp>
      <p:sp>
        <p:nvSpPr>
          <p:cNvPr id="109" name="スライド番号プレースホルダー 3">
            <a:extLst>
              <a:ext uri="{FF2B5EF4-FFF2-40B4-BE49-F238E27FC236}">
                <a16:creationId xmlns:a16="http://schemas.microsoft.com/office/drawing/2014/main" id="{857DF3F6-0C13-4E3D-83C9-A11056EB07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19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2" name="正方形/長方形 241">
            <a:extLst>
              <a:ext uri="{FF2B5EF4-FFF2-40B4-BE49-F238E27FC236}">
                <a16:creationId xmlns:a16="http://schemas.microsoft.com/office/drawing/2014/main" id="{037F3A2B-7AF6-4293-9123-A4737245E19B}"/>
              </a:ext>
            </a:extLst>
          </p:cNvPr>
          <p:cNvSpPr/>
          <p:nvPr/>
        </p:nvSpPr>
        <p:spPr>
          <a:xfrm>
            <a:off x="9375479" y="2926197"/>
            <a:ext cx="2257922" cy="2798437"/>
          </a:xfrm>
          <a:prstGeom prst="rect">
            <a:avLst/>
          </a:prstGeom>
          <a:noFill/>
          <a:ln w="63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162000" indent="-162000"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*1 AP</a:t>
            </a:r>
            <a:r>
              <a:rPr lang="ja-JP" altLang="en-US" sz="1050" dirty="0">
                <a:solidFill>
                  <a:schemeClr val="tx1"/>
                </a:solidFill>
              </a:rPr>
              <a:t>を優先的に</a:t>
            </a:r>
            <a:r>
              <a:rPr lang="en-US" altLang="ja-JP" sz="1050" dirty="0">
                <a:solidFill>
                  <a:schemeClr val="tx1"/>
                </a:solidFill>
              </a:rPr>
              <a:t>Firmed</a:t>
            </a:r>
            <a:r>
              <a:rPr lang="ja-JP" altLang="en-US" sz="1050" dirty="0">
                <a:solidFill>
                  <a:schemeClr val="tx1"/>
                </a:solidFill>
              </a:rPr>
              <a:t>する期間。当該期間を過ぎた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r>
              <a:rPr lang="ja-JP" altLang="en-US" sz="1050" dirty="0">
                <a:solidFill>
                  <a:schemeClr val="tx1"/>
                </a:solidFill>
              </a:rPr>
              <a:t>は、たとえ</a:t>
            </a:r>
            <a:r>
              <a:rPr lang="en-US" altLang="ja-JP" sz="1050" dirty="0">
                <a:solidFill>
                  <a:schemeClr val="tx1"/>
                </a:solidFill>
              </a:rPr>
              <a:t>AP</a:t>
            </a:r>
            <a:r>
              <a:rPr lang="ja-JP" altLang="en-US" sz="1050" dirty="0">
                <a:solidFill>
                  <a:schemeClr val="tx1"/>
                </a:solidFill>
              </a:rPr>
              <a:t>に基づく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r>
              <a:rPr lang="ja-JP" altLang="en-US" sz="1050" dirty="0">
                <a:solidFill>
                  <a:schemeClr val="tx1"/>
                </a:solidFill>
              </a:rPr>
              <a:t>であっても、その他の</a:t>
            </a:r>
            <a:r>
              <a:rPr lang="en-US" altLang="ja-JP" sz="1050" dirty="0">
                <a:solidFill>
                  <a:schemeClr val="tx1"/>
                </a:solidFill>
              </a:rPr>
              <a:t>BKG</a:t>
            </a:r>
            <a:r>
              <a:rPr lang="ja-JP" altLang="en-US" sz="1050" dirty="0">
                <a:solidFill>
                  <a:schemeClr val="tx1"/>
                </a:solidFill>
              </a:rPr>
              <a:t>と同列の扱いとなる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marL="162000" indent="-162000"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*2 FAK Premium, Reefer, Green Label etc.</a:t>
            </a:r>
          </a:p>
          <a:p>
            <a:pPr marL="162000" indent="-162000">
              <a:spcBef>
                <a:spcPts val="600"/>
              </a:spcBef>
            </a:pPr>
            <a:r>
              <a:rPr lang="en-US" altLang="ja-JP" sz="1050" b="1" dirty="0">
                <a:solidFill>
                  <a:schemeClr val="accent4"/>
                </a:solidFill>
              </a:rPr>
              <a:t>*3 Target</a:t>
            </a:r>
            <a:r>
              <a:rPr lang="ja-JP" altLang="en-US" sz="1050" b="1" dirty="0">
                <a:solidFill>
                  <a:schemeClr val="accent4"/>
                </a:solidFill>
              </a:rPr>
              <a:t>はマーケット動向に応じ、機動的に調整・設定</a:t>
            </a:r>
            <a:endParaRPr lang="en-US" altLang="ja-JP" sz="1050" b="1" dirty="0">
              <a:solidFill>
                <a:schemeClr val="accent4"/>
              </a:solidFill>
            </a:endParaRPr>
          </a:p>
          <a:p>
            <a:pPr marL="268288" indent="-115200">
              <a:spcBef>
                <a:spcPts val="600"/>
              </a:spcBef>
              <a:buFont typeface="Arial" panose="020B0604020202020204" pitchFamily="34" charset="0"/>
              <a:buChar char="-"/>
            </a:pPr>
            <a:r>
              <a:rPr lang="ja-JP" altLang="en-US" sz="1050" dirty="0">
                <a:solidFill>
                  <a:schemeClr val="tx1"/>
                </a:solidFill>
              </a:rPr>
              <a:t>好況時</a:t>
            </a:r>
            <a:r>
              <a:rPr lang="en-US" altLang="ja-JP" sz="1050" dirty="0">
                <a:solidFill>
                  <a:schemeClr val="tx1"/>
                </a:solidFill>
              </a:rPr>
              <a:t>: </a:t>
            </a:r>
            <a:r>
              <a:rPr lang="ja-JP" altLang="en-US" sz="1050" dirty="0">
                <a:solidFill>
                  <a:schemeClr val="tx1"/>
                </a:solidFill>
              </a:rPr>
              <a:t>低水準に設定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marL="268288" indent="-115200">
              <a:buFont typeface="Arial" panose="020B0604020202020204" pitchFamily="34" charset="0"/>
              <a:buChar char="-"/>
            </a:pPr>
            <a:r>
              <a:rPr lang="ja-JP" altLang="en-US" sz="1050" dirty="0">
                <a:solidFill>
                  <a:schemeClr val="tx1"/>
                </a:solidFill>
              </a:rPr>
              <a:t>不況時</a:t>
            </a:r>
            <a:r>
              <a:rPr lang="en-US" altLang="ja-JP" sz="1050" dirty="0">
                <a:solidFill>
                  <a:schemeClr val="tx1"/>
                </a:solidFill>
              </a:rPr>
              <a:t>: </a:t>
            </a:r>
            <a:r>
              <a:rPr lang="ja-JP" altLang="en-US" sz="1050" dirty="0">
                <a:solidFill>
                  <a:schemeClr val="tx1"/>
                </a:solidFill>
              </a:rPr>
              <a:t>高水準に設定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ja-JP" altLang="en-US" sz="1050" dirty="0">
                <a:solidFill>
                  <a:schemeClr val="tx1"/>
                </a:solidFill>
              </a:rPr>
              <a:t>（市況によっては全て自動で</a:t>
            </a:r>
            <a:r>
              <a:rPr lang="en-US" altLang="ja-JP" sz="1050" dirty="0">
                <a:solidFill>
                  <a:schemeClr val="tx1"/>
                </a:solidFill>
              </a:rPr>
              <a:t>Firm</a:t>
            </a:r>
            <a:r>
              <a:rPr lang="ja-JP" altLang="en-US" sz="1050" dirty="0">
                <a:solidFill>
                  <a:schemeClr val="tx1"/>
                </a:solidFill>
              </a:rPr>
              <a:t>することも含む）</a:t>
            </a:r>
          </a:p>
        </p:txBody>
      </p:sp>
      <p:sp>
        <p:nvSpPr>
          <p:cNvPr id="136" name="四角形: 角を丸くする 135">
            <a:extLst>
              <a:ext uri="{FF2B5EF4-FFF2-40B4-BE49-F238E27FC236}">
                <a16:creationId xmlns:a16="http://schemas.microsoft.com/office/drawing/2014/main" id="{1F4C5EE4-7366-4A50-9C27-392B63D82291}"/>
              </a:ext>
            </a:extLst>
          </p:cNvPr>
          <p:cNvSpPr/>
          <p:nvPr/>
        </p:nvSpPr>
        <p:spPr>
          <a:xfrm>
            <a:off x="1421136" y="5331734"/>
            <a:ext cx="2584439" cy="43805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ONE</a:t>
            </a:r>
            <a:r>
              <a:rPr lang="ja-JP" altLang="en-US" sz="1400" dirty="0">
                <a:solidFill>
                  <a:schemeClr val="tx1"/>
                </a:solidFill>
              </a:rPr>
              <a:t> </a:t>
            </a:r>
            <a:r>
              <a:rPr lang="en-US" altLang="ja-JP" sz="1400" dirty="0">
                <a:solidFill>
                  <a:schemeClr val="tx1"/>
                </a:solidFill>
              </a:rPr>
              <a:t>QUOTE</a:t>
            </a:r>
          </a:p>
        </p:txBody>
      </p: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BB7E49A1-DAEE-460E-B26D-7CC7E6028AA9}"/>
              </a:ext>
            </a:extLst>
          </p:cNvPr>
          <p:cNvCxnSpPr>
            <a:cxnSpLocks/>
            <a:endCxn id="138" idx="2"/>
          </p:cNvCxnSpPr>
          <p:nvPr/>
        </p:nvCxnSpPr>
        <p:spPr>
          <a:xfrm flipV="1">
            <a:off x="7174893" y="2110903"/>
            <a:ext cx="12182" cy="383109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矢印: 下 137">
            <a:extLst>
              <a:ext uri="{FF2B5EF4-FFF2-40B4-BE49-F238E27FC236}">
                <a16:creationId xmlns:a16="http://schemas.microsoft.com/office/drawing/2014/main" id="{3B089DE3-2D88-40FC-90AA-5A2ED0B934FF}"/>
              </a:ext>
            </a:extLst>
          </p:cNvPr>
          <p:cNvSpPr/>
          <p:nvPr/>
        </p:nvSpPr>
        <p:spPr>
          <a:xfrm flipH="1">
            <a:off x="7064872" y="1960289"/>
            <a:ext cx="244407" cy="150614"/>
          </a:xfrm>
          <a:prstGeom prst="downArrow">
            <a:avLst>
              <a:gd name="adj1" fmla="val 50000"/>
              <a:gd name="adj2" fmla="val 153627"/>
            </a:avLst>
          </a:prstGeom>
          <a:solidFill>
            <a:schemeClr val="accent4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CECC0F9A-7C02-4C1F-BE9F-BB97F7E4A8CA}"/>
              </a:ext>
            </a:extLst>
          </p:cNvPr>
          <p:cNvSpPr txBox="1"/>
          <p:nvPr/>
        </p:nvSpPr>
        <p:spPr>
          <a:xfrm>
            <a:off x="6837753" y="1624557"/>
            <a:ext cx="1321288" cy="36683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400" b="1" i="1" dirty="0">
                <a:solidFill>
                  <a:schemeClr val="accent4"/>
                </a:solidFill>
              </a:rPr>
              <a:t>AP</a:t>
            </a:r>
            <a:r>
              <a:rPr lang="ja-JP" altLang="en-US" sz="1400" b="1" i="1" dirty="0">
                <a:solidFill>
                  <a:schemeClr val="accent4"/>
                </a:solidFill>
              </a:rPr>
              <a:t> </a:t>
            </a:r>
            <a:r>
              <a:rPr lang="en-US" altLang="ja-JP" sz="1400" b="1" i="1" dirty="0">
                <a:solidFill>
                  <a:schemeClr val="accent4"/>
                </a:solidFill>
              </a:rPr>
              <a:t>Expiry Date*</a:t>
            </a:r>
            <a:r>
              <a:rPr lang="en-US" altLang="ja-JP" sz="1400" b="1" i="1" baseline="3000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41" name="四角形: 角を丸くする 140">
            <a:extLst>
              <a:ext uri="{FF2B5EF4-FFF2-40B4-BE49-F238E27FC236}">
                <a16:creationId xmlns:a16="http://schemas.microsoft.com/office/drawing/2014/main" id="{3AF18A1D-F37D-4092-8894-AD2264A6B3AF}"/>
              </a:ext>
            </a:extLst>
          </p:cNvPr>
          <p:cNvSpPr/>
          <p:nvPr/>
        </p:nvSpPr>
        <p:spPr>
          <a:xfrm>
            <a:off x="1421136" y="2225209"/>
            <a:ext cx="2584439" cy="43805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AP(Within AP)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5" name="矢印: 右 144">
            <a:extLst>
              <a:ext uri="{FF2B5EF4-FFF2-40B4-BE49-F238E27FC236}">
                <a16:creationId xmlns:a16="http://schemas.microsoft.com/office/drawing/2014/main" id="{F0CE3D40-16FC-43DA-9400-59FD99023C35}"/>
              </a:ext>
            </a:extLst>
          </p:cNvPr>
          <p:cNvSpPr/>
          <p:nvPr/>
        </p:nvSpPr>
        <p:spPr>
          <a:xfrm>
            <a:off x="7301952" y="2227392"/>
            <a:ext cx="1230218" cy="2882302"/>
          </a:xfrm>
          <a:prstGeom prst="rightArrow">
            <a:avLst>
              <a:gd name="adj1" fmla="val 100000"/>
              <a:gd name="adj2" fmla="val 20232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CM</a:t>
            </a:r>
            <a:r>
              <a:rPr lang="ja-JP" altLang="en-US" sz="1400" dirty="0">
                <a:solidFill>
                  <a:schemeClr val="tx1"/>
                </a:solidFill>
              </a:rPr>
              <a:t>等の</a:t>
            </a:r>
            <a:br>
              <a:rPr lang="en-US" altLang="ja-JP" sz="1400" dirty="0">
                <a:solidFill>
                  <a:schemeClr val="tx1"/>
                </a:solidFill>
              </a:rPr>
            </a:br>
            <a:r>
              <a:rPr lang="en-US" altLang="ja-JP" sz="1400" dirty="0">
                <a:solidFill>
                  <a:schemeClr val="tx1"/>
                </a:solidFill>
              </a:rPr>
              <a:t>Criteria</a:t>
            </a:r>
            <a:br>
              <a:rPr lang="en-US" altLang="ja-JP" sz="1400" dirty="0">
                <a:solidFill>
                  <a:schemeClr val="tx1"/>
                </a:solidFill>
              </a:rPr>
            </a:br>
            <a:r>
              <a:rPr lang="ja-JP" altLang="en-US" sz="1400" dirty="0">
                <a:solidFill>
                  <a:schemeClr val="tx1"/>
                </a:solidFill>
              </a:rPr>
              <a:t>に基づき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Firmed</a:t>
            </a:r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EBF4A4EC-CDDF-48E5-AFCD-87602D0ED1F3}"/>
              </a:ext>
            </a:extLst>
          </p:cNvPr>
          <p:cNvSpPr txBox="1"/>
          <p:nvPr/>
        </p:nvSpPr>
        <p:spPr>
          <a:xfrm rot="5400000">
            <a:off x="7960481" y="3418375"/>
            <a:ext cx="1662737" cy="500337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400" b="1" i="1" dirty="0">
                <a:solidFill>
                  <a:schemeClr val="accent4"/>
                </a:solidFill>
              </a:rPr>
              <a:t>Vessel  Loading</a:t>
            </a:r>
          </a:p>
        </p:txBody>
      </p:sp>
      <p:sp>
        <p:nvSpPr>
          <p:cNvPr id="147" name="四角形: 角を丸くする 146">
            <a:extLst>
              <a:ext uri="{FF2B5EF4-FFF2-40B4-BE49-F238E27FC236}">
                <a16:creationId xmlns:a16="http://schemas.microsoft.com/office/drawing/2014/main" id="{8D5D8BC7-DB50-433D-8DEC-37108160E784}"/>
              </a:ext>
            </a:extLst>
          </p:cNvPr>
          <p:cNvSpPr/>
          <p:nvPr/>
        </p:nvSpPr>
        <p:spPr>
          <a:xfrm>
            <a:off x="1421136" y="2926197"/>
            <a:ext cx="2584439" cy="43805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Non AP / Over AP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8" name="矢印: 右 147">
            <a:extLst>
              <a:ext uri="{FF2B5EF4-FFF2-40B4-BE49-F238E27FC236}">
                <a16:creationId xmlns:a16="http://schemas.microsoft.com/office/drawing/2014/main" id="{ED05469F-EEBC-4473-B0A6-2061D7C2F480}"/>
              </a:ext>
            </a:extLst>
          </p:cNvPr>
          <p:cNvSpPr/>
          <p:nvPr/>
        </p:nvSpPr>
        <p:spPr>
          <a:xfrm>
            <a:off x="4145983" y="3584442"/>
            <a:ext cx="2893699" cy="265375"/>
          </a:xfrm>
          <a:prstGeom prst="rightArrow">
            <a:avLst>
              <a:gd name="adj1" fmla="val 50000"/>
              <a:gd name="adj2" fmla="val 125941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4579938C-14F4-43D0-A73C-7EC9DED7D18D}"/>
              </a:ext>
            </a:extLst>
          </p:cNvPr>
          <p:cNvSpPr/>
          <p:nvPr/>
        </p:nvSpPr>
        <p:spPr>
          <a:xfrm>
            <a:off x="1696303" y="3491464"/>
            <a:ext cx="2105491" cy="4513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>
              <a:buFont typeface="Arial" panose="020B0604020202020204" pitchFamily="34" charset="0"/>
              <a:buChar char="-"/>
            </a:pPr>
            <a:r>
              <a:rPr lang="en-US" altLang="ja-JP" sz="1400" dirty="0">
                <a:solidFill>
                  <a:schemeClr val="tx1"/>
                </a:solidFill>
              </a:rPr>
              <a:t>(1-a) </a:t>
            </a:r>
            <a:r>
              <a:rPr kumimoji="1" lang="en-US" altLang="ja-JP" sz="1400" dirty="0">
                <a:solidFill>
                  <a:schemeClr val="tx1"/>
                </a:solidFill>
              </a:rPr>
              <a:t>Specialty Cargoes</a:t>
            </a:r>
            <a:r>
              <a:rPr lang="en-US" altLang="ja-JP" sz="1400" dirty="0">
                <a:solidFill>
                  <a:schemeClr val="tx1"/>
                </a:solidFill>
              </a:rPr>
              <a:t>*</a:t>
            </a:r>
            <a:r>
              <a:rPr lang="en-US" altLang="ja-JP" sz="1400" baseline="30000" dirty="0">
                <a:solidFill>
                  <a:schemeClr val="tx1"/>
                </a:solidFill>
              </a:rPr>
              <a:t>2</a:t>
            </a:r>
            <a:endParaRPr kumimoji="1" lang="ja-JP" altLang="en-US" sz="1400" baseline="30000" dirty="0">
              <a:solidFill>
                <a:schemeClr val="tx1"/>
              </a:solidFill>
            </a:endParaRPr>
          </a:p>
        </p:txBody>
      </p: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3C5D118A-A775-4018-9C22-7309DB38F618}"/>
              </a:ext>
            </a:extLst>
          </p:cNvPr>
          <p:cNvCxnSpPr>
            <a:cxnSpLocks/>
          </p:cNvCxnSpPr>
          <p:nvPr/>
        </p:nvCxnSpPr>
        <p:spPr>
          <a:xfrm>
            <a:off x="4145983" y="4884028"/>
            <a:ext cx="2893699" cy="0"/>
          </a:xfrm>
          <a:prstGeom prst="line">
            <a:avLst/>
          </a:prstGeom>
          <a:ln w="79375">
            <a:solidFill>
              <a:schemeClr val="bg1">
                <a:lumMod val="75000"/>
              </a:schemeClr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DE214D6C-844A-4261-9EF0-66D5302860F9}"/>
              </a:ext>
            </a:extLst>
          </p:cNvPr>
          <p:cNvSpPr/>
          <p:nvPr/>
        </p:nvSpPr>
        <p:spPr>
          <a:xfrm>
            <a:off x="1696303" y="4658363"/>
            <a:ext cx="2105491" cy="451331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>
              <a:buFont typeface="Arial" panose="020B0604020202020204" pitchFamily="34" charset="0"/>
              <a:buChar char="-"/>
            </a:pPr>
            <a:r>
              <a:rPr lang="en-US" altLang="ja-JP" sz="1400" dirty="0">
                <a:solidFill>
                  <a:schemeClr val="tx1"/>
                </a:solidFill>
              </a:rPr>
              <a:t>(3-c) </a:t>
            </a:r>
            <a:r>
              <a:rPr kumimoji="1" lang="en-US" altLang="ja-JP" sz="1400" dirty="0">
                <a:solidFill>
                  <a:schemeClr val="tx1"/>
                </a:solidFill>
              </a:rPr>
              <a:t>Others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1075E3FB-28E6-4A6F-9DD9-025D879A7475}"/>
              </a:ext>
            </a:extLst>
          </p:cNvPr>
          <p:cNvSpPr txBox="1"/>
          <p:nvPr/>
        </p:nvSpPr>
        <p:spPr>
          <a:xfrm>
            <a:off x="4932188" y="4700611"/>
            <a:ext cx="1321288" cy="36683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600" b="1" i="1" dirty="0"/>
              <a:t>Waiting (GD4)</a:t>
            </a:r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EEB65A9A-3D52-42DE-942C-D7081D088466}"/>
              </a:ext>
            </a:extLst>
          </p:cNvPr>
          <p:cNvSpPr/>
          <p:nvPr/>
        </p:nvSpPr>
        <p:spPr>
          <a:xfrm>
            <a:off x="1356259" y="2055889"/>
            <a:ext cx="2714193" cy="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bIns="252000" rtlCol="0" anchor="ctr"/>
          <a:lstStyle/>
          <a:p>
            <a:pPr algn="ctr"/>
            <a:r>
              <a:rPr lang="en-US" altLang="ja-JP" sz="1400" b="1" i="1" dirty="0">
                <a:solidFill>
                  <a:schemeClr val="tx1"/>
                </a:solidFill>
              </a:rPr>
              <a:t>BKG Attempt</a:t>
            </a:r>
            <a:endParaRPr lang="ja-JP" altLang="en-US" sz="1400" b="1" i="1" dirty="0">
              <a:solidFill>
                <a:schemeClr val="tx1"/>
              </a:solidFill>
            </a:endParaRPr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5D9D0157-CE0E-4C8A-AC29-9A45203589C9}"/>
              </a:ext>
            </a:extLst>
          </p:cNvPr>
          <p:cNvSpPr/>
          <p:nvPr/>
        </p:nvSpPr>
        <p:spPr>
          <a:xfrm>
            <a:off x="1696303" y="4094250"/>
            <a:ext cx="2105491" cy="4513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>
              <a:buFont typeface="Arial" panose="020B0604020202020204" pitchFamily="34" charset="0"/>
              <a:buChar char="-"/>
            </a:pPr>
            <a:r>
              <a:rPr kumimoji="1" lang="en-US" altLang="ja-JP" sz="1400" dirty="0">
                <a:solidFill>
                  <a:schemeClr val="tx1"/>
                </a:solidFill>
              </a:rPr>
              <a:t>(2-b) Subject to Roll</a:t>
            </a:r>
            <a:r>
              <a:rPr lang="en-US" altLang="ja-JP" sz="1400" dirty="0">
                <a:solidFill>
                  <a:schemeClr val="tx1"/>
                </a:solidFill>
              </a:rPr>
              <a:t> Pool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8757BB36-B985-459B-8C03-F970D87E34FC}"/>
              </a:ext>
            </a:extLst>
          </p:cNvPr>
          <p:cNvSpPr txBox="1"/>
          <p:nvPr/>
        </p:nvSpPr>
        <p:spPr>
          <a:xfrm>
            <a:off x="4932188" y="3742317"/>
            <a:ext cx="1321288" cy="488259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600" b="1" i="1" dirty="0">
                <a:solidFill>
                  <a:schemeClr val="accent4"/>
                </a:solidFill>
              </a:rPr>
              <a:t>Firmed</a:t>
            </a:r>
            <a:br>
              <a:rPr lang="en-US" altLang="ja-JP" sz="1400" b="1" i="1" dirty="0">
                <a:solidFill>
                  <a:schemeClr val="accent4"/>
                </a:solidFill>
              </a:rPr>
            </a:br>
            <a:r>
              <a:rPr lang="en-US" altLang="ja-JP" sz="1400" b="1" i="1" dirty="0">
                <a:solidFill>
                  <a:schemeClr val="accent4"/>
                </a:solidFill>
              </a:rPr>
              <a:t>(Up to Target</a:t>
            </a:r>
            <a:r>
              <a:rPr lang="ja-JP" altLang="en-US" sz="1400" b="1" i="1" dirty="0">
                <a:solidFill>
                  <a:schemeClr val="accent4"/>
                </a:solidFill>
              </a:rPr>
              <a:t> </a:t>
            </a:r>
            <a:r>
              <a:rPr lang="en-US" altLang="ja-JP" sz="1400" b="1" i="1" dirty="0">
                <a:solidFill>
                  <a:schemeClr val="accent4"/>
                </a:solidFill>
              </a:rPr>
              <a:t>*</a:t>
            </a:r>
            <a:r>
              <a:rPr lang="en-US" altLang="ja-JP" sz="1400" b="1" i="1" baseline="30000" dirty="0">
                <a:solidFill>
                  <a:schemeClr val="accent4"/>
                </a:solidFill>
              </a:rPr>
              <a:t>3</a:t>
            </a:r>
            <a:r>
              <a:rPr lang="en-US" altLang="ja-JP" sz="1400" b="1" i="1" dirty="0">
                <a:solidFill>
                  <a:schemeClr val="accent4"/>
                </a:solidFill>
              </a:rPr>
              <a:t>)</a:t>
            </a:r>
            <a:endParaRPr lang="en-US" altLang="ja-JP" sz="1600" b="1" i="1" dirty="0">
              <a:solidFill>
                <a:schemeClr val="accent4"/>
              </a:solidFill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DB5C02A8-31C8-4A7E-89E6-B1B338653301}"/>
              </a:ext>
            </a:extLst>
          </p:cNvPr>
          <p:cNvSpPr/>
          <p:nvPr/>
        </p:nvSpPr>
        <p:spPr>
          <a:xfrm>
            <a:off x="551971" y="3708554"/>
            <a:ext cx="977293" cy="61136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kumimoji="1" lang="en-US" altLang="ja-JP" sz="1400" dirty="0">
                <a:solidFill>
                  <a:schemeClr val="tx1"/>
                </a:solidFill>
              </a:rPr>
              <a:t>Prioritized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en-US" altLang="ja-JP" sz="1400" dirty="0">
                <a:solidFill>
                  <a:schemeClr val="tx1"/>
                </a:solidFill>
              </a:rPr>
              <a:t>Cargoes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134F0B73-EFDB-4C16-B62D-0958097C2C0B}"/>
              </a:ext>
            </a:extLst>
          </p:cNvPr>
          <p:cNvSpPr/>
          <p:nvPr/>
        </p:nvSpPr>
        <p:spPr>
          <a:xfrm>
            <a:off x="4145983" y="4187228"/>
            <a:ext cx="2893699" cy="265375"/>
          </a:xfrm>
          <a:prstGeom prst="rightArrow">
            <a:avLst>
              <a:gd name="adj1" fmla="val 50000"/>
              <a:gd name="adj2" fmla="val 125941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矢印: 右 69">
            <a:extLst>
              <a:ext uri="{FF2B5EF4-FFF2-40B4-BE49-F238E27FC236}">
                <a16:creationId xmlns:a16="http://schemas.microsoft.com/office/drawing/2014/main" id="{93058697-0CD2-4920-B81F-7E239A76611B}"/>
              </a:ext>
            </a:extLst>
          </p:cNvPr>
          <p:cNvSpPr/>
          <p:nvPr/>
        </p:nvSpPr>
        <p:spPr>
          <a:xfrm>
            <a:off x="4145983" y="2311551"/>
            <a:ext cx="2893699" cy="265375"/>
          </a:xfrm>
          <a:prstGeom prst="rightArrow">
            <a:avLst>
              <a:gd name="adj1" fmla="val 50000"/>
              <a:gd name="adj2" fmla="val 125941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左中かっこ 12">
            <a:extLst>
              <a:ext uri="{FF2B5EF4-FFF2-40B4-BE49-F238E27FC236}">
                <a16:creationId xmlns:a16="http://schemas.microsoft.com/office/drawing/2014/main" id="{CE4EAAF5-E585-478B-9F6F-8325609A1F0E}"/>
              </a:ext>
            </a:extLst>
          </p:cNvPr>
          <p:cNvSpPr/>
          <p:nvPr/>
        </p:nvSpPr>
        <p:spPr>
          <a:xfrm>
            <a:off x="1504097" y="3518401"/>
            <a:ext cx="216135" cy="1020418"/>
          </a:xfrm>
          <a:prstGeom prst="leftBrace">
            <a:avLst>
              <a:gd name="adj1" fmla="val 46019"/>
              <a:gd name="adj2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0ADB2FE2-9745-4B50-874C-C43F222DCE32}"/>
              </a:ext>
            </a:extLst>
          </p:cNvPr>
          <p:cNvSpPr txBox="1"/>
          <p:nvPr/>
        </p:nvSpPr>
        <p:spPr>
          <a:xfrm>
            <a:off x="4932188" y="2268973"/>
            <a:ext cx="1321288" cy="36683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600" b="1" i="1" dirty="0">
                <a:solidFill>
                  <a:schemeClr val="accent4"/>
                </a:solidFill>
              </a:rPr>
              <a:t>Firmed</a:t>
            </a:r>
            <a:br>
              <a:rPr lang="en-US" altLang="ja-JP" sz="1400" b="1" i="1" dirty="0">
                <a:solidFill>
                  <a:schemeClr val="accent4"/>
                </a:solidFill>
              </a:rPr>
            </a:br>
            <a:r>
              <a:rPr lang="en-US" altLang="ja-JP" sz="1400" b="1" i="1" dirty="0">
                <a:solidFill>
                  <a:schemeClr val="accent4"/>
                </a:solidFill>
              </a:rPr>
              <a:t>(the highest priority)</a:t>
            </a:r>
          </a:p>
        </p:txBody>
      </p:sp>
      <p:sp>
        <p:nvSpPr>
          <p:cNvPr id="75" name="矢印: 右 74">
            <a:extLst>
              <a:ext uri="{FF2B5EF4-FFF2-40B4-BE49-F238E27FC236}">
                <a16:creationId xmlns:a16="http://schemas.microsoft.com/office/drawing/2014/main" id="{1240CD11-03C0-4F67-9DFC-E6DB4AF0B71A}"/>
              </a:ext>
            </a:extLst>
          </p:cNvPr>
          <p:cNvSpPr/>
          <p:nvPr/>
        </p:nvSpPr>
        <p:spPr>
          <a:xfrm>
            <a:off x="4145983" y="5418076"/>
            <a:ext cx="4386187" cy="265375"/>
          </a:xfrm>
          <a:prstGeom prst="rightArrow">
            <a:avLst>
              <a:gd name="adj1" fmla="val 50000"/>
              <a:gd name="adj2" fmla="val 125941"/>
            </a:avLst>
          </a:prstGeom>
          <a:solidFill>
            <a:srgbClr val="F6D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A97B0676-DC45-43CF-AE98-93C35F3C4E45}"/>
              </a:ext>
            </a:extLst>
          </p:cNvPr>
          <p:cNvSpPr txBox="1"/>
          <p:nvPr/>
        </p:nvSpPr>
        <p:spPr>
          <a:xfrm>
            <a:off x="5268359" y="5367345"/>
            <a:ext cx="1321288" cy="36683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altLang="ja-JP" sz="1600" b="1" i="1" dirty="0">
                <a:solidFill>
                  <a:schemeClr val="accent4"/>
                </a:solidFill>
              </a:rPr>
              <a:t>Firmed</a:t>
            </a:r>
            <a:br>
              <a:rPr lang="en-US" altLang="ja-JP" sz="1400" b="1" i="1" dirty="0">
                <a:solidFill>
                  <a:schemeClr val="accent4"/>
                </a:solidFill>
              </a:rPr>
            </a:br>
            <a:r>
              <a:rPr lang="en-US" altLang="ja-JP" sz="1400" b="1" i="1" dirty="0">
                <a:solidFill>
                  <a:schemeClr val="accent4"/>
                </a:solidFill>
              </a:rPr>
              <a:t>(Up to Target *</a:t>
            </a:r>
            <a:r>
              <a:rPr lang="en-US" altLang="ja-JP" sz="1400" b="1" i="1" baseline="30000" dirty="0">
                <a:solidFill>
                  <a:schemeClr val="accent4"/>
                </a:solidFill>
              </a:rPr>
              <a:t>3</a:t>
            </a:r>
            <a:r>
              <a:rPr lang="en-US" altLang="ja-JP" sz="1400" b="1" i="1" dirty="0">
                <a:solidFill>
                  <a:schemeClr val="accent4"/>
                </a:solidFill>
              </a:rPr>
              <a:t>)</a:t>
            </a:r>
            <a:endParaRPr lang="en-US" altLang="ja-JP" sz="1600" b="1" i="1" dirty="0">
              <a:solidFill>
                <a:schemeClr val="accent4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CC97BAA-2A20-483F-884A-B4A627D35E39}"/>
              </a:ext>
            </a:extLst>
          </p:cNvPr>
          <p:cNvSpPr>
            <a:spLocks noChangeAspect="1"/>
          </p:cNvSpPr>
          <p:nvPr/>
        </p:nvSpPr>
        <p:spPr>
          <a:xfrm>
            <a:off x="1617830" y="2166530"/>
            <a:ext cx="277178" cy="27612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1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691EA9CB-218E-4E38-9A80-8C4F148C0B83}"/>
              </a:ext>
            </a:extLst>
          </p:cNvPr>
          <p:cNvSpPr>
            <a:spLocks noChangeAspect="1"/>
          </p:cNvSpPr>
          <p:nvPr/>
        </p:nvSpPr>
        <p:spPr>
          <a:xfrm>
            <a:off x="1617830" y="2868835"/>
            <a:ext cx="277178" cy="27612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2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00BDE7B0-FBEB-4293-AC57-47E007FDC9D5}"/>
              </a:ext>
            </a:extLst>
          </p:cNvPr>
          <p:cNvSpPr>
            <a:spLocks noChangeAspect="1"/>
          </p:cNvSpPr>
          <p:nvPr/>
        </p:nvSpPr>
        <p:spPr>
          <a:xfrm>
            <a:off x="1617830" y="5277390"/>
            <a:ext cx="277178" cy="27612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bg1"/>
                </a:solidFill>
              </a:rPr>
              <a:t>3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C706E683-DBD1-4558-8372-68D52A602006}"/>
              </a:ext>
            </a:extLst>
          </p:cNvPr>
          <p:cNvSpPr/>
          <p:nvPr/>
        </p:nvSpPr>
        <p:spPr>
          <a:xfrm>
            <a:off x="1161178" y="6190723"/>
            <a:ext cx="9869644" cy="347487"/>
          </a:xfrm>
          <a:prstGeom prst="rect">
            <a:avLst/>
          </a:prstGeom>
          <a:solidFill>
            <a:schemeClr val="accent4"/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</a:rPr>
              <a:t>いずれの地域やオフィスを偏重することなく、</a:t>
            </a:r>
            <a:r>
              <a:rPr lang="en-US" altLang="ja-JP" sz="1400" dirty="0">
                <a:solidFill>
                  <a:schemeClr val="bg1"/>
                </a:solidFill>
              </a:rPr>
              <a:t>CM</a:t>
            </a:r>
            <a:r>
              <a:rPr lang="ja-JP" altLang="en-US" sz="1400" dirty="0">
                <a:solidFill>
                  <a:schemeClr val="bg1"/>
                </a:solidFill>
              </a:rPr>
              <a:t>最大化を目的に、公正・公平に</a:t>
            </a:r>
            <a:r>
              <a:rPr lang="en-US" altLang="ja-JP" sz="1400" dirty="0">
                <a:solidFill>
                  <a:schemeClr val="bg1"/>
                </a:solidFill>
              </a:rPr>
              <a:t>BKG</a:t>
            </a:r>
            <a:r>
              <a:rPr lang="ja-JP" altLang="en-US" sz="1400" dirty="0">
                <a:solidFill>
                  <a:schemeClr val="bg1"/>
                </a:solidFill>
              </a:rPr>
              <a:t>を受入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3F9EE13-9B31-4B9D-A220-C5E250E281E1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OCN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E5B7177-D559-49A7-80DB-5F9956E2DA8D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2460DB7-EC18-4A99-934F-B3D147E9514D}"/>
              </a:ext>
            </a:extLst>
          </p:cNvPr>
          <p:cNvSpPr/>
          <p:nvPr/>
        </p:nvSpPr>
        <p:spPr>
          <a:xfrm>
            <a:off x="1959123" y="28748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SG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6AF5C1F3-BE6E-4D9E-A918-BB8E57862DDD}"/>
              </a:ext>
            </a:extLst>
          </p:cNvPr>
          <p:cNvSpPr/>
          <p:nvPr/>
        </p:nvSpPr>
        <p:spPr>
          <a:xfrm>
            <a:off x="2351584" y="73770"/>
            <a:ext cx="1135333" cy="170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lIns="90000" rtlCol="0" anchor="ctr">
            <a:noAutofit/>
          </a:bodyPr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/>
                <a:ea typeface="ＭＳ Ｐゴシック" panose="020B0600070205080204" pitchFamily="50" charset="-128"/>
                <a:cs typeface="+mn-cs"/>
              </a:rPr>
              <a:t>Target E</a:t>
            </a:r>
          </a:p>
        </p:txBody>
      </p:sp>
    </p:spTree>
    <p:extLst>
      <p:ext uri="{BB962C8B-B14F-4D97-AF65-F5344CB8AC3E}">
        <p14:creationId xmlns:p14="http://schemas.microsoft.com/office/powerpoint/2010/main" val="402321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B6D91C22-78A5-4AAF-8561-748DE93F0D4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252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431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B6D91C22-78A5-4AAF-8561-748DE93F0D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A9581F7C-B22E-4F21-846D-379E4E2C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ja-JP" dirty="0"/>
              <a:t>ONE QUOTE Expansion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6755C3-B46C-4CFD-B7FB-C53141D30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SPOT</a:t>
            </a:r>
            <a:r>
              <a:rPr lang="ja-JP" altLang="en-US" dirty="0"/>
              <a:t>の将来像としては、全て</a:t>
            </a:r>
            <a:r>
              <a:rPr lang="en-US" altLang="ja-JP" dirty="0"/>
              <a:t>ONE QUOTE</a:t>
            </a:r>
            <a:r>
              <a:rPr lang="ja-JP" altLang="en-US" dirty="0"/>
              <a:t>でカバーしていく姿を目指す</a:t>
            </a:r>
          </a:p>
        </p:txBody>
      </p:sp>
      <p:sp>
        <p:nvSpPr>
          <p:cNvPr id="203" name="乗算記号 202">
            <a:extLst>
              <a:ext uri="{FF2B5EF4-FFF2-40B4-BE49-F238E27FC236}">
                <a16:creationId xmlns:a16="http://schemas.microsoft.com/office/drawing/2014/main" id="{CA1E3634-C726-4850-990F-6661F1AAB96F}"/>
              </a:ext>
            </a:extLst>
          </p:cNvPr>
          <p:cNvSpPr/>
          <p:nvPr/>
        </p:nvSpPr>
        <p:spPr>
          <a:xfrm>
            <a:off x="7205446" y="5773642"/>
            <a:ext cx="432000" cy="432000"/>
          </a:xfrm>
          <a:prstGeom prst="mathMultiply">
            <a:avLst>
              <a:gd name="adj1" fmla="val 12961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E087801C-02EF-4133-8D9C-EF2113A3172F}"/>
              </a:ext>
            </a:extLst>
          </p:cNvPr>
          <p:cNvSpPr/>
          <p:nvPr/>
        </p:nvSpPr>
        <p:spPr>
          <a:xfrm>
            <a:off x="7219351" y="6233689"/>
            <a:ext cx="404190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dirty="0">
                <a:solidFill>
                  <a:schemeClr val="tx1"/>
                </a:solidFill>
              </a:rPr>
              <a:t>BKG</a:t>
            </a:r>
            <a:r>
              <a:rPr lang="ja-JP" altLang="en-US" sz="1400" b="1" dirty="0">
                <a:solidFill>
                  <a:schemeClr val="tx1"/>
                </a:solidFill>
              </a:rPr>
              <a:t> </a:t>
            </a:r>
            <a:r>
              <a:rPr lang="en-US" altLang="ja-JP" sz="1400" b="1" dirty="0">
                <a:solidFill>
                  <a:schemeClr val="tx1"/>
                </a:solidFill>
              </a:rPr>
              <a:t>Forecast</a:t>
            </a:r>
            <a:br>
              <a:rPr lang="en-US" altLang="ja-JP" sz="1400" b="1" dirty="0">
                <a:solidFill>
                  <a:schemeClr val="tx1"/>
                </a:solidFill>
              </a:rPr>
            </a:br>
            <a:r>
              <a:rPr lang="en-US" altLang="ja-JP" sz="1400" b="1" dirty="0">
                <a:solidFill>
                  <a:schemeClr val="bg1">
                    <a:lumMod val="75000"/>
                  </a:schemeClr>
                </a:solidFill>
              </a:rPr>
              <a:t>Dynamic Pricing</a:t>
            </a:r>
          </a:p>
        </p:txBody>
      </p:sp>
      <p:sp>
        <p:nvSpPr>
          <p:cNvPr id="205" name="乗算記号 204">
            <a:extLst>
              <a:ext uri="{FF2B5EF4-FFF2-40B4-BE49-F238E27FC236}">
                <a16:creationId xmlns:a16="http://schemas.microsoft.com/office/drawing/2014/main" id="{E76D62F8-697B-4695-BAF4-6F07641EB239}"/>
              </a:ext>
            </a:extLst>
          </p:cNvPr>
          <p:cNvSpPr/>
          <p:nvPr/>
        </p:nvSpPr>
        <p:spPr>
          <a:xfrm>
            <a:off x="11022367" y="5773642"/>
            <a:ext cx="432000" cy="432000"/>
          </a:xfrm>
          <a:prstGeom prst="mathMultiply">
            <a:avLst>
              <a:gd name="adj1" fmla="val 12961"/>
            </a:avLst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7F654BB9-02EC-4B61-AA18-882F755B1788}"/>
              </a:ext>
            </a:extLst>
          </p:cNvPr>
          <p:cNvSpPr/>
          <p:nvPr/>
        </p:nvSpPr>
        <p:spPr>
          <a:xfrm>
            <a:off x="11036272" y="6233689"/>
            <a:ext cx="404190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dirty="0">
                <a:solidFill>
                  <a:schemeClr val="tx1"/>
                </a:solidFill>
              </a:rPr>
              <a:t>BKG</a:t>
            </a:r>
            <a:r>
              <a:rPr lang="ja-JP" altLang="en-US" sz="1400" b="1" dirty="0">
                <a:solidFill>
                  <a:schemeClr val="tx1"/>
                </a:solidFill>
              </a:rPr>
              <a:t> </a:t>
            </a:r>
            <a:r>
              <a:rPr lang="en-US" altLang="ja-JP" sz="1400" b="1" dirty="0">
                <a:solidFill>
                  <a:schemeClr val="tx1"/>
                </a:solidFill>
              </a:rPr>
              <a:t>Forecast </a:t>
            </a:r>
            <a:br>
              <a:rPr lang="en-US" altLang="ja-JP" sz="1400" b="1" dirty="0">
                <a:solidFill>
                  <a:schemeClr val="tx1"/>
                </a:solidFill>
              </a:rPr>
            </a:br>
            <a:r>
              <a:rPr lang="en-US" altLang="ja-JP" sz="1400" b="1" dirty="0">
                <a:solidFill>
                  <a:schemeClr val="tx1"/>
                </a:solidFill>
              </a:rPr>
              <a:t>Dynamic Pricing</a:t>
            </a:r>
          </a:p>
        </p:txBody>
      </p:sp>
      <p:sp>
        <p:nvSpPr>
          <p:cNvPr id="211" name="矢印: 五方向 210">
            <a:extLst>
              <a:ext uri="{FF2B5EF4-FFF2-40B4-BE49-F238E27FC236}">
                <a16:creationId xmlns:a16="http://schemas.microsoft.com/office/drawing/2014/main" id="{850AE2AA-6D9A-4A82-A8E3-DAB8F6F01574}"/>
              </a:ext>
            </a:extLst>
          </p:cNvPr>
          <p:cNvSpPr/>
          <p:nvPr/>
        </p:nvSpPr>
        <p:spPr>
          <a:xfrm>
            <a:off x="8186705" y="1399811"/>
            <a:ext cx="3847340" cy="229521"/>
          </a:xfrm>
          <a:prstGeom prst="homePlate">
            <a:avLst>
              <a:gd name="adj" fmla="val 39908"/>
            </a:avLst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Further Step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C15CC109-32D4-441C-BF88-D745D3FE2AEC}"/>
              </a:ext>
            </a:extLst>
          </p:cNvPr>
          <p:cNvSpPr/>
          <p:nvPr/>
        </p:nvSpPr>
        <p:spPr>
          <a:xfrm>
            <a:off x="8186705" y="1667139"/>
            <a:ext cx="3847340" cy="5570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BKG Forecast</a:t>
            </a:r>
            <a:r>
              <a:rPr lang="ja-JP" altLang="en-US" sz="1200" dirty="0">
                <a:solidFill>
                  <a:schemeClr val="tx1"/>
                </a:solidFill>
              </a:rPr>
              <a:t>に加え、</a:t>
            </a:r>
            <a:r>
              <a:rPr lang="en-US" altLang="ja-JP" sz="1200" dirty="0">
                <a:solidFill>
                  <a:schemeClr val="tx1"/>
                </a:solidFill>
              </a:rPr>
              <a:t>Dynamic Pricing</a:t>
            </a:r>
            <a:r>
              <a:rPr lang="ja-JP" altLang="en-US" sz="1200" dirty="0">
                <a:solidFill>
                  <a:schemeClr val="tx1"/>
                </a:solidFill>
              </a:rPr>
              <a:t>の手法も用いて、</a:t>
            </a:r>
            <a:r>
              <a:rPr lang="en-US" altLang="ja-JP" sz="1200" dirty="0">
                <a:solidFill>
                  <a:schemeClr val="tx1"/>
                </a:solidFill>
              </a:rPr>
              <a:t>SPOT</a:t>
            </a:r>
            <a:r>
              <a:rPr lang="ja-JP" altLang="en-US" sz="1200" dirty="0">
                <a:solidFill>
                  <a:schemeClr val="tx1"/>
                </a:solidFill>
              </a:rPr>
              <a:t>は原則</a:t>
            </a:r>
            <a:r>
              <a:rPr lang="en-US" altLang="ja-JP" sz="1200" dirty="0">
                <a:solidFill>
                  <a:schemeClr val="tx1"/>
                </a:solidFill>
              </a:rPr>
              <a:t>ONE QUOTE</a:t>
            </a:r>
            <a:r>
              <a:rPr lang="ja-JP" altLang="en-US" sz="1200" dirty="0">
                <a:solidFill>
                  <a:schemeClr val="tx1"/>
                </a:solidFill>
              </a:rPr>
              <a:t>で充足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19" name="乗算記号 218">
            <a:extLst>
              <a:ext uri="{FF2B5EF4-FFF2-40B4-BE49-F238E27FC236}">
                <a16:creationId xmlns:a16="http://schemas.microsoft.com/office/drawing/2014/main" id="{5D4EE4C5-1488-40AB-AB3C-147420BF1C81}"/>
              </a:ext>
            </a:extLst>
          </p:cNvPr>
          <p:cNvSpPr/>
          <p:nvPr/>
        </p:nvSpPr>
        <p:spPr>
          <a:xfrm>
            <a:off x="3448856" y="5773642"/>
            <a:ext cx="432000" cy="432000"/>
          </a:xfrm>
          <a:prstGeom prst="mathMultiply">
            <a:avLst>
              <a:gd name="adj1" fmla="val 1296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00AB807D-0F4D-40D7-AE45-A8CAB4014B1C}"/>
              </a:ext>
            </a:extLst>
          </p:cNvPr>
          <p:cNvSpPr/>
          <p:nvPr/>
        </p:nvSpPr>
        <p:spPr>
          <a:xfrm>
            <a:off x="3462761" y="6233689"/>
            <a:ext cx="404190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dirty="0">
                <a:solidFill>
                  <a:schemeClr val="bg1">
                    <a:lumMod val="75000"/>
                  </a:schemeClr>
                </a:solidFill>
              </a:rPr>
              <a:t>BKG</a:t>
            </a:r>
            <a:r>
              <a:rPr lang="ja-JP" altLang="en-US" sz="1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ja-JP" sz="1400" b="1" dirty="0">
                <a:solidFill>
                  <a:schemeClr val="bg1">
                    <a:lumMod val="75000"/>
                  </a:schemeClr>
                </a:solidFill>
              </a:rPr>
              <a:t>Forecast</a:t>
            </a:r>
            <a:br>
              <a:rPr lang="en-US" altLang="ja-JP" sz="14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ja-JP" sz="1400" b="1" dirty="0">
                <a:solidFill>
                  <a:schemeClr val="bg1">
                    <a:lumMod val="75000"/>
                  </a:schemeClr>
                </a:solidFill>
              </a:rPr>
              <a:t>Dynamic Pricing</a:t>
            </a:r>
          </a:p>
        </p:txBody>
      </p:sp>
      <p:sp>
        <p:nvSpPr>
          <p:cNvPr id="210" name="矢印: 五方向 209">
            <a:extLst>
              <a:ext uri="{FF2B5EF4-FFF2-40B4-BE49-F238E27FC236}">
                <a16:creationId xmlns:a16="http://schemas.microsoft.com/office/drawing/2014/main" id="{4FEC3CD1-7AA9-4B4A-8704-A1BB26EEA784}"/>
              </a:ext>
            </a:extLst>
          </p:cNvPr>
          <p:cNvSpPr/>
          <p:nvPr/>
        </p:nvSpPr>
        <p:spPr>
          <a:xfrm>
            <a:off x="4218684" y="1399811"/>
            <a:ext cx="3847340" cy="229521"/>
          </a:xfrm>
          <a:prstGeom prst="homePlate">
            <a:avLst>
              <a:gd name="adj" fmla="val 39908"/>
            </a:avLst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Next Step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12D76F98-BEB7-4234-815F-F727ED55D93E}"/>
              </a:ext>
            </a:extLst>
          </p:cNvPr>
          <p:cNvSpPr/>
          <p:nvPr/>
        </p:nvSpPr>
        <p:spPr>
          <a:xfrm>
            <a:off x="4218684" y="1667139"/>
            <a:ext cx="3847340" cy="5570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数量、</a:t>
            </a:r>
            <a:r>
              <a:rPr lang="en-US" altLang="ja-JP" sz="1200" dirty="0">
                <a:solidFill>
                  <a:schemeClr val="tx1"/>
                </a:solidFill>
              </a:rPr>
              <a:t>BKG Forecast</a:t>
            </a:r>
            <a:r>
              <a:rPr lang="ja-JP" altLang="en-US" sz="1200" dirty="0">
                <a:solidFill>
                  <a:schemeClr val="tx1"/>
                </a:solidFill>
              </a:rPr>
              <a:t>の結果を踏まえて、</a:t>
            </a:r>
            <a:r>
              <a:rPr lang="en-US" altLang="ja-JP" sz="1200" dirty="0">
                <a:solidFill>
                  <a:schemeClr val="tx1"/>
                </a:solidFill>
              </a:rPr>
              <a:t>ONE</a:t>
            </a:r>
            <a:r>
              <a:rPr lang="ja-JP" altLang="en-US" sz="1200" dirty="0">
                <a:solidFill>
                  <a:schemeClr val="tx1"/>
                </a:solidFill>
              </a:rPr>
              <a:t>　</a:t>
            </a:r>
            <a:r>
              <a:rPr lang="en-US" altLang="ja-JP" sz="1200" dirty="0">
                <a:solidFill>
                  <a:schemeClr val="tx1"/>
                </a:solidFill>
              </a:rPr>
              <a:t>QUOTE</a:t>
            </a:r>
            <a:r>
              <a:rPr lang="ja-JP" altLang="en-US" sz="1200" dirty="0">
                <a:solidFill>
                  <a:schemeClr val="tx1"/>
                </a:solidFill>
              </a:rPr>
              <a:t>の受入量を一定増減</a:t>
            </a:r>
          </a:p>
        </p:txBody>
      </p:sp>
      <p:sp>
        <p:nvSpPr>
          <p:cNvPr id="239" name="スライド番号プレースホルダー 3">
            <a:extLst>
              <a:ext uri="{FF2B5EF4-FFF2-40B4-BE49-F238E27FC236}">
                <a16:creationId xmlns:a16="http://schemas.microsoft.com/office/drawing/2014/main" id="{6E16EC7B-54A3-4CE8-B2A5-C0A1F6FC4B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57911" y="6479931"/>
            <a:ext cx="2743200" cy="2415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20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0F4D5DE0-0569-41DF-A999-B85FE2636DED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OCN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4EE91529-E79C-4076-80A8-FE338F46BD77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1FEA0DD1-8C7E-43D7-9C4B-C472A06497BB}"/>
              </a:ext>
            </a:extLst>
          </p:cNvPr>
          <p:cNvSpPr/>
          <p:nvPr/>
        </p:nvSpPr>
        <p:spPr>
          <a:xfrm>
            <a:off x="250662" y="1667139"/>
            <a:ext cx="3847340" cy="55709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ONE QUOTE</a:t>
            </a:r>
            <a:r>
              <a:rPr lang="ja-JP" altLang="en-US" sz="1200" dirty="0">
                <a:solidFill>
                  <a:schemeClr val="tx1"/>
                </a:solidFill>
              </a:rPr>
              <a:t>の受入量が固定的なため、</a:t>
            </a:r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r>
              <a:rPr lang="ja-JP" altLang="en-US" sz="1200" dirty="0">
                <a:solidFill>
                  <a:schemeClr val="tx1"/>
                </a:solidFill>
              </a:rPr>
              <a:t>数量の変動は、各オフィスが</a:t>
            </a:r>
            <a:r>
              <a:rPr lang="en-US" altLang="ja-JP" sz="1200" dirty="0">
                <a:solidFill>
                  <a:schemeClr val="tx1"/>
                </a:solidFill>
              </a:rPr>
              <a:t>SPOT</a:t>
            </a:r>
            <a:r>
              <a:rPr lang="ja-JP" altLang="en-US" sz="1200" dirty="0">
                <a:solidFill>
                  <a:schemeClr val="tx1"/>
                </a:solidFill>
              </a:rPr>
              <a:t>や</a:t>
            </a:r>
            <a:r>
              <a:rPr lang="en-US" altLang="ja-JP" sz="1200" dirty="0">
                <a:solidFill>
                  <a:schemeClr val="tx1"/>
                </a:solidFill>
              </a:rPr>
              <a:t>ST</a:t>
            </a:r>
            <a:r>
              <a:rPr lang="ja-JP" altLang="en-US" sz="1200" dirty="0">
                <a:solidFill>
                  <a:schemeClr val="tx1"/>
                </a:solidFill>
              </a:rPr>
              <a:t>の営業により調整</a:t>
            </a:r>
          </a:p>
        </p:txBody>
      </p:sp>
      <p:sp>
        <p:nvSpPr>
          <p:cNvPr id="209" name="矢印: 五方向 208">
            <a:extLst>
              <a:ext uri="{FF2B5EF4-FFF2-40B4-BE49-F238E27FC236}">
                <a16:creationId xmlns:a16="http://schemas.microsoft.com/office/drawing/2014/main" id="{65E72CDD-31B4-461B-B2CF-6435239C1CEE}"/>
              </a:ext>
            </a:extLst>
          </p:cNvPr>
          <p:cNvSpPr/>
          <p:nvPr/>
        </p:nvSpPr>
        <p:spPr>
          <a:xfrm>
            <a:off x="250662" y="1399811"/>
            <a:ext cx="3847340" cy="229521"/>
          </a:xfrm>
          <a:prstGeom prst="homePlate">
            <a:avLst>
              <a:gd name="adj" fmla="val 39908"/>
            </a:avLst>
          </a:prstGeom>
          <a:solidFill>
            <a:schemeClr val="bg1">
              <a:lumMod val="7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As-Is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BC6EB6-3C5C-4932-9989-061DCB07C817}"/>
              </a:ext>
            </a:extLst>
          </p:cNvPr>
          <p:cNvSpPr/>
          <p:nvPr/>
        </p:nvSpPr>
        <p:spPr>
          <a:xfrm>
            <a:off x="339326" y="5174320"/>
            <a:ext cx="2978563" cy="549886"/>
          </a:xfrm>
          <a:prstGeom prst="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330CEFF-C338-4DE0-81AA-1EA525B64621}"/>
              </a:ext>
            </a:extLst>
          </p:cNvPr>
          <p:cNvSpPr/>
          <p:nvPr/>
        </p:nvSpPr>
        <p:spPr>
          <a:xfrm>
            <a:off x="1753275" y="4650439"/>
            <a:ext cx="1564620" cy="523981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10F3981-D9C4-40DC-AB28-ECE1C2CC32BE}"/>
              </a:ext>
            </a:extLst>
          </p:cNvPr>
          <p:cNvCxnSpPr>
            <a:cxnSpLocks/>
          </p:cNvCxnSpPr>
          <p:nvPr/>
        </p:nvCxnSpPr>
        <p:spPr>
          <a:xfrm>
            <a:off x="341810" y="4650439"/>
            <a:ext cx="298209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5100332-AAF2-4417-8FD0-E74F99378966}"/>
              </a:ext>
            </a:extLst>
          </p:cNvPr>
          <p:cNvSpPr/>
          <p:nvPr/>
        </p:nvSpPr>
        <p:spPr>
          <a:xfrm>
            <a:off x="396390" y="4710941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Z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39DBB8-1E67-40FF-9104-D67BA5CFB315}"/>
              </a:ext>
            </a:extLst>
          </p:cNvPr>
          <p:cNvSpPr/>
          <p:nvPr/>
        </p:nvSpPr>
        <p:spPr>
          <a:xfrm>
            <a:off x="2295382" y="3079022"/>
            <a:ext cx="1022513" cy="875293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5612DD6-8167-4804-A0D9-02845408A4E4}"/>
              </a:ext>
            </a:extLst>
          </p:cNvPr>
          <p:cNvSpPr/>
          <p:nvPr/>
        </p:nvSpPr>
        <p:spPr>
          <a:xfrm>
            <a:off x="396390" y="3132116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X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EEFDCEC-00F3-4F6F-B2C7-1D45CA6A3456}"/>
              </a:ext>
            </a:extLst>
          </p:cNvPr>
          <p:cNvSpPr/>
          <p:nvPr/>
        </p:nvSpPr>
        <p:spPr>
          <a:xfrm>
            <a:off x="843632" y="3368841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3544A24-8267-45C9-B136-3B004EE5E6F8}"/>
              </a:ext>
            </a:extLst>
          </p:cNvPr>
          <p:cNvSpPr/>
          <p:nvPr/>
        </p:nvSpPr>
        <p:spPr>
          <a:xfrm>
            <a:off x="2674201" y="3368841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0933B5B-7463-49DC-AFBD-F341F07C1269}"/>
              </a:ext>
            </a:extLst>
          </p:cNvPr>
          <p:cNvSpPr/>
          <p:nvPr/>
        </p:nvSpPr>
        <p:spPr>
          <a:xfrm>
            <a:off x="396390" y="4009790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Y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8E23501-9698-424F-B41C-6BA16E4C1242}"/>
              </a:ext>
            </a:extLst>
          </p:cNvPr>
          <p:cNvSpPr/>
          <p:nvPr/>
        </p:nvSpPr>
        <p:spPr>
          <a:xfrm>
            <a:off x="843632" y="4764601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8D1B70E-AABE-4ECD-83D2-95810CAE8936}"/>
              </a:ext>
            </a:extLst>
          </p:cNvPr>
          <p:cNvSpPr/>
          <p:nvPr/>
        </p:nvSpPr>
        <p:spPr>
          <a:xfrm>
            <a:off x="2674201" y="4764601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24" name="矢印: 左 23">
            <a:extLst>
              <a:ext uri="{FF2B5EF4-FFF2-40B4-BE49-F238E27FC236}">
                <a16:creationId xmlns:a16="http://schemas.microsoft.com/office/drawing/2014/main" id="{4438C6CA-85EA-4FD9-8C81-6D2EE93D75FE}"/>
              </a:ext>
            </a:extLst>
          </p:cNvPr>
          <p:cNvSpPr/>
          <p:nvPr/>
        </p:nvSpPr>
        <p:spPr>
          <a:xfrm>
            <a:off x="1866061" y="4796142"/>
            <a:ext cx="644979" cy="232474"/>
          </a:xfrm>
          <a:prstGeom prst="leftArrow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183F49A3-13E3-4E49-94AB-3DB8E003517F}"/>
              </a:ext>
            </a:extLst>
          </p:cNvPr>
          <p:cNvCxnSpPr>
            <a:cxnSpLocks/>
          </p:cNvCxnSpPr>
          <p:nvPr/>
        </p:nvCxnSpPr>
        <p:spPr>
          <a:xfrm>
            <a:off x="341810" y="3079022"/>
            <a:ext cx="298209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B2A1A8D8-FAC4-4A68-8066-61A0973C099B}"/>
              </a:ext>
            </a:extLst>
          </p:cNvPr>
          <p:cNvSpPr/>
          <p:nvPr/>
        </p:nvSpPr>
        <p:spPr>
          <a:xfrm>
            <a:off x="396390" y="2672669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A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602D56A-738C-469B-8120-33211B1AE8FA}"/>
              </a:ext>
            </a:extLst>
          </p:cNvPr>
          <p:cNvSpPr/>
          <p:nvPr/>
        </p:nvSpPr>
        <p:spPr>
          <a:xfrm>
            <a:off x="843632" y="2703213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08" name="矢印: 左 107">
            <a:extLst>
              <a:ext uri="{FF2B5EF4-FFF2-40B4-BE49-F238E27FC236}">
                <a16:creationId xmlns:a16="http://schemas.microsoft.com/office/drawing/2014/main" id="{A43380A9-F4CF-4E8F-9ABC-47495524100C}"/>
              </a:ext>
            </a:extLst>
          </p:cNvPr>
          <p:cNvSpPr/>
          <p:nvPr/>
        </p:nvSpPr>
        <p:spPr>
          <a:xfrm>
            <a:off x="2332354" y="3397997"/>
            <a:ext cx="231675" cy="232474"/>
          </a:xfrm>
          <a:prstGeom prst="leftArrow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F8C112D-D243-43DE-B7E9-2E5BFBE22EA5}"/>
              </a:ext>
            </a:extLst>
          </p:cNvPr>
          <p:cNvSpPr/>
          <p:nvPr/>
        </p:nvSpPr>
        <p:spPr>
          <a:xfrm>
            <a:off x="2113313" y="3954217"/>
            <a:ext cx="1204582" cy="696124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E07051C-9E47-44D2-8216-FCC8EB9AEB05}"/>
              </a:ext>
            </a:extLst>
          </p:cNvPr>
          <p:cNvCxnSpPr>
            <a:cxnSpLocks/>
          </p:cNvCxnSpPr>
          <p:nvPr/>
        </p:nvCxnSpPr>
        <p:spPr>
          <a:xfrm>
            <a:off x="341810" y="3954217"/>
            <a:ext cx="298209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1AE919B-3626-44A4-8A49-4652CCC7DA64}"/>
              </a:ext>
            </a:extLst>
          </p:cNvPr>
          <p:cNvSpPr/>
          <p:nvPr/>
        </p:nvSpPr>
        <p:spPr>
          <a:xfrm>
            <a:off x="2113314" y="2616784"/>
            <a:ext cx="1204582" cy="462238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B85C6FD-4A93-433A-9A9B-BA5894C0620C}"/>
              </a:ext>
            </a:extLst>
          </p:cNvPr>
          <p:cNvSpPr/>
          <p:nvPr/>
        </p:nvSpPr>
        <p:spPr>
          <a:xfrm>
            <a:off x="843632" y="4154501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F74B684-2103-421C-AD1A-A84606B55729}"/>
              </a:ext>
            </a:extLst>
          </p:cNvPr>
          <p:cNvSpPr/>
          <p:nvPr/>
        </p:nvSpPr>
        <p:spPr>
          <a:xfrm>
            <a:off x="2674201" y="4154501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27" name="矢印: 左 26">
            <a:extLst>
              <a:ext uri="{FF2B5EF4-FFF2-40B4-BE49-F238E27FC236}">
                <a16:creationId xmlns:a16="http://schemas.microsoft.com/office/drawing/2014/main" id="{70901DEF-CDC6-483D-ADE6-5EE82FD26EF8}"/>
              </a:ext>
            </a:extLst>
          </p:cNvPr>
          <p:cNvSpPr/>
          <p:nvPr/>
        </p:nvSpPr>
        <p:spPr>
          <a:xfrm>
            <a:off x="2188088" y="4186042"/>
            <a:ext cx="375942" cy="232474"/>
          </a:xfrm>
          <a:prstGeom prst="leftArrow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F21AADB-AD5E-4F26-8547-547B05BD7617}"/>
              </a:ext>
            </a:extLst>
          </p:cNvPr>
          <p:cNvSpPr/>
          <p:nvPr/>
        </p:nvSpPr>
        <p:spPr>
          <a:xfrm>
            <a:off x="339327" y="2616885"/>
            <a:ext cx="2262714" cy="3114087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BC1A3BD1-72BD-4313-BB54-657F7FA7CB6B}"/>
              </a:ext>
            </a:extLst>
          </p:cNvPr>
          <p:cNvSpPr/>
          <p:nvPr/>
        </p:nvSpPr>
        <p:spPr>
          <a:xfrm>
            <a:off x="3320373" y="2628961"/>
            <a:ext cx="688966" cy="3102993"/>
          </a:xfrm>
          <a:prstGeom prst="rect">
            <a:avLst/>
          </a:prstGeom>
          <a:solidFill>
            <a:schemeClr val="accent4">
              <a:lumMod val="20000"/>
              <a:lumOff val="80000"/>
              <a:alpha val="46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85" name="直線矢印コネクタ 184">
            <a:extLst>
              <a:ext uri="{FF2B5EF4-FFF2-40B4-BE49-F238E27FC236}">
                <a16:creationId xmlns:a16="http://schemas.microsoft.com/office/drawing/2014/main" id="{EF14FF4B-37A1-4534-A01C-63DB7B687F3B}"/>
              </a:ext>
            </a:extLst>
          </p:cNvPr>
          <p:cNvCxnSpPr>
            <a:cxnSpLocks/>
          </p:cNvCxnSpPr>
          <p:nvPr/>
        </p:nvCxnSpPr>
        <p:spPr>
          <a:xfrm>
            <a:off x="339327" y="2412670"/>
            <a:ext cx="2262714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矢印コネクタ 185">
            <a:extLst>
              <a:ext uri="{FF2B5EF4-FFF2-40B4-BE49-F238E27FC236}">
                <a16:creationId xmlns:a16="http://schemas.microsoft.com/office/drawing/2014/main" id="{3EC779B9-DE4B-41B1-B5F3-C10232BA0896}"/>
              </a:ext>
            </a:extLst>
          </p:cNvPr>
          <p:cNvCxnSpPr>
            <a:cxnSpLocks/>
          </p:cNvCxnSpPr>
          <p:nvPr/>
        </p:nvCxnSpPr>
        <p:spPr>
          <a:xfrm>
            <a:off x="2602041" y="2412670"/>
            <a:ext cx="1407297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F8AEB67-37D2-4448-827E-CC4106537E29}"/>
              </a:ext>
            </a:extLst>
          </p:cNvPr>
          <p:cNvSpPr/>
          <p:nvPr/>
        </p:nvSpPr>
        <p:spPr>
          <a:xfrm>
            <a:off x="3409357" y="3404649"/>
            <a:ext cx="482518" cy="11767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dirty="0">
                <a:solidFill>
                  <a:schemeClr val="tx1"/>
                </a:solidFill>
              </a:rPr>
              <a:t>ONE</a:t>
            </a: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QUOTE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008DF4-974C-437B-8BF6-D00559417C19}"/>
              </a:ext>
            </a:extLst>
          </p:cNvPr>
          <p:cNvSpPr/>
          <p:nvPr/>
        </p:nvSpPr>
        <p:spPr>
          <a:xfrm>
            <a:off x="2674201" y="2703213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107" name="矢印: 左 106">
            <a:extLst>
              <a:ext uri="{FF2B5EF4-FFF2-40B4-BE49-F238E27FC236}">
                <a16:creationId xmlns:a16="http://schemas.microsoft.com/office/drawing/2014/main" id="{5CBEE0C0-D603-45B4-83FB-4C3D24B32D4B}"/>
              </a:ext>
            </a:extLst>
          </p:cNvPr>
          <p:cNvSpPr/>
          <p:nvPr/>
        </p:nvSpPr>
        <p:spPr>
          <a:xfrm>
            <a:off x="2188088" y="2734754"/>
            <a:ext cx="375942" cy="232474"/>
          </a:xfrm>
          <a:prstGeom prst="leftArrow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22" name="四角形: 角を丸くする 221">
            <a:extLst>
              <a:ext uri="{FF2B5EF4-FFF2-40B4-BE49-F238E27FC236}">
                <a16:creationId xmlns:a16="http://schemas.microsoft.com/office/drawing/2014/main" id="{67EFA1DC-2F34-4153-9C6F-579C120CF768}"/>
              </a:ext>
            </a:extLst>
          </p:cNvPr>
          <p:cNvSpPr/>
          <p:nvPr/>
        </p:nvSpPr>
        <p:spPr>
          <a:xfrm>
            <a:off x="396390" y="5238436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200" dirty="0">
                <a:solidFill>
                  <a:schemeClr val="tx1"/>
                </a:solidFill>
              </a:rPr>
              <a:t>・・・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5602549-78C1-4131-A66F-E765F56262BA}"/>
              </a:ext>
            </a:extLst>
          </p:cNvPr>
          <p:cNvCxnSpPr>
            <a:cxnSpLocks/>
          </p:cNvCxnSpPr>
          <p:nvPr/>
        </p:nvCxnSpPr>
        <p:spPr>
          <a:xfrm>
            <a:off x="3321234" y="2649259"/>
            <a:ext cx="0" cy="3081706"/>
          </a:xfrm>
          <a:prstGeom prst="line">
            <a:avLst/>
          </a:prstGeom>
          <a:ln w="15875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E5225E18-6F51-4991-8EB2-7A3B60C46854}"/>
              </a:ext>
            </a:extLst>
          </p:cNvPr>
          <p:cNvSpPr/>
          <p:nvPr/>
        </p:nvSpPr>
        <p:spPr>
          <a:xfrm>
            <a:off x="1050672" y="2228873"/>
            <a:ext cx="840024" cy="34624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(LT/MT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CF53E3A1-2DE1-4CF6-86DD-41C6FCEBD839}"/>
              </a:ext>
            </a:extLst>
          </p:cNvPr>
          <p:cNvSpPr/>
          <p:nvPr/>
        </p:nvSpPr>
        <p:spPr>
          <a:xfrm>
            <a:off x="2792703" y="2224229"/>
            <a:ext cx="1025973" cy="34624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(SPOT/ST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E8E2BF3-F542-4E55-AB67-F04EB1DAA8F5}"/>
              </a:ext>
            </a:extLst>
          </p:cNvPr>
          <p:cNvSpPr/>
          <p:nvPr/>
        </p:nvSpPr>
        <p:spPr>
          <a:xfrm>
            <a:off x="2602041" y="2616885"/>
            <a:ext cx="1407298" cy="3114087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B7928E79-E981-4D47-B664-4E67F684933F}"/>
              </a:ext>
            </a:extLst>
          </p:cNvPr>
          <p:cNvSpPr/>
          <p:nvPr/>
        </p:nvSpPr>
        <p:spPr>
          <a:xfrm>
            <a:off x="4364410" y="4710941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Z</a:t>
            </a: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4C31B1AB-4F4C-422E-9F57-7835A437A938}"/>
              </a:ext>
            </a:extLst>
          </p:cNvPr>
          <p:cNvSpPr/>
          <p:nvPr/>
        </p:nvSpPr>
        <p:spPr>
          <a:xfrm>
            <a:off x="4364410" y="3132116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X</a:t>
            </a: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1E88FF3D-9477-42DA-A7EE-D9B62EC5AF7E}"/>
              </a:ext>
            </a:extLst>
          </p:cNvPr>
          <p:cNvSpPr/>
          <p:nvPr/>
        </p:nvSpPr>
        <p:spPr>
          <a:xfrm>
            <a:off x="4811652" y="3368841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40AC5432-D5D8-4D59-AD7E-2D9969EB72CE}"/>
              </a:ext>
            </a:extLst>
          </p:cNvPr>
          <p:cNvSpPr/>
          <p:nvPr/>
        </p:nvSpPr>
        <p:spPr>
          <a:xfrm>
            <a:off x="4364410" y="4009790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Y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AB28A1E9-06BC-4366-9A6B-7022DC8E8D4D}"/>
              </a:ext>
            </a:extLst>
          </p:cNvPr>
          <p:cNvSpPr/>
          <p:nvPr/>
        </p:nvSpPr>
        <p:spPr>
          <a:xfrm>
            <a:off x="4811652" y="4764601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91CBA79A-66C5-44E6-9261-DA31122A76F1}"/>
              </a:ext>
            </a:extLst>
          </p:cNvPr>
          <p:cNvSpPr/>
          <p:nvPr/>
        </p:nvSpPr>
        <p:spPr>
          <a:xfrm>
            <a:off x="4811652" y="4154550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7B7ABDF1-644F-4233-99D4-0D3CD93891DD}"/>
              </a:ext>
            </a:extLst>
          </p:cNvPr>
          <p:cNvCxnSpPr>
            <a:cxnSpLocks/>
          </p:cNvCxnSpPr>
          <p:nvPr/>
        </p:nvCxnSpPr>
        <p:spPr>
          <a:xfrm>
            <a:off x="4309831" y="4650439"/>
            <a:ext cx="2555700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CD19F737-B792-4029-A786-DC36453FE38F}"/>
              </a:ext>
            </a:extLst>
          </p:cNvPr>
          <p:cNvCxnSpPr>
            <a:cxnSpLocks/>
          </p:cNvCxnSpPr>
          <p:nvPr/>
        </p:nvCxnSpPr>
        <p:spPr>
          <a:xfrm>
            <a:off x="4309831" y="3954216"/>
            <a:ext cx="2555700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819C6BCA-00F9-46BC-A33B-5C21DE9EA853}"/>
              </a:ext>
            </a:extLst>
          </p:cNvPr>
          <p:cNvCxnSpPr>
            <a:cxnSpLocks/>
          </p:cNvCxnSpPr>
          <p:nvPr/>
        </p:nvCxnSpPr>
        <p:spPr>
          <a:xfrm>
            <a:off x="4309831" y="3079022"/>
            <a:ext cx="2555700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四角形: 角を丸くする 128">
            <a:extLst>
              <a:ext uri="{FF2B5EF4-FFF2-40B4-BE49-F238E27FC236}">
                <a16:creationId xmlns:a16="http://schemas.microsoft.com/office/drawing/2014/main" id="{34BBE872-D1F2-4F6B-98D2-692C92E65003}"/>
              </a:ext>
            </a:extLst>
          </p:cNvPr>
          <p:cNvSpPr/>
          <p:nvPr/>
        </p:nvSpPr>
        <p:spPr>
          <a:xfrm>
            <a:off x="4364410" y="2672669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A</a:t>
            </a: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DA21600C-37C6-450A-8DA8-426D2D7E8DB4}"/>
              </a:ext>
            </a:extLst>
          </p:cNvPr>
          <p:cNvSpPr/>
          <p:nvPr/>
        </p:nvSpPr>
        <p:spPr>
          <a:xfrm>
            <a:off x="5651170" y="4650439"/>
            <a:ext cx="1214362" cy="523981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1DC2279F-3B46-4A1B-9173-C82B56B68326}"/>
              </a:ext>
            </a:extLst>
          </p:cNvPr>
          <p:cNvSpPr/>
          <p:nvPr/>
        </p:nvSpPr>
        <p:spPr>
          <a:xfrm>
            <a:off x="6071921" y="3079022"/>
            <a:ext cx="793612" cy="875293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21D5380B-B6DD-4E86-AD00-72536BA65AEF}"/>
              </a:ext>
            </a:extLst>
          </p:cNvPr>
          <p:cNvSpPr/>
          <p:nvPr/>
        </p:nvSpPr>
        <p:spPr>
          <a:xfrm>
            <a:off x="4811652" y="2703213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BA20F666-EF51-4F8F-948F-DC21EC6C9686}"/>
              </a:ext>
            </a:extLst>
          </p:cNvPr>
          <p:cNvSpPr/>
          <p:nvPr/>
        </p:nvSpPr>
        <p:spPr>
          <a:xfrm>
            <a:off x="5930610" y="3954217"/>
            <a:ext cx="934923" cy="696124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0D7300C1-BDE4-49B8-9262-124A9BD81CB9}"/>
              </a:ext>
            </a:extLst>
          </p:cNvPr>
          <p:cNvSpPr/>
          <p:nvPr/>
        </p:nvSpPr>
        <p:spPr>
          <a:xfrm>
            <a:off x="5930610" y="2616784"/>
            <a:ext cx="934923" cy="462238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E4FDC0DB-C38E-4057-92F3-C826B5A64B28}"/>
              </a:ext>
            </a:extLst>
          </p:cNvPr>
          <p:cNvCxnSpPr>
            <a:cxnSpLocks/>
          </p:cNvCxnSpPr>
          <p:nvPr/>
        </p:nvCxnSpPr>
        <p:spPr>
          <a:xfrm>
            <a:off x="7312134" y="2649259"/>
            <a:ext cx="0" cy="3081706"/>
          </a:xfrm>
          <a:prstGeom prst="line">
            <a:avLst/>
          </a:prstGeom>
          <a:ln w="15875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矢印コネクタ 191">
            <a:extLst>
              <a:ext uri="{FF2B5EF4-FFF2-40B4-BE49-F238E27FC236}">
                <a16:creationId xmlns:a16="http://schemas.microsoft.com/office/drawing/2014/main" id="{E3FACD15-2580-4646-8A0B-993EBE217425}"/>
              </a:ext>
            </a:extLst>
          </p:cNvPr>
          <p:cNvCxnSpPr>
            <a:cxnSpLocks/>
          </p:cNvCxnSpPr>
          <p:nvPr/>
        </p:nvCxnSpPr>
        <p:spPr>
          <a:xfrm>
            <a:off x="4307348" y="2412670"/>
            <a:ext cx="2262714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矢印コネクタ 192">
            <a:extLst>
              <a:ext uri="{FF2B5EF4-FFF2-40B4-BE49-F238E27FC236}">
                <a16:creationId xmlns:a16="http://schemas.microsoft.com/office/drawing/2014/main" id="{5F61862E-2C10-4F01-9FCE-BF08B52433F6}"/>
              </a:ext>
            </a:extLst>
          </p:cNvPr>
          <p:cNvCxnSpPr>
            <a:cxnSpLocks/>
          </p:cNvCxnSpPr>
          <p:nvPr/>
        </p:nvCxnSpPr>
        <p:spPr>
          <a:xfrm>
            <a:off x="6570062" y="2412670"/>
            <a:ext cx="1407297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四角形: 角を丸くする 223">
            <a:extLst>
              <a:ext uri="{FF2B5EF4-FFF2-40B4-BE49-F238E27FC236}">
                <a16:creationId xmlns:a16="http://schemas.microsoft.com/office/drawing/2014/main" id="{FEDD10D4-AA61-42E8-B7A6-D14142A63DD2}"/>
              </a:ext>
            </a:extLst>
          </p:cNvPr>
          <p:cNvSpPr/>
          <p:nvPr/>
        </p:nvSpPr>
        <p:spPr>
          <a:xfrm>
            <a:off x="4364410" y="5238436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200" dirty="0">
                <a:solidFill>
                  <a:schemeClr val="tx1"/>
                </a:solidFill>
              </a:rPr>
              <a:t>・・・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C9B6340E-652C-401E-873C-ED79A1918AFC}"/>
              </a:ext>
            </a:extLst>
          </p:cNvPr>
          <p:cNvSpPr/>
          <p:nvPr/>
        </p:nvSpPr>
        <p:spPr>
          <a:xfrm>
            <a:off x="4307347" y="5173886"/>
            <a:ext cx="2558186" cy="549886"/>
          </a:xfrm>
          <a:prstGeom prst="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CB33BF73-CBE4-4413-B27C-FA15DE43B28E}"/>
              </a:ext>
            </a:extLst>
          </p:cNvPr>
          <p:cNvSpPr/>
          <p:nvPr/>
        </p:nvSpPr>
        <p:spPr>
          <a:xfrm>
            <a:off x="6865531" y="2616882"/>
            <a:ext cx="446602" cy="3114083"/>
          </a:xfrm>
          <a:prstGeom prst="rect">
            <a:avLst/>
          </a:prstGeom>
          <a:solidFill>
            <a:schemeClr val="accent4">
              <a:alpha val="29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7FD05673-63A6-4897-9102-A048B524F58E}"/>
              </a:ext>
            </a:extLst>
          </p:cNvPr>
          <p:cNvSpPr/>
          <p:nvPr/>
        </p:nvSpPr>
        <p:spPr>
          <a:xfrm>
            <a:off x="7312136" y="2616882"/>
            <a:ext cx="665223" cy="3114083"/>
          </a:xfrm>
          <a:prstGeom prst="rect">
            <a:avLst/>
          </a:prstGeom>
          <a:solidFill>
            <a:schemeClr val="accent4">
              <a:lumMod val="20000"/>
              <a:lumOff val="80000"/>
              <a:alpha val="46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FE5319B4-1EF3-40FF-95E1-9DCDC4DCE740}"/>
              </a:ext>
            </a:extLst>
          </p:cNvPr>
          <p:cNvSpPr/>
          <p:nvPr/>
        </p:nvSpPr>
        <p:spPr>
          <a:xfrm>
            <a:off x="4307347" y="2616885"/>
            <a:ext cx="2262714" cy="3114087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FFC82AAF-260C-44CA-B47C-5EF0BC02C1AE}"/>
              </a:ext>
            </a:extLst>
          </p:cNvPr>
          <p:cNvSpPr/>
          <p:nvPr/>
        </p:nvSpPr>
        <p:spPr>
          <a:xfrm>
            <a:off x="7148472" y="3404649"/>
            <a:ext cx="482518" cy="11767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dirty="0">
                <a:solidFill>
                  <a:schemeClr val="tx1"/>
                </a:solidFill>
              </a:rPr>
              <a:t>ONE</a:t>
            </a: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QUOTE</a:t>
            </a:r>
          </a:p>
        </p:txBody>
      </p:sp>
      <p:sp>
        <p:nvSpPr>
          <p:cNvPr id="174" name="矢印: 左 173">
            <a:extLst>
              <a:ext uri="{FF2B5EF4-FFF2-40B4-BE49-F238E27FC236}">
                <a16:creationId xmlns:a16="http://schemas.microsoft.com/office/drawing/2014/main" id="{9B5C983F-C5EB-404F-94E4-22C7FDD57233}"/>
              </a:ext>
            </a:extLst>
          </p:cNvPr>
          <p:cNvSpPr/>
          <p:nvPr/>
        </p:nvSpPr>
        <p:spPr>
          <a:xfrm>
            <a:off x="6930402" y="2734754"/>
            <a:ext cx="256773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5" name="矢印: 左 174">
            <a:extLst>
              <a:ext uri="{FF2B5EF4-FFF2-40B4-BE49-F238E27FC236}">
                <a16:creationId xmlns:a16="http://schemas.microsoft.com/office/drawing/2014/main" id="{74487DE6-386D-4490-905C-4A07DAAF1BAC}"/>
              </a:ext>
            </a:extLst>
          </p:cNvPr>
          <p:cNvSpPr/>
          <p:nvPr/>
        </p:nvSpPr>
        <p:spPr>
          <a:xfrm>
            <a:off x="6930402" y="4186091"/>
            <a:ext cx="256773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6" name="矢印: 左 175">
            <a:extLst>
              <a:ext uri="{FF2B5EF4-FFF2-40B4-BE49-F238E27FC236}">
                <a16:creationId xmlns:a16="http://schemas.microsoft.com/office/drawing/2014/main" id="{4341FD82-F063-4F11-9D99-8C5636F15C15}"/>
              </a:ext>
            </a:extLst>
          </p:cNvPr>
          <p:cNvSpPr/>
          <p:nvPr/>
        </p:nvSpPr>
        <p:spPr>
          <a:xfrm>
            <a:off x="6930402" y="4796142"/>
            <a:ext cx="256773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0" name="矢印: 左 169">
            <a:extLst>
              <a:ext uri="{FF2B5EF4-FFF2-40B4-BE49-F238E27FC236}">
                <a16:creationId xmlns:a16="http://schemas.microsoft.com/office/drawing/2014/main" id="{71880DCB-7645-435D-A75B-BD2DE88BA1C6}"/>
              </a:ext>
            </a:extLst>
          </p:cNvPr>
          <p:cNvSpPr/>
          <p:nvPr/>
        </p:nvSpPr>
        <p:spPr>
          <a:xfrm>
            <a:off x="6930402" y="3400382"/>
            <a:ext cx="256773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85D53594-96D2-43CD-AEE6-4098D85DEDC9}"/>
              </a:ext>
            </a:extLst>
          </p:cNvPr>
          <p:cNvSpPr/>
          <p:nvPr/>
        </p:nvSpPr>
        <p:spPr>
          <a:xfrm>
            <a:off x="5018693" y="2228873"/>
            <a:ext cx="840024" cy="34624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(LT/MT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C3D96EAE-2BFA-432A-B19F-67B5973ACF0D}"/>
              </a:ext>
            </a:extLst>
          </p:cNvPr>
          <p:cNvSpPr/>
          <p:nvPr/>
        </p:nvSpPr>
        <p:spPr>
          <a:xfrm>
            <a:off x="6760724" y="2224229"/>
            <a:ext cx="1025973" cy="34624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(SPOT/ST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D43FF962-284A-43AB-BE0F-820A2643378D}"/>
              </a:ext>
            </a:extLst>
          </p:cNvPr>
          <p:cNvSpPr/>
          <p:nvPr/>
        </p:nvSpPr>
        <p:spPr>
          <a:xfrm>
            <a:off x="6570061" y="2616884"/>
            <a:ext cx="1407298" cy="3114087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DAAEC220-A8EE-4D2B-9F22-AC462B210551}"/>
              </a:ext>
            </a:extLst>
          </p:cNvPr>
          <p:cNvSpPr/>
          <p:nvPr/>
        </p:nvSpPr>
        <p:spPr>
          <a:xfrm>
            <a:off x="9661202" y="4651088"/>
            <a:ext cx="192796" cy="522798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273141F0-68A4-4916-B3B0-095D4A99EB10}"/>
              </a:ext>
            </a:extLst>
          </p:cNvPr>
          <p:cNvSpPr/>
          <p:nvPr/>
        </p:nvSpPr>
        <p:spPr>
          <a:xfrm>
            <a:off x="9901606" y="3079670"/>
            <a:ext cx="186535" cy="875293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5806CE2E-0109-4A92-9C3B-DCFF73671812}"/>
              </a:ext>
            </a:extLst>
          </p:cNvPr>
          <p:cNvSpPr/>
          <p:nvPr/>
        </p:nvSpPr>
        <p:spPr>
          <a:xfrm>
            <a:off x="9826737" y="3954865"/>
            <a:ext cx="186535" cy="696124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9AA91B67-9E93-4242-B9CB-98597F51FBB6}"/>
              </a:ext>
            </a:extLst>
          </p:cNvPr>
          <p:cNvSpPr/>
          <p:nvPr/>
        </p:nvSpPr>
        <p:spPr>
          <a:xfrm>
            <a:off x="9790467" y="2617432"/>
            <a:ext cx="220947" cy="462238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3" name="四角形: 角を丸くする 142">
            <a:extLst>
              <a:ext uri="{FF2B5EF4-FFF2-40B4-BE49-F238E27FC236}">
                <a16:creationId xmlns:a16="http://schemas.microsoft.com/office/drawing/2014/main" id="{9FBB302E-5EE5-49E5-A5EC-C4FBFECC6321}"/>
              </a:ext>
            </a:extLst>
          </p:cNvPr>
          <p:cNvSpPr/>
          <p:nvPr/>
        </p:nvSpPr>
        <p:spPr>
          <a:xfrm>
            <a:off x="8332432" y="4710941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Z</a:t>
            </a:r>
          </a:p>
        </p:txBody>
      </p:sp>
      <p:sp>
        <p:nvSpPr>
          <p:cNvPr id="145" name="四角形: 角を丸くする 144">
            <a:extLst>
              <a:ext uri="{FF2B5EF4-FFF2-40B4-BE49-F238E27FC236}">
                <a16:creationId xmlns:a16="http://schemas.microsoft.com/office/drawing/2014/main" id="{F177E110-C621-40E6-8722-2742C575245B}"/>
              </a:ext>
            </a:extLst>
          </p:cNvPr>
          <p:cNvSpPr/>
          <p:nvPr/>
        </p:nvSpPr>
        <p:spPr>
          <a:xfrm>
            <a:off x="8332432" y="3132116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X</a:t>
            </a:r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F4E31A3E-E013-497C-9DFA-EC35CD0E3F65}"/>
              </a:ext>
            </a:extLst>
          </p:cNvPr>
          <p:cNvSpPr/>
          <p:nvPr/>
        </p:nvSpPr>
        <p:spPr>
          <a:xfrm>
            <a:off x="8779674" y="3368841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50" name="四角形: 角を丸くする 149">
            <a:extLst>
              <a:ext uri="{FF2B5EF4-FFF2-40B4-BE49-F238E27FC236}">
                <a16:creationId xmlns:a16="http://schemas.microsoft.com/office/drawing/2014/main" id="{1393F4BE-F24E-4236-B51D-F475C7B03F24}"/>
              </a:ext>
            </a:extLst>
          </p:cNvPr>
          <p:cNvSpPr/>
          <p:nvPr/>
        </p:nvSpPr>
        <p:spPr>
          <a:xfrm>
            <a:off x="8332432" y="4009790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Y</a:t>
            </a: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E067A265-34C7-4C93-AC26-9D69F68B8B1B}"/>
              </a:ext>
            </a:extLst>
          </p:cNvPr>
          <p:cNvSpPr/>
          <p:nvPr/>
        </p:nvSpPr>
        <p:spPr>
          <a:xfrm>
            <a:off x="8779674" y="4764601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3D3C9312-E162-4EF5-8547-30607DF0413F}"/>
              </a:ext>
            </a:extLst>
          </p:cNvPr>
          <p:cNvSpPr/>
          <p:nvPr/>
        </p:nvSpPr>
        <p:spPr>
          <a:xfrm>
            <a:off x="8779674" y="4154550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cxnSp>
        <p:nvCxnSpPr>
          <p:cNvPr id="142" name="直線コネクタ 141">
            <a:extLst>
              <a:ext uri="{FF2B5EF4-FFF2-40B4-BE49-F238E27FC236}">
                <a16:creationId xmlns:a16="http://schemas.microsoft.com/office/drawing/2014/main" id="{C4D7CC36-38E3-4773-8320-2A06C8A4F2C4}"/>
              </a:ext>
            </a:extLst>
          </p:cNvPr>
          <p:cNvCxnSpPr>
            <a:cxnSpLocks/>
          </p:cNvCxnSpPr>
          <p:nvPr/>
        </p:nvCxnSpPr>
        <p:spPr>
          <a:xfrm>
            <a:off x="8277853" y="4650439"/>
            <a:ext cx="2260229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F1290C06-1484-4AF4-9F2B-09677D81AD09}"/>
              </a:ext>
            </a:extLst>
          </p:cNvPr>
          <p:cNvCxnSpPr>
            <a:cxnSpLocks/>
          </p:cNvCxnSpPr>
          <p:nvPr/>
        </p:nvCxnSpPr>
        <p:spPr>
          <a:xfrm>
            <a:off x="8277853" y="3954216"/>
            <a:ext cx="2260229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E94ECD12-881E-4A8C-A7F5-B295083744EC}"/>
              </a:ext>
            </a:extLst>
          </p:cNvPr>
          <p:cNvCxnSpPr>
            <a:cxnSpLocks/>
          </p:cNvCxnSpPr>
          <p:nvPr/>
        </p:nvCxnSpPr>
        <p:spPr>
          <a:xfrm>
            <a:off x="8277853" y="3079022"/>
            <a:ext cx="2260229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四角形: 角を丸くする 157">
            <a:extLst>
              <a:ext uri="{FF2B5EF4-FFF2-40B4-BE49-F238E27FC236}">
                <a16:creationId xmlns:a16="http://schemas.microsoft.com/office/drawing/2014/main" id="{1FD97F26-4B4D-4436-ABBD-B0FABF9AC804}"/>
              </a:ext>
            </a:extLst>
          </p:cNvPr>
          <p:cNvSpPr/>
          <p:nvPr/>
        </p:nvSpPr>
        <p:spPr>
          <a:xfrm>
            <a:off x="8332432" y="2672669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Office A</a:t>
            </a: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24B18C8A-C9B0-4B69-A721-F7F83AB4F586}"/>
              </a:ext>
            </a:extLst>
          </p:cNvPr>
          <p:cNvSpPr/>
          <p:nvPr/>
        </p:nvSpPr>
        <p:spPr>
          <a:xfrm>
            <a:off x="8275369" y="2609685"/>
            <a:ext cx="2262714" cy="3114087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A13FA1F7-557F-482E-B9F5-E020F4654A0B}"/>
              </a:ext>
            </a:extLst>
          </p:cNvPr>
          <p:cNvSpPr/>
          <p:nvPr/>
        </p:nvSpPr>
        <p:spPr>
          <a:xfrm>
            <a:off x="8275369" y="5173886"/>
            <a:ext cx="2262714" cy="549886"/>
          </a:xfrm>
          <a:prstGeom prst="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087E1A66-A140-4DC7-9453-AB1BF27A514E}"/>
              </a:ext>
            </a:extLst>
          </p:cNvPr>
          <p:cNvSpPr/>
          <p:nvPr/>
        </p:nvSpPr>
        <p:spPr>
          <a:xfrm>
            <a:off x="8779674" y="2703213"/>
            <a:ext cx="984418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AD9EF7DC-8DCF-4C76-BF7E-F63E7C45A9C5}"/>
              </a:ext>
            </a:extLst>
          </p:cNvPr>
          <p:cNvSpPr/>
          <p:nvPr/>
        </p:nvSpPr>
        <p:spPr>
          <a:xfrm>
            <a:off x="10536953" y="2602485"/>
            <a:ext cx="1402829" cy="3114087"/>
          </a:xfrm>
          <a:prstGeom prst="rect">
            <a:avLst/>
          </a:prstGeom>
          <a:solidFill>
            <a:schemeClr val="accent4">
              <a:lumMod val="20000"/>
              <a:lumOff val="80000"/>
              <a:alpha val="46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97" name="直線矢印コネクタ 196">
            <a:extLst>
              <a:ext uri="{FF2B5EF4-FFF2-40B4-BE49-F238E27FC236}">
                <a16:creationId xmlns:a16="http://schemas.microsoft.com/office/drawing/2014/main" id="{6FFBB678-69A1-4EC8-9D58-432E92AFE67F}"/>
              </a:ext>
            </a:extLst>
          </p:cNvPr>
          <p:cNvCxnSpPr>
            <a:cxnSpLocks/>
          </p:cNvCxnSpPr>
          <p:nvPr/>
        </p:nvCxnSpPr>
        <p:spPr>
          <a:xfrm>
            <a:off x="8275369" y="2412670"/>
            <a:ext cx="2262714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矢印コネクタ 197">
            <a:extLst>
              <a:ext uri="{FF2B5EF4-FFF2-40B4-BE49-F238E27FC236}">
                <a16:creationId xmlns:a16="http://schemas.microsoft.com/office/drawing/2014/main" id="{97A70EBE-D3D2-43DA-B5EE-79DBCA2BF0FB}"/>
              </a:ext>
            </a:extLst>
          </p:cNvPr>
          <p:cNvCxnSpPr>
            <a:cxnSpLocks/>
          </p:cNvCxnSpPr>
          <p:nvPr/>
        </p:nvCxnSpPr>
        <p:spPr>
          <a:xfrm>
            <a:off x="10538083" y="2412670"/>
            <a:ext cx="1407297" cy="0"/>
          </a:xfrm>
          <a:prstGeom prst="straightConnector1">
            <a:avLst/>
          </a:prstGeom>
          <a:ln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四角形: 角を丸くする 224">
            <a:extLst>
              <a:ext uri="{FF2B5EF4-FFF2-40B4-BE49-F238E27FC236}">
                <a16:creationId xmlns:a16="http://schemas.microsoft.com/office/drawing/2014/main" id="{E2CB4C5E-BF5D-48BF-9C3C-5493620D3D88}"/>
              </a:ext>
            </a:extLst>
          </p:cNvPr>
          <p:cNvSpPr/>
          <p:nvPr/>
        </p:nvSpPr>
        <p:spPr>
          <a:xfrm>
            <a:off x="8332432" y="5238436"/>
            <a:ext cx="684085" cy="151666"/>
          </a:xfrm>
          <a:prstGeom prst="roundRect">
            <a:avLst/>
          </a:prstGeom>
          <a:noFill/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ja-JP" altLang="en-US" sz="1200" dirty="0">
                <a:solidFill>
                  <a:schemeClr val="tx1"/>
                </a:solidFill>
              </a:rPr>
              <a:t>・・・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F3D50B75-A5FE-43CA-A903-C2DE5698D591}"/>
              </a:ext>
            </a:extLst>
          </p:cNvPr>
          <p:cNvSpPr/>
          <p:nvPr/>
        </p:nvSpPr>
        <p:spPr>
          <a:xfrm>
            <a:off x="9853998" y="4650439"/>
            <a:ext cx="684085" cy="523981"/>
          </a:xfrm>
          <a:prstGeom prst="rect">
            <a:avLst/>
          </a:prstGeom>
          <a:solidFill>
            <a:schemeClr val="accent4">
              <a:alpha val="29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CEEECE08-30E3-48B6-8081-B10A35F3B9CB}"/>
              </a:ext>
            </a:extLst>
          </p:cNvPr>
          <p:cNvSpPr/>
          <p:nvPr/>
        </p:nvSpPr>
        <p:spPr>
          <a:xfrm>
            <a:off x="10091019" y="3079022"/>
            <a:ext cx="447065" cy="875293"/>
          </a:xfrm>
          <a:prstGeom prst="rect">
            <a:avLst/>
          </a:prstGeom>
          <a:solidFill>
            <a:schemeClr val="accent4">
              <a:alpha val="29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0BBE72DA-F711-4C74-94D5-CB0AF0F685EA}"/>
              </a:ext>
            </a:extLst>
          </p:cNvPr>
          <p:cNvSpPr/>
          <p:nvPr/>
        </p:nvSpPr>
        <p:spPr>
          <a:xfrm>
            <a:off x="10011414" y="3954217"/>
            <a:ext cx="526669" cy="696124"/>
          </a:xfrm>
          <a:prstGeom prst="rect">
            <a:avLst/>
          </a:prstGeom>
          <a:solidFill>
            <a:schemeClr val="accent4">
              <a:alpha val="29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07B3F6AD-BEBB-4D10-8851-8E55EDD53E6B}"/>
              </a:ext>
            </a:extLst>
          </p:cNvPr>
          <p:cNvSpPr/>
          <p:nvPr/>
        </p:nvSpPr>
        <p:spPr>
          <a:xfrm>
            <a:off x="10011415" y="2609683"/>
            <a:ext cx="526669" cy="469339"/>
          </a:xfrm>
          <a:prstGeom prst="rect">
            <a:avLst/>
          </a:prstGeom>
          <a:solidFill>
            <a:schemeClr val="accent4">
              <a:alpha val="29000"/>
            </a:schemeClr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3" name="矢印: 左 152">
            <a:extLst>
              <a:ext uri="{FF2B5EF4-FFF2-40B4-BE49-F238E27FC236}">
                <a16:creationId xmlns:a16="http://schemas.microsoft.com/office/drawing/2014/main" id="{1158561C-412A-402A-99C0-91F9B1BBA59B}"/>
              </a:ext>
            </a:extLst>
          </p:cNvPr>
          <p:cNvSpPr/>
          <p:nvPr/>
        </p:nvSpPr>
        <p:spPr>
          <a:xfrm>
            <a:off x="9907039" y="4796148"/>
            <a:ext cx="578732" cy="232463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56" name="矢印: 左 155">
            <a:extLst>
              <a:ext uri="{FF2B5EF4-FFF2-40B4-BE49-F238E27FC236}">
                <a16:creationId xmlns:a16="http://schemas.microsoft.com/office/drawing/2014/main" id="{9AE5F9D7-F80D-4454-AC60-281618A849C2}"/>
              </a:ext>
            </a:extLst>
          </p:cNvPr>
          <p:cNvSpPr/>
          <p:nvPr/>
        </p:nvSpPr>
        <p:spPr>
          <a:xfrm>
            <a:off x="10064455" y="4186091"/>
            <a:ext cx="421316" cy="230353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5" name="矢印: 左 164">
            <a:extLst>
              <a:ext uri="{FF2B5EF4-FFF2-40B4-BE49-F238E27FC236}">
                <a16:creationId xmlns:a16="http://schemas.microsoft.com/office/drawing/2014/main" id="{0CBCF076-05AD-4E97-9066-69AEB3E37B89}"/>
              </a:ext>
            </a:extLst>
          </p:cNvPr>
          <p:cNvSpPr/>
          <p:nvPr/>
        </p:nvSpPr>
        <p:spPr>
          <a:xfrm>
            <a:off x="10088141" y="2734754"/>
            <a:ext cx="397630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6" name="矢印: 左 165">
            <a:extLst>
              <a:ext uri="{FF2B5EF4-FFF2-40B4-BE49-F238E27FC236}">
                <a16:creationId xmlns:a16="http://schemas.microsoft.com/office/drawing/2014/main" id="{923C0F1C-EE81-4E7D-8E5F-8777081E4043}"/>
              </a:ext>
            </a:extLst>
          </p:cNvPr>
          <p:cNvSpPr/>
          <p:nvPr/>
        </p:nvSpPr>
        <p:spPr>
          <a:xfrm>
            <a:off x="10159621" y="3400382"/>
            <a:ext cx="326149" cy="232474"/>
          </a:xfrm>
          <a:prstGeom prst="leftArrow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55175DE0-7D2C-4263-805A-E68BD6A8CFDE}"/>
              </a:ext>
            </a:extLst>
          </p:cNvPr>
          <p:cNvSpPr/>
          <p:nvPr/>
        </p:nvSpPr>
        <p:spPr>
          <a:xfrm>
            <a:off x="8986714" y="2228873"/>
            <a:ext cx="840024" cy="34624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AP</a:t>
            </a:r>
            <a:br>
              <a:rPr lang="en-US" altLang="ja-JP" sz="120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(LT/MT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BA56465F-5664-41E8-86DE-7CD888161EA9}"/>
              </a:ext>
            </a:extLst>
          </p:cNvPr>
          <p:cNvSpPr/>
          <p:nvPr/>
        </p:nvSpPr>
        <p:spPr>
          <a:xfrm>
            <a:off x="10728745" y="2224229"/>
            <a:ext cx="1025973" cy="346249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(SPOT/ST etc.)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92B46807-34D0-42A9-823E-892A3EBC6936}"/>
              </a:ext>
            </a:extLst>
          </p:cNvPr>
          <p:cNvSpPr/>
          <p:nvPr/>
        </p:nvSpPr>
        <p:spPr>
          <a:xfrm>
            <a:off x="10538083" y="2609686"/>
            <a:ext cx="1407298" cy="3114083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C36F31A3-C362-4F7F-966A-DB5DF31DC0F1}"/>
              </a:ext>
            </a:extLst>
          </p:cNvPr>
          <p:cNvSpPr/>
          <p:nvPr/>
        </p:nvSpPr>
        <p:spPr>
          <a:xfrm>
            <a:off x="10437879" y="3404649"/>
            <a:ext cx="482518" cy="11767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400" b="1" dirty="0">
                <a:solidFill>
                  <a:schemeClr val="tx1"/>
                </a:solidFill>
              </a:rPr>
              <a:t>ONE</a:t>
            </a: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QUOTE</a:t>
            </a:r>
          </a:p>
        </p:txBody>
      </p:sp>
      <p:cxnSp>
        <p:nvCxnSpPr>
          <p:cNvPr id="190" name="直線矢印コネクタ 189">
            <a:extLst>
              <a:ext uri="{FF2B5EF4-FFF2-40B4-BE49-F238E27FC236}">
                <a16:creationId xmlns:a16="http://schemas.microsoft.com/office/drawing/2014/main" id="{794FE429-19C0-4DF1-B646-893BA3831240}"/>
              </a:ext>
            </a:extLst>
          </p:cNvPr>
          <p:cNvCxnSpPr>
            <a:cxnSpLocks/>
            <a:stCxn id="201" idx="2"/>
          </p:cNvCxnSpPr>
          <p:nvPr/>
        </p:nvCxnSpPr>
        <p:spPr>
          <a:xfrm flipH="1" flipV="1">
            <a:off x="9754891" y="5013663"/>
            <a:ext cx="195397" cy="58340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E0E71C99-33D3-4F1A-9C32-593FA9465F4C}"/>
              </a:ext>
            </a:extLst>
          </p:cNvPr>
          <p:cNvSpPr/>
          <p:nvPr/>
        </p:nvSpPr>
        <p:spPr>
          <a:xfrm>
            <a:off x="9638479" y="5327317"/>
            <a:ext cx="623618" cy="26974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000" tIns="0" rIns="54000" bIns="0" rtlCol="0" anchor="ctr">
            <a:spAutoFit/>
          </a:bodyPr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Non AP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(ST etc.)</a:t>
            </a: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42613B10-9D3C-409F-9492-228A48A03088}"/>
              </a:ext>
            </a:extLst>
          </p:cNvPr>
          <p:cNvSpPr/>
          <p:nvPr/>
        </p:nvSpPr>
        <p:spPr>
          <a:xfrm>
            <a:off x="111310" y="5834881"/>
            <a:ext cx="872122" cy="21478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(Legend)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F77A6D39-6923-463C-AC58-312E23501B62}"/>
              </a:ext>
            </a:extLst>
          </p:cNvPr>
          <p:cNvSpPr/>
          <p:nvPr/>
        </p:nvSpPr>
        <p:spPr>
          <a:xfrm>
            <a:off x="440222" y="6054718"/>
            <a:ext cx="672687" cy="295556"/>
          </a:xfrm>
          <a:prstGeom prst="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Office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12" name="正方形/長方形 211">
            <a:extLst>
              <a:ext uri="{FF2B5EF4-FFF2-40B4-BE49-F238E27FC236}">
                <a16:creationId xmlns:a16="http://schemas.microsoft.com/office/drawing/2014/main" id="{2FA2BDD8-4D87-42BF-A9F0-DB10424EC768}"/>
              </a:ext>
            </a:extLst>
          </p:cNvPr>
          <p:cNvSpPr/>
          <p:nvPr/>
        </p:nvSpPr>
        <p:spPr>
          <a:xfrm>
            <a:off x="1508737" y="6054718"/>
            <a:ext cx="336125" cy="295556"/>
          </a:xfrm>
          <a:prstGeom prst="rect">
            <a:avLst/>
          </a:prstGeom>
          <a:solidFill>
            <a:schemeClr val="accent4">
              <a:lumMod val="20000"/>
              <a:lumOff val="80000"/>
              <a:alpha val="46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22D92B7C-F2C4-41DF-B2FA-BCA58A8E94BA}"/>
              </a:ext>
            </a:extLst>
          </p:cNvPr>
          <p:cNvSpPr/>
          <p:nvPr/>
        </p:nvSpPr>
        <p:spPr>
          <a:xfrm>
            <a:off x="1172175" y="6054718"/>
            <a:ext cx="336125" cy="295556"/>
          </a:xfrm>
          <a:prstGeom prst="rect">
            <a:avLst/>
          </a:prstGeom>
          <a:solidFill>
            <a:schemeClr val="accent4">
              <a:alpha val="29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8F6651CA-87B6-4F99-A840-CEF906DA43AE}"/>
              </a:ext>
            </a:extLst>
          </p:cNvPr>
          <p:cNvSpPr/>
          <p:nvPr/>
        </p:nvSpPr>
        <p:spPr>
          <a:xfrm>
            <a:off x="1318751" y="6101562"/>
            <a:ext cx="379535" cy="2018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050" dirty="0">
                <a:solidFill>
                  <a:schemeClr val="tx1"/>
                </a:solidFill>
              </a:rPr>
              <a:t>ONE</a:t>
            </a:r>
            <a:br>
              <a:rPr lang="en-US" altLang="ja-JP" sz="1050" dirty="0">
                <a:solidFill>
                  <a:schemeClr val="tx1"/>
                </a:solidFill>
              </a:rPr>
            </a:br>
            <a:r>
              <a:rPr lang="en-US" altLang="ja-JP" sz="1050" dirty="0">
                <a:solidFill>
                  <a:schemeClr val="tx1"/>
                </a:solidFill>
              </a:rPr>
              <a:t>QUOTE</a:t>
            </a: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E348AF1F-9F7E-4056-BFEC-0BFFA74201C3}"/>
              </a:ext>
            </a:extLst>
          </p:cNvPr>
          <p:cNvSpPr/>
          <p:nvPr/>
        </p:nvSpPr>
        <p:spPr>
          <a:xfrm>
            <a:off x="6181637" y="2719969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</a:t>
            </a:r>
            <a:r>
              <a:rPr lang="ja-JP" altLang="en-US" sz="1200" dirty="0">
                <a:solidFill>
                  <a:schemeClr val="tx1"/>
                </a:solidFill>
              </a:rPr>
              <a:t> </a:t>
            </a:r>
            <a:r>
              <a:rPr lang="en-US" altLang="ja-JP" sz="1200" dirty="0">
                <a:solidFill>
                  <a:schemeClr val="tx1"/>
                </a:solidFill>
              </a:rPr>
              <a:t>AP</a:t>
            </a: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1C036D56-4F46-47A4-BD0E-B2080FC073CD}"/>
              </a:ext>
            </a:extLst>
          </p:cNvPr>
          <p:cNvSpPr/>
          <p:nvPr/>
        </p:nvSpPr>
        <p:spPr>
          <a:xfrm>
            <a:off x="6181637" y="3368841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C1735A5D-838D-449E-AB8A-0488A4916210}"/>
              </a:ext>
            </a:extLst>
          </p:cNvPr>
          <p:cNvSpPr/>
          <p:nvPr/>
        </p:nvSpPr>
        <p:spPr>
          <a:xfrm>
            <a:off x="6181637" y="4764601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F760147A-59E7-44D1-9B7F-D4D7026C56BF}"/>
              </a:ext>
            </a:extLst>
          </p:cNvPr>
          <p:cNvSpPr/>
          <p:nvPr/>
        </p:nvSpPr>
        <p:spPr>
          <a:xfrm>
            <a:off x="6181637" y="4154550"/>
            <a:ext cx="505163" cy="29555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</a:pPr>
            <a:r>
              <a:rPr lang="en-US" altLang="ja-JP" sz="1200" dirty="0">
                <a:solidFill>
                  <a:schemeClr val="tx1"/>
                </a:solidFill>
              </a:rPr>
              <a:t>Non AP</a:t>
            </a:r>
          </a:p>
        </p:txBody>
      </p:sp>
    </p:spTree>
    <p:extLst>
      <p:ext uri="{BB962C8B-B14F-4D97-AF65-F5344CB8AC3E}">
        <p14:creationId xmlns:p14="http://schemas.microsoft.com/office/powerpoint/2010/main" val="3215298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B33F2CCD-C8F0-48E5-AFE2-3E12168BE92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836" name="think-cell スライド" r:id="rId4" imgW="484" imgH="486" progId="TCLayout.ActiveDocument.1">
                  <p:embed/>
                </p:oleObj>
              </mc:Choice>
              <mc:Fallback>
                <p:oleObj name="think-cell スライド" r:id="rId4" imgW="484" imgH="486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B33F2CCD-C8F0-48E5-AFE2-3E12168BE9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34B0E409-38F3-4E32-9041-07EA907628DE}"/>
              </a:ext>
            </a:extLst>
          </p:cNvPr>
          <p:cNvGrpSpPr/>
          <p:nvPr/>
        </p:nvGrpSpPr>
        <p:grpSpPr>
          <a:xfrm>
            <a:off x="456740" y="876517"/>
            <a:ext cx="9919980" cy="5159384"/>
            <a:chOff x="450910" y="1079307"/>
            <a:chExt cx="9919980" cy="5159384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08EB204A-DE93-4EF5-8AC3-5D09BAA182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629"/>
            <a:stretch/>
          </p:blipFill>
          <p:spPr>
            <a:xfrm>
              <a:off x="450910" y="1079307"/>
              <a:ext cx="9919979" cy="5159384"/>
            </a:xfrm>
            <a:prstGeom prst="rect">
              <a:avLst/>
            </a:prstGeom>
          </p:spPr>
        </p:pic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AE5DAFC-1380-447A-8D0C-E5E9D009A9A6}"/>
                </a:ext>
              </a:extLst>
            </p:cNvPr>
            <p:cNvSpPr/>
            <p:nvPr/>
          </p:nvSpPr>
          <p:spPr>
            <a:xfrm>
              <a:off x="8083938" y="5182978"/>
              <a:ext cx="2286952" cy="105571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1C24E5A6-EBD5-4B50-8D26-8E48C0BA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公共財の全社活用方針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08820698-B770-489B-9E42-AC54F72D5399}"/>
              </a:ext>
            </a:extLst>
          </p:cNvPr>
          <p:cNvGrpSpPr/>
          <p:nvPr/>
        </p:nvGrpSpPr>
        <p:grpSpPr>
          <a:xfrm>
            <a:off x="7297889" y="2539530"/>
            <a:ext cx="796914" cy="662152"/>
            <a:chOff x="6406473" y="2740149"/>
            <a:chExt cx="796914" cy="662152"/>
          </a:xfrm>
        </p:grpSpPr>
        <p:pic>
          <p:nvPicPr>
            <p:cNvPr id="12" name="Google Shape;967;p16" descr="貨物 単色塗りつぶし">
              <a:extLst>
                <a:ext uri="{FF2B5EF4-FFF2-40B4-BE49-F238E27FC236}">
                  <a16:creationId xmlns:a16="http://schemas.microsoft.com/office/drawing/2014/main" id="{9F07986A-BBEA-45DA-A6FE-6AA15768221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67791" y="2833768"/>
              <a:ext cx="535596" cy="5685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5E108715-E0F2-4B23-86BD-33D3C4F91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6473" y="2740149"/>
              <a:ext cx="261317" cy="261317"/>
            </a:xfrm>
            <a:prstGeom prst="ellipse">
              <a:avLst/>
            </a:prstGeom>
            <a:solidFill>
              <a:schemeClr val="accent4"/>
            </a:solidFill>
            <a:ln w="95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</a:rPr>
                <a:t>1</a:t>
              </a:r>
              <a:endParaRPr kumimoji="1" lang="ja-JP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C61F862-DE74-49D5-8CC8-6F6524DE4334}"/>
              </a:ext>
            </a:extLst>
          </p:cNvPr>
          <p:cNvSpPr/>
          <p:nvPr/>
        </p:nvSpPr>
        <p:spPr>
          <a:xfrm>
            <a:off x="8083938" y="1266158"/>
            <a:ext cx="1188000" cy="13320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Bef>
                <a:spcPts val="200"/>
              </a:spcBef>
            </a:pP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FC552B3-3573-4A08-A99F-7C074B6156AF}"/>
              </a:ext>
            </a:extLst>
          </p:cNvPr>
          <p:cNvSpPr/>
          <p:nvPr/>
        </p:nvSpPr>
        <p:spPr>
          <a:xfrm>
            <a:off x="8083938" y="1530915"/>
            <a:ext cx="1188000" cy="650502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bg1"/>
                </a:solidFill>
              </a:rPr>
              <a:t>IPC/TS: 75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C12E141-0840-439F-8B17-8805362FD5FB}"/>
              </a:ext>
            </a:extLst>
          </p:cNvPr>
          <p:cNvSpPr/>
          <p:nvPr/>
        </p:nvSpPr>
        <p:spPr>
          <a:xfrm>
            <a:off x="8268223" y="2265920"/>
            <a:ext cx="806757" cy="25668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OCN: 10</a:t>
            </a:r>
            <a:endParaRPr kumimoji="1" lang="ja-JP" altLang="en-US" sz="1400" baseline="30000" dirty="0">
              <a:solidFill>
                <a:schemeClr val="tx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7955ABD-158E-484F-956E-82A10F1E55D0}"/>
              </a:ext>
            </a:extLst>
          </p:cNvPr>
          <p:cNvSpPr/>
          <p:nvPr/>
        </p:nvSpPr>
        <p:spPr>
          <a:xfrm>
            <a:off x="8083938" y="1266158"/>
            <a:ext cx="1188000" cy="26599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(Buffer: 15)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0DDA9E7-D3D5-475C-B04A-674E785CB323}"/>
              </a:ext>
            </a:extLst>
          </p:cNvPr>
          <p:cNvSpPr/>
          <p:nvPr/>
        </p:nvSpPr>
        <p:spPr>
          <a:xfrm>
            <a:off x="9580055" y="1541432"/>
            <a:ext cx="2276586" cy="629468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300"/>
              </a:spcBef>
              <a:buClr>
                <a:schemeClr val="tx1"/>
              </a:buClr>
            </a:pPr>
            <a:r>
              <a:rPr lang="en-US" altLang="ja-JP" sz="1200" b="1" dirty="0">
                <a:solidFill>
                  <a:schemeClr val="accent4"/>
                </a:solidFill>
              </a:rPr>
              <a:t>IPC/TS (75)</a:t>
            </a:r>
          </a:p>
          <a:p>
            <a:pPr eaLnBrk="1" hangingPunct="1">
              <a:spcBef>
                <a:spcPts val="300"/>
              </a:spcBef>
              <a:buClr>
                <a:schemeClr val="tx1"/>
              </a:buClr>
            </a:pPr>
            <a:r>
              <a:rPr lang="ja-JP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ja-JP" sz="1200" b="1" dirty="0">
                <a:solidFill>
                  <a:schemeClr val="accent4"/>
                </a:solidFill>
              </a:rPr>
              <a:t>= Utilization</a:t>
            </a:r>
            <a:r>
              <a:rPr lang="ja-JP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ja-JP" sz="1200" b="1" dirty="0">
                <a:solidFill>
                  <a:schemeClr val="accent4"/>
                </a:solidFill>
              </a:rPr>
              <a:t>Ratio</a:t>
            </a:r>
            <a:r>
              <a:rPr lang="ja-JP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ja-JP" sz="1200" b="1" dirty="0">
                <a:solidFill>
                  <a:schemeClr val="accent4"/>
                </a:solidFill>
              </a:rPr>
              <a:t>Target(85)</a:t>
            </a:r>
          </a:p>
          <a:p>
            <a:pPr eaLnBrk="1" hangingPunct="1">
              <a:spcBef>
                <a:spcPts val="300"/>
              </a:spcBef>
              <a:buClr>
                <a:schemeClr val="tx1"/>
              </a:buClr>
            </a:pPr>
            <a:r>
              <a:rPr lang="en-US" altLang="ja-JP" sz="1200" b="1" dirty="0">
                <a:solidFill>
                  <a:schemeClr val="accent4"/>
                </a:solidFill>
              </a:rPr>
              <a:t> – OCN(10)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29216233-E7A4-4C59-8B6E-D940105520C6}"/>
              </a:ext>
            </a:extLst>
          </p:cNvPr>
          <p:cNvSpPr/>
          <p:nvPr/>
        </p:nvSpPr>
        <p:spPr>
          <a:xfrm>
            <a:off x="8274560" y="2597752"/>
            <a:ext cx="806757" cy="25668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i="1" dirty="0">
                <a:solidFill>
                  <a:schemeClr val="tx1"/>
                </a:solidFill>
              </a:rPr>
              <a:t>Ve</a:t>
            </a:r>
            <a:r>
              <a:rPr lang="en-US" altLang="ja-JP" sz="1400" i="1" dirty="0">
                <a:solidFill>
                  <a:schemeClr val="tx1"/>
                </a:solidFill>
              </a:rPr>
              <a:t>ssel</a:t>
            </a:r>
            <a:r>
              <a:rPr lang="ja-JP" altLang="en-US" sz="1400" i="1" dirty="0">
                <a:solidFill>
                  <a:schemeClr val="tx1"/>
                </a:solidFill>
              </a:rPr>
              <a:t> </a:t>
            </a:r>
            <a:r>
              <a:rPr lang="en-US" altLang="ja-JP" sz="1400" i="1" dirty="0">
                <a:solidFill>
                  <a:schemeClr val="tx1"/>
                </a:solidFill>
              </a:rPr>
              <a:t>Capacity</a:t>
            </a:r>
            <a:endParaRPr kumimoji="1" lang="ja-JP" altLang="en-US" sz="1400" i="1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E45920E-7866-4FD0-A3C3-19FF097B03BE}"/>
              </a:ext>
            </a:extLst>
          </p:cNvPr>
          <p:cNvSpPr/>
          <p:nvPr/>
        </p:nvSpPr>
        <p:spPr>
          <a:xfrm>
            <a:off x="9580055" y="2248083"/>
            <a:ext cx="2155205" cy="2137192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marL="179388" indent="-179388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ja-JP" altLang="en-US" sz="1200" dirty="0">
                <a:solidFill>
                  <a:schemeClr val="tx1"/>
                </a:solidFill>
              </a:rPr>
              <a:t>需要とリスクを総合的に勘案し、トータルの消席率目標を</a:t>
            </a:r>
            <a:r>
              <a:rPr lang="en-US" altLang="ja-JP" sz="1200" dirty="0">
                <a:solidFill>
                  <a:schemeClr val="tx1"/>
                </a:solidFill>
              </a:rPr>
              <a:t>85</a:t>
            </a:r>
            <a:r>
              <a:rPr lang="ja-JP" altLang="en-US" sz="1200" dirty="0">
                <a:solidFill>
                  <a:schemeClr val="tx1"/>
                </a:solidFill>
              </a:rPr>
              <a:t>に設定（</a:t>
            </a:r>
            <a:r>
              <a:rPr lang="en-US" altLang="ja-JP" sz="1200" dirty="0">
                <a:solidFill>
                  <a:schemeClr val="tx1"/>
                </a:solidFill>
              </a:rPr>
              <a:t>VMS</a:t>
            </a:r>
            <a:r>
              <a:rPr lang="ja-JP" altLang="en-US" sz="1200" dirty="0">
                <a:solidFill>
                  <a:schemeClr val="tx1"/>
                </a:solidFill>
              </a:rPr>
              <a:t>や</a:t>
            </a:r>
            <a:r>
              <a:rPr lang="en-US" altLang="ja-JP" sz="1200" dirty="0">
                <a:solidFill>
                  <a:schemeClr val="tx1"/>
                </a:solidFill>
              </a:rPr>
              <a:t>OCN</a:t>
            </a:r>
            <a:r>
              <a:rPr lang="ja-JP" altLang="en-US" sz="1200" dirty="0">
                <a:solidFill>
                  <a:schemeClr val="tx1"/>
                </a:solidFill>
              </a:rPr>
              <a:t>変動等のリスクを踏まえ、バッファを</a:t>
            </a:r>
            <a:r>
              <a:rPr lang="en-US" altLang="ja-JP" sz="1200" dirty="0">
                <a:solidFill>
                  <a:schemeClr val="tx1"/>
                </a:solidFill>
              </a:rPr>
              <a:t>15</a:t>
            </a:r>
            <a:r>
              <a:rPr lang="ja-JP" altLang="en-US" sz="1200" dirty="0">
                <a:solidFill>
                  <a:schemeClr val="tx1"/>
                </a:solidFill>
              </a:rPr>
              <a:t>保持）</a:t>
            </a:r>
            <a:endParaRPr lang="en-US" altLang="ja-JP" sz="1200" baseline="30000" dirty="0">
              <a:solidFill>
                <a:schemeClr val="tx1"/>
              </a:solidFill>
            </a:endParaRPr>
          </a:p>
          <a:p>
            <a:pPr marL="179388" indent="-179388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1200" dirty="0">
                <a:solidFill>
                  <a:schemeClr val="tx1"/>
                </a:solidFill>
              </a:rPr>
              <a:t>OCN</a:t>
            </a:r>
            <a:r>
              <a:rPr lang="ja-JP" altLang="en-US" sz="1200" dirty="0">
                <a:solidFill>
                  <a:schemeClr val="tx1"/>
                </a:solidFill>
              </a:rPr>
              <a:t>で</a:t>
            </a:r>
            <a:r>
              <a:rPr lang="en-US" altLang="ja-JP" sz="1200" dirty="0">
                <a:solidFill>
                  <a:schemeClr val="tx1"/>
                </a:solidFill>
              </a:rPr>
              <a:t>10</a:t>
            </a:r>
            <a:r>
              <a:rPr lang="ja-JP" altLang="en-US" sz="1200" dirty="0">
                <a:solidFill>
                  <a:schemeClr val="tx1"/>
                </a:solidFill>
              </a:rPr>
              <a:t>のスペースを利用予定のため、残りの</a:t>
            </a:r>
            <a:r>
              <a:rPr lang="en-US" altLang="ja-JP" sz="1200" dirty="0">
                <a:solidFill>
                  <a:schemeClr val="tx1"/>
                </a:solidFill>
              </a:rPr>
              <a:t>75</a:t>
            </a:r>
            <a:r>
              <a:rPr lang="ja-JP" altLang="en-US" sz="1200" dirty="0">
                <a:solidFill>
                  <a:schemeClr val="tx1"/>
                </a:solidFill>
              </a:rPr>
              <a:t>のスペースを</a:t>
            </a:r>
            <a:r>
              <a:rPr lang="en-US" altLang="ja-JP" sz="1200" dirty="0">
                <a:solidFill>
                  <a:schemeClr val="tx1"/>
                </a:solidFill>
              </a:rPr>
              <a:t>IPC/TS</a:t>
            </a:r>
            <a:r>
              <a:rPr lang="ja-JP" altLang="en-US" sz="1200" dirty="0">
                <a:solidFill>
                  <a:schemeClr val="tx1"/>
                </a:solidFill>
              </a:rPr>
              <a:t>に割当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E5D0052E-1E1C-4A42-A69E-E3C6C6386BBD}"/>
              </a:ext>
            </a:extLst>
          </p:cNvPr>
          <p:cNvCxnSpPr>
            <a:cxnSpLocks/>
            <a:stCxn id="46" idx="1"/>
            <a:endCxn id="16" idx="3"/>
          </p:cNvCxnSpPr>
          <p:nvPr/>
        </p:nvCxnSpPr>
        <p:spPr>
          <a:xfrm flipH="1">
            <a:off x="9271938" y="1856166"/>
            <a:ext cx="308117" cy="0"/>
          </a:xfrm>
          <a:prstGeom prst="straightConnector1">
            <a:avLst/>
          </a:prstGeom>
          <a:ln w="349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スライド番号プレースホルダー 3">
            <a:extLst>
              <a:ext uri="{FF2B5EF4-FFF2-40B4-BE49-F238E27FC236}">
                <a16:creationId xmlns:a16="http://schemas.microsoft.com/office/drawing/2014/main" id="{07EFBF57-85E4-4455-A30F-8D5F5D5CBE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57911" y="6479931"/>
            <a:ext cx="2743200" cy="24154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21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5FFD670-B0CC-4FD9-ACD7-0D4F6C6CCA11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OCN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64B7019-D9DD-4B67-8120-D52054318EBA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IPC, T/S</a:t>
            </a:r>
            <a:br>
              <a:rPr lang="en-US" altLang="ja-JP" sz="1050" b="1" dirty="0">
                <a:solidFill>
                  <a:schemeClr val="accent4"/>
                </a:solidFill>
              </a:rPr>
            </a:br>
            <a:r>
              <a:rPr lang="en-US" altLang="ja-JP" sz="1050" b="1" dirty="0">
                <a:solidFill>
                  <a:schemeClr val="accent4"/>
                </a:solidFill>
              </a:rPr>
              <a:t>MT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CD173F20-D8AE-4AAA-8F4A-8D216EE5A535}"/>
              </a:ext>
            </a:extLst>
          </p:cNvPr>
          <p:cNvGrpSpPr/>
          <p:nvPr/>
        </p:nvGrpSpPr>
        <p:grpSpPr>
          <a:xfrm>
            <a:off x="2243008" y="3259531"/>
            <a:ext cx="1188000" cy="1588139"/>
            <a:chOff x="3510650" y="4650552"/>
            <a:chExt cx="1188000" cy="1588139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060F456E-16EB-43A0-9F1D-4D6DF3C8130F}"/>
                </a:ext>
              </a:extLst>
            </p:cNvPr>
            <p:cNvSpPr/>
            <p:nvPr/>
          </p:nvSpPr>
          <p:spPr>
            <a:xfrm>
              <a:off x="3510650" y="4650552"/>
              <a:ext cx="1188000" cy="1332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</a:rPr>
                <a:t>OCN</a:t>
              </a: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</a:rPr>
                <a:t>100</a:t>
              </a:r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3577F727-A15A-4938-BE6D-BEBA27D2C2FB}"/>
                </a:ext>
              </a:extLst>
            </p:cNvPr>
            <p:cNvSpPr/>
            <p:nvPr/>
          </p:nvSpPr>
          <p:spPr>
            <a:xfrm>
              <a:off x="3701272" y="5982005"/>
              <a:ext cx="806757" cy="25668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400" i="1" dirty="0">
                  <a:solidFill>
                    <a:schemeClr val="tx1"/>
                  </a:solidFill>
                </a:rPr>
                <a:t>Ve</a:t>
              </a:r>
              <a:r>
                <a:rPr lang="en-US" altLang="ja-JP" sz="1400" i="1" dirty="0">
                  <a:solidFill>
                    <a:schemeClr val="tx1"/>
                  </a:solidFill>
                </a:rPr>
                <a:t>ssel</a:t>
              </a:r>
              <a:r>
                <a:rPr lang="ja-JP" altLang="en-US" sz="1400" i="1" dirty="0">
                  <a:solidFill>
                    <a:schemeClr val="tx1"/>
                  </a:solidFill>
                </a:rPr>
                <a:t> </a:t>
              </a:r>
              <a:r>
                <a:rPr lang="en-US" altLang="ja-JP" sz="1400" i="1" dirty="0">
                  <a:solidFill>
                    <a:schemeClr val="tx1"/>
                  </a:solidFill>
                </a:rPr>
                <a:t>Capacity</a:t>
              </a:r>
              <a:endParaRPr kumimoji="1" lang="ja-JP" altLang="en-US" sz="1400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A235A38-E3CF-4E67-BBDF-9E1992D662F4}"/>
              </a:ext>
            </a:extLst>
          </p:cNvPr>
          <p:cNvSpPr/>
          <p:nvPr/>
        </p:nvSpPr>
        <p:spPr>
          <a:xfrm>
            <a:off x="5685783" y="4632061"/>
            <a:ext cx="1188000" cy="13320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>
              <a:spcBef>
                <a:spcPts val="200"/>
              </a:spcBef>
            </a:pP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70B695F-1BEE-4C8D-9447-00339786EED9}"/>
              </a:ext>
            </a:extLst>
          </p:cNvPr>
          <p:cNvSpPr/>
          <p:nvPr/>
        </p:nvSpPr>
        <p:spPr>
          <a:xfrm>
            <a:off x="5685783" y="4910870"/>
            <a:ext cx="1188000" cy="404669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200"/>
              </a:spcBef>
            </a:pPr>
            <a:r>
              <a:rPr kumimoji="1" lang="en-US" altLang="ja-JP" sz="1400" dirty="0">
                <a:solidFill>
                  <a:schemeClr val="bg1"/>
                </a:solidFill>
              </a:rPr>
              <a:t>IPC/TS: 35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64363EA-6BD5-46B9-957A-8493700C2274}"/>
              </a:ext>
            </a:extLst>
          </p:cNvPr>
          <p:cNvSpPr/>
          <p:nvPr/>
        </p:nvSpPr>
        <p:spPr>
          <a:xfrm>
            <a:off x="5872991" y="5503516"/>
            <a:ext cx="806757" cy="25668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OCN: 50</a:t>
            </a:r>
            <a:endParaRPr kumimoji="1" lang="ja-JP" altLang="en-US" sz="1400" baseline="30000" dirty="0">
              <a:solidFill>
                <a:schemeClr val="tx1"/>
              </a:solidFill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215E82A5-7564-4E98-8E79-61D4069E33AC}"/>
              </a:ext>
            </a:extLst>
          </p:cNvPr>
          <p:cNvCxnSpPr>
            <a:cxnSpLocks/>
            <a:stCxn id="41" idx="1"/>
            <a:endCxn id="28" idx="3"/>
          </p:cNvCxnSpPr>
          <p:nvPr/>
        </p:nvCxnSpPr>
        <p:spPr>
          <a:xfrm rot="10800000">
            <a:off x="6873784" y="5113205"/>
            <a:ext cx="290391" cy="495940"/>
          </a:xfrm>
          <a:prstGeom prst="bentConnector3">
            <a:avLst>
              <a:gd name="adj1" fmla="val 50000"/>
            </a:avLst>
          </a:prstGeom>
          <a:ln w="349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54BC6FC-71AD-4D5D-851C-0382856C0E94}"/>
              </a:ext>
            </a:extLst>
          </p:cNvPr>
          <p:cNvSpPr/>
          <p:nvPr/>
        </p:nvSpPr>
        <p:spPr>
          <a:xfrm>
            <a:off x="7164174" y="5294411"/>
            <a:ext cx="2276586" cy="629468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36000" rtlCol="0" anchor="ctr"/>
          <a:lstStyle/>
          <a:p>
            <a:pPr eaLnBrk="1" hangingPunct="1">
              <a:spcBef>
                <a:spcPts val="300"/>
              </a:spcBef>
              <a:buClr>
                <a:schemeClr val="tx1"/>
              </a:buClr>
            </a:pPr>
            <a:r>
              <a:rPr lang="en-US" altLang="ja-JP" sz="1200" b="1" dirty="0">
                <a:solidFill>
                  <a:schemeClr val="accent4"/>
                </a:solidFill>
              </a:rPr>
              <a:t>IPC/TS(35)</a:t>
            </a:r>
          </a:p>
          <a:p>
            <a:pPr eaLnBrk="1" hangingPunct="1">
              <a:spcBef>
                <a:spcPts val="300"/>
              </a:spcBef>
              <a:buClr>
                <a:schemeClr val="tx1"/>
              </a:buClr>
            </a:pPr>
            <a:r>
              <a:rPr lang="ja-JP" altLang="en-US" sz="1200" b="1" dirty="0">
                <a:solidFill>
                  <a:schemeClr val="accent4"/>
                </a:solidFill>
              </a:rPr>
              <a:t> </a:t>
            </a:r>
            <a:r>
              <a:rPr lang="en-US" altLang="ja-JP" sz="1200" b="1" dirty="0">
                <a:solidFill>
                  <a:schemeClr val="accent4"/>
                </a:solidFill>
              </a:rPr>
              <a:t>= Utilization Ratio Target(85)</a:t>
            </a:r>
          </a:p>
          <a:p>
            <a:pPr eaLnBrk="1" hangingPunct="1">
              <a:spcBef>
                <a:spcPts val="300"/>
              </a:spcBef>
              <a:buClr>
                <a:schemeClr val="tx1"/>
              </a:buClr>
            </a:pPr>
            <a:r>
              <a:rPr lang="en-US" altLang="ja-JP" sz="1200" b="1" dirty="0">
                <a:solidFill>
                  <a:schemeClr val="accent4"/>
                </a:solidFill>
              </a:rPr>
              <a:t> – OCN(50)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E9D6830-5673-40F5-A9C3-185B5759B040}"/>
              </a:ext>
            </a:extLst>
          </p:cNvPr>
          <p:cNvSpPr/>
          <p:nvPr/>
        </p:nvSpPr>
        <p:spPr>
          <a:xfrm>
            <a:off x="5876405" y="5963514"/>
            <a:ext cx="806757" cy="25668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400" i="1" dirty="0">
                <a:solidFill>
                  <a:schemeClr val="tx1"/>
                </a:solidFill>
              </a:rPr>
              <a:t>Ve</a:t>
            </a:r>
            <a:r>
              <a:rPr lang="en-US" altLang="ja-JP" sz="1400" i="1" dirty="0">
                <a:solidFill>
                  <a:schemeClr val="tx1"/>
                </a:solidFill>
              </a:rPr>
              <a:t>ssel</a:t>
            </a:r>
            <a:r>
              <a:rPr lang="ja-JP" altLang="en-US" sz="1400" i="1" dirty="0">
                <a:solidFill>
                  <a:schemeClr val="tx1"/>
                </a:solidFill>
              </a:rPr>
              <a:t> </a:t>
            </a:r>
            <a:r>
              <a:rPr lang="en-US" altLang="ja-JP" sz="1400" i="1" dirty="0">
                <a:solidFill>
                  <a:schemeClr val="tx1"/>
                </a:solidFill>
              </a:rPr>
              <a:t>Capacity</a:t>
            </a:r>
            <a:endParaRPr kumimoji="1" lang="ja-JP" altLang="en-US" sz="1400" i="1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800F601-1EE0-4023-909A-B92F70DF4653}"/>
              </a:ext>
            </a:extLst>
          </p:cNvPr>
          <p:cNvSpPr/>
          <p:nvPr/>
        </p:nvSpPr>
        <p:spPr>
          <a:xfrm>
            <a:off x="5685783" y="4632061"/>
            <a:ext cx="1188000" cy="26599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(Buffer: 15)</a:t>
            </a: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A1986FB6-BC2D-4C76-998B-D6EC75ACAF51}"/>
              </a:ext>
            </a:extLst>
          </p:cNvPr>
          <p:cNvGrpSpPr/>
          <p:nvPr/>
        </p:nvGrpSpPr>
        <p:grpSpPr>
          <a:xfrm>
            <a:off x="7657033" y="4109399"/>
            <a:ext cx="796914" cy="662152"/>
            <a:chOff x="6406473" y="2740149"/>
            <a:chExt cx="796914" cy="662152"/>
          </a:xfrm>
        </p:grpSpPr>
        <p:pic>
          <p:nvPicPr>
            <p:cNvPr id="56" name="Google Shape;967;p16" descr="貨物 単色塗りつぶし">
              <a:extLst>
                <a:ext uri="{FF2B5EF4-FFF2-40B4-BE49-F238E27FC236}">
                  <a16:creationId xmlns:a16="http://schemas.microsoft.com/office/drawing/2014/main" id="{95AB53AF-2EEF-4AA4-8F5C-BC4B23C2901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67791" y="2833768"/>
              <a:ext cx="535596" cy="5685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948396C6-BB0D-4989-A34F-EDA1BC01C2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6473" y="2740149"/>
              <a:ext cx="261317" cy="261317"/>
            </a:xfrm>
            <a:prstGeom prst="ellipse">
              <a:avLst/>
            </a:prstGeom>
            <a:solidFill>
              <a:schemeClr val="accent4"/>
            </a:solidFill>
            <a:ln w="95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</a:rPr>
                <a:t>2</a:t>
              </a:r>
              <a:endParaRPr kumimoji="1" lang="ja-JP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F2B3D67F-EDA3-4A82-93D6-81961D317103}"/>
              </a:ext>
            </a:extLst>
          </p:cNvPr>
          <p:cNvGrpSpPr/>
          <p:nvPr/>
        </p:nvGrpSpPr>
        <p:grpSpPr>
          <a:xfrm>
            <a:off x="3519478" y="2885717"/>
            <a:ext cx="796914" cy="662152"/>
            <a:chOff x="6406473" y="2740149"/>
            <a:chExt cx="796914" cy="662152"/>
          </a:xfrm>
        </p:grpSpPr>
        <p:pic>
          <p:nvPicPr>
            <p:cNvPr id="62" name="Google Shape;967;p16" descr="貨物 単色塗りつぶし">
              <a:extLst>
                <a:ext uri="{FF2B5EF4-FFF2-40B4-BE49-F238E27FC236}">
                  <a16:creationId xmlns:a16="http://schemas.microsoft.com/office/drawing/2014/main" id="{37FDDEDC-9514-4FB3-B347-4B3E2CDC9D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67791" y="2833768"/>
              <a:ext cx="535596" cy="5685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3091C757-3E31-4D98-A75B-E2574CC610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06473" y="2740149"/>
              <a:ext cx="261317" cy="261317"/>
            </a:xfrm>
            <a:prstGeom prst="ellipse">
              <a:avLst/>
            </a:prstGeom>
            <a:solidFill>
              <a:schemeClr val="accent4"/>
            </a:solidFill>
            <a:ln w="95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dirty="0">
                  <a:solidFill>
                    <a:schemeClr val="bg1"/>
                  </a:solidFill>
                </a:rPr>
                <a:t>3</a:t>
              </a:r>
              <a:endParaRPr kumimoji="1" lang="ja-JP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9C7EBD54-B880-42CC-8F04-CC7D4193C071}"/>
              </a:ext>
            </a:extLst>
          </p:cNvPr>
          <p:cNvSpPr/>
          <p:nvPr/>
        </p:nvSpPr>
        <p:spPr>
          <a:xfrm>
            <a:off x="1161178" y="6339122"/>
            <a:ext cx="9869644" cy="287179"/>
          </a:xfrm>
          <a:prstGeom prst="rect">
            <a:avLst/>
          </a:prstGeom>
          <a:solidFill>
            <a:schemeClr val="accent4"/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OCN</a:t>
            </a:r>
            <a:r>
              <a:rPr kumimoji="1" lang="ja-JP" altLang="en-US" sz="1400" dirty="0">
                <a:solidFill>
                  <a:schemeClr val="bg1"/>
                </a:solidFill>
              </a:rPr>
              <a:t>だけでは埋められない余剰スペースを、</a:t>
            </a:r>
            <a:r>
              <a:rPr kumimoji="1" lang="en-US" altLang="ja-JP" sz="1400" dirty="0">
                <a:solidFill>
                  <a:schemeClr val="bg1"/>
                </a:solidFill>
              </a:rPr>
              <a:t>Trade</a:t>
            </a:r>
            <a:r>
              <a:rPr kumimoji="1" lang="ja-JP" altLang="en-US" sz="1400" dirty="0">
                <a:solidFill>
                  <a:schemeClr val="bg1"/>
                </a:solidFill>
              </a:rPr>
              <a:t>横断で有効活用（公共財の全社活用）</a:t>
            </a:r>
          </a:p>
        </p:txBody>
      </p:sp>
    </p:spTree>
    <p:extLst>
      <p:ext uri="{BB962C8B-B14F-4D97-AF65-F5344CB8AC3E}">
        <p14:creationId xmlns:p14="http://schemas.microsoft.com/office/powerpoint/2010/main" val="2703239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1AE956F4-2BDA-40E9-9743-9C55A6A2F43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740" name="think-cell スライド" r:id="rId7" imgW="592" imgH="595" progId="TCLayout.ActiveDocument.1">
                  <p:embed/>
                </p:oleObj>
              </mc:Choice>
              <mc:Fallback>
                <p:oleObj name="think-cell スライド" r:id="rId7" imgW="592" imgH="595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1AE956F4-2BDA-40E9-9743-9C55A6A2F4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矢印: 五方向 68">
            <a:extLst>
              <a:ext uri="{FF2B5EF4-FFF2-40B4-BE49-F238E27FC236}">
                <a16:creationId xmlns:a16="http://schemas.microsoft.com/office/drawing/2014/main" id="{E59E97A1-6653-40DC-ACA3-03F99F8011F4}"/>
              </a:ext>
            </a:extLst>
          </p:cNvPr>
          <p:cNvSpPr/>
          <p:nvPr/>
        </p:nvSpPr>
        <p:spPr>
          <a:xfrm>
            <a:off x="3154064" y="5500788"/>
            <a:ext cx="893094" cy="948317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最新</a:t>
            </a:r>
            <a:endParaRPr lang="en-US" altLang="ja-JP" sz="1200" dirty="0"/>
          </a:p>
          <a:p>
            <a:pPr algn="ctr">
              <a:lnSpc>
                <a:spcPts val="1400"/>
              </a:lnSpc>
            </a:pPr>
            <a:r>
              <a:rPr lang="en-US" altLang="ja-JP" sz="1200" dirty="0"/>
              <a:t>Spot</a:t>
            </a:r>
          </a:p>
          <a:p>
            <a:pPr algn="ctr">
              <a:lnSpc>
                <a:spcPts val="1400"/>
              </a:lnSpc>
            </a:pPr>
            <a:r>
              <a:rPr lang="en-US" altLang="ja-JP" sz="1200" dirty="0"/>
              <a:t>Portfolio</a:t>
            </a:r>
            <a:endParaRPr lang="ja-JP" altLang="en-US" sz="1200" dirty="0"/>
          </a:p>
        </p:txBody>
      </p:sp>
      <p:sp>
        <p:nvSpPr>
          <p:cNvPr id="113" name="矢印: 五方向 112">
            <a:extLst>
              <a:ext uri="{FF2B5EF4-FFF2-40B4-BE49-F238E27FC236}">
                <a16:creationId xmlns:a16="http://schemas.microsoft.com/office/drawing/2014/main" id="{CE63C608-642B-4F53-A51D-4E248CBDF7E6}"/>
              </a:ext>
            </a:extLst>
          </p:cNvPr>
          <p:cNvSpPr/>
          <p:nvPr/>
        </p:nvSpPr>
        <p:spPr>
          <a:xfrm>
            <a:off x="5451087" y="2415856"/>
            <a:ext cx="363770" cy="1929657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eaVert" wrap="none" lIns="0" rIns="0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b="1" dirty="0">
                <a:solidFill>
                  <a:schemeClr val="bg1"/>
                </a:solidFill>
              </a:rPr>
              <a:t>Portfolio Optimization</a:t>
            </a:r>
            <a:endParaRPr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正方形/長方形 5" hidden="1">
            <a:extLst>
              <a:ext uri="{FF2B5EF4-FFF2-40B4-BE49-F238E27FC236}">
                <a16:creationId xmlns:a16="http://schemas.microsoft.com/office/drawing/2014/main" id="{54A4672E-B373-4EEC-A8FF-5C0F9C272A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7" name="正方形/長方形 6" hidden="1">
            <a:extLst>
              <a:ext uri="{FF2B5EF4-FFF2-40B4-BE49-F238E27FC236}">
                <a16:creationId xmlns:a16="http://schemas.microsoft.com/office/drawing/2014/main" id="{B3B680C4-B193-4DAF-AF65-F59A4E6A8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kumimoji="1" lang="en-US" altLang="ja-JP" sz="2500" dirty="0">
              <a:solidFill>
                <a:schemeClr val="tx1"/>
              </a:solidFill>
              <a:latin typeface="Arial Black" panose="020B0A04020102020204" pitchFamily="34" charset="0"/>
              <a:sym typeface="Arial Black" panose="020B0A0402010202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01315A-4855-4D79-A285-B7B84B0A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ja-JP" altLang="en-US" dirty="0"/>
              <a:t>ステップ別</a:t>
            </a:r>
            <a:r>
              <a:rPr kumimoji="1" lang="en-US" altLang="ja-JP" dirty="0"/>
              <a:t>/</a:t>
            </a:r>
            <a:r>
              <a:rPr kumimoji="1" lang="ja-JP" altLang="en-US" dirty="0"/>
              <a:t>契約形態別の</a:t>
            </a:r>
            <a:r>
              <a:rPr kumimoji="1" lang="en-US" altLang="ja-JP" dirty="0"/>
              <a:t>BKG Control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981321-C8EB-48A4-B0EB-DBEFC22B3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BKG Control</a:t>
            </a:r>
            <a:r>
              <a:rPr lang="ja-JP" altLang="en-US" dirty="0"/>
              <a:t>は、</a:t>
            </a:r>
            <a:r>
              <a:rPr lang="en-US" altLang="ja-JP" dirty="0"/>
              <a:t>Planning </a:t>
            </a:r>
            <a:r>
              <a:rPr lang="ja-JP" altLang="en-US" dirty="0"/>
              <a:t>～ </a:t>
            </a:r>
            <a:r>
              <a:rPr lang="en-US" altLang="ja-JP" dirty="0"/>
              <a:t>Execution</a:t>
            </a:r>
            <a:r>
              <a:rPr lang="ja-JP" altLang="en-US" dirty="0"/>
              <a:t>において、契約形態別に達成すべきことが相違。これらの相違する目的に向けたタスク整理が必要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5AA6A5-EA00-4347-9E4C-120E4DA45A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t>22</a:t>
            </a:fld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F0C9677-FF2D-47C4-85F4-F40B3EAA10C7}"/>
              </a:ext>
            </a:extLst>
          </p:cNvPr>
          <p:cNvSpPr/>
          <p:nvPr/>
        </p:nvSpPr>
        <p:spPr>
          <a:xfrm>
            <a:off x="1132334" y="2545808"/>
            <a:ext cx="1900703" cy="1811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年初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95478C84-3FD9-47C2-99EA-93F933C82BB9}"/>
              </a:ext>
            </a:extLst>
          </p:cNvPr>
          <p:cNvSpPr/>
          <p:nvPr/>
        </p:nvSpPr>
        <p:spPr>
          <a:xfrm>
            <a:off x="1135093" y="2791031"/>
            <a:ext cx="913370" cy="494384"/>
          </a:xfrm>
          <a:prstGeom prst="homePlate">
            <a:avLst>
              <a:gd name="adj" fmla="val 21977"/>
            </a:avLst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Trade</a:t>
            </a:r>
            <a:br>
              <a:rPr lang="en-US" altLang="ja-JP" sz="1200" dirty="0">
                <a:solidFill>
                  <a:schemeClr val="bg1"/>
                </a:solidFill>
              </a:rPr>
            </a:br>
            <a:r>
              <a:rPr lang="en-US" altLang="ja-JP" sz="1200" dirty="0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71767275-50D6-452E-A3A3-7612623CFCA6}"/>
              </a:ext>
            </a:extLst>
          </p:cNvPr>
          <p:cNvSpPr/>
          <p:nvPr/>
        </p:nvSpPr>
        <p:spPr>
          <a:xfrm>
            <a:off x="3161377" y="2326242"/>
            <a:ext cx="1924896" cy="179228"/>
          </a:xfrm>
          <a:prstGeom prst="homePlate">
            <a:avLst>
              <a:gd name="adj" fmla="val 21977"/>
            </a:avLst>
          </a:prstGeom>
          <a:solidFill>
            <a:schemeClr val="accent4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Execution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47" name="矢印: 五方向 146">
            <a:extLst>
              <a:ext uri="{FF2B5EF4-FFF2-40B4-BE49-F238E27FC236}">
                <a16:creationId xmlns:a16="http://schemas.microsoft.com/office/drawing/2014/main" id="{5F464B92-CE8F-4970-A334-9B9F6DC9360B}"/>
              </a:ext>
            </a:extLst>
          </p:cNvPr>
          <p:cNvSpPr/>
          <p:nvPr/>
        </p:nvSpPr>
        <p:spPr>
          <a:xfrm>
            <a:off x="692250" y="3421382"/>
            <a:ext cx="363770" cy="948317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vert="eaVert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dirty="0"/>
              <a:t>LT</a:t>
            </a:r>
            <a:endParaRPr lang="ja-JP" altLang="en-US" sz="1200" dirty="0"/>
          </a:p>
        </p:txBody>
      </p:sp>
      <p:sp>
        <p:nvSpPr>
          <p:cNvPr id="139" name="矢印: 五方向 138">
            <a:extLst>
              <a:ext uri="{FF2B5EF4-FFF2-40B4-BE49-F238E27FC236}">
                <a16:creationId xmlns:a16="http://schemas.microsoft.com/office/drawing/2014/main" id="{7CFB0BEA-2458-4A8C-8A69-DDECE671878F}"/>
              </a:ext>
            </a:extLst>
          </p:cNvPr>
          <p:cNvSpPr/>
          <p:nvPr/>
        </p:nvSpPr>
        <p:spPr>
          <a:xfrm>
            <a:off x="1132333" y="2326243"/>
            <a:ext cx="1929271" cy="181140"/>
          </a:xfrm>
          <a:prstGeom prst="homePlate">
            <a:avLst>
              <a:gd name="adj" fmla="val 21977"/>
            </a:avLst>
          </a:prstGeom>
          <a:solidFill>
            <a:schemeClr val="accent4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Planning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60" name="矢印: 五方向 59">
            <a:extLst>
              <a:ext uri="{FF2B5EF4-FFF2-40B4-BE49-F238E27FC236}">
                <a16:creationId xmlns:a16="http://schemas.microsoft.com/office/drawing/2014/main" id="{4FA16AED-9C4D-478F-8C41-A4FC513E60E3}"/>
              </a:ext>
            </a:extLst>
          </p:cNvPr>
          <p:cNvSpPr/>
          <p:nvPr/>
        </p:nvSpPr>
        <p:spPr>
          <a:xfrm>
            <a:off x="2148235" y="2791031"/>
            <a:ext cx="913370" cy="494384"/>
          </a:xfrm>
          <a:prstGeom prst="homePlate">
            <a:avLst>
              <a:gd name="adj" fmla="val 21977"/>
            </a:avLst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Award</a:t>
            </a:r>
            <a:br>
              <a:rPr lang="en-US" altLang="ja-JP" sz="1400" dirty="0">
                <a:solidFill>
                  <a:schemeClr val="bg1"/>
                </a:solidFill>
              </a:rPr>
            </a:br>
            <a:r>
              <a:rPr lang="en-US" altLang="ja-JP" sz="1050" dirty="0">
                <a:solidFill>
                  <a:schemeClr val="bg1"/>
                </a:solidFill>
              </a:rPr>
              <a:t>(incl. Game Plan,</a:t>
            </a:r>
          </a:p>
          <a:p>
            <a:pPr algn="ctr"/>
            <a:r>
              <a:rPr lang="en-US" altLang="ja-JP" sz="1050" dirty="0">
                <a:solidFill>
                  <a:schemeClr val="bg1"/>
                </a:solidFill>
              </a:rPr>
              <a:t>Negotiation)</a:t>
            </a: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1D498B29-1FC7-47F3-AE87-8C301BF5948C}"/>
              </a:ext>
            </a:extLst>
          </p:cNvPr>
          <p:cNvSpPr/>
          <p:nvPr/>
        </p:nvSpPr>
        <p:spPr>
          <a:xfrm>
            <a:off x="3161377" y="2791031"/>
            <a:ext cx="913370" cy="494384"/>
          </a:xfrm>
          <a:prstGeom prst="homePlate">
            <a:avLst>
              <a:gd name="adj" fmla="val 21977"/>
            </a:avLst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AP</a:t>
            </a:r>
            <a:br>
              <a:rPr lang="en-US" altLang="ja-JP" sz="1400" dirty="0">
                <a:solidFill>
                  <a:schemeClr val="bg1"/>
                </a:solidFill>
              </a:rPr>
            </a:br>
            <a:r>
              <a:rPr lang="en-US" altLang="ja-JP" sz="1050" dirty="0">
                <a:solidFill>
                  <a:schemeClr val="bg1"/>
                </a:solidFill>
              </a:rPr>
              <a:t>(AP Prep /</a:t>
            </a:r>
          </a:p>
          <a:p>
            <a:pPr algn="ctr"/>
            <a:r>
              <a:rPr lang="en-US" altLang="ja-JP" sz="1050" dirty="0">
                <a:solidFill>
                  <a:schemeClr val="bg1"/>
                </a:solidFill>
              </a:rPr>
              <a:t>Creation)</a:t>
            </a:r>
            <a:endParaRPr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70" name="矢印: 五方向 69">
            <a:extLst>
              <a:ext uri="{FF2B5EF4-FFF2-40B4-BE49-F238E27FC236}">
                <a16:creationId xmlns:a16="http://schemas.microsoft.com/office/drawing/2014/main" id="{079F9523-BD97-4396-B5F8-CDE524E7AD29}"/>
              </a:ext>
            </a:extLst>
          </p:cNvPr>
          <p:cNvSpPr/>
          <p:nvPr/>
        </p:nvSpPr>
        <p:spPr>
          <a:xfrm>
            <a:off x="4174518" y="2791031"/>
            <a:ext cx="913370" cy="494384"/>
          </a:xfrm>
          <a:prstGeom prst="homePlate">
            <a:avLst>
              <a:gd name="adj" fmla="val 21977"/>
            </a:avLst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BKG</a:t>
            </a:r>
            <a:br>
              <a:rPr lang="en-US" altLang="ja-JP" sz="1200" dirty="0">
                <a:solidFill>
                  <a:schemeClr val="bg1"/>
                </a:solidFill>
              </a:rPr>
            </a:br>
            <a:r>
              <a:rPr lang="en-US" altLang="ja-JP" sz="1200" dirty="0">
                <a:solidFill>
                  <a:schemeClr val="bg1"/>
                </a:solidFill>
              </a:rPr>
              <a:t>Execution</a:t>
            </a:r>
            <a:br>
              <a:rPr lang="en-US" altLang="ja-JP" sz="1400" dirty="0">
                <a:solidFill>
                  <a:schemeClr val="bg1"/>
                </a:solidFill>
              </a:rPr>
            </a:br>
            <a:r>
              <a:rPr lang="en-US" altLang="ja-JP" sz="1050" dirty="0">
                <a:solidFill>
                  <a:schemeClr val="bg1"/>
                </a:solidFill>
              </a:rPr>
              <a:t>(AP/GD4)</a:t>
            </a:r>
            <a:endParaRPr lang="en-US" altLang="ja-JP" sz="1400" dirty="0">
              <a:solidFill>
                <a:schemeClr val="bg1"/>
              </a:solidFill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6D1F1B7-18CA-40F3-8D19-77F8A0212472}"/>
              </a:ext>
            </a:extLst>
          </p:cNvPr>
          <p:cNvSpPr/>
          <p:nvPr/>
        </p:nvSpPr>
        <p:spPr>
          <a:xfrm>
            <a:off x="3161377" y="2545807"/>
            <a:ext cx="876479" cy="1792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BKG1-2</a:t>
            </a:r>
            <a:r>
              <a:rPr lang="ja-JP" altLang="en-US" sz="1200" dirty="0">
                <a:solidFill>
                  <a:schemeClr val="tx1"/>
                </a:solidFill>
              </a:rPr>
              <a:t>ヶ月前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0EA50E1-7F83-472C-8D96-6DCB843E8D34}"/>
              </a:ext>
            </a:extLst>
          </p:cNvPr>
          <p:cNvSpPr/>
          <p:nvPr/>
        </p:nvSpPr>
        <p:spPr>
          <a:xfrm>
            <a:off x="4174518" y="2545807"/>
            <a:ext cx="876479" cy="1792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BKG 1</a:t>
            </a:r>
            <a:r>
              <a:rPr lang="ja-JP" altLang="en-US" sz="1200" dirty="0">
                <a:solidFill>
                  <a:schemeClr val="tx1"/>
                </a:solidFill>
              </a:rPr>
              <a:t>ヶ月以内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9FDA27B0-AE50-4FE4-83A1-3F687C31E6C4}"/>
              </a:ext>
            </a:extLst>
          </p:cNvPr>
          <p:cNvSpPr/>
          <p:nvPr/>
        </p:nvSpPr>
        <p:spPr>
          <a:xfrm>
            <a:off x="692250" y="4461087"/>
            <a:ext cx="363770" cy="948317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vert="eaVert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dirty="0"/>
              <a:t>ST</a:t>
            </a:r>
            <a:endParaRPr lang="ja-JP" altLang="en-US" sz="1200" dirty="0"/>
          </a:p>
        </p:txBody>
      </p:sp>
      <p:sp>
        <p:nvSpPr>
          <p:cNvPr id="76" name="矢印: 五方向 75">
            <a:extLst>
              <a:ext uri="{FF2B5EF4-FFF2-40B4-BE49-F238E27FC236}">
                <a16:creationId xmlns:a16="http://schemas.microsoft.com/office/drawing/2014/main" id="{E9B6986D-EFC3-4C55-9FC1-BB62317E50FC}"/>
              </a:ext>
            </a:extLst>
          </p:cNvPr>
          <p:cNvSpPr/>
          <p:nvPr/>
        </p:nvSpPr>
        <p:spPr>
          <a:xfrm>
            <a:off x="692250" y="5500791"/>
            <a:ext cx="363770" cy="948317"/>
          </a:xfrm>
          <a:prstGeom prst="homePlat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vert="eaVert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dirty="0"/>
              <a:t>Spot</a:t>
            </a:r>
            <a:endParaRPr lang="ja-JP" altLang="en-US" sz="1200" dirty="0"/>
          </a:p>
        </p:txBody>
      </p:sp>
      <p:sp>
        <p:nvSpPr>
          <p:cNvPr id="80" name="矢印: 五方向 79">
            <a:extLst>
              <a:ext uri="{FF2B5EF4-FFF2-40B4-BE49-F238E27FC236}">
                <a16:creationId xmlns:a16="http://schemas.microsoft.com/office/drawing/2014/main" id="{C7A2FA96-02CC-4582-838C-6C828AA12F66}"/>
              </a:ext>
            </a:extLst>
          </p:cNvPr>
          <p:cNvSpPr/>
          <p:nvPr/>
        </p:nvSpPr>
        <p:spPr>
          <a:xfrm>
            <a:off x="2147254" y="3421382"/>
            <a:ext cx="885782" cy="948317"/>
          </a:xfrm>
          <a:prstGeom prst="homePlat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顧客</a:t>
            </a:r>
            <a:br>
              <a:rPr lang="en-US" altLang="ja-JP" sz="1200" dirty="0"/>
            </a:br>
            <a:r>
              <a:rPr lang="en-US" altLang="ja-JP" sz="1200" dirty="0"/>
              <a:t>×</a:t>
            </a:r>
            <a:br>
              <a:rPr lang="en-US" altLang="ja-JP" sz="1200" dirty="0"/>
            </a:br>
            <a:r>
              <a:rPr lang="en-US" altLang="ja-JP" sz="1200" dirty="0"/>
              <a:t>Route</a:t>
            </a:r>
            <a:endParaRPr lang="ja-JP" altLang="en-US" sz="1200" dirty="0"/>
          </a:p>
        </p:txBody>
      </p:sp>
      <p:sp>
        <p:nvSpPr>
          <p:cNvPr id="82" name="矢印: 五方向 81">
            <a:extLst>
              <a:ext uri="{FF2B5EF4-FFF2-40B4-BE49-F238E27FC236}">
                <a16:creationId xmlns:a16="http://schemas.microsoft.com/office/drawing/2014/main" id="{FC774985-8FD7-485F-B025-C782D0E78B63}"/>
              </a:ext>
            </a:extLst>
          </p:cNvPr>
          <p:cNvSpPr/>
          <p:nvPr/>
        </p:nvSpPr>
        <p:spPr>
          <a:xfrm>
            <a:off x="2147254" y="4461085"/>
            <a:ext cx="885782" cy="948317"/>
          </a:xfrm>
          <a:prstGeom prst="homePlate">
            <a:avLst>
              <a:gd name="adj" fmla="val 0"/>
            </a:avLst>
          </a:prstGeom>
          <a:solidFill>
            <a:srgbClr val="FDE9F4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顧客</a:t>
            </a:r>
          </a:p>
        </p:txBody>
      </p:sp>
      <p:sp>
        <p:nvSpPr>
          <p:cNvPr id="88" name="フリーフォーム: 図形 87">
            <a:extLst>
              <a:ext uri="{FF2B5EF4-FFF2-40B4-BE49-F238E27FC236}">
                <a16:creationId xmlns:a16="http://schemas.microsoft.com/office/drawing/2014/main" id="{FC2FC433-8CD3-44D3-907A-3E181237F16D}"/>
              </a:ext>
            </a:extLst>
          </p:cNvPr>
          <p:cNvSpPr/>
          <p:nvPr/>
        </p:nvSpPr>
        <p:spPr>
          <a:xfrm>
            <a:off x="1132333" y="3421382"/>
            <a:ext cx="1900703" cy="3027723"/>
          </a:xfrm>
          <a:custGeom>
            <a:avLst/>
            <a:gdLst>
              <a:gd name="connsiteX0" fmla="*/ 0 w 1900703"/>
              <a:gd name="connsiteY0" fmla="*/ 0 h 3027723"/>
              <a:gd name="connsiteX1" fmla="*/ 885782 w 1900703"/>
              <a:gd name="connsiteY1" fmla="*/ 0 h 3027723"/>
              <a:gd name="connsiteX2" fmla="*/ 885782 w 1900703"/>
              <a:gd name="connsiteY2" fmla="*/ 1513861 h 3027723"/>
              <a:gd name="connsiteX3" fmla="*/ 885782 w 1900703"/>
              <a:gd name="connsiteY3" fmla="*/ 2079406 h 3027723"/>
              <a:gd name="connsiteX4" fmla="*/ 1900703 w 1900703"/>
              <a:gd name="connsiteY4" fmla="*/ 2079406 h 3027723"/>
              <a:gd name="connsiteX5" fmla="*/ 1900703 w 1900703"/>
              <a:gd name="connsiteY5" fmla="*/ 2553565 h 3027723"/>
              <a:gd name="connsiteX6" fmla="*/ 1900703 w 1900703"/>
              <a:gd name="connsiteY6" fmla="*/ 3027723 h 3027723"/>
              <a:gd name="connsiteX7" fmla="*/ 401158 w 1900703"/>
              <a:gd name="connsiteY7" fmla="*/ 3027723 h 3027723"/>
              <a:gd name="connsiteX8" fmla="*/ 401158 w 1900703"/>
              <a:gd name="connsiteY8" fmla="*/ 3027722 h 3027723"/>
              <a:gd name="connsiteX9" fmla="*/ 0 w 1900703"/>
              <a:gd name="connsiteY9" fmla="*/ 3027722 h 3027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00703" h="3027723">
                <a:moveTo>
                  <a:pt x="0" y="0"/>
                </a:moveTo>
                <a:lnTo>
                  <a:pt x="885782" y="0"/>
                </a:lnTo>
                <a:lnTo>
                  <a:pt x="885782" y="1513861"/>
                </a:lnTo>
                <a:lnTo>
                  <a:pt x="885782" y="2079406"/>
                </a:lnTo>
                <a:lnTo>
                  <a:pt x="1900703" y="2079406"/>
                </a:lnTo>
                <a:lnTo>
                  <a:pt x="1900703" y="2553565"/>
                </a:lnTo>
                <a:lnTo>
                  <a:pt x="1900703" y="3027723"/>
                </a:lnTo>
                <a:lnTo>
                  <a:pt x="401158" y="3027723"/>
                </a:lnTo>
                <a:lnTo>
                  <a:pt x="401158" y="3027722"/>
                </a:lnTo>
                <a:lnTo>
                  <a:pt x="0" y="3027722"/>
                </a:lnTo>
                <a:close/>
              </a:path>
            </a:pathLst>
          </a:cu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lIns="180000" rtlCol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ja-JP" altLang="en-US" sz="1200" dirty="0"/>
              <a:t> 契約別</a:t>
            </a:r>
            <a:br>
              <a:rPr lang="en-US" altLang="ja-JP" sz="1200" dirty="0"/>
            </a:br>
            <a:r>
              <a:rPr lang="ja-JP" altLang="en-US" sz="1200" dirty="0"/>
              <a:t>　 戦略</a:t>
            </a:r>
            <a:endParaRPr lang="en-US" altLang="ja-JP" sz="1200" dirty="0"/>
          </a:p>
          <a:p>
            <a:pPr>
              <a:lnSpc>
                <a:spcPts val="1400"/>
              </a:lnSpc>
            </a:pPr>
            <a:r>
              <a:rPr lang="en-US" altLang="ja-JP" sz="1200" dirty="0"/>
              <a:t>Portfolio</a:t>
            </a:r>
            <a:endParaRPr lang="ja-JP" altLang="en-US" sz="1200" dirty="0"/>
          </a:p>
        </p:txBody>
      </p:sp>
      <p:sp>
        <p:nvSpPr>
          <p:cNvPr id="94" name="矢印: 五方向 93">
            <a:extLst>
              <a:ext uri="{FF2B5EF4-FFF2-40B4-BE49-F238E27FC236}">
                <a16:creationId xmlns:a16="http://schemas.microsoft.com/office/drawing/2014/main" id="{FF764771-20F2-46E9-8EF6-1E9BA6E2988D}"/>
              </a:ext>
            </a:extLst>
          </p:cNvPr>
          <p:cNvSpPr/>
          <p:nvPr/>
        </p:nvSpPr>
        <p:spPr>
          <a:xfrm>
            <a:off x="3161376" y="3421382"/>
            <a:ext cx="885782" cy="948317"/>
          </a:xfrm>
          <a:prstGeom prst="homePlat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顧客</a:t>
            </a:r>
            <a:br>
              <a:rPr lang="en-US" altLang="ja-JP" sz="1200" dirty="0"/>
            </a:br>
            <a:r>
              <a:rPr lang="en-US" altLang="ja-JP" sz="1200" dirty="0"/>
              <a:t>×</a:t>
            </a:r>
            <a:br>
              <a:rPr lang="en-US" altLang="ja-JP" sz="1200" dirty="0"/>
            </a:br>
            <a:r>
              <a:rPr lang="en-US" altLang="ja-JP" sz="1200" dirty="0"/>
              <a:t>Route</a:t>
            </a:r>
            <a:endParaRPr lang="ja-JP" altLang="en-US" sz="1200" dirty="0"/>
          </a:p>
        </p:txBody>
      </p:sp>
      <p:sp>
        <p:nvSpPr>
          <p:cNvPr id="95" name="矢印: 五方向 94">
            <a:extLst>
              <a:ext uri="{FF2B5EF4-FFF2-40B4-BE49-F238E27FC236}">
                <a16:creationId xmlns:a16="http://schemas.microsoft.com/office/drawing/2014/main" id="{F639514B-925E-481A-A158-21A718946E80}"/>
              </a:ext>
            </a:extLst>
          </p:cNvPr>
          <p:cNvSpPr/>
          <p:nvPr/>
        </p:nvSpPr>
        <p:spPr>
          <a:xfrm>
            <a:off x="4175498" y="3421382"/>
            <a:ext cx="885782" cy="948317"/>
          </a:xfrm>
          <a:prstGeom prst="homePlat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顧客</a:t>
            </a:r>
            <a:br>
              <a:rPr lang="en-US" altLang="ja-JP" sz="1200" dirty="0"/>
            </a:br>
            <a:r>
              <a:rPr lang="en-US" altLang="ja-JP" sz="1200" dirty="0"/>
              <a:t>×</a:t>
            </a:r>
            <a:br>
              <a:rPr lang="en-US" altLang="ja-JP" sz="1200" dirty="0"/>
            </a:br>
            <a:r>
              <a:rPr lang="en-US" altLang="ja-JP" sz="1200" dirty="0"/>
              <a:t>Route</a:t>
            </a:r>
            <a:endParaRPr lang="ja-JP" altLang="en-US" sz="1200" dirty="0"/>
          </a:p>
        </p:txBody>
      </p:sp>
      <p:sp>
        <p:nvSpPr>
          <p:cNvPr id="100" name="矢印: 五方向 99">
            <a:extLst>
              <a:ext uri="{FF2B5EF4-FFF2-40B4-BE49-F238E27FC236}">
                <a16:creationId xmlns:a16="http://schemas.microsoft.com/office/drawing/2014/main" id="{4F753C46-8A3D-4B92-A901-782BD478410E}"/>
              </a:ext>
            </a:extLst>
          </p:cNvPr>
          <p:cNvSpPr/>
          <p:nvPr/>
        </p:nvSpPr>
        <p:spPr>
          <a:xfrm>
            <a:off x="3161376" y="4461085"/>
            <a:ext cx="885782" cy="948317"/>
          </a:xfrm>
          <a:prstGeom prst="homePlat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顧客</a:t>
            </a:r>
            <a:br>
              <a:rPr lang="en-US" altLang="ja-JP" sz="1200" dirty="0"/>
            </a:br>
            <a:r>
              <a:rPr lang="en-US" altLang="ja-JP" sz="1200" dirty="0"/>
              <a:t>×</a:t>
            </a:r>
            <a:br>
              <a:rPr lang="en-US" altLang="ja-JP" sz="1200" dirty="0"/>
            </a:br>
            <a:r>
              <a:rPr lang="en-US" altLang="ja-JP" sz="1200" dirty="0"/>
              <a:t>Route</a:t>
            </a:r>
            <a:endParaRPr lang="ja-JP" altLang="en-US" sz="1200" dirty="0"/>
          </a:p>
        </p:txBody>
      </p:sp>
      <p:sp>
        <p:nvSpPr>
          <p:cNvPr id="103" name="矢印: 五方向 102">
            <a:extLst>
              <a:ext uri="{FF2B5EF4-FFF2-40B4-BE49-F238E27FC236}">
                <a16:creationId xmlns:a16="http://schemas.microsoft.com/office/drawing/2014/main" id="{262AA2EF-95DB-4A05-BCBF-FB8F020EE5A9}"/>
              </a:ext>
            </a:extLst>
          </p:cNvPr>
          <p:cNvSpPr/>
          <p:nvPr/>
        </p:nvSpPr>
        <p:spPr>
          <a:xfrm>
            <a:off x="4175498" y="4461085"/>
            <a:ext cx="885782" cy="948317"/>
          </a:xfrm>
          <a:prstGeom prst="homePlat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顧客</a:t>
            </a:r>
            <a:br>
              <a:rPr lang="en-US" altLang="ja-JP" sz="1200" dirty="0"/>
            </a:br>
            <a:r>
              <a:rPr lang="en-US" altLang="ja-JP" sz="1200" dirty="0"/>
              <a:t>×</a:t>
            </a:r>
            <a:br>
              <a:rPr lang="en-US" altLang="ja-JP" sz="1200" dirty="0"/>
            </a:br>
            <a:r>
              <a:rPr lang="en-US" altLang="ja-JP" sz="1200" dirty="0"/>
              <a:t>Route</a:t>
            </a:r>
            <a:endParaRPr lang="ja-JP" altLang="en-US" sz="1200" dirty="0"/>
          </a:p>
        </p:txBody>
      </p:sp>
      <p:sp>
        <p:nvSpPr>
          <p:cNvPr id="105" name="矢印: 五方向 104">
            <a:extLst>
              <a:ext uri="{FF2B5EF4-FFF2-40B4-BE49-F238E27FC236}">
                <a16:creationId xmlns:a16="http://schemas.microsoft.com/office/drawing/2014/main" id="{223DC7E7-219E-4B0D-A135-40658EF0D8EC}"/>
              </a:ext>
            </a:extLst>
          </p:cNvPr>
          <p:cNvSpPr/>
          <p:nvPr/>
        </p:nvSpPr>
        <p:spPr>
          <a:xfrm>
            <a:off x="4175498" y="5500787"/>
            <a:ext cx="885782" cy="948317"/>
          </a:xfrm>
          <a:prstGeom prst="homePlate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dirty="0"/>
              <a:t>顧客</a:t>
            </a:r>
            <a:br>
              <a:rPr lang="en-US" altLang="ja-JP" sz="1200" dirty="0"/>
            </a:br>
            <a:r>
              <a:rPr lang="en-US" altLang="ja-JP" sz="1200" dirty="0"/>
              <a:t>×</a:t>
            </a:r>
            <a:br>
              <a:rPr lang="en-US" altLang="ja-JP" sz="1200" dirty="0"/>
            </a:br>
            <a:r>
              <a:rPr lang="en-US" altLang="ja-JP" sz="1200" dirty="0"/>
              <a:t>Route</a:t>
            </a:r>
            <a:endParaRPr lang="ja-JP" altLang="en-US" sz="120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ACEF9E9-5A7C-4021-A35A-1A3B732BFECA}"/>
              </a:ext>
            </a:extLst>
          </p:cNvPr>
          <p:cNvSpPr/>
          <p:nvPr/>
        </p:nvSpPr>
        <p:spPr>
          <a:xfrm>
            <a:off x="750579" y="2204864"/>
            <a:ext cx="4301305" cy="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SG" sz="1400" dirty="0">
                <a:solidFill>
                  <a:schemeClr val="tx1"/>
                </a:solidFill>
              </a:rPr>
              <a:t>BKG</a:t>
            </a:r>
            <a:r>
              <a:rPr lang="ja-JP" altLang="en-US" sz="1400" dirty="0">
                <a:solidFill>
                  <a:schemeClr val="tx1"/>
                </a:solidFill>
              </a:rPr>
              <a:t>の割り当て粒度</a:t>
            </a:r>
            <a:endParaRPr kumimoji="1" lang="en-SG" sz="1400" dirty="0">
              <a:solidFill>
                <a:schemeClr val="tx1"/>
              </a:solidFill>
            </a:endParaRPr>
          </a:p>
        </p:txBody>
      </p:sp>
      <p:sp>
        <p:nvSpPr>
          <p:cNvPr id="107" name="Rectangle 105">
            <a:extLst>
              <a:ext uri="{FF2B5EF4-FFF2-40B4-BE49-F238E27FC236}">
                <a16:creationId xmlns:a16="http://schemas.microsoft.com/office/drawing/2014/main" id="{E051FB58-3318-44AF-98CB-63C033246363}"/>
              </a:ext>
            </a:extLst>
          </p:cNvPr>
          <p:cNvSpPr/>
          <p:nvPr/>
        </p:nvSpPr>
        <p:spPr>
          <a:xfrm>
            <a:off x="5451086" y="2204864"/>
            <a:ext cx="6297542" cy="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SG" sz="1400" dirty="0">
                <a:solidFill>
                  <a:schemeClr val="tx1"/>
                </a:solidFill>
              </a:rPr>
              <a:t>BKG Control</a:t>
            </a:r>
            <a:r>
              <a:rPr lang="ja-JP" altLang="en-US" sz="1400" dirty="0">
                <a:solidFill>
                  <a:schemeClr val="tx1"/>
                </a:solidFill>
              </a:rPr>
              <a:t>において達成すべき事項</a:t>
            </a:r>
            <a:endParaRPr kumimoji="1" lang="en-SG" sz="1400" dirty="0">
              <a:solidFill>
                <a:schemeClr val="tx1"/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64EC9C6C-B3BB-4BA1-BBCF-D2240F5C5806}"/>
              </a:ext>
            </a:extLst>
          </p:cNvPr>
          <p:cNvCxnSpPr>
            <a:cxnSpLocks/>
          </p:cNvCxnSpPr>
          <p:nvPr/>
        </p:nvCxnSpPr>
        <p:spPr>
          <a:xfrm>
            <a:off x="1919048" y="3941745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F9EBC666-F63A-4790-8CBA-F6E0CE956797}"/>
              </a:ext>
            </a:extLst>
          </p:cNvPr>
          <p:cNvCxnSpPr>
            <a:cxnSpLocks/>
          </p:cNvCxnSpPr>
          <p:nvPr/>
        </p:nvCxnSpPr>
        <p:spPr>
          <a:xfrm>
            <a:off x="1919048" y="4960696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フローチャート: 結合子 26">
            <a:extLst>
              <a:ext uri="{FF2B5EF4-FFF2-40B4-BE49-F238E27FC236}">
                <a16:creationId xmlns:a16="http://schemas.microsoft.com/office/drawing/2014/main" id="{F1E90895-377B-4D0A-AAA2-B3015D5238D4}"/>
              </a:ext>
            </a:extLst>
          </p:cNvPr>
          <p:cNvSpPr/>
          <p:nvPr/>
        </p:nvSpPr>
        <p:spPr>
          <a:xfrm>
            <a:off x="1992285" y="3733128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1" name="フローチャート: 結合子 26">
            <a:extLst>
              <a:ext uri="{FF2B5EF4-FFF2-40B4-BE49-F238E27FC236}">
                <a16:creationId xmlns:a16="http://schemas.microsoft.com/office/drawing/2014/main" id="{B507F189-F239-40B7-A7B0-00B4BDD04936}"/>
              </a:ext>
            </a:extLst>
          </p:cNvPr>
          <p:cNvSpPr/>
          <p:nvPr/>
        </p:nvSpPr>
        <p:spPr>
          <a:xfrm>
            <a:off x="1992285" y="4744832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4" name="矢印: 五方向 113">
            <a:extLst>
              <a:ext uri="{FF2B5EF4-FFF2-40B4-BE49-F238E27FC236}">
                <a16:creationId xmlns:a16="http://schemas.microsoft.com/office/drawing/2014/main" id="{D09A7647-AC1B-4A19-A2E3-727E79EC181B}"/>
              </a:ext>
            </a:extLst>
          </p:cNvPr>
          <p:cNvSpPr/>
          <p:nvPr/>
        </p:nvSpPr>
        <p:spPr>
          <a:xfrm>
            <a:off x="7245859" y="2415857"/>
            <a:ext cx="4502769" cy="581096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lIns="144000" rtlCol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ja-JP" altLang="en-US" sz="1200" dirty="0"/>
              <a:t>契約別の戦略</a:t>
            </a:r>
            <a:r>
              <a:rPr lang="en-US" altLang="ja-JP" sz="1200" dirty="0"/>
              <a:t>Portfolio</a:t>
            </a:r>
            <a:r>
              <a:rPr lang="ja-JP" altLang="en-US" sz="1200" dirty="0"/>
              <a:t>の内訳としての、</a:t>
            </a:r>
            <a:r>
              <a:rPr lang="ja-JP" altLang="en-US" sz="1200" b="1" u="sng" dirty="0"/>
              <a:t>最適な</a:t>
            </a:r>
            <a:r>
              <a:rPr lang="en-US" altLang="ja-JP" sz="1200" b="1" u="sng" dirty="0"/>
              <a:t>LT</a:t>
            </a:r>
            <a:r>
              <a:rPr lang="ja-JP" altLang="en-US" sz="1200" b="1" u="sng" dirty="0"/>
              <a:t>の「顧客</a:t>
            </a:r>
            <a:r>
              <a:rPr lang="en-US" altLang="ja-JP" sz="1200" b="1" u="sng" dirty="0"/>
              <a:t>×Route</a:t>
            </a:r>
            <a:r>
              <a:rPr lang="ja-JP" altLang="en-US" sz="1200" b="1" u="sng" dirty="0"/>
              <a:t>」</a:t>
            </a:r>
            <a:r>
              <a:rPr lang="en-US" altLang="ja-JP" sz="1200" b="1" u="sng" dirty="0"/>
              <a:t>Portfolio</a:t>
            </a:r>
            <a:r>
              <a:rPr lang="ja-JP" altLang="en-US" sz="1200" b="1" u="sng" dirty="0"/>
              <a:t>、</a:t>
            </a:r>
            <a:r>
              <a:rPr lang="en-US" altLang="ja-JP" sz="1200" b="1" u="sng" dirty="0"/>
              <a:t>ST</a:t>
            </a:r>
            <a:r>
              <a:rPr lang="ja-JP" altLang="en-US" sz="1200" b="1" u="sng" dirty="0"/>
              <a:t>の「顧客」</a:t>
            </a:r>
            <a:r>
              <a:rPr lang="en-US" altLang="ja-JP" sz="1200" b="1" u="sng" dirty="0"/>
              <a:t>Portfolio</a:t>
            </a:r>
            <a:r>
              <a:rPr lang="ja-JP" altLang="en-US" sz="1200" b="1" u="sng" dirty="0"/>
              <a:t>となる契約（</a:t>
            </a:r>
            <a:r>
              <a:rPr lang="en-US" altLang="ja-JP" sz="1200" b="1" u="sng" dirty="0"/>
              <a:t>Award</a:t>
            </a:r>
            <a:r>
              <a:rPr lang="ja-JP" altLang="en-US" sz="1200" b="1" u="sng" dirty="0"/>
              <a:t>）実現</a:t>
            </a:r>
            <a:endParaRPr lang="en-US" altLang="ja-JP" sz="1200" b="1" u="sng" dirty="0"/>
          </a:p>
        </p:txBody>
      </p:sp>
      <p:sp>
        <p:nvSpPr>
          <p:cNvPr id="115" name="矢印: 五方向 114">
            <a:extLst>
              <a:ext uri="{FF2B5EF4-FFF2-40B4-BE49-F238E27FC236}">
                <a16:creationId xmlns:a16="http://schemas.microsoft.com/office/drawing/2014/main" id="{391A6FD5-E4D2-46F9-BA11-854AB3B61004}"/>
              </a:ext>
            </a:extLst>
          </p:cNvPr>
          <p:cNvSpPr/>
          <p:nvPr/>
        </p:nvSpPr>
        <p:spPr>
          <a:xfrm>
            <a:off x="5915980" y="2419027"/>
            <a:ext cx="1251473" cy="581096"/>
          </a:xfrm>
          <a:prstGeom prst="homePlat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b="1" dirty="0"/>
              <a:t>Annual Plan</a:t>
            </a:r>
            <a:br>
              <a:rPr lang="en-US" altLang="ja-JP" sz="1200" b="1" dirty="0"/>
            </a:br>
            <a:r>
              <a:rPr lang="en-US" altLang="ja-JP" sz="1200" b="1" dirty="0"/>
              <a:t>Portfolio</a:t>
            </a:r>
            <a:endParaRPr lang="ja-JP" altLang="en-US" sz="1200" b="1" dirty="0"/>
          </a:p>
        </p:txBody>
      </p:sp>
      <p:sp>
        <p:nvSpPr>
          <p:cNvPr id="116" name="矢印: 五方向 115">
            <a:extLst>
              <a:ext uri="{FF2B5EF4-FFF2-40B4-BE49-F238E27FC236}">
                <a16:creationId xmlns:a16="http://schemas.microsoft.com/office/drawing/2014/main" id="{AB2FF7E8-4B69-40A6-ABA3-F36C5908B604}"/>
              </a:ext>
            </a:extLst>
          </p:cNvPr>
          <p:cNvSpPr/>
          <p:nvPr/>
        </p:nvSpPr>
        <p:spPr>
          <a:xfrm>
            <a:off x="7245859" y="3091723"/>
            <a:ext cx="4502769" cy="581096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lIns="144000" rtlCol="0" anchor="ctr">
            <a:noAutofit/>
          </a:bodyPr>
          <a:lstStyle/>
          <a:p>
            <a:pPr marL="180975" indent="-180975">
              <a:lnSpc>
                <a:spcPts val="1400"/>
              </a:lnSpc>
            </a:pPr>
            <a:r>
              <a:rPr lang="ja-JP" altLang="en-US" sz="1200" dirty="0"/>
              <a:t>直近状況を踏まえた</a:t>
            </a:r>
            <a:r>
              <a:rPr lang="ja-JP" altLang="en-US" sz="1200" b="1" u="sng" dirty="0"/>
              <a:t>契約別</a:t>
            </a:r>
            <a:r>
              <a:rPr lang="en-US" altLang="ja-JP" sz="1200" b="1" u="sng" dirty="0"/>
              <a:t>Portfolio</a:t>
            </a:r>
            <a:r>
              <a:rPr lang="ja-JP" altLang="en-US" sz="1200" b="1" u="sng" dirty="0"/>
              <a:t>方針のアップデート</a:t>
            </a:r>
            <a:endParaRPr lang="en-US" altLang="ja-JP" sz="1200" b="1" u="sng" dirty="0"/>
          </a:p>
          <a:p>
            <a:pPr marL="444500" indent="-271463">
              <a:lnSpc>
                <a:spcPts val="1400"/>
              </a:lnSpc>
            </a:pPr>
            <a:r>
              <a:rPr lang="en-US" altLang="ja-JP" sz="1050" dirty="0"/>
              <a:t>ex)  </a:t>
            </a:r>
            <a:r>
              <a:rPr lang="ja-JP" altLang="en-US" sz="1050" dirty="0"/>
              <a:t>「価格上昇局面のため、可能な限り</a:t>
            </a:r>
            <a:r>
              <a:rPr lang="en-US" altLang="ja-JP" sz="1050" dirty="0"/>
              <a:t>ST/Spot</a:t>
            </a:r>
            <a:r>
              <a:rPr lang="ja-JP" altLang="en-US" sz="1050" dirty="0"/>
              <a:t>比率を上げ</a:t>
            </a:r>
            <a:r>
              <a:rPr lang="en-US" altLang="ja-JP" sz="1050" dirty="0"/>
              <a:t>X%</a:t>
            </a:r>
            <a:r>
              <a:rPr lang="ja-JP" altLang="en-US" sz="1050" dirty="0"/>
              <a:t>とする」や逆に、「下落局面のため、</a:t>
            </a:r>
            <a:r>
              <a:rPr lang="en-US" altLang="ja-JP" sz="1050" dirty="0"/>
              <a:t>LT</a:t>
            </a:r>
            <a:r>
              <a:rPr lang="ja-JP" altLang="en-US" sz="1050" dirty="0"/>
              <a:t>比率を上げ</a:t>
            </a:r>
            <a:r>
              <a:rPr lang="en-US" altLang="ja-JP" sz="1050" dirty="0"/>
              <a:t>X%</a:t>
            </a:r>
            <a:r>
              <a:rPr lang="ja-JP" altLang="en-US" sz="1050" dirty="0"/>
              <a:t>とする」など</a:t>
            </a:r>
            <a:endParaRPr lang="ja-JP" altLang="en-US" sz="1100" dirty="0"/>
          </a:p>
        </p:txBody>
      </p:sp>
      <p:sp>
        <p:nvSpPr>
          <p:cNvPr id="112" name="フローチャート: 結合子 26">
            <a:extLst>
              <a:ext uri="{FF2B5EF4-FFF2-40B4-BE49-F238E27FC236}">
                <a16:creationId xmlns:a16="http://schemas.microsoft.com/office/drawing/2014/main" id="{727381C5-AF2F-4635-AA63-099194830F1B}"/>
              </a:ext>
            </a:extLst>
          </p:cNvPr>
          <p:cNvSpPr/>
          <p:nvPr/>
        </p:nvSpPr>
        <p:spPr>
          <a:xfrm>
            <a:off x="5860221" y="2378294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4" name="矢印: 五方向 123">
            <a:extLst>
              <a:ext uri="{FF2B5EF4-FFF2-40B4-BE49-F238E27FC236}">
                <a16:creationId xmlns:a16="http://schemas.microsoft.com/office/drawing/2014/main" id="{3A6B0D33-F938-4C65-AEF4-699C68BEC165}"/>
              </a:ext>
            </a:extLst>
          </p:cNvPr>
          <p:cNvSpPr/>
          <p:nvPr/>
        </p:nvSpPr>
        <p:spPr>
          <a:xfrm>
            <a:off x="5915980" y="3091723"/>
            <a:ext cx="1251473" cy="581096"/>
          </a:xfrm>
          <a:prstGeom prst="homePlat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b="1" dirty="0"/>
              <a:t>Pre-Execution</a:t>
            </a:r>
            <a:br>
              <a:rPr lang="en-US" altLang="ja-JP" sz="1200" b="1" dirty="0"/>
            </a:br>
            <a:r>
              <a:rPr lang="en-US" altLang="ja-JP" sz="1200" b="1" dirty="0"/>
              <a:t>Portfolio</a:t>
            </a:r>
          </a:p>
        </p:txBody>
      </p: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2BDD16F7-18FA-4BBE-AE34-5DCE0752CE71}"/>
              </a:ext>
            </a:extLst>
          </p:cNvPr>
          <p:cNvCxnSpPr>
            <a:cxnSpLocks/>
          </p:cNvCxnSpPr>
          <p:nvPr/>
        </p:nvCxnSpPr>
        <p:spPr>
          <a:xfrm>
            <a:off x="2917292" y="3941745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フローチャート: 結合子 26">
            <a:extLst>
              <a:ext uri="{FF2B5EF4-FFF2-40B4-BE49-F238E27FC236}">
                <a16:creationId xmlns:a16="http://schemas.microsoft.com/office/drawing/2014/main" id="{1525640C-B756-41F9-BC92-036837BF6F73}"/>
              </a:ext>
            </a:extLst>
          </p:cNvPr>
          <p:cNvSpPr/>
          <p:nvPr/>
        </p:nvSpPr>
        <p:spPr>
          <a:xfrm>
            <a:off x="2990529" y="3733128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4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矢印: 五方向 126">
            <a:extLst>
              <a:ext uri="{FF2B5EF4-FFF2-40B4-BE49-F238E27FC236}">
                <a16:creationId xmlns:a16="http://schemas.microsoft.com/office/drawing/2014/main" id="{F9656FDA-2220-44EE-9797-B0120B30E110}"/>
              </a:ext>
            </a:extLst>
          </p:cNvPr>
          <p:cNvSpPr/>
          <p:nvPr/>
        </p:nvSpPr>
        <p:spPr>
          <a:xfrm>
            <a:off x="7245859" y="3764419"/>
            <a:ext cx="4502769" cy="581096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lIns="144000" rtlCol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ja-JP" altLang="en-US" sz="1200" dirty="0"/>
              <a:t>契約別</a:t>
            </a:r>
            <a:r>
              <a:rPr lang="en-US" altLang="ja-JP" sz="1200" dirty="0"/>
              <a:t>Portfolio</a:t>
            </a:r>
            <a:r>
              <a:rPr lang="ja-JP" altLang="en-US" sz="1200" dirty="0"/>
              <a:t>方針も考慮したうえでの、</a:t>
            </a:r>
            <a:r>
              <a:rPr lang="ja-JP" altLang="en-US" sz="1200" b="1" u="sng" dirty="0"/>
              <a:t>最適な</a:t>
            </a:r>
            <a:r>
              <a:rPr lang="en-US" altLang="ja-JP" sz="1200" b="1" u="sng" dirty="0"/>
              <a:t>ST</a:t>
            </a:r>
            <a:r>
              <a:rPr lang="ja-JP" altLang="en-US" sz="1200" b="1" u="sng" dirty="0"/>
              <a:t>の「顧客</a:t>
            </a:r>
            <a:r>
              <a:rPr lang="en-US" altLang="ja-JP" sz="1200" b="1" u="sng" dirty="0"/>
              <a:t>×Route</a:t>
            </a:r>
            <a:r>
              <a:rPr lang="ja-JP" altLang="en-US" sz="1200" b="1" u="sng" dirty="0"/>
              <a:t>」</a:t>
            </a:r>
            <a:r>
              <a:rPr lang="en-US" altLang="ja-JP" sz="1200" b="1" u="sng" dirty="0"/>
              <a:t>Portfolio</a:t>
            </a:r>
            <a:r>
              <a:rPr lang="ja-JP" altLang="en-US" sz="1200" b="1" u="sng" dirty="0"/>
              <a:t>となる、顧客が限りなく実現可能な</a:t>
            </a:r>
            <a:r>
              <a:rPr lang="en-US" altLang="ja-JP" sz="1200" b="1" u="sng" dirty="0"/>
              <a:t>AP</a:t>
            </a:r>
            <a:r>
              <a:rPr lang="ja-JP" altLang="en-US" sz="1200" b="1" u="sng" dirty="0"/>
              <a:t>策定</a:t>
            </a:r>
          </a:p>
        </p:txBody>
      </p:sp>
      <p:sp>
        <p:nvSpPr>
          <p:cNvPr id="128" name="矢印: 五方向 127">
            <a:extLst>
              <a:ext uri="{FF2B5EF4-FFF2-40B4-BE49-F238E27FC236}">
                <a16:creationId xmlns:a16="http://schemas.microsoft.com/office/drawing/2014/main" id="{F0E7F0B8-2812-4AF4-870E-F6E49B8C9402}"/>
              </a:ext>
            </a:extLst>
          </p:cNvPr>
          <p:cNvSpPr/>
          <p:nvPr/>
        </p:nvSpPr>
        <p:spPr>
          <a:xfrm>
            <a:off x="5915980" y="3764419"/>
            <a:ext cx="1251473" cy="581096"/>
          </a:xfrm>
          <a:prstGeom prst="homePlate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b="1" dirty="0"/>
              <a:t>Short Term</a:t>
            </a:r>
            <a:br>
              <a:rPr lang="en-US" altLang="ja-JP" sz="1200" b="1" dirty="0"/>
            </a:br>
            <a:r>
              <a:rPr lang="en-US" altLang="ja-JP" sz="1200" b="1" dirty="0"/>
              <a:t>Portfolio</a:t>
            </a:r>
            <a:endParaRPr lang="ja-JP" altLang="en-US" sz="1200" b="1" dirty="0"/>
          </a:p>
        </p:txBody>
      </p:sp>
      <p:sp>
        <p:nvSpPr>
          <p:cNvPr id="129" name="矢印: 五方向 128">
            <a:extLst>
              <a:ext uri="{FF2B5EF4-FFF2-40B4-BE49-F238E27FC236}">
                <a16:creationId xmlns:a16="http://schemas.microsoft.com/office/drawing/2014/main" id="{B5773F10-07F8-4435-8991-DB6CF5405AA0}"/>
              </a:ext>
            </a:extLst>
          </p:cNvPr>
          <p:cNvSpPr/>
          <p:nvPr/>
        </p:nvSpPr>
        <p:spPr>
          <a:xfrm>
            <a:off x="7245859" y="4437115"/>
            <a:ext cx="4502769" cy="581096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lIns="144000" rtlCol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ja-JP" altLang="en-US" sz="1200" dirty="0"/>
              <a:t>直近の顧客の実態を踏まえ、契約別</a:t>
            </a:r>
            <a:r>
              <a:rPr lang="en-US" altLang="ja-JP" sz="1200" dirty="0"/>
              <a:t>Portfolio</a:t>
            </a:r>
            <a:r>
              <a:rPr lang="ja-JP" altLang="en-US" sz="1200" dirty="0"/>
              <a:t>方針も考慮したうえでの、</a:t>
            </a:r>
            <a:r>
              <a:rPr lang="ja-JP" altLang="en-US" sz="1200" b="1" u="sng" dirty="0"/>
              <a:t>顧客が限りなく実現可能な</a:t>
            </a:r>
            <a:r>
              <a:rPr lang="en-US" altLang="ja-JP" sz="1200" b="1" u="sng" dirty="0"/>
              <a:t>AP</a:t>
            </a:r>
            <a:r>
              <a:rPr lang="ja-JP" altLang="en-US" sz="1200" b="1" u="sng" dirty="0"/>
              <a:t>の策定</a:t>
            </a:r>
            <a:endParaRPr lang="ja-JP" altLang="en-US" sz="1100" b="1" u="sng" dirty="0"/>
          </a:p>
        </p:txBody>
      </p:sp>
      <p:sp>
        <p:nvSpPr>
          <p:cNvPr id="130" name="矢印: 五方向 129">
            <a:extLst>
              <a:ext uri="{FF2B5EF4-FFF2-40B4-BE49-F238E27FC236}">
                <a16:creationId xmlns:a16="http://schemas.microsoft.com/office/drawing/2014/main" id="{FAA2AB55-2161-421E-90B0-25391F0BF970}"/>
              </a:ext>
            </a:extLst>
          </p:cNvPr>
          <p:cNvSpPr/>
          <p:nvPr/>
        </p:nvSpPr>
        <p:spPr>
          <a:xfrm>
            <a:off x="5451086" y="4437115"/>
            <a:ext cx="1716367" cy="581096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b="1" dirty="0">
                <a:solidFill>
                  <a:schemeClr val="bg1"/>
                </a:solidFill>
              </a:rPr>
              <a:t>AP</a:t>
            </a:r>
            <a:r>
              <a:rPr lang="ja-JP" altLang="en-US" sz="1200" b="1" dirty="0">
                <a:solidFill>
                  <a:schemeClr val="bg1"/>
                </a:solidFill>
              </a:rPr>
              <a:t>精緻化</a:t>
            </a:r>
          </a:p>
        </p:txBody>
      </p: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A77302BB-80D6-40C9-A25B-E31ECF8B25AE}"/>
              </a:ext>
            </a:extLst>
          </p:cNvPr>
          <p:cNvCxnSpPr>
            <a:cxnSpLocks/>
          </p:cNvCxnSpPr>
          <p:nvPr/>
        </p:nvCxnSpPr>
        <p:spPr>
          <a:xfrm>
            <a:off x="2917292" y="4960696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フローチャート: 結合子 26">
            <a:extLst>
              <a:ext uri="{FF2B5EF4-FFF2-40B4-BE49-F238E27FC236}">
                <a16:creationId xmlns:a16="http://schemas.microsoft.com/office/drawing/2014/main" id="{FF2F9443-0338-43B5-B53D-968B3AD1831D}"/>
              </a:ext>
            </a:extLst>
          </p:cNvPr>
          <p:cNvSpPr/>
          <p:nvPr/>
        </p:nvSpPr>
        <p:spPr>
          <a:xfrm>
            <a:off x="2990529" y="4744832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3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矢印: 五方向 134">
            <a:extLst>
              <a:ext uri="{FF2B5EF4-FFF2-40B4-BE49-F238E27FC236}">
                <a16:creationId xmlns:a16="http://schemas.microsoft.com/office/drawing/2014/main" id="{07D4BC70-F888-465A-8F27-3AEEAB860B2D}"/>
              </a:ext>
            </a:extLst>
          </p:cNvPr>
          <p:cNvSpPr/>
          <p:nvPr/>
        </p:nvSpPr>
        <p:spPr>
          <a:xfrm>
            <a:off x="7245859" y="5109809"/>
            <a:ext cx="4502769" cy="581096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lIns="144000" rtlCol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altLang="ja-JP" sz="1200" dirty="0"/>
              <a:t>BKG</a:t>
            </a:r>
            <a:r>
              <a:rPr lang="ja-JP" altLang="en-US" sz="1200" dirty="0"/>
              <a:t>の適切な受け入れと、</a:t>
            </a:r>
            <a:r>
              <a:rPr lang="en-US" altLang="ja-JP" sz="1200" dirty="0"/>
              <a:t>BKG</a:t>
            </a:r>
            <a:r>
              <a:rPr lang="ja-JP" altLang="en-US" sz="1200" dirty="0"/>
              <a:t>状況による顧客のトレースによりう、</a:t>
            </a:r>
            <a:r>
              <a:rPr lang="ja-JP" altLang="en-US" sz="1200" b="1" u="sng" dirty="0"/>
              <a:t>可能な限り</a:t>
            </a:r>
            <a:r>
              <a:rPr lang="en-US" altLang="ja-JP" sz="1200" b="1" u="sng" dirty="0"/>
              <a:t>AP</a:t>
            </a:r>
            <a:r>
              <a:rPr lang="ja-JP" altLang="en-US" sz="1200" b="1" u="sng" dirty="0"/>
              <a:t>通りの</a:t>
            </a:r>
            <a:r>
              <a:rPr lang="en-US" altLang="ja-JP" sz="1200" b="1" u="sng" dirty="0"/>
              <a:t>BKG</a:t>
            </a:r>
            <a:r>
              <a:rPr lang="ja-JP" altLang="en-US" sz="1200" b="1" u="sng" dirty="0"/>
              <a:t>を実現</a:t>
            </a:r>
            <a:r>
              <a:rPr lang="ja-JP" altLang="en-US" sz="1200" dirty="0"/>
              <a:t>。</a:t>
            </a:r>
            <a:r>
              <a:rPr lang="ja-JP" altLang="en-US" sz="1200" b="1" u="sng" dirty="0"/>
              <a:t>変更がある場合は</a:t>
            </a:r>
            <a:r>
              <a:rPr lang="en-US" altLang="ja-JP" sz="1200" b="1" u="sng" dirty="0"/>
              <a:t>Spot AP</a:t>
            </a:r>
            <a:r>
              <a:rPr lang="ja-JP" altLang="en-US" sz="1200" b="1" u="sng" dirty="0"/>
              <a:t>への即座の反映</a:t>
            </a:r>
            <a:endParaRPr lang="ja-JP" altLang="en-US" sz="1100" b="1" u="sng" dirty="0"/>
          </a:p>
        </p:txBody>
      </p:sp>
      <p:sp>
        <p:nvSpPr>
          <p:cNvPr id="136" name="矢印: 五方向 135">
            <a:extLst>
              <a:ext uri="{FF2B5EF4-FFF2-40B4-BE49-F238E27FC236}">
                <a16:creationId xmlns:a16="http://schemas.microsoft.com/office/drawing/2014/main" id="{9698FA9A-884B-41A8-9D8A-6F64A097B039}"/>
              </a:ext>
            </a:extLst>
          </p:cNvPr>
          <p:cNvSpPr/>
          <p:nvPr/>
        </p:nvSpPr>
        <p:spPr>
          <a:xfrm>
            <a:off x="5451086" y="5109809"/>
            <a:ext cx="1716367" cy="581096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altLang="ja-JP" sz="1200" b="1" dirty="0">
                <a:solidFill>
                  <a:schemeClr val="bg1"/>
                </a:solidFill>
              </a:rPr>
              <a:t>AP</a:t>
            </a:r>
            <a:r>
              <a:rPr lang="ja-JP" altLang="en-US" sz="1200" b="1" dirty="0">
                <a:solidFill>
                  <a:schemeClr val="bg1"/>
                </a:solidFill>
              </a:rPr>
              <a:t>実現</a:t>
            </a:r>
          </a:p>
        </p:txBody>
      </p:sp>
      <p:cxnSp>
        <p:nvCxnSpPr>
          <p:cNvPr id="137" name="直線矢印コネクタ 136">
            <a:extLst>
              <a:ext uri="{FF2B5EF4-FFF2-40B4-BE49-F238E27FC236}">
                <a16:creationId xmlns:a16="http://schemas.microsoft.com/office/drawing/2014/main" id="{69930DB0-5F0E-4BAB-9F72-FEF13A96B464}"/>
              </a:ext>
            </a:extLst>
          </p:cNvPr>
          <p:cNvCxnSpPr>
            <a:cxnSpLocks/>
          </p:cNvCxnSpPr>
          <p:nvPr/>
        </p:nvCxnSpPr>
        <p:spPr>
          <a:xfrm>
            <a:off x="3944435" y="4960696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フローチャート: 結合子 26">
            <a:extLst>
              <a:ext uri="{FF2B5EF4-FFF2-40B4-BE49-F238E27FC236}">
                <a16:creationId xmlns:a16="http://schemas.microsoft.com/office/drawing/2014/main" id="{C5249228-0CFD-4F1C-8F4D-169297B94800}"/>
              </a:ext>
            </a:extLst>
          </p:cNvPr>
          <p:cNvSpPr/>
          <p:nvPr/>
        </p:nvSpPr>
        <p:spPr>
          <a:xfrm>
            <a:off x="4017672" y="4744832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5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6612B79B-926E-4454-807A-6626C4DE8B7D}"/>
              </a:ext>
            </a:extLst>
          </p:cNvPr>
          <p:cNvCxnSpPr>
            <a:cxnSpLocks/>
          </p:cNvCxnSpPr>
          <p:nvPr/>
        </p:nvCxnSpPr>
        <p:spPr>
          <a:xfrm>
            <a:off x="3944435" y="3941745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フローチャート: 結合子 26">
            <a:extLst>
              <a:ext uri="{FF2B5EF4-FFF2-40B4-BE49-F238E27FC236}">
                <a16:creationId xmlns:a16="http://schemas.microsoft.com/office/drawing/2014/main" id="{767878BC-AA68-412A-8A60-5AC77C670674}"/>
              </a:ext>
            </a:extLst>
          </p:cNvPr>
          <p:cNvSpPr/>
          <p:nvPr/>
        </p:nvSpPr>
        <p:spPr>
          <a:xfrm>
            <a:off x="4017672" y="3733128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5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42" name="直線矢印コネクタ 141">
            <a:extLst>
              <a:ext uri="{FF2B5EF4-FFF2-40B4-BE49-F238E27FC236}">
                <a16:creationId xmlns:a16="http://schemas.microsoft.com/office/drawing/2014/main" id="{E135DF14-E07C-495C-9FA1-E1C31F7768A3}"/>
              </a:ext>
            </a:extLst>
          </p:cNvPr>
          <p:cNvCxnSpPr>
            <a:cxnSpLocks/>
          </p:cNvCxnSpPr>
          <p:nvPr/>
        </p:nvCxnSpPr>
        <p:spPr>
          <a:xfrm>
            <a:off x="3944435" y="5985357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フローチャート: 結合子 26">
            <a:extLst>
              <a:ext uri="{FF2B5EF4-FFF2-40B4-BE49-F238E27FC236}">
                <a16:creationId xmlns:a16="http://schemas.microsoft.com/office/drawing/2014/main" id="{CF703CDF-89A2-433D-BD4C-88156979A942}"/>
              </a:ext>
            </a:extLst>
          </p:cNvPr>
          <p:cNvSpPr/>
          <p:nvPr/>
        </p:nvSpPr>
        <p:spPr>
          <a:xfrm>
            <a:off x="4017672" y="5776740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6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矢印: 五方向 143">
            <a:extLst>
              <a:ext uri="{FF2B5EF4-FFF2-40B4-BE49-F238E27FC236}">
                <a16:creationId xmlns:a16="http://schemas.microsoft.com/office/drawing/2014/main" id="{CB4808B4-9B57-48CB-84E3-190A325AD994}"/>
              </a:ext>
            </a:extLst>
          </p:cNvPr>
          <p:cNvSpPr/>
          <p:nvPr/>
        </p:nvSpPr>
        <p:spPr>
          <a:xfrm>
            <a:off x="7245859" y="5776740"/>
            <a:ext cx="4502769" cy="581096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lIns="144000" rtlCol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altLang="ja-JP" sz="1200" dirty="0"/>
              <a:t>BKG</a:t>
            </a:r>
            <a:r>
              <a:rPr lang="ja-JP" altLang="en-US" sz="1200" dirty="0"/>
              <a:t>予測をもとに、 </a:t>
            </a:r>
            <a:r>
              <a:rPr lang="en-US" altLang="ja-JP" sz="1200" dirty="0"/>
              <a:t>ONE</a:t>
            </a:r>
            <a:r>
              <a:rPr lang="ja-JP" altLang="en-US" sz="1200" dirty="0"/>
              <a:t> </a:t>
            </a:r>
            <a:r>
              <a:rPr lang="en-US" altLang="ja-JP" sz="1200" dirty="0"/>
              <a:t>QUOTE/Dynamic Pricing</a:t>
            </a:r>
            <a:r>
              <a:rPr lang="ja-JP" altLang="en-US" sz="1200" dirty="0"/>
              <a:t>を駆使した</a:t>
            </a:r>
            <a:r>
              <a:rPr lang="ja-JP" altLang="en-US" sz="1200" b="1" u="sng" dirty="0"/>
              <a:t>残キャパ分の</a:t>
            </a:r>
            <a:r>
              <a:rPr lang="en-US" altLang="ja-JP" sz="1200" b="1" u="sng" dirty="0"/>
              <a:t>BKG</a:t>
            </a:r>
            <a:r>
              <a:rPr lang="ja-JP" altLang="en-US" sz="1200" b="1" u="sng" dirty="0"/>
              <a:t>の獲得による消席率の最大化</a:t>
            </a:r>
            <a:endParaRPr lang="ja-JP" altLang="en-US" sz="1100" b="1" u="sng" dirty="0"/>
          </a:p>
        </p:txBody>
      </p:sp>
      <p:sp>
        <p:nvSpPr>
          <p:cNvPr id="145" name="矢印: 五方向 144">
            <a:extLst>
              <a:ext uri="{FF2B5EF4-FFF2-40B4-BE49-F238E27FC236}">
                <a16:creationId xmlns:a16="http://schemas.microsoft.com/office/drawing/2014/main" id="{994EF6CC-ABB6-43CF-940D-AF8FC06824DE}"/>
              </a:ext>
            </a:extLst>
          </p:cNvPr>
          <p:cNvSpPr/>
          <p:nvPr/>
        </p:nvSpPr>
        <p:spPr>
          <a:xfrm>
            <a:off x="5451086" y="5776740"/>
            <a:ext cx="1716367" cy="581096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vert="horz" wrap="square" rtlCol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lang="ja-JP" altLang="en-US" sz="1200" b="1" dirty="0">
                <a:solidFill>
                  <a:schemeClr val="bg1"/>
                </a:solidFill>
              </a:rPr>
              <a:t>消席率最大化</a:t>
            </a:r>
          </a:p>
        </p:txBody>
      </p:sp>
      <p:sp>
        <p:nvSpPr>
          <p:cNvPr id="146" name="フローチャート: 結合子 26">
            <a:extLst>
              <a:ext uri="{FF2B5EF4-FFF2-40B4-BE49-F238E27FC236}">
                <a16:creationId xmlns:a16="http://schemas.microsoft.com/office/drawing/2014/main" id="{DA86D915-66C8-4850-9B63-B214B8CA468F}"/>
              </a:ext>
            </a:extLst>
          </p:cNvPr>
          <p:cNvSpPr/>
          <p:nvPr/>
        </p:nvSpPr>
        <p:spPr>
          <a:xfrm>
            <a:off x="5860221" y="3038223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8" name="フローチャート: 結合子 26">
            <a:extLst>
              <a:ext uri="{FF2B5EF4-FFF2-40B4-BE49-F238E27FC236}">
                <a16:creationId xmlns:a16="http://schemas.microsoft.com/office/drawing/2014/main" id="{AF39C01D-AA0C-4B69-9840-F4454160D9D3}"/>
              </a:ext>
            </a:extLst>
          </p:cNvPr>
          <p:cNvSpPr/>
          <p:nvPr/>
        </p:nvSpPr>
        <p:spPr>
          <a:xfrm>
            <a:off x="5860221" y="3715540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3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9" name="フローチャート: 結合子 26">
            <a:extLst>
              <a:ext uri="{FF2B5EF4-FFF2-40B4-BE49-F238E27FC236}">
                <a16:creationId xmlns:a16="http://schemas.microsoft.com/office/drawing/2014/main" id="{5D582443-9576-4075-8B41-E994F1A2F84C}"/>
              </a:ext>
            </a:extLst>
          </p:cNvPr>
          <p:cNvSpPr/>
          <p:nvPr/>
        </p:nvSpPr>
        <p:spPr>
          <a:xfrm>
            <a:off x="5411883" y="4409644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4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0" name="フローチャート: 結合子 26">
            <a:extLst>
              <a:ext uri="{FF2B5EF4-FFF2-40B4-BE49-F238E27FC236}">
                <a16:creationId xmlns:a16="http://schemas.microsoft.com/office/drawing/2014/main" id="{6F88922D-FEA5-4A4F-951C-EAF254FDB41E}"/>
              </a:ext>
            </a:extLst>
          </p:cNvPr>
          <p:cNvSpPr/>
          <p:nvPr/>
        </p:nvSpPr>
        <p:spPr>
          <a:xfrm>
            <a:off x="5411883" y="5091461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5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1" name="フローチャート: 結合子 26">
            <a:extLst>
              <a:ext uri="{FF2B5EF4-FFF2-40B4-BE49-F238E27FC236}">
                <a16:creationId xmlns:a16="http://schemas.microsoft.com/office/drawing/2014/main" id="{6CC85DBC-4D1D-4900-9597-1713EE696199}"/>
              </a:ext>
            </a:extLst>
          </p:cNvPr>
          <p:cNvSpPr/>
          <p:nvPr/>
        </p:nvSpPr>
        <p:spPr>
          <a:xfrm>
            <a:off x="5411883" y="5744027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6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B55F0BFB-9505-4820-8892-1DB92E96A5DF}"/>
              </a:ext>
            </a:extLst>
          </p:cNvPr>
          <p:cNvCxnSpPr>
            <a:cxnSpLocks/>
          </p:cNvCxnSpPr>
          <p:nvPr/>
        </p:nvCxnSpPr>
        <p:spPr>
          <a:xfrm>
            <a:off x="2917292" y="5985357"/>
            <a:ext cx="37512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フローチャート: 結合子 26">
            <a:extLst>
              <a:ext uri="{FF2B5EF4-FFF2-40B4-BE49-F238E27FC236}">
                <a16:creationId xmlns:a16="http://schemas.microsoft.com/office/drawing/2014/main" id="{146606F6-3FD5-4840-BBD1-2F535DCE7A13}"/>
              </a:ext>
            </a:extLst>
          </p:cNvPr>
          <p:cNvSpPr/>
          <p:nvPr/>
        </p:nvSpPr>
        <p:spPr>
          <a:xfrm>
            <a:off x="2990529" y="5776740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フローチャート: 結合子 26">
            <a:extLst>
              <a:ext uri="{FF2B5EF4-FFF2-40B4-BE49-F238E27FC236}">
                <a16:creationId xmlns:a16="http://schemas.microsoft.com/office/drawing/2014/main" id="{FD03F81D-498A-4882-890C-0CCFD422954C}"/>
              </a:ext>
            </a:extLst>
          </p:cNvPr>
          <p:cNvSpPr/>
          <p:nvPr/>
        </p:nvSpPr>
        <p:spPr>
          <a:xfrm>
            <a:off x="2990529" y="3534559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フローチャート: 結合子 26">
            <a:extLst>
              <a:ext uri="{FF2B5EF4-FFF2-40B4-BE49-F238E27FC236}">
                <a16:creationId xmlns:a16="http://schemas.microsoft.com/office/drawing/2014/main" id="{EB0CC17B-7551-4763-ABFF-BDC5AC0B5B0C}"/>
              </a:ext>
            </a:extLst>
          </p:cNvPr>
          <p:cNvSpPr/>
          <p:nvPr/>
        </p:nvSpPr>
        <p:spPr>
          <a:xfrm>
            <a:off x="2990529" y="4547663"/>
            <a:ext cx="180000" cy="1800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62157B9-CD79-4A93-A29B-D009EAE4A80D}"/>
              </a:ext>
            </a:extLst>
          </p:cNvPr>
          <p:cNvSpPr/>
          <p:nvPr/>
        </p:nvSpPr>
        <p:spPr>
          <a:xfrm>
            <a:off x="11468436" y="42497"/>
            <a:ext cx="584298" cy="2955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b="1" dirty="0">
                <a:solidFill>
                  <a:schemeClr val="accent4"/>
                </a:solidFill>
              </a:rPr>
              <a:t>OCN</a:t>
            </a:r>
            <a:endParaRPr lang="ja-JP" altLang="en-US" sz="1050" b="1" dirty="0">
              <a:solidFill>
                <a:schemeClr val="accent4"/>
              </a:solidFill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8D340FE2-8E9D-46B7-9E82-623EB1C1C1F1}"/>
              </a:ext>
            </a:extLst>
          </p:cNvPr>
          <p:cNvSpPr/>
          <p:nvPr/>
        </p:nvSpPr>
        <p:spPr>
          <a:xfrm>
            <a:off x="11468436" y="378614"/>
            <a:ext cx="584298" cy="29555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IPC, T/S</a:t>
            </a:r>
            <a:b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altLang="ja-JP" sz="105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MT</a:t>
            </a:r>
            <a:endParaRPr lang="ja-JP" altLang="en-US" sz="105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4283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082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1&quot;&gt;&lt;elem m_fUsage=&quot;1.00000000000000000000E+00&quot;&gt;&lt;m_msothmcolidx val=&quot;0&quot;/&gt;&lt;m_rgb r=&quot;F6&quot; g=&quot;DA&quot; b=&quot;EA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  <p:tag name="LASTSLIDEVIEWED" val="2146847386,22,ステップ別/契約形態別のBKG Contro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0mjVAJ9HocVaDAHLhKd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qi4_YmnNWHS9ULzF42z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0mjVAJ9HocVaDAHLhKd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qi4_YmnNWHS9ULzF42z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0mjVAJ9HocVaDAHLhKd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qi4_YmnNWHS9ULzF42z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0mjVAJ9HocVaDAHLhKd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qi4_YmnNWHS9ULzF42z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0mjVAJ9HocVaDAHLhKd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qi4_YmnNWHS9ULzF42zQ"/>
</p:tagLst>
</file>

<file path=ppt/theme/theme1.xml><?xml version="1.0" encoding="utf-8"?>
<a:theme xmlns:a="http://schemas.openxmlformats.org/drawingml/2006/main" name="1_ONE PPT Template-16X9">
  <a:themeElements>
    <a:clrScheme name="Custom 7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BD0F72"/>
      </a:accent4>
      <a:accent5>
        <a:srgbClr val="DD1186"/>
      </a:accent5>
      <a:accent6>
        <a:srgbClr val="0033C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9525">
          <a:solidFill>
            <a:schemeClr val="accent4"/>
          </a:solidFill>
        </a:ln>
      </a:spPr>
      <a:bodyPr rtlCol="0" anchor="ctr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 anchor="ctr">
        <a:noAutofit/>
      </a:bodyPr>
      <a:lstStyle>
        <a:defPPr algn="ctr">
          <a:defRPr kumimoji="1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85568</TotalTime>
  <Words>6152</Words>
  <Application>Microsoft Office PowerPoint</Application>
  <PresentationFormat>ワイド画面</PresentationFormat>
  <Paragraphs>956</Paragraphs>
  <Slides>22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0" baseType="lpstr">
      <vt:lpstr>ＭＳ Ｐ明朝</vt:lpstr>
      <vt:lpstr>游ゴシック</vt:lpstr>
      <vt:lpstr>Arial</vt:lpstr>
      <vt:lpstr>Arial</vt:lpstr>
      <vt:lpstr>Arial Black</vt:lpstr>
      <vt:lpstr>Wingdings</vt:lpstr>
      <vt:lpstr>1_ONE PPT Template-16X9</vt:lpstr>
      <vt:lpstr>think-cell スライド</vt:lpstr>
      <vt:lpstr>Space Management Grand Design </vt:lpstr>
      <vt:lpstr>Space Management Grand Design</vt:lpstr>
      <vt:lpstr>Space Managementの目的</vt:lpstr>
      <vt:lpstr>目指すべき姿 (目的達成後のイメージ)</vt:lpstr>
      <vt:lpstr>Key Success Factor (KSF) for OCN</vt:lpstr>
      <vt:lpstr>将来ビジョン ～Space Managementの追求</vt:lpstr>
      <vt:lpstr>Space Management Grand Design (repost)</vt:lpstr>
      <vt:lpstr>   Space Management Principles</vt:lpstr>
      <vt:lpstr>   Identification and Organization of Targets</vt:lpstr>
      <vt:lpstr>   /     Targets linked with Tactics and Projects</vt:lpstr>
      <vt:lpstr>   OCN Process Flow (To-Be)</vt:lpstr>
      <vt:lpstr>   Digital Infrastructure for OCN (To Be)</vt:lpstr>
      <vt:lpstr>   Portfolio and BSA/Allocation</vt:lpstr>
      <vt:lpstr>   公共財の全社活用Project  (1) 新Unitの起ち上げ</vt:lpstr>
      <vt:lpstr>   公共財の全社活用Project  (2) 想定テーマ</vt:lpstr>
      <vt:lpstr>   Evaluation</vt:lpstr>
      <vt:lpstr>Appendices</vt:lpstr>
      <vt:lpstr>   正確なAPの策定</vt:lpstr>
      <vt:lpstr>   BKG Acceptance Rule</vt:lpstr>
      <vt:lpstr>ONE QUOTE Expansion</vt:lpstr>
      <vt:lpstr>公共財の全社活用方針</vt:lpstr>
      <vt:lpstr>ステップ別/契約形態別のBKG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Shoichiro Terada (JP)</dc:creator>
  <cp:lastModifiedBy>Yusuke Saito (JP)</cp:lastModifiedBy>
  <cp:revision>2570</cp:revision>
  <dcterms:created xsi:type="dcterms:W3CDTF">2021-02-28T06:59:27Z</dcterms:created>
  <dcterms:modified xsi:type="dcterms:W3CDTF">2023-03-10T03:56:42Z</dcterms:modified>
</cp:coreProperties>
</file>