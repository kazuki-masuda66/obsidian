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147481515" r:id="rId4"/>
    <p:sldId id="2147481514" r:id="rId5"/>
    <p:sldId id="2147481517" r:id="rId6"/>
    <p:sldId id="2147481516" r:id="rId7"/>
    <p:sldId id="2147481518" r:id="rId8"/>
    <p:sldId id="2147481519" r:id="rId9"/>
  </p:sldIdLst>
  <p:sldSz cx="12192000" cy="6858000"/>
  <p:notesSz cx="6858000" cy="9144000"/>
  <p:embeddedFontLst>
    <p:embeddedFont>
      <p:font typeface="Arial Black" panose="020B0A04020102020204" pitchFamily="34" charset="0"/>
      <p:regular r:id="rId11"/>
      <p:bold r:id="rId12"/>
    </p:embeddedFont>
    <p:embeddedFont>
      <p:font typeface="Quattrocento Sans" panose="020B0502050000020003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7537">
          <p15:clr>
            <a:srgbClr val="A4A3A4"/>
          </p15:clr>
        </p15:guide>
        <p15:guide id="3" pos="166">
          <p15:clr>
            <a:srgbClr val="A4A3A4"/>
          </p15:clr>
        </p15:guide>
        <p15:guide id="4" pos="3364">
          <p15:clr>
            <a:srgbClr val="A4A3A4"/>
          </p15:clr>
        </p15:guide>
        <p15:guide id="5" pos="7197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pos="1617">
          <p15:clr>
            <a:srgbClr val="A4A3A4"/>
          </p15:clr>
        </p15:guide>
        <p15:guide id="8" pos="3863">
          <p15:clr>
            <a:srgbClr val="A4A3A4"/>
          </p15:clr>
        </p15:guide>
        <p15:guide id="9" pos="4203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orient="horz" pos="731">
          <p15:clr>
            <a:srgbClr val="A4A3A4"/>
          </p15:clr>
        </p15:guide>
        <p15:guide id="12" orient="horz" pos="3838">
          <p15:clr>
            <a:srgbClr val="A4A3A4"/>
          </p15:clr>
        </p15:guide>
        <p15:guide id="13" orient="horz" pos="2886">
          <p15:clr>
            <a:srgbClr val="A4A3A4"/>
          </p15:clr>
        </p15:guide>
        <p15:guide id="14" pos="6834">
          <p15:clr>
            <a:srgbClr val="A4A3A4"/>
          </p15:clr>
        </p15:guide>
        <p15:guide id="15" orient="horz" pos="1933">
          <p15:clr>
            <a:srgbClr val="A4A3A4"/>
          </p15:clr>
        </p15:guide>
        <p15:guide id="16" orient="horz" pos="1979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hmckQI0B6MoGP/Hc720HLzX/T4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ABA590-6E5D-4167-9DA1-00E42A1A4966}">
  <a:tblStyle styleId="{C2ABA590-6E5D-4167-9DA1-00E42A1A496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4"/>
          </a:solidFill>
        </a:fill>
      </a:tcStyle>
    </a:wholeTbl>
    <a:band1H>
      <a:tcTxStyle b="off" i="off"/>
      <a:tcStyle>
        <a:tcBdr/>
        <a:fill>
          <a:solidFill>
            <a:srgbClr val="CAD2E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2E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596" y="546"/>
      </p:cViewPr>
      <p:guideLst>
        <p:guide orient="horz" pos="2137"/>
        <p:guide pos="7537"/>
        <p:guide pos="166"/>
        <p:guide pos="3364"/>
        <p:guide pos="7197"/>
        <p:guide orient="horz" pos="1071"/>
        <p:guide pos="1617"/>
        <p:guide pos="3863"/>
        <p:guide pos="4203"/>
        <p:guide orient="horz" pos="3974"/>
        <p:guide orient="horz" pos="731"/>
        <p:guide orient="horz" pos="3838"/>
        <p:guide orient="horz" pos="2886"/>
        <p:guide pos="6834"/>
        <p:guide orient="horz" pos="1933"/>
        <p:guide orient="horz" pos="19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22500" cy="2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1038"/>
            <a:ext cx="6054725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25279" y="4378786"/>
            <a:ext cx="5089200" cy="4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46150" rIns="92300" bIns="4615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416838351a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1787" cy="375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416838351a_0_451:notes"/>
          <p:cNvSpPr txBox="1">
            <a:spLocks noGrp="1"/>
          </p:cNvSpPr>
          <p:nvPr>
            <p:ph type="body" idx="1"/>
          </p:nvPr>
        </p:nvSpPr>
        <p:spPr>
          <a:xfrm>
            <a:off x="918425" y="4759643"/>
            <a:ext cx="5051400" cy="4509000"/>
          </a:xfrm>
          <a:prstGeom prst="rect">
            <a:avLst/>
          </a:prstGeom>
        </p:spPr>
        <p:txBody>
          <a:bodyPr spcFirstLastPara="1" wrap="square" lIns="92300" tIns="46150" rIns="92300" bIns="46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0539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416838351a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1787" cy="375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416838351a_0_451:notes"/>
          <p:cNvSpPr txBox="1">
            <a:spLocks noGrp="1"/>
          </p:cNvSpPr>
          <p:nvPr>
            <p:ph type="body" idx="1"/>
          </p:nvPr>
        </p:nvSpPr>
        <p:spPr>
          <a:xfrm>
            <a:off x="918425" y="4759643"/>
            <a:ext cx="5051400" cy="4509000"/>
          </a:xfrm>
          <a:prstGeom prst="rect">
            <a:avLst/>
          </a:prstGeom>
        </p:spPr>
        <p:txBody>
          <a:bodyPr spcFirstLastPara="1" wrap="square" lIns="92300" tIns="46150" rIns="92300" bIns="46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Slide">
  <p:cSld name="Cover Slide">
    <p:bg>
      <p:bgPr>
        <a:solidFill>
          <a:srgbClr val="BD0F7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/>
          <p:nvPr/>
        </p:nvSpPr>
        <p:spPr>
          <a:xfrm>
            <a:off x="9582150" y="6650038"/>
            <a:ext cx="231933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6825" y="2228850"/>
            <a:ext cx="3794125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0"/>
          <p:cNvSpPr txBox="1">
            <a:spLocks noGrp="1"/>
          </p:cNvSpPr>
          <p:nvPr>
            <p:ph type="title"/>
          </p:nvPr>
        </p:nvSpPr>
        <p:spPr>
          <a:xfrm>
            <a:off x="702387" y="2228584"/>
            <a:ext cx="6164406" cy="78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body" idx="1"/>
          </p:nvPr>
        </p:nvSpPr>
        <p:spPr>
          <a:xfrm>
            <a:off x="702387" y="5908431"/>
            <a:ext cx="6164406" cy="410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タイトルとコンテンツ">
  <p:cSld name="2_タイトルとコンテンツ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>
            <a:spLocks noGrp="1"/>
          </p:cNvSpPr>
          <p:nvPr>
            <p:ph type="body" idx="1"/>
          </p:nvPr>
        </p:nvSpPr>
        <p:spPr>
          <a:xfrm>
            <a:off x="1158949" y="97819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371600" marR="0" lvl="2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1828800" marR="0" lvl="3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286000" marR="0" lvl="4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2743200" marR="0" lvl="5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3200400" marR="0" lvl="6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3657600" marR="0" lvl="7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4114800" marR="0" lvl="8" indent="-4191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sldNum" idx="12"/>
          </p:nvPr>
        </p:nvSpPr>
        <p:spPr>
          <a:xfrm>
            <a:off x="1158949" y="97819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ge Layout 1">
  <p:cSld name="Page Layout 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42"/>
          <p:cNvCxnSpPr/>
          <p:nvPr/>
        </p:nvCxnSpPr>
        <p:spPr>
          <a:xfrm>
            <a:off x="273050" y="714375"/>
            <a:ext cx="1584325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7" name="Google Shape;37;p42"/>
          <p:cNvSpPr/>
          <p:nvPr/>
        </p:nvSpPr>
        <p:spPr>
          <a:xfrm>
            <a:off x="273050" y="227013"/>
            <a:ext cx="140652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2"/>
          <p:cNvSpPr/>
          <p:nvPr/>
        </p:nvSpPr>
        <p:spPr>
          <a:xfrm>
            <a:off x="9582150" y="6650038"/>
            <a:ext cx="231933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" name="Google Shape;39;p42"/>
          <p:cNvCxnSpPr/>
          <p:nvPr/>
        </p:nvCxnSpPr>
        <p:spPr>
          <a:xfrm>
            <a:off x="1935163" y="714375"/>
            <a:ext cx="10029825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0" name="Google Shape;40;p42"/>
          <p:cNvSpPr/>
          <p:nvPr/>
        </p:nvSpPr>
        <p:spPr>
          <a:xfrm>
            <a:off x="-1066800" y="1936750"/>
            <a:ext cx="1066800" cy="339725"/>
          </a:xfrm>
          <a:prstGeom prst="rect">
            <a:avLst/>
          </a:prstGeom>
          <a:solidFill>
            <a:srgbClr val="686F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2"/>
          <p:cNvSpPr/>
          <p:nvPr/>
        </p:nvSpPr>
        <p:spPr>
          <a:xfrm>
            <a:off x="-1066800" y="2276475"/>
            <a:ext cx="1066800" cy="339725"/>
          </a:xfrm>
          <a:prstGeom prst="rect">
            <a:avLst/>
          </a:prstGeom>
          <a:solidFill>
            <a:srgbClr val="DF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2"/>
          <p:cNvSpPr/>
          <p:nvPr/>
        </p:nvSpPr>
        <p:spPr>
          <a:xfrm>
            <a:off x="-1066800" y="2616200"/>
            <a:ext cx="1066800" cy="3397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2"/>
          <p:cNvSpPr/>
          <p:nvPr/>
        </p:nvSpPr>
        <p:spPr>
          <a:xfrm>
            <a:off x="-1066800" y="2955925"/>
            <a:ext cx="1066800" cy="3397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2"/>
          <p:cNvSpPr/>
          <p:nvPr/>
        </p:nvSpPr>
        <p:spPr>
          <a:xfrm>
            <a:off x="-1066800" y="3295650"/>
            <a:ext cx="1066800" cy="339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2"/>
          <p:cNvSpPr/>
          <p:nvPr/>
        </p:nvSpPr>
        <p:spPr>
          <a:xfrm>
            <a:off x="-1066800" y="3635375"/>
            <a:ext cx="1066800" cy="3397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2"/>
          <p:cNvSpPr/>
          <p:nvPr/>
        </p:nvSpPr>
        <p:spPr>
          <a:xfrm>
            <a:off x="-1066800" y="3975100"/>
            <a:ext cx="1066800" cy="341313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2"/>
          <p:cNvSpPr/>
          <p:nvPr/>
        </p:nvSpPr>
        <p:spPr>
          <a:xfrm>
            <a:off x="-1066800" y="915988"/>
            <a:ext cx="1066800" cy="339725"/>
          </a:xfrm>
          <a:prstGeom prst="rect">
            <a:avLst/>
          </a:prstGeom>
          <a:solidFill>
            <a:srgbClr val="DD11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2"/>
          <p:cNvSpPr/>
          <p:nvPr/>
        </p:nvSpPr>
        <p:spPr>
          <a:xfrm>
            <a:off x="-1066800" y="1255713"/>
            <a:ext cx="1066800" cy="341312"/>
          </a:xfrm>
          <a:prstGeom prst="rect">
            <a:avLst/>
          </a:prstGeom>
          <a:solidFill>
            <a:srgbClr val="F6DA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2"/>
          <p:cNvSpPr/>
          <p:nvPr/>
        </p:nvSpPr>
        <p:spPr>
          <a:xfrm>
            <a:off x="-1066800" y="1597025"/>
            <a:ext cx="1066800" cy="339725"/>
          </a:xfrm>
          <a:prstGeom prst="rect">
            <a:avLst/>
          </a:prstGeom>
          <a:solidFill>
            <a:srgbClr val="004D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2"/>
          <p:cNvSpPr/>
          <p:nvPr/>
        </p:nvSpPr>
        <p:spPr>
          <a:xfrm>
            <a:off x="-1066800" y="576263"/>
            <a:ext cx="1066800" cy="339725"/>
          </a:xfrm>
          <a:prstGeom prst="rect">
            <a:avLst/>
          </a:prstGeom>
          <a:solidFill>
            <a:srgbClr val="BD0F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2"/>
          <p:cNvSpPr/>
          <p:nvPr/>
        </p:nvSpPr>
        <p:spPr>
          <a:xfrm>
            <a:off x="273050" y="227013"/>
            <a:ext cx="140652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2"/>
          <p:cNvSpPr txBox="1">
            <a:spLocks noGrp="1"/>
          </p:cNvSpPr>
          <p:nvPr>
            <p:ph type="title"/>
          </p:nvPr>
        </p:nvSpPr>
        <p:spPr>
          <a:xfrm>
            <a:off x="1949846" y="199173"/>
            <a:ext cx="9971486" cy="35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2500"/>
              <a:buFont typeface="Arial Black"/>
              <a:buNone/>
              <a:defRPr sz="2500" b="0" i="0" u="none" strike="noStrike" cap="none">
                <a:solidFill>
                  <a:srgbClr val="BD0F7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body" idx="1"/>
          </p:nvPr>
        </p:nvSpPr>
        <p:spPr>
          <a:xfrm>
            <a:off x="270669" y="725611"/>
            <a:ext cx="11650663" cy="94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sldNum" idx="12"/>
          </p:nvPr>
        </p:nvSpPr>
        <p:spPr>
          <a:xfrm>
            <a:off x="257175" y="6480175"/>
            <a:ext cx="274320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897" y="226790"/>
            <a:ext cx="1406435" cy="298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Option 1">
  <p:cSld name="Divider Option 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51"/>
          <p:cNvCxnSpPr/>
          <p:nvPr/>
        </p:nvCxnSpPr>
        <p:spPr>
          <a:xfrm>
            <a:off x="273050" y="714375"/>
            <a:ext cx="1584325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2" name="Google Shape;62;p51"/>
          <p:cNvSpPr/>
          <p:nvPr/>
        </p:nvSpPr>
        <p:spPr>
          <a:xfrm>
            <a:off x="273050" y="227013"/>
            <a:ext cx="140652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1"/>
          <p:cNvSpPr/>
          <p:nvPr/>
        </p:nvSpPr>
        <p:spPr>
          <a:xfrm>
            <a:off x="9582150" y="6650038"/>
            <a:ext cx="231933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51"/>
          <p:cNvCxnSpPr/>
          <p:nvPr/>
        </p:nvCxnSpPr>
        <p:spPr>
          <a:xfrm>
            <a:off x="1935163" y="714375"/>
            <a:ext cx="10029825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5" name="Google Shape;65;p51"/>
          <p:cNvSpPr/>
          <p:nvPr/>
        </p:nvSpPr>
        <p:spPr>
          <a:xfrm>
            <a:off x="-1066800" y="1936750"/>
            <a:ext cx="1066800" cy="339725"/>
          </a:xfrm>
          <a:prstGeom prst="rect">
            <a:avLst/>
          </a:prstGeom>
          <a:solidFill>
            <a:srgbClr val="686F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1"/>
          <p:cNvSpPr/>
          <p:nvPr/>
        </p:nvSpPr>
        <p:spPr>
          <a:xfrm>
            <a:off x="-1066800" y="2276475"/>
            <a:ext cx="1066800" cy="339725"/>
          </a:xfrm>
          <a:prstGeom prst="rect">
            <a:avLst/>
          </a:prstGeom>
          <a:solidFill>
            <a:srgbClr val="DF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1"/>
          <p:cNvSpPr/>
          <p:nvPr/>
        </p:nvSpPr>
        <p:spPr>
          <a:xfrm>
            <a:off x="-1066800" y="2616200"/>
            <a:ext cx="1066800" cy="3397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1"/>
          <p:cNvSpPr/>
          <p:nvPr/>
        </p:nvSpPr>
        <p:spPr>
          <a:xfrm>
            <a:off x="-1066800" y="2955925"/>
            <a:ext cx="1066800" cy="3397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1"/>
          <p:cNvSpPr/>
          <p:nvPr/>
        </p:nvSpPr>
        <p:spPr>
          <a:xfrm>
            <a:off x="-1066800" y="3295650"/>
            <a:ext cx="1066800" cy="339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1"/>
          <p:cNvSpPr/>
          <p:nvPr/>
        </p:nvSpPr>
        <p:spPr>
          <a:xfrm>
            <a:off x="-1066800" y="3635375"/>
            <a:ext cx="1066800" cy="3397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1"/>
          <p:cNvSpPr/>
          <p:nvPr/>
        </p:nvSpPr>
        <p:spPr>
          <a:xfrm>
            <a:off x="-1066800" y="3975100"/>
            <a:ext cx="1066800" cy="341313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1"/>
          <p:cNvSpPr/>
          <p:nvPr/>
        </p:nvSpPr>
        <p:spPr>
          <a:xfrm>
            <a:off x="-1066800" y="915988"/>
            <a:ext cx="1066800" cy="339725"/>
          </a:xfrm>
          <a:prstGeom prst="rect">
            <a:avLst/>
          </a:prstGeom>
          <a:solidFill>
            <a:srgbClr val="DD11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1"/>
          <p:cNvSpPr/>
          <p:nvPr/>
        </p:nvSpPr>
        <p:spPr>
          <a:xfrm>
            <a:off x="-1066800" y="1255713"/>
            <a:ext cx="1066800" cy="341312"/>
          </a:xfrm>
          <a:prstGeom prst="rect">
            <a:avLst/>
          </a:prstGeom>
          <a:solidFill>
            <a:srgbClr val="F6DA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1"/>
          <p:cNvSpPr/>
          <p:nvPr/>
        </p:nvSpPr>
        <p:spPr>
          <a:xfrm>
            <a:off x="-1066800" y="1597025"/>
            <a:ext cx="1066800" cy="339725"/>
          </a:xfrm>
          <a:prstGeom prst="rect">
            <a:avLst/>
          </a:prstGeom>
          <a:solidFill>
            <a:srgbClr val="004D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1"/>
          <p:cNvSpPr/>
          <p:nvPr/>
        </p:nvSpPr>
        <p:spPr>
          <a:xfrm>
            <a:off x="-1066800" y="576263"/>
            <a:ext cx="1066800" cy="339725"/>
          </a:xfrm>
          <a:prstGeom prst="rect">
            <a:avLst/>
          </a:prstGeom>
          <a:solidFill>
            <a:srgbClr val="BD0F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1"/>
          <p:cNvSpPr/>
          <p:nvPr/>
        </p:nvSpPr>
        <p:spPr>
          <a:xfrm>
            <a:off x="695325" y="1066800"/>
            <a:ext cx="10721975" cy="476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1"/>
          <p:cNvSpPr/>
          <p:nvPr/>
        </p:nvSpPr>
        <p:spPr>
          <a:xfrm>
            <a:off x="273050" y="219075"/>
            <a:ext cx="1404938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1"/>
          <p:cNvSpPr/>
          <p:nvPr/>
        </p:nvSpPr>
        <p:spPr>
          <a:xfrm>
            <a:off x="9582150" y="6650038"/>
            <a:ext cx="231933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51"/>
          <p:cNvCxnSpPr/>
          <p:nvPr/>
        </p:nvCxnSpPr>
        <p:spPr>
          <a:xfrm>
            <a:off x="272896" y="713581"/>
            <a:ext cx="15852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0" name="Google Shape;80;p51"/>
          <p:cNvCxnSpPr/>
          <p:nvPr/>
        </p:nvCxnSpPr>
        <p:spPr>
          <a:xfrm>
            <a:off x="1935133" y="713581"/>
            <a:ext cx="100298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1" name="Google Shape;81;p51"/>
          <p:cNvSpPr txBox="1">
            <a:spLocks noGrp="1"/>
          </p:cNvSpPr>
          <p:nvPr>
            <p:ph type="title"/>
          </p:nvPr>
        </p:nvSpPr>
        <p:spPr>
          <a:xfrm>
            <a:off x="1379395" y="1745235"/>
            <a:ext cx="6283204" cy="78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51"/>
          <p:cNvSpPr txBox="1">
            <a:spLocks noGrp="1"/>
          </p:cNvSpPr>
          <p:nvPr>
            <p:ph type="sldNum" idx="12"/>
          </p:nvPr>
        </p:nvSpPr>
        <p:spPr>
          <a:xfrm>
            <a:off x="32861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49"/>
          <p:cNvCxnSpPr/>
          <p:nvPr/>
        </p:nvCxnSpPr>
        <p:spPr>
          <a:xfrm>
            <a:off x="273050" y="714375"/>
            <a:ext cx="1584325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1" name="Google Shape;11;p49"/>
          <p:cNvSpPr/>
          <p:nvPr/>
        </p:nvSpPr>
        <p:spPr>
          <a:xfrm>
            <a:off x="273050" y="227013"/>
            <a:ext cx="140652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9"/>
          <p:cNvSpPr/>
          <p:nvPr/>
        </p:nvSpPr>
        <p:spPr>
          <a:xfrm>
            <a:off x="9582150" y="6650038"/>
            <a:ext cx="231933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49"/>
          <p:cNvCxnSpPr/>
          <p:nvPr/>
        </p:nvCxnSpPr>
        <p:spPr>
          <a:xfrm>
            <a:off x="1935163" y="714375"/>
            <a:ext cx="10029825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4" name="Google Shape;14;p49"/>
          <p:cNvSpPr/>
          <p:nvPr/>
        </p:nvSpPr>
        <p:spPr>
          <a:xfrm>
            <a:off x="-1066800" y="1936750"/>
            <a:ext cx="1066800" cy="339725"/>
          </a:xfrm>
          <a:prstGeom prst="rect">
            <a:avLst/>
          </a:prstGeom>
          <a:solidFill>
            <a:srgbClr val="686F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9"/>
          <p:cNvSpPr/>
          <p:nvPr/>
        </p:nvSpPr>
        <p:spPr>
          <a:xfrm>
            <a:off x="-1066800" y="2276475"/>
            <a:ext cx="1066800" cy="339725"/>
          </a:xfrm>
          <a:prstGeom prst="rect">
            <a:avLst/>
          </a:prstGeom>
          <a:solidFill>
            <a:srgbClr val="DF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9"/>
          <p:cNvSpPr/>
          <p:nvPr/>
        </p:nvSpPr>
        <p:spPr>
          <a:xfrm>
            <a:off x="-1066800" y="2616200"/>
            <a:ext cx="1066800" cy="3397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9"/>
          <p:cNvSpPr/>
          <p:nvPr/>
        </p:nvSpPr>
        <p:spPr>
          <a:xfrm>
            <a:off x="-1066800" y="2955925"/>
            <a:ext cx="1066800" cy="3397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9"/>
          <p:cNvSpPr/>
          <p:nvPr/>
        </p:nvSpPr>
        <p:spPr>
          <a:xfrm>
            <a:off x="-1066800" y="3295650"/>
            <a:ext cx="1066800" cy="339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9"/>
          <p:cNvSpPr/>
          <p:nvPr/>
        </p:nvSpPr>
        <p:spPr>
          <a:xfrm>
            <a:off x="-1066800" y="3635375"/>
            <a:ext cx="1066800" cy="3397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9"/>
          <p:cNvSpPr/>
          <p:nvPr/>
        </p:nvSpPr>
        <p:spPr>
          <a:xfrm>
            <a:off x="-1066800" y="3975100"/>
            <a:ext cx="1066800" cy="341313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9"/>
          <p:cNvSpPr/>
          <p:nvPr/>
        </p:nvSpPr>
        <p:spPr>
          <a:xfrm>
            <a:off x="-1066800" y="915988"/>
            <a:ext cx="1066800" cy="339725"/>
          </a:xfrm>
          <a:prstGeom prst="rect">
            <a:avLst/>
          </a:prstGeom>
          <a:solidFill>
            <a:srgbClr val="DD11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9"/>
          <p:cNvSpPr/>
          <p:nvPr/>
        </p:nvSpPr>
        <p:spPr>
          <a:xfrm>
            <a:off x="-1066800" y="1255713"/>
            <a:ext cx="1066800" cy="341312"/>
          </a:xfrm>
          <a:prstGeom prst="rect">
            <a:avLst/>
          </a:prstGeom>
          <a:solidFill>
            <a:srgbClr val="F6DA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9"/>
          <p:cNvSpPr/>
          <p:nvPr/>
        </p:nvSpPr>
        <p:spPr>
          <a:xfrm>
            <a:off x="-1066800" y="1597025"/>
            <a:ext cx="1066800" cy="339725"/>
          </a:xfrm>
          <a:prstGeom prst="rect">
            <a:avLst/>
          </a:prstGeom>
          <a:solidFill>
            <a:srgbClr val="004D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9"/>
          <p:cNvSpPr/>
          <p:nvPr/>
        </p:nvSpPr>
        <p:spPr>
          <a:xfrm>
            <a:off x="-1066800" y="576263"/>
            <a:ext cx="1066800" cy="339725"/>
          </a:xfrm>
          <a:prstGeom prst="rect">
            <a:avLst/>
          </a:prstGeom>
          <a:solidFill>
            <a:srgbClr val="BD0F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9"/>
          <p:cNvSpPr/>
          <p:nvPr/>
        </p:nvSpPr>
        <p:spPr>
          <a:xfrm>
            <a:off x="273050" y="227013"/>
            <a:ext cx="140652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2897" y="226790"/>
            <a:ext cx="1406435" cy="298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701675" y="5908675"/>
            <a:ext cx="61658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dirty="0">
                <a:solidFill>
                  <a:srgbClr val="FFFFFF"/>
                </a:solidFill>
              </a:rPr>
              <a:t>2025.05.29</a:t>
            </a: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263524" y="2714625"/>
            <a:ext cx="7236631" cy="78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i="1" dirty="0">
                <a:solidFill>
                  <a:srgbClr val="FFFFFF"/>
                </a:solidFill>
              </a:rPr>
              <a:t>Calculation Logic</a:t>
            </a:r>
            <a:endParaRPr sz="36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4926" y="1585247"/>
            <a:ext cx="9867900" cy="384400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1738276" y="2583000"/>
            <a:ext cx="90012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Arial"/>
              <a:buNone/>
            </a:pPr>
            <a:r>
              <a:rPr lang="en-US" sz="3067" b="1" i="0" u="none" strike="noStrike" cap="none" dirty="0">
                <a:solidFill>
                  <a:srgbClr val="C217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Question?</a:t>
            </a:r>
            <a:br>
              <a:rPr lang="en-US" sz="3067" b="1" i="0" u="none" strike="noStrike" cap="none" dirty="0">
                <a:solidFill>
                  <a:srgbClr val="C217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3067" b="1" i="0" u="none" strike="noStrike" cap="none" dirty="0">
                <a:solidFill>
                  <a:srgbClr val="C217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are planning to sell Macarons. You would like to match the Lowest Price that is available in the Market. </a:t>
            </a:r>
            <a:r>
              <a:rPr lang="en-US" sz="3067" b="1" dirty="0">
                <a:solidFill>
                  <a:srgbClr val="C217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do you calculate and compare?</a:t>
            </a:r>
            <a:endParaRPr sz="3067" b="0" i="0" u="none" strike="noStrike" cap="none" dirty="0">
              <a:solidFill>
                <a:srgbClr val="C2177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1949851" y="199177"/>
            <a:ext cx="9971550" cy="357750"/>
          </a:xfrm>
          <a:prstGeom prst="rect">
            <a:avLst/>
          </a:prstGeom>
        </p:spPr>
        <p:txBody>
          <a:bodyPr spcFirstLastPara="1" wrap="square" lIns="45713" tIns="22850" rIns="45713" bIns="22850" anchor="t" anchorCtr="0">
            <a:noAutofit/>
          </a:bodyPr>
          <a:lstStyle/>
          <a:p>
            <a:r>
              <a:rPr lang="en-SG" dirty="0"/>
              <a:t>How Do You Know Which One is Cheaper?</a:t>
            </a:r>
            <a:endParaRPr dirty="0"/>
          </a:p>
          <a:p>
            <a:endParaRPr dirty="0"/>
          </a:p>
        </p:txBody>
      </p:sp>
      <p:pic>
        <p:nvPicPr>
          <p:cNvPr id="4" name="Picture 3" descr="Pink, brown, and green maccarons on table">
            <a:extLst>
              <a:ext uri="{FF2B5EF4-FFF2-40B4-BE49-F238E27FC236}">
                <a16:creationId xmlns:a16="http://schemas.microsoft.com/office/drawing/2014/main" id="{7A1CDE08-34BB-431C-ECC0-DC3626CA4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55" y="798156"/>
            <a:ext cx="9971550" cy="57669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6C06D-C4EB-36BC-9647-07D1DBAB3974}"/>
              </a:ext>
            </a:extLst>
          </p:cNvPr>
          <p:cNvSpPr txBox="1"/>
          <p:nvPr/>
        </p:nvSpPr>
        <p:spPr>
          <a:xfrm>
            <a:off x="965055" y="925830"/>
            <a:ext cx="720902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1. A or B?</a:t>
            </a:r>
            <a:br>
              <a:rPr lang="en-SG" dirty="0"/>
            </a:br>
            <a:br>
              <a:rPr lang="en-SG" dirty="0"/>
            </a:br>
            <a:r>
              <a:rPr lang="en-SG" dirty="0"/>
              <a:t>Macaron A = SGD 12.75 subject to 12% GST, 5% Service Charge, SGD 2 Take Out Box</a:t>
            </a:r>
          </a:p>
          <a:p>
            <a:r>
              <a:rPr lang="en-SG" dirty="0"/>
              <a:t>Macaron B = SGD 17.00 Total</a:t>
            </a:r>
          </a:p>
          <a:p>
            <a:endParaRPr lang="en-SG" dirty="0"/>
          </a:p>
          <a:p>
            <a:endParaRPr lang="en-SG" dirty="0"/>
          </a:p>
          <a:p>
            <a:r>
              <a:rPr lang="en-SG" b="1" dirty="0"/>
              <a:t>2. A or C?</a:t>
            </a:r>
          </a:p>
          <a:p>
            <a:br>
              <a:rPr lang="en-SG" dirty="0"/>
            </a:br>
            <a:r>
              <a:rPr lang="en-SG" dirty="0"/>
              <a:t>Macaron A = SGD 12.75 subject to VAT, Service Charge, Platform Fee</a:t>
            </a:r>
          </a:p>
          <a:p>
            <a:r>
              <a:rPr lang="en-SG" dirty="0"/>
              <a:t>Macaron C = SGD 12.75 subject to GST, Service Charge, Take Out Box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9026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1949851" y="199177"/>
            <a:ext cx="9971550" cy="357750"/>
          </a:xfrm>
          <a:prstGeom prst="rect">
            <a:avLst/>
          </a:prstGeom>
        </p:spPr>
        <p:txBody>
          <a:bodyPr spcFirstLastPara="1" wrap="square" lIns="45713" tIns="22850" rIns="45713" bIns="22850" anchor="t" anchorCtr="0">
            <a:noAutofit/>
          </a:bodyPr>
          <a:lstStyle/>
          <a:p>
            <a:r>
              <a:rPr lang="en-SG" dirty="0"/>
              <a:t>Terminologies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CBF13-E480-ADDF-B29D-80FB0FB1D2C4}"/>
              </a:ext>
            </a:extLst>
          </p:cNvPr>
          <p:cNvSpPr txBox="1"/>
          <p:nvPr/>
        </p:nvSpPr>
        <p:spPr>
          <a:xfrm>
            <a:off x="320040" y="1005840"/>
            <a:ext cx="114071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Customer’s Request = Marketing/</a:t>
            </a:r>
            <a:r>
              <a:rPr lang="en-SG" dirty="0" err="1"/>
              <a:t>Pricer</a:t>
            </a:r>
            <a:r>
              <a:rPr lang="en-SG" dirty="0"/>
              <a:t>-Defined Rate Structure based on their interpretation of Customer’s T&amp;C; Executed Using Set Surcharge and Update Condition</a:t>
            </a:r>
          </a:p>
          <a:p>
            <a:endParaRPr lang="en-SG" dirty="0"/>
          </a:p>
          <a:p>
            <a:r>
              <a:rPr lang="en-SG" dirty="0"/>
              <a:t>LT MRG = Long Term Minimum Rate Guideline; Minimum Rate Level Set by Trade Management to Offer for Long Term Customers</a:t>
            </a:r>
          </a:p>
          <a:p>
            <a:br>
              <a:rPr lang="en-SG" dirty="0"/>
            </a:br>
            <a:r>
              <a:rPr lang="en-SG" dirty="0"/>
              <a:t>Target CM = Target Contribution Margin; Minimum CM Level Set by Trade Management where Rate Offer To Long Term Customers Should be Based On.</a:t>
            </a:r>
          </a:p>
          <a:p>
            <a:endParaRPr lang="en-SG" dirty="0"/>
          </a:p>
          <a:p>
            <a:r>
              <a:rPr lang="en-SG" dirty="0"/>
              <a:t>Current Contract = Agreed Rate Levels between Customer and ONE for Specified Port Pairs</a:t>
            </a:r>
          </a:p>
          <a:p>
            <a:endParaRPr lang="en-SG" dirty="0"/>
          </a:p>
          <a:p>
            <a:r>
              <a:rPr lang="en-SG" dirty="0"/>
              <a:t>Benchmark Rates = Baseline/Basis of Marketing/Pricing Offer; Can be based on LT MRG, Target CM, Current Contract.</a:t>
            </a:r>
          </a:p>
          <a:p>
            <a:endParaRPr lang="en-SG" dirty="0"/>
          </a:p>
          <a:p>
            <a:r>
              <a:rPr lang="en-SG" dirty="0"/>
              <a:t>Reference Base (Benchmark Rate Structure) = Surcharge Condition of Benchmark Rates</a:t>
            </a:r>
          </a:p>
          <a:p>
            <a:endParaRPr lang="en-SG" dirty="0"/>
          </a:p>
          <a:p>
            <a:r>
              <a:rPr lang="en-SG" dirty="0"/>
              <a:t>All In Calculation = Benchmark Rates + Benchmark Rate Structure (Subject)</a:t>
            </a:r>
          </a:p>
          <a:p>
            <a:endParaRPr lang="en-SG" dirty="0"/>
          </a:p>
          <a:p>
            <a:r>
              <a:rPr lang="en-SG" dirty="0"/>
              <a:t>Base Rate = Rate Level Marketing/Pricing intends to offer/export to customer/customer sheet; It is calculated using All In Rates (Minus) Customer’s Request Rate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9C98-1E0C-3B7A-21B1-B8D259EC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Glossary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F52CC-1F6C-5609-A8C1-2056CBCA71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E80C46-C1E9-A079-57C6-7D9CBE6A0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F9B23B-138F-9A4B-2BFA-13DA484A1F08}"/>
              </a:ext>
            </a:extLst>
          </p:cNvPr>
          <p:cNvSpPr/>
          <p:nvPr/>
        </p:nvSpPr>
        <p:spPr>
          <a:xfrm>
            <a:off x="6812280" y="1280160"/>
            <a:ext cx="2208940" cy="280035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4B354-E2B7-A1D0-E0DD-039180B75C9A}"/>
              </a:ext>
            </a:extLst>
          </p:cNvPr>
          <p:cNvSpPr txBox="1"/>
          <p:nvPr/>
        </p:nvSpPr>
        <p:spPr>
          <a:xfrm>
            <a:off x="7803740" y="4274820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chemeClr val="accent4"/>
                </a:solidFill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61CEB7-1959-1F76-F0BC-4131354E5C06}"/>
              </a:ext>
            </a:extLst>
          </p:cNvPr>
          <p:cNvSpPr/>
          <p:nvPr/>
        </p:nvSpPr>
        <p:spPr>
          <a:xfrm>
            <a:off x="9079230" y="1283970"/>
            <a:ext cx="2933700" cy="280035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0EA48-3A3F-09C9-BE4B-89288AB637F4}"/>
              </a:ext>
            </a:extLst>
          </p:cNvPr>
          <p:cNvSpPr txBox="1"/>
          <p:nvPr/>
        </p:nvSpPr>
        <p:spPr>
          <a:xfrm>
            <a:off x="10299290" y="4278630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chemeClr val="accent4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2246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9C98-1E0C-3B7A-21B1-B8D259EC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Glossary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F52CC-1F6C-5609-A8C1-2056CBCA71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2DAD7-DB08-8415-F3A9-A4848AF9F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6176" cy="65608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F9B23B-138F-9A4B-2BFA-13DA484A1F08}"/>
              </a:ext>
            </a:extLst>
          </p:cNvPr>
          <p:cNvSpPr/>
          <p:nvPr/>
        </p:nvSpPr>
        <p:spPr>
          <a:xfrm>
            <a:off x="6880860" y="1280160"/>
            <a:ext cx="4103370" cy="280035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4B354-E2B7-A1D0-E0DD-039180B75C9A}"/>
              </a:ext>
            </a:extLst>
          </p:cNvPr>
          <p:cNvSpPr txBox="1"/>
          <p:nvPr/>
        </p:nvSpPr>
        <p:spPr>
          <a:xfrm>
            <a:off x="8775290" y="4274820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chemeClr val="accent4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3925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9C98-1E0C-3B7A-21B1-B8D259EC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Glossary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F52CC-1F6C-5609-A8C1-2056CBCA71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855F1-1242-48FB-0561-C681C56E6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F9B23B-138F-9A4B-2BFA-13DA484A1F08}"/>
              </a:ext>
            </a:extLst>
          </p:cNvPr>
          <p:cNvSpPr/>
          <p:nvPr/>
        </p:nvSpPr>
        <p:spPr>
          <a:xfrm>
            <a:off x="6880860" y="1280160"/>
            <a:ext cx="1588770" cy="280035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4B354-E2B7-A1D0-E0DD-039180B75C9A}"/>
              </a:ext>
            </a:extLst>
          </p:cNvPr>
          <p:cNvSpPr txBox="1"/>
          <p:nvPr/>
        </p:nvSpPr>
        <p:spPr>
          <a:xfrm>
            <a:off x="7277960" y="4274820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chemeClr val="accent4"/>
                </a:solidFill>
              </a:rPr>
              <a:t>D = A + B</a:t>
            </a:r>
          </a:p>
        </p:txBody>
      </p:sp>
    </p:spTree>
    <p:extLst>
      <p:ext uri="{BB962C8B-B14F-4D97-AF65-F5344CB8AC3E}">
        <p14:creationId xmlns:p14="http://schemas.microsoft.com/office/powerpoint/2010/main" val="49261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9C98-1E0C-3B7A-21B1-B8D259EC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Glossary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F52CC-1F6C-5609-A8C1-2056CBCA71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DC75A-5633-D7E5-03F9-63E7D6E0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F9B23B-138F-9A4B-2BFA-13DA484A1F08}"/>
              </a:ext>
            </a:extLst>
          </p:cNvPr>
          <p:cNvSpPr/>
          <p:nvPr/>
        </p:nvSpPr>
        <p:spPr>
          <a:xfrm>
            <a:off x="7429500" y="1280160"/>
            <a:ext cx="2914650" cy="280035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4B354-E2B7-A1D0-E0DD-039180B75C9A}"/>
              </a:ext>
            </a:extLst>
          </p:cNvPr>
          <p:cNvSpPr txBox="1"/>
          <p:nvPr/>
        </p:nvSpPr>
        <p:spPr>
          <a:xfrm>
            <a:off x="8517209" y="4217670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chemeClr val="accent4"/>
                </a:solidFill>
              </a:rPr>
              <a:t>E = D - C</a:t>
            </a:r>
          </a:p>
        </p:txBody>
      </p:sp>
    </p:spTree>
    <p:extLst>
      <p:ext uri="{BB962C8B-B14F-4D97-AF65-F5344CB8AC3E}">
        <p14:creationId xmlns:p14="http://schemas.microsoft.com/office/powerpoint/2010/main" val="2970766595"/>
      </p:ext>
    </p:extLst>
  </p:cSld>
  <p:clrMapOvr>
    <a:masterClrMapping/>
  </p:clrMapOvr>
</p:sld>
</file>

<file path=ppt/theme/theme1.xml><?xml version="1.0" encoding="utf-8"?>
<a:theme xmlns:a="http://schemas.openxmlformats.org/drawingml/2006/main" name="2_ONE PPT Template-16X9">
  <a:themeElements>
    <a:clrScheme name="Custom 7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BD0F72"/>
      </a:accent4>
      <a:accent5>
        <a:srgbClr val="DD1186"/>
      </a:accent5>
      <a:accent6>
        <a:srgbClr val="0033C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6853</TotalTime>
  <Words>310</Words>
  <Application>Microsoft Office PowerPoint</Application>
  <PresentationFormat>Widescreen</PresentationFormat>
  <Paragraphs>40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Quattrocento Sans</vt:lpstr>
      <vt:lpstr>Times New Roman</vt:lpstr>
      <vt:lpstr>Arial Black</vt:lpstr>
      <vt:lpstr>2_ONE PPT Template-16X9</vt:lpstr>
      <vt:lpstr>Calculation Logic</vt:lpstr>
      <vt:lpstr>Question? You are planning to sell Macarons. You would like to match the Lowest Price that is available in the Market. How do you calculate and compare?</vt:lpstr>
      <vt:lpstr>How Do You Know Which One is Cheaper? </vt:lpstr>
      <vt:lpstr>Terminologies</vt:lpstr>
      <vt:lpstr>Glossary</vt:lpstr>
      <vt:lpstr>Glossary</vt:lpstr>
      <vt:lpstr>Glossary</vt:lpstr>
      <vt:lpstr>Glossary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Shoichiro Terada (JP)</dc:creator>
  <cp:lastModifiedBy>Leandro Ramos</cp:lastModifiedBy>
  <cp:revision>8</cp:revision>
  <dcterms:created xsi:type="dcterms:W3CDTF">2021-02-28T06:59:27Z</dcterms:created>
  <dcterms:modified xsi:type="dcterms:W3CDTF">2025-05-29T05:55:58Z</dcterms:modified>
</cp:coreProperties>
</file>